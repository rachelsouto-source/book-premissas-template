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7"/>
    <p:sldId id="274" r:id="rId6"/>
    <p:sldId id="275" r:id="rId5"/>
    <p:sldId id="276" r:id="rId4"/>
    <p:sldId id="277" r:id="rId3"/>
    <p:sldId id="278" r:id="rId2"/>
    <p:sldId id="279" r:id="rId31"/>
    <p:sldId id="280" r:id="rId32"/>
    <p:sldId id="281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3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1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4.jpg"/><Relationship Id="rId5" Type="http://schemas.openxmlformats.org/officeDocument/2006/relationships/image" Target="../media/image2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6.jpg"/><Relationship Id="rId5" Type="http://schemas.openxmlformats.org/officeDocument/2006/relationships/image" Target="../media/image2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Relationship Id="rId7" Type="http://schemas.openxmlformats.org/officeDocument/2006/relationships/image" Target="../media/image31.jpg"/><Relationship Id="rId8" Type="http://schemas.openxmlformats.org/officeDocument/2006/relationships/image" Target="../media/image32.jpg"/><Relationship Id="rId9" Type="http://schemas.openxmlformats.org/officeDocument/2006/relationships/image" Target="../media/image3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_-_Lançamento_Externa__Fachada_Piscina_-_Imbassaí_Spot.jpg"/>
          <p:cNvPicPr>
            <a:picLocks noChangeAspect="1"/>
          </p:cNvPicPr>
          <p:nvPr/>
        </p:nvPicPr>
        <p:blipFill>
          <a:blip r:embed="rId2"/>
          <a:srcRect l="34421" r="21097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1783080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Imbassaí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FB0D4"/>
                </a:solidFill>
                <a:latin typeface="Arial"/>
              </a:rPr>
              <a:t>Lançamento  ×  Projeto  ·  Fachada  ·  Interiores</a:t>
            </a:r>
          </a:p>
          <a:p>
            <a:pPr algn="l">
              <a:spcAft>
                <a:spcPts val="400"/>
              </a:spcAft>
            </a:pPr>
            <a:r>
              <a:rPr sz="750" b="0">
                <a:solidFill>
                  <a:srgbClr val="8FA3CC"/>
                </a:solidFill>
                <a:latin typeface="Arial"/>
              </a:rPr>
              <a:t>Base: imagens de lançamento (2023) · proposta de fachada da arquiteta contratada · Projeto Legal R00 Beth Câmara (fachadas 08 e 09) · Memorial Descritivo · projeto de interiores Seazone · Premissas de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342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FA3CC"/>
                </a:solidFill>
                <a:latin typeface="Arial"/>
              </a:rPr>
              <a:t>Alameda das Amendoeiras · Praia de Imbassaí · Mata de São João/BA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44805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DOCUMENTO TÉCNICO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objetivo deste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Consolidar as premissas de </a:t>
            </a:r>
            <a:r>
              <a:rPr sz="750" b="1">
                <a:solidFill>
                  <a:srgbClr val="333333"/>
                </a:solidFill>
                <a:latin typeface="Arial"/>
              </a:rPr>
              <a:t>fachada e interiores</a:t>
            </a:r>
            <a:r>
              <a:rPr sz="750" b="0">
                <a:solidFill>
                  <a:srgbClr val="333333"/>
                </a:solidFill>
                <a:latin typeface="Arial"/>
              </a:rPr>
              <a:t> do Imbassaí Spot a partir da leitura cruzada entre as </a:t>
            </a:r>
            <a:r>
              <a:rPr sz="750" b="1">
                <a:solidFill>
                  <a:srgbClr val="333333"/>
                </a:solidFill>
                <a:latin typeface="Arial"/>
              </a:rPr>
              <a:t>imagens de lançamento</a:t>
            </a:r>
            <a:r>
              <a:rPr sz="750" b="0">
                <a:solidFill>
                  <a:srgbClr val="333333"/>
                </a:solidFill>
                <a:latin typeface="Arial"/>
              </a:rPr>
              <a:t>, o </a:t>
            </a:r>
            <a:r>
              <a:rPr sz="750" b="1">
                <a:solidFill>
                  <a:srgbClr val="333333"/>
                </a:solidFill>
                <a:latin typeface="Arial"/>
              </a:rPr>
              <a:t>projeto legal da Beth Câmara Arquitetura</a:t>
            </a:r>
            <a:r>
              <a:rPr sz="750" b="0">
                <a:solidFill>
                  <a:srgbClr val="333333"/>
                </a:solidFill>
                <a:latin typeface="Arial"/>
              </a:rPr>
              <a:t> e o projeto de interiores da Seazone: o que a imagem vendeu, o que o projeto especifica, onde divergem e o que validar antes da compra.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Leitura da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 que compõe cada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Mapa de texturas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· 12 materiais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Vistas especificadas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frontal, piscina e lateral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Imagem × proposta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lançamento × arquiteta contratada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Lançamento × projeto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interiores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Interiores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recepção, lazer, unidades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Briefing de projeto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opções marcadas × projeto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Pontos de atenção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travadas ·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AO ABRIR ESTE BOOK, OBRAS DEVE CONSEGUIR RESPONDER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as imagens de lançamento mostram na fachada?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o projeto legal especifica para cada elemento?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Onde o projeto diverge da imagem vendida?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Como são os brises, o muxarabi e a madeira?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conceito de interiores que deve ser seguido?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não pode ser alterado sem validação?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pontos ainda precisam ser validados?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02336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8FA3CC"/>
                </a:solidFill>
                <a:latin typeface="Arial"/>
              </a:rPr>
              <a:t>Regra do material: nenhuma informação foi inventada. Fontes (1.12 - [1797] Imbassaí Spot / 02 - Projetos): 08 - Projeto Arquitetônico (imagens 3D, projeto legal, interiores), 09 - Memorial Descritivo e 00 - Premissas de Projeto. O projeto executivo ainda não foi emitido. Índices urbanísticos, áreas e custos não fazem parte deste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e especificações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Leitura geral  ·  mapa de texturas  ·  vistas com marcação  ·  imagem vendida × projeto 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IMBASSAÍ SPOT  ·  BOOK DE PREMISSAS DE FACHADA E INTERIORES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Leitura geral: o que compõe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889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Fachada_Frontal_-_Imbassaí_Spot.jpg"/>
          <p:cNvPicPr>
            <a:picLocks noChangeAspect="1"/>
          </p:cNvPicPr>
          <p:nvPr/>
        </p:nvPicPr>
        <p:blipFill>
          <a:blip r:embed="rId4"/>
          <a:srcRect t="330" b="330"/>
          <a:stretch>
            <a:fillRect/>
          </a:stretch>
        </p:blipFill>
        <p:spPr>
          <a:xfrm>
            <a:off x="502920" y="1170432"/>
            <a:ext cx="5074920" cy="2834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1945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FACHADA FRONTAL</a:t>
            </a:r>
          </a:p>
        </p:txBody>
      </p:sp>
      <p:sp>
        <p:nvSpPr>
          <p:cNvPr id="13" name="Oval 12"/>
          <p:cNvSpPr/>
          <p:nvPr/>
        </p:nvSpPr>
        <p:spPr>
          <a:xfrm>
            <a:off x="1030071" y="268193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2931" y="270479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106195" y="217170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9055" y="219456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2400300" y="188823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23160" y="191109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968931" y="268193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91791" y="270479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704795" y="225673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27655" y="227959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146553" y="251185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69413" y="253471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3719779" y="251185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42639" y="253471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3466033" y="307878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88893" y="310164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" y="319217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0684" y="321503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4430268" y="307878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53128" y="310164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1170432"/>
            <a:ext cx="288036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124358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LEGENDA</a:t>
            </a:r>
          </a:p>
        </p:txBody>
      </p:sp>
      <p:sp>
        <p:nvSpPr>
          <p:cNvPr id="35" name="Oval 34"/>
          <p:cNvSpPr/>
          <p:nvPr/>
        </p:nvSpPr>
        <p:spPr>
          <a:xfrm>
            <a:off x="5897880" y="148132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146304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Logo-casinha Seazone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na empena de pedra da esquina</a:t>
            </a:r>
          </a:p>
        </p:txBody>
      </p:sp>
      <p:sp>
        <p:nvSpPr>
          <p:cNvPr id="37" name="Oval 36"/>
          <p:cNvSpPr/>
          <p:nvPr/>
        </p:nvSpPr>
        <p:spPr>
          <a:xfrm>
            <a:off x="5897880" y="181051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179222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Empena em pedra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pedra natural na ponta do bloco</a:t>
            </a:r>
          </a:p>
        </p:txBody>
      </p:sp>
      <p:sp>
        <p:nvSpPr>
          <p:cNvPr id="39" name="Oval 38"/>
          <p:cNvSpPr/>
          <p:nvPr/>
        </p:nvSpPr>
        <p:spPr>
          <a:xfrm>
            <a:off x="5897880" y="213969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12140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Cobertura com beiral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telha metálica escura, viga metálica</a:t>
            </a:r>
          </a:p>
        </p:txBody>
      </p:sp>
      <p:sp>
        <p:nvSpPr>
          <p:cNvPr id="41" name="Oval 40"/>
          <p:cNvSpPr/>
          <p:nvPr/>
        </p:nvSpPr>
        <p:spPr>
          <a:xfrm>
            <a:off x="5897880" y="246888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245059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Pilares de madeira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eucalipto roliço em toda a fachada</a:t>
            </a:r>
          </a:p>
        </p:txBody>
      </p:sp>
      <p:sp>
        <p:nvSpPr>
          <p:cNvPr id="43" name="Oval 42"/>
          <p:cNvSpPr/>
          <p:nvPr/>
        </p:nvSpPr>
        <p:spPr>
          <a:xfrm>
            <a:off x="5897880" y="27980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277977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Painéis e brises de madeira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em frente a todas as janelas</a:t>
            </a:r>
          </a:p>
        </p:txBody>
      </p:sp>
      <p:sp>
        <p:nvSpPr>
          <p:cNvPr id="45" name="Oval 44"/>
          <p:cNvSpPr/>
          <p:nvPr/>
        </p:nvSpPr>
        <p:spPr>
          <a:xfrm>
            <a:off x="5897880" y="312724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10896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Jardineiras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vegetação pendente nos pavimentos</a:t>
            </a:r>
          </a:p>
        </p:txBody>
      </p:sp>
      <p:sp>
        <p:nvSpPr>
          <p:cNvPr id="47" name="Oval 46"/>
          <p:cNvSpPr/>
          <p:nvPr/>
        </p:nvSpPr>
        <p:spPr>
          <a:xfrm>
            <a:off x="5897880" y="345643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343814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Muxarabi do acesso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volume central em madeira</a:t>
            </a:r>
          </a:p>
        </p:txBody>
      </p:sp>
      <p:sp>
        <p:nvSpPr>
          <p:cNvPr id="49" name="Oval 48"/>
          <p:cNvSpPr/>
          <p:nvPr/>
        </p:nvSpPr>
        <p:spPr>
          <a:xfrm>
            <a:off x="5897880" y="3785615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376732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Letreiro Imbassaí SPOT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sobre ripado de madeira no jardim</a:t>
            </a:r>
          </a:p>
        </p:txBody>
      </p:sp>
      <p:sp>
        <p:nvSpPr>
          <p:cNvPr id="51" name="Oval 50"/>
          <p:cNvSpPr/>
          <p:nvPr/>
        </p:nvSpPr>
        <p:spPr>
          <a:xfrm>
            <a:off x="5897880" y="41148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09651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Muro de pedra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mureta baixa na calçada</a:t>
            </a:r>
          </a:p>
        </p:txBody>
      </p:sp>
      <p:sp>
        <p:nvSpPr>
          <p:cNvPr id="53" name="Oval 52"/>
          <p:cNvSpPr/>
          <p:nvPr/>
        </p:nvSpPr>
        <p:spPr>
          <a:xfrm>
            <a:off x="5897880" y="4443983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42569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Escada de acesso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degraus claros até o hall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4096512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A fachada vendida é um bloco de dois pavimentos com cobertura de grande beiral, pilares de eucalipto e painéis de madeira cobrindo as janelas, com jardineiras entre os pavimentos. O acesso central é marcado por um muxarabi e a esquina por uma empena de pedra com o logo Seazone.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(1/2)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 (2023): referência visual, não substitui amostra física. Especificação: fachadas 08 e 09 do Projeto Legal R00 e Memorial Descritivo.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pilar.jpg"/>
          <p:cNvPicPr>
            <a:picLocks noChangeAspect="1"/>
          </p:cNvPicPr>
          <p:nvPr/>
        </p:nvPicPr>
        <p:blipFill>
          <a:blip r:embed="rId4"/>
          <a:srcRect t="27414" b="27414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Pilares de eucalipto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pilares em toda a fachada e pergolado.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pilar em eucalipto (fachadas 08 e 09) · pergolado de eucalipto descoberto (planta do subsolo).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 imagem: definir tratamento e acabamento da madeira. DEFINIDO.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brise.jpg"/>
          <p:cNvPicPr>
            <a:picLocks noChangeAspect="1"/>
          </p:cNvPicPr>
          <p:nvPr/>
        </p:nvPicPr>
        <p:blipFill>
          <a:blip r:embed="rId5"/>
          <a:srcRect t="3077" b="3077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Painéis e brises de madeira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frente das janelas e porta-janelas.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painéis de madeira em todas as janelas · PL: brise fixo de madeira, estrutura em alumínio, só em alguns trechos.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briefing marca PVC; memorial fala em madeira móvel. CRÍTICO · A VALIDAR.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muxarabi.jpg"/>
          <p:cNvPicPr>
            <a:picLocks noChangeAspect="1"/>
          </p:cNvPicPr>
          <p:nvPr/>
        </p:nvPicPr>
        <p:blipFill>
          <a:blip r:embed="rId6"/>
          <a:srcRect t="13158" b="13158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Muxarabi do acesso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volume central do hall de entrada.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muxarabi em madeira de lei, à definir (fachada frontal PL).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 imagem: definir madeira e desenho.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jardineira.jpg"/>
          <p:cNvPicPr>
            <a:picLocks noChangeAspect="1"/>
          </p:cNvPicPr>
          <p:nvPr/>
        </p:nvPicPr>
        <p:blipFill>
          <a:blip r:embed="rId7"/>
          <a:srcRect l="22782" r="22782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Jardineiras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faixa entre os pavimentos.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jardineira em concreto revestida em madeira, à definir (fachadas PL).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madeira do revestimento não definida · prever dreno e impermeabilização.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pedra.jpg"/>
          <p:cNvPicPr>
            <a:picLocks noChangeAspect="1"/>
          </p:cNvPicPr>
          <p:nvPr/>
        </p:nvPicPr>
        <p:blipFill>
          <a:blip r:embed="rId8"/>
          <a:srcRect t="23904" b="23904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Empena em pedra + logo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ponta do bloco na esquina.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pedra natural com logo-casinha · proposta da arquiteta: "pedra fachada".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pedra não aparece nas notas do PL (pintura ou textura). PENDENTE.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telhado.jpg"/>
          <p:cNvPicPr>
            <a:picLocks noChangeAspect="1"/>
          </p:cNvPicPr>
          <p:nvPr/>
        </p:nvPicPr>
        <p:blipFill>
          <a:blip r:embed="rId9"/>
          <a:srcRect l="19051" r="19051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Cobertura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telhado com beiral em todos os blocos.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telha metálica tipo sanduíche Isoeste (cobertura PL) · viga metálica no beiral (fachadas).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 imagem (beiral escuro). DEFINIDO.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(2/2)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 (2023): referência visual, não substitui amostra física. Especificação: Projeto Legal R00, Memorial Descritivo e Premissas de Projeto.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branco.jpg"/>
          <p:cNvPicPr>
            <a:picLocks noChangeAspect="1"/>
          </p:cNvPicPr>
          <p:nvPr/>
        </p:nvPicPr>
        <p:blipFill>
          <a:blip r:embed="rId4"/>
          <a:srcRect t="4989" b="4989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Paredes claras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externas entre os pilares.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pintura ou textura, cor à definir (PL) · memorial: revestimento cerâmico de fachada.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cor não definida e acabamento diverge. PENDENTE.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letreiro.jpg"/>
          <p:cNvPicPr>
            <a:picLocks noChangeAspect="1"/>
          </p:cNvPicPr>
          <p:nvPr/>
        </p:nvPicPr>
        <p:blipFill>
          <a:blip r:embed="rId5"/>
          <a:srcRect l="29678" r="29678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Letreiro Imbassaí SPOT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jardim frontal, junto à calçada.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letras sobre ripado de madeira (imagem) · memorial: nome do edifício na fachada.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detalhe de material, iluminação e ponto elétrico. PENDENTE.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ripado.jpg"/>
          <p:cNvPicPr>
            <a:picLocks noChangeAspect="1"/>
          </p:cNvPicPr>
          <p:nvPr/>
        </p:nvPicPr>
        <p:blipFill>
          <a:blip r:embed="rId6"/>
          <a:srcRect t="27251" b="27251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Ripado vertical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volume do acesso na lateral direita.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ripas verticais de madeira (imagem) · PL: muxarabi e brise fixo de madeira.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se o ripado permanece no projeto.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pergolado.jpg"/>
          <p:cNvPicPr>
            <a:picLocks noChangeAspect="1"/>
          </p:cNvPicPr>
          <p:nvPr/>
        </p:nvPicPr>
        <p:blipFill>
          <a:blip r:embed="rId7"/>
          <a:srcRect l="20414" r="20414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Pergolado da piscina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área de lazer junto à piscina.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pergolado de madeira (imagem) · pergolado de eucalipto (PL, subsolo e térreo).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 imagem. DEFINIDO.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deck.jpg"/>
          <p:cNvPicPr>
            <a:picLocks noChangeAspect="1"/>
          </p:cNvPicPr>
          <p:nvPr/>
        </p:nvPicPr>
        <p:blipFill>
          <a:blip r:embed="rId8"/>
          <a:srcRect l="31763" r="31763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Deck de madeira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entorno da piscina e áreas externas.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deck de madeira permeável (situação PL) · memorial: porcelanato externo, deck de madeira ou pisante em concreto.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madeira e tratamento. DEFINIDO.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cerca.jpg"/>
          <p:cNvPicPr>
            <a:picLocks noChangeAspect="1"/>
          </p:cNvPicPr>
          <p:nvPr/>
        </p:nvPicPr>
        <p:blipFill>
          <a:blip r:embed="rId9"/>
          <a:srcRect l="19878" r="19878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Cerca e muro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divisas do terreno.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cerca de madeira com tela e mureta de pedra · PL: muro + cerca h=2,00 m · briefing: muro cor Seazone com logo.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acabamento do muro diverge entre imagem e briefing. A VALIDAR.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 da piscina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626864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Fachada_Piscina_-_Imbassaí_Spot.jpg"/>
          <p:cNvPicPr>
            <a:picLocks noChangeAspect="1"/>
          </p:cNvPicPr>
          <p:nvPr/>
        </p:nvPicPr>
        <p:blipFill>
          <a:blip r:embed="rId4"/>
          <a:srcRect t="24" b="24"/>
          <a:stretch>
            <a:fillRect/>
          </a:stretch>
        </p:blipFill>
        <p:spPr>
          <a:xfrm>
            <a:off x="502920" y="1170432"/>
            <a:ext cx="4572000" cy="25694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9202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FACHADA PISCINA</a:t>
            </a:r>
          </a:p>
        </p:txBody>
      </p:sp>
      <p:sp>
        <p:nvSpPr>
          <p:cNvPr id="13" name="Oval 12"/>
          <p:cNvSpPr/>
          <p:nvPr/>
        </p:nvSpPr>
        <p:spPr>
          <a:xfrm>
            <a:off x="2884932" y="155173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07791" y="157459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3662172" y="175729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85031" y="178015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3799332" y="198854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22191" y="201140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930652" y="239965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53512" y="242251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427732" y="329897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450591" y="332183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382012" y="299063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04872" y="301349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3250692" y="291355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73552" y="293641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4027932" y="342744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50791" y="345030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827532" y="232257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0392" y="234543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257800" y="1170432"/>
          <a:ext cx="3383280" cy="323697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731520"/>
                <a:gridCol w="1883664"/>
                <a:gridCol w="56692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(PL R00 / memorial)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Beiral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Telha sanduíche · viga metálica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Painéis de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fixo de madeira (PL) × painéis em todas as janelas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Jardineiras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revestido em madeira à definir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Eucalipto (PL)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Deck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Deck de madeira permeável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Briefing: esverdeado 20×20 · borda São Tomé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Espreguiçadeiras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Pisantes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Pisante em concreto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+ cerca h=2,00 m · cor Seazone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502920" y="3840480"/>
            <a:ext cx="457200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3941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DA FACHADA DA PISCINA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169664"/>
            <a:ext cx="4261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O fundo do bloco repete os painéis de madeira e as jardineiras, com o pergolado de madeira junto à piscina e deck contínuo. O projeto legal mantém pergolado e deck, mas mostra as esquadrias de alumínio aparentes, sem os painéis de madeira.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 lateral direita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626864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Fachada_Lateral_Direita_-_Imbassaí_Spot.jpg"/>
          <p:cNvPicPr>
            <a:picLocks noChangeAspect="1"/>
          </p:cNvPicPr>
          <p:nvPr/>
        </p:nvPicPr>
        <p:blipFill>
          <a:blip r:embed="rId4"/>
          <a:srcRect t="24" b="24"/>
          <a:stretch>
            <a:fillRect/>
          </a:stretch>
        </p:blipFill>
        <p:spPr>
          <a:xfrm>
            <a:off x="502920" y="1170432"/>
            <a:ext cx="4572000" cy="25694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1031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LATERAL DIREITA</a:t>
            </a:r>
          </a:p>
        </p:txBody>
      </p:sp>
      <p:sp>
        <p:nvSpPr>
          <p:cNvPr id="13" name="Oval 12"/>
          <p:cNvSpPr/>
          <p:nvPr/>
        </p:nvSpPr>
        <p:spPr>
          <a:xfrm>
            <a:off x="2656332" y="196285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79191" y="198571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564892" y="224549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87752" y="226835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3570732" y="224549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93591" y="226835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3113532" y="237396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36391" y="239682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862072" y="263091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884932" y="265377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3159251" y="214271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82111" y="216557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3387852" y="28364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10712" y="28593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2427732" y="286216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50591" y="288502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1421892" y="245104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44752" y="247390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257800" y="1170432"/>
          <a:ext cx="3383280" cy="323697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731520"/>
                <a:gridCol w="1883664"/>
                <a:gridCol w="56692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Cobertura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Telha metálica sanduíche Isoeste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Painéis de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fixo de madeira (PL)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vertical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(imagem) · não consta no PL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Jardineiras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revestido em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Pilares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Eucalipto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ou textura, cor à definir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Cerca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com tela (imagem) · muro + cerca (PL)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Mureta de pedra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(imagem) · sem nota no PL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Volume do acesso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Muxarabi em madeira de lei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502920" y="3840480"/>
            <a:ext cx="457200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3941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DA FACHADA LATERAL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169664"/>
            <a:ext cx="4261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Na lateral aparecem os dois blocos ligados pelo volume do acesso, com ripado vertical de madeira, painéis nas janelas e jardineiras contínuas. Na base, cerca de madeira com tela e mureta de pedra.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IMAGEM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Imagem vendida × proposta da arquiteta contratada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032503" cy="2295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Fachada_Frontal_-_Imbassaí_Spot.jpg"/>
          <p:cNvPicPr>
            <a:picLocks noChangeAspect="1"/>
          </p:cNvPicPr>
          <p:nvPr/>
        </p:nvPicPr>
        <p:blipFill>
          <a:blip r:embed="rId4"/>
          <a:srcRect l="84" r="84"/>
          <a:stretch>
            <a:fillRect/>
          </a:stretch>
        </p:blipFill>
        <p:spPr>
          <a:xfrm>
            <a:off x="502920" y="1170432"/>
            <a:ext cx="3977639" cy="22402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920240" cy="155448"/>
          </a:xfrm>
          <a:prstGeom prst="rect">
            <a:avLst/>
          </a:prstGeom>
          <a:solidFill>
            <a:srgbClr val="1E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2023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6007" y="1143000"/>
            <a:ext cx="4032503" cy="2295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_BOOK_ASSETS__beth2.jpg"/>
          <p:cNvPicPr>
            <a:picLocks noChangeAspect="1"/>
          </p:cNvPicPr>
          <p:nvPr/>
        </p:nvPicPr>
        <p:blipFill>
          <a:blip r:embed="rId5"/>
          <a:srcRect l="84" r="84"/>
          <a:stretch>
            <a:fillRect/>
          </a:stretch>
        </p:blipFill>
        <p:spPr>
          <a:xfrm>
            <a:off x="4663440" y="1170432"/>
            <a:ext cx="3977639" cy="22402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754880" y="1261872"/>
            <a:ext cx="2377440" cy="155448"/>
          </a:xfrm>
          <a:prstGeom prst="rect">
            <a:avLst/>
          </a:prstGeom>
          <a:solidFill>
            <a:srgbClr val="B28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PROPOSTA BETH CÂMARA (ARQUITETA)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93008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333333"/>
                </a:solidFill>
                <a:latin typeface="Arial"/>
              </a:rPr>
              <a:t>Imagem de venda: painéis de madeira em todas as janelas, pilares de eucalipto, jardineiras e empena de pedra com o logo Seazone.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93008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333333"/>
                </a:solidFill>
                <a:latin typeface="Arial"/>
              </a:rPr>
              <a:t>Proposta da arquiteta contratada (base do Projeto Legal R00): alvenaria clara, esquadrias aparentes, guarda-corpo nas sacadas, pedra na empena e muxarabi no acesso.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114800"/>
            <a:ext cx="8138160" cy="65836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22452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4215384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PONTO CRÍTICO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443984"/>
            <a:ext cx="7827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Há cinco propostas de alteração de fachada na pasta (Ana Carolina, Arthur Sérgio, Matheus Pivetta, Rilton e Beth Câmara). O projeto legal segue a da arquiteta contratada, que se afasta da imagem vendida. Definir com Projetos qual fachada será executada.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Fachadas do projeto legal (08 e 09 · R00)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266944" cy="1746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exec_frontal.jpg"/>
          <p:cNvPicPr>
            <a:picLocks noChangeAspect="1"/>
          </p:cNvPicPr>
          <p:nvPr/>
        </p:nvPicPr>
        <p:blipFill>
          <a:blip r:embed="rId4"/>
          <a:srcRect t="10319" b="10319"/>
          <a:stretch>
            <a:fillRect/>
          </a:stretch>
        </p:blipFill>
        <p:spPr>
          <a:xfrm>
            <a:off x="502920" y="1170432"/>
            <a:ext cx="5212080" cy="1691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1031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PROJETO LEGAL · FACHADA FRONTAL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944368"/>
            <a:ext cx="5266944" cy="1856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_BOOK_ASSETS__exec_posterior.jpg"/>
          <p:cNvPicPr>
            <a:picLocks noChangeAspect="1"/>
          </p:cNvPicPr>
          <p:nvPr/>
        </p:nvPicPr>
        <p:blipFill>
          <a:blip r:embed="rId5"/>
          <a:srcRect l="11202" r="11202"/>
          <a:stretch>
            <a:fillRect/>
          </a:stretch>
        </p:blipFill>
        <p:spPr>
          <a:xfrm>
            <a:off x="502920" y="2971800"/>
            <a:ext cx="5212080" cy="18013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3063240"/>
            <a:ext cx="21945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PROJETO LEGAL · FACHADA POSTERIOR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852160" y="1170432"/>
          <a:ext cx="2788920" cy="330555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05840"/>
                <a:gridCol w="178308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56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60" b="1">
                          <a:solidFill>
                            <a:srgbClr val="FFFFFF"/>
                          </a:solidFill>
                          <a:latin typeface="Arial"/>
                        </a:rPr>
                        <a:t>Nota nas fachadas (R00, 30/01/2024)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60" b="1">
                          <a:solidFill>
                            <a:srgbClr val="00143D"/>
                          </a:solidFill>
                          <a:latin typeface="Arial"/>
                        </a:rPr>
                        <a:t>Pilares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60" b="0">
                          <a:solidFill>
                            <a:srgbClr val="333333"/>
                          </a:solidFill>
                          <a:latin typeface="Arial"/>
                        </a:rPr>
                        <a:t>Pilar em eucalipto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60" b="1">
                          <a:solidFill>
                            <a:srgbClr val="00143D"/>
                          </a:solidFill>
                          <a:latin typeface="Arial"/>
                        </a:rPr>
                        <a:t>Beiral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60" b="0">
                          <a:solidFill>
                            <a:srgbClr val="333333"/>
                          </a:solidFill>
                          <a:latin typeface="Arial"/>
                        </a:rPr>
                        <a:t>Viga metálica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6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60" b="0">
                          <a:solidFill>
                            <a:srgbClr val="333333"/>
                          </a:solidFill>
                          <a:latin typeface="Arial"/>
                        </a:rPr>
                        <a:t>Pintura ou textura, cor à definir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60" b="1">
                          <a:solidFill>
                            <a:srgbClr val="00143D"/>
                          </a:solidFill>
                          <a:latin typeface="Arial"/>
                        </a:rPr>
                        <a:t>Vigas de borda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60" b="0">
                          <a:solidFill>
                            <a:srgbClr val="333333"/>
                          </a:solidFill>
                          <a:latin typeface="Arial"/>
                        </a:rPr>
                        <a:t>Reboco e revestimento cerâmico a definir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6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60" b="0">
                          <a:solidFill>
                            <a:srgbClr val="333333"/>
                          </a:solidFill>
                          <a:latin typeface="Arial"/>
                        </a:rPr>
                        <a:t>Brise fixo de madeira, estrutura em alumínio anodizado ou pintado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60" b="1">
                          <a:solidFill>
                            <a:srgbClr val="00143D"/>
                          </a:solidFill>
                          <a:latin typeface="Arial"/>
                        </a:rPr>
                        <a:t>Jardineiras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60" b="0">
                          <a:solidFill>
                            <a:srgbClr val="333333"/>
                          </a:solidFill>
                          <a:latin typeface="Arial"/>
                        </a:rPr>
                        <a:t>Concreto revestido em madeira à definir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60" b="1">
                          <a:solidFill>
                            <a:srgbClr val="00143D"/>
                          </a:solidFill>
                          <a:latin typeface="Arial"/>
                        </a:rPr>
                        <a:t>Acesso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60" b="0">
                          <a:solidFill>
                            <a:srgbClr val="333333"/>
                          </a:solidFill>
                          <a:latin typeface="Arial"/>
                        </a:rPr>
                        <a:t>Muxarabi em madeira de lei à definir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6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60" b="0">
                          <a:solidFill>
                            <a:srgbClr val="333333"/>
                          </a:solidFill>
                          <a:latin typeface="Arial"/>
                        </a:rPr>
                        <a:t>Alumínio pintado, madeira ou PVC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6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60" b="0">
                          <a:solidFill>
                            <a:srgbClr val="333333"/>
                          </a:solidFill>
                          <a:latin typeface="Arial"/>
                        </a:rPr>
                        <a:t>Madeira tipo kit pronto no tom 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6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60" b="0">
                          <a:solidFill>
                            <a:srgbClr val="333333"/>
                          </a:solidFill>
                          <a:latin typeface="Arial"/>
                        </a:rPr>
                        <a:t>Guarda-corpo de madeira (acesso)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60" b="1">
                          <a:solidFill>
                            <a:srgbClr val="00143D"/>
                          </a:solidFill>
                          <a:latin typeface="Arial"/>
                        </a:rPr>
                        <a:t>Escada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60" b="0">
                          <a:solidFill>
                            <a:srgbClr val="333333"/>
                          </a:solidFill>
                          <a:latin typeface="Arial"/>
                        </a:rPr>
                        <a:t>Cerâmica antiderrapante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Imagem de lançamento × Projeto Legal R00, Memorial Descritivo e Premissas.  DEFINIDO = convergem  ·  A VALIDAR = divergem ou sem detalhe  ·  PENDENTE = sem definição.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514600"/>
                <a:gridCol w="347472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Lançamento (imagens 2023)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Projeto Legal R00 / Memorial / Briefing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Leitura geral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Painéis de madeira em todas as janelas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Alvenaria clara com esquadrias aparentes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Painéis de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Fixo de madeira (PL) · móvel (memorial) · PVC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Pilares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Eucalipto roliço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Pilar em eucalipto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Cobertura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Beiral escuro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Telha sanduíche Isoeste · viga metálica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Pintura/textura à definir (PL) × cerâmico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Jardineiras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Com vegetação 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revestido em madeira à definir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Muxarabi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Volume do acesso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Muxarabi em madeira de lei à definir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Empena de pedra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Com logo Seazone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consta nas notas do PL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Escondidas pelos painéis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Alumínio, madeira ou PVC · briefing: linha 32 imitando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aparecem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(PL) · madeira + cabos de aço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Imbassaí SPOT no jardim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Nome na fachada (memorial) ·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Eucalipto (PL)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Deck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Deck de madeira permeável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Cerca de madeira + pedra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+ cerca (PL) · cor Seazone com logo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de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Conceito "tranquilidade tropical"  ·  recepção  ·  área de lazer  ·  unidades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IMBASSAÍ SPOT  ·  BOOK DE PREMISSAS DE FACHADA E INTERIORES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Conceito: tranquilidade tropical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Moodboards de interiores (05 - Imagens 3D / 04 - Moodboard Interno) e imagens finais (10 - Projeto de Interiores / 02 - Imagens).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224942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417320"/>
                <a:gridCol w="3291840"/>
                <a:gridCol w="2148840"/>
                <a:gridCol w="128016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Ambiente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Conceito (seguir)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Referências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Geral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Inspiração balinesa: bege, marrom e amadeirado; palha, madeira e linho; textura com pigmento mineral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Moodboard "Tranquilidade tropical"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Painel muxarabi, parede em pedra, palha no teto, poltronas papasan, balanço, pendentes de palha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Memorial da recepção (30/08/2023)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Área de lazer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Pergolado de madeira, jardim vertical com frase, parede em pedra branca, balanços, bancada em concreto branco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Moodboard "Refúgio natural"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Cabeceira em muxarabi, MDF tauari, arandela cônica, espelho oval, cortina de linho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Alterações propostas 01/06/2023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Revisão 28/05/23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Retirar crochê e lã; cozinha menos amadeirada; banheiro com spots no lugar do 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Observações da Seazone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4133087"/>
            <a:ext cx="8138160" cy="64008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242816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233672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REGRA PARA A OBRA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62272"/>
            <a:ext cx="7827264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Vale o conceito das imagens finais de interiores (10 - Projeto de Interiores / 02 - Imagens) e dos memoriais de repasse à Lofteria. O muxarabi da fachada se repete na cabeceira das unidades: manter o mesmo padrão.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Recepção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epção__01_-_Recepção.jpg"/>
          <p:cNvPicPr>
            <a:picLocks noChangeAspect="1"/>
          </p:cNvPicPr>
          <p:nvPr/>
        </p:nvPicPr>
        <p:blipFill>
          <a:blip r:embed="rId4"/>
          <a:srcRect l="2842" r="2842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INTERIORES · RECEPÇÃO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cepção__05_-_Recepção.jpg"/>
          <p:cNvPicPr>
            <a:picLocks noChangeAspect="1"/>
          </p:cNvPicPr>
          <p:nvPr/>
        </p:nvPicPr>
        <p:blipFill>
          <a:blip r:embed="rId5"/>
          <a:srcRect l="2842" r="2842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LETREIRO IMBASSAÍ SPOT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Letreiro amadeirado com LED e frase "Quando nos conectamos com a natureza, encontramos o equilíbrio que buscamos".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(memorial da recepção · briefing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Parede-destaque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Revestimento em pedra (briefing e imagem) + textura velvet areia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Muxarabi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Painel muxarabi, sugestão MDF tauari (memorial da recepção)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Palha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Painel em palha na parede e no teto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 · rodapé branco 7 cm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Puff lounge em tricô, poltrona de bambu, mesa lateral de vime, biombo de palha, balanço em corda náutica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Pendentes artesanais de bambu em diferentes alturas · postes de jardim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Letreiros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Letreiro e frase amadeirados com LED · ponto do logo iluminado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Acesso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 em perfil metálico e vidro com reconhecimento facial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Climatização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Infraestrutura de 22.000 BTU na parede central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Área de lazer e piscina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Área_de_lazer__11_-_Área_de_lazer.jpg"/>
          <p:cNvPicPr>
            <a:picLocks noChangeAspect="1"/>
          </p:cNvPicPr>
          <p:nvPr/>
        </p:nvPicPr>
        <p:blipFill>
          <a:blip r:embed="rId4"/>
          <a:srcRect l="2842" r="2842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INTERIORES · PISCINA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Área_de_lazer__14_-_Área_de_lazer.jpg"/>
          <p:cNvPicPr>
            <a:picLocks noChangeAspect="1"/>
          </p:cNvPicPr>
          <p:nvPr/>
        </p:nvPicPr>
        <p:blipFill>
          <a:blip r:embed="rId5"/>
          <a:srcRect l="2842" r="2842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JARDIM VERTICAL + BALANÇOS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Jardim vertical com a frase "Forget the maps, follow your instincts" e parede em pedra branca com "Na natureza, corpo e alma se entrelaçam em harmonia".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(memorial da área de lazer · moodboard · briefing)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com vigas de madeira e perfil de LED nas vigas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Pedra natural branca + textura velvet (briefing) · pedra Moledo e cimento queimado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Jardim vertical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Jardim vertical preservado com frase (memorial e 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Urban Branco Savane (moodboard) · 90×90 antiderrapante nas áreas externas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Copa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Bancada em concreto branco, MDF tauari, revestimento Anticatto Olaria Lotus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Revestimento esverdeado 20×20 (briefing) · borda São Tomé ou cerâmica atérmica (memorial) · 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Balanços Painho Tidelli, poltrona Dobra, puff Uni, banqueta Maya giratória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Luminária Cacimba em palha e pendentes na copa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Aquecimento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Solar para a piscina (briefing) · ducha de piso junto ao banheiro PNE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Unidades: acabamentos e escopo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nidade_simples__03_-_Unidade_simples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INTERIORES · UNIDADE SIMPLES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nidade_pcd__pcd_3.jpg"/>
          <p:cNvPicPr>
            <a:picLocks noChangeAspect="1"/>
          </p:cNvPicPr>
          <p:nvPr/>
        </p:nvPicPr>
        <p:blipFill>
          <a:blip r:embed="rId5"/>
          <a:srcRect t="7265" b="7265"/>
          <a:stretch>
            <a:fillRect/>
          </a:stretch>
        </p:blipFill>
        <p:spPr>
          <a:xfrm>
            <a:off x="502920" y="2697480"/>
            <a:ext cx="237744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INTERIORES · UNIDADE PCD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Imagens da unidade simples e da unidade PCD (10 - Projeto de Interiores / 02 - Imagens) e memorial de repasse da unidade.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(memorial da unidade · briefing · memorial descritivo)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 (briefing e memorial) · briefing também marca piso vinílico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acrílica branco gelo acetinado · teto branco neve fosco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Banheiro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nas paredes e no piso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Cabeceira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Muxarabi em MDF savana, o mesmo desenho da fachada (memorial da unidade)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Sugestão MDF tauari em prateleiras, vassoureiro e bancada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Arandela na parede no lugar do pendente (briefing) · arandela cônica e Glam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Portas em acabamento amadeirado (briefing) · kit pronto tom amadeirado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Linha 32 (gold), PVC ou alumínio (briefing) · vidro mini boreal no banheiro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Têxteis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Cortina Edna em linho com forro, bege claro · espelho oval com moldura preta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áreas comuns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finais de interiores.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pedraint.jpg"/>
          <p:cNvPicPr>
            <a:picLocks noChangeAspect="1"/>
          </p:cNvPicPr>
          <p:nvPr/>
        </p:nvPicPr>
        <p:blipFill>
          <a:blip r:embed="rId4"/>
          <a:srcRect l="16071" r="16071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Parede em pedra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parede-destaque da recepção.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revestimento em pedra (briefing) · imagem: pedra clara irregular.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pedra e paginação antes da compra.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muxarabiint.jpg"/>
          <p:cNvPicPr>
            <a:picLocks noChangeAspect="1"/>
          </p:cNvPicPr>
          <p:nvPr/>
        </p:nvPicPr>
        <p:blipFill>
          <a:blip r:embed="rId5"/>
          <a:srcRect t="21924" b="21924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Muxarabi interno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painel da recepção.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painel muxarabi, sugestão MDF tauari (memorial da recepção).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desenho do muxarabi da fachada e das cabeceiras.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pendente.jpg"/>
          <p:cNvPicPr>
            <a:picLocks noChangeAspect="1"/>
          </p:cNvPicPr>
          <p:nvPr/>
        </p:nvPicPr>
        <p:blipFill>
          <a:blip r:embed="rId6"/>
          <a:srcRect l="24591" r="24591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Pendentes de palha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 e copa da área de lazer.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pendentes artesanais de bambu e luminária Cacimba em palha (memoriais).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pontos em diferentes alturas (briefing).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pedrabranca.jpg"/>
          <p:cNvPicPr>
            <a:picLocks noChangeAspect="1"/>
          </p:cNvPicPr>
          <p:nvPr/>
        </p:nvPicPr>
        <p:blipFill>
          <a:blip r:embed="rId7"/>
          <a:srcRect l="11849" r="11849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Pedra branca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da área de lazer.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pedra natural branca + textura velvet (briefing) · frase em letras pretas.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aprovar pedra e fixação das letras.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jardimvert.jpg"/>
          <p:cNvPicPr>
            <a:picLocks noChangeAspect="1"/>
          </p:cNvPicPr>
          <p:nvPr/>
        </p:nvPicPr>
        <p:blipFill>
          <a:blip r:embed="rId8"/>
          <a:srcRect l="26175" r="26175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Jardim vertical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dos balanços na área de lazer.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jardim vertical preservado com frase (memorial da área de lazer).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reforço para os balanços e pontos de tomada (briefing).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forrovigas.jpg"/>
          <p:cNvPicPr>
            <a:picLocks noChangeAspect="1"/>
          </p:cNvPicPr>
          <p:nvPr/>
        </p:nvPicPr>
        <p:blipFill>
          <a:blip r:embed="rId9"/>
          <a:srcRect l="26175" r="26175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Forro com vigas de madeira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área de integração.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gesso acartonado com vigas de madeira e perfil de LED (briefing).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madeira das vigas e iluminação.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unidades e copa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finais de interiores.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cabeceira.jpg"/>
          <p:cNvPicPr>
            <a:picLocks noChangeAspect="1"/>
          </p:cNvPicPr>
          <p:nvPr/>
        </p:nvPicPr>
        <p:blipFill>
          <a:blip r:embed="rId4"/>
          <a:srcRect l="28795" r="28795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Cabeceira em muxarabi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cabeceira das unidades.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muxarabi em MDF savana (memorial da unidade).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tomada embutida na cabeceira (alterações propostas).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marcenaria.jpg"/>
          <p:cNvPicPr>
            <a:picLocks noChangeAspect="1"/>
          </p:cNvPicPr>
          <p:nvPr/>
        </p:nvPicPr>
        <p:blipFill>
          <a:blip r:embed="rId5"/>
          <a:srcRect l="24591" r="24591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Marcenaria clara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 de trabalho e copa das unidades.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sugestão MDF tauari · cadeiras em palhinha (memorial e imagens).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cozinha menos amadeirada (revisão Seazone 28/05/2023).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bwc.jpg"/>
          <p:cNvPicPr>
            <a:picLocks noChangeAspect="1"/>
          </p:cNvPicPr>
          <p:nvPr/>
        </p:nvPicPr>
        <p:blipFill>
          <a:blip r:embed="rId6"/>
          <a:srcRect l="11849" r="11849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Banheiro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banheiro das unidades.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porcelanato 90×90 natural/acetinado nas paredes e no piso (briefing).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spots no lugar do pendente (revisão 28/05/2023).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bancada.jpg"/>
          <p:cNvPicPr>
            <a:picLocks noChangeAspect="1"/>
          </p:cNvPicPr>
          <p:nvPr/>
        </p:nvPicPr>
        <p:blipFill>
          <a:blip r:embed="rId7"/>
          <a:srcRect l="28210" r="28210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Bancada em concreto branco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copa da área de lazer.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 em concreto branco (memorial da área de lazer).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acabamento e impermeabilização da bancada.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pastilha.jpg"/>
          <p:cNvPicPr>
            <a:picLocks noChangeAspect="1"/>
          </p:cNvPicPr>
          <p:nvPr/>
        </p:nvPicPr>
        <p:blipFill>
          <a:blip r:embed="rId8"/>
          <a:srcRect l="28210" r="28210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Revestimento da piscina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piscina da área de lazer.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briefing: revestimento esverdeado 20×20 · imagem: pastilha azul.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fechar referência e cor antes do pedido.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poltrona.jpg"/>
          <p:cNvPicPr>
            <a:picLocks noChangeAspect="1"/>
          </p:cNvPicPr>
          <p:nvPr/>
        </p:nvPicPr>
        <p:blipFill>
          <a:blip r:embed="rId9"/>
          <a:srcRect l="11849" r="11849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Poltronas papasan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poltronas redondas em fibra e puffs em tricô artesanal (memorial da recepção).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revisão Seazone pede evitar crochê e lã: confirmar os puffs. A VALIDAR.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finais de interiores × memoriais de repasse (Lofteria), Premissas de Projeto e Memorial Descritivo.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Imagens de interiores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Memoriais / briefing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parede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clara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+ textura velvet areia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muxarabi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Painel de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Muxarabi em MDF tauari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palha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Palha no teto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Painel em palha parede e teto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Puffs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Tricô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Revisão Seazone pede evitar crochê/lã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Lazer · 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Vigas de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Gesso com vigas de madeira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Lazer · 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branca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natural branca + velvet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Jardim vertical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Com frase e balanços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Jardim preservado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Pastilha azul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Aquecimento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Solar (briefing) · sem projeto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× vinílico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Cabeceira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Muxarabi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MDF savana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Kit pronto tom 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Outono Gelado · arandelas + trilho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Só memoriais de repasse e imagens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Briefing de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Acabamentos marcados em "[Imbassaí SPOT] Premissas de Projeto"  ·  cruzamento com 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IMBASSAÍ SPOT  ·  BOOK DE PREMISSAS DE FACHADA E INTERIORES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Briefing × projeto: acabamentos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Opções marcadas em "[Imbassaí SPOT] Premissas de Projeto" (coluna "Conferência") × Projeto Legal R00 e Memorial Descritivo.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12723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788920"/>
                <a:gridCol w="32004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Briefing de Projeto (opção marcada)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Projeto legal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PVC, conforme detalhamento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Fixo de madeira (PL) · madeira móvel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com logo e nome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+ cerca h=2,00 m (PL)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32, acabamento imitando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pintado, madeira ou PVC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privativo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com montante aparente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(PL) · madeira + cabos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comum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perfil "U" inox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no acesso (PL)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Acabamento amadeirado, bandeira até o 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Kit pronto tom 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em pedra + textura velvet areia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Imagem: pedra clara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Área de integração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gesso com vigas de madeira · pedra branca + velvet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de lazer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Outono Gelado (Coral) · forro modular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projeto de interiores de corredor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· externo antiderrapante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retificado 90×90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e piso vinílico marcados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· aquecimento solar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Borda São Tomé ou atérmica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acrílica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Luminárias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Arandela no lugar do pendente (unidades)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Arandela cônica (memorial da unidade)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Ducha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Ducha de piso + torneira junto ao PNE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projeto hidráulico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Pontos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 que gera retrabalho se não for observado  ·  premissas travadas  ·  checklist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IMBASSAÍ SPOT  ·  BOOK DE PREMISSAS DE FACHADA E INTERIORES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que Obras precisa observar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FACHADA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A imagem vendida tem painéis de madeira em todas as janelas.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O projeto legal segue a proposta da arquiteta contratada, com esquadrias aparentes.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Definir a fachada a executar antes do executivo.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MADEIRA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Pilares de eucalipto, brises, jardineiras, muxarabi e pergolado em madeira.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Definir espécie, tratamento e fixação (ambiente de praia).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Brises: madeira (PL) × PVC (briefing).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CORES E REVESTIMENTOS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Paredes: pintura ou textura com cor à definir.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Memorial fala em revestimento cerâmico de fachada.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Empena de pedra da imagem não aparece no projeto.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IDENTIDADE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Logo Seazone na empena e letreiro Imbassaí SPOT sem detalhe.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Muro com cor Seazone e logo (briefing).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Prever pontos elétricos antes dos revestimentos.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INTERIORES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Seguir as imagens finais e os memoriais de repasse.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Muxarabi igual na fachada, recepção e cabeceira.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Evitar crochê e lã (revisão Seazone 28/05/2023).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PISCINA E LAZER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Revestimento esverdeado 20×20 (briefing) × pastilha azul (imagem).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Aquecimento solar e ducha de piso sem projeto.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Reforço para os balanços no jardim vertical.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Não alterar sem validação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3977639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PREMISSAS TRAVADAS (CONVERGEM LANÇAMENTO E PROJETO)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7276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Pilares em eucalipto em toda a fachada.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Cobertura com beiral e telha metálica sanduíche.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4086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Muxarabi em madeira no volume do acesso.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Jardineiras com vegetação entre os pavimentos.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08960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Pergolado de eucalipto e deck de madeira na piscina.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478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9300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Portas em acabamento amadeirado.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87705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Recepção com pedra, muxarabi e palha.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6110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Área de lazer com jardim vertical, pedra branca e vigas de madeira.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271016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ANTES DE COMPRAR OU EXECUTAR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499616"/>
            <a:ext cx="3730752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1. </a:t>
            </a:r>
            <a:r>
              <a:rPr sz="700" b="0">
                <a:solidFill>
                  <a:srgbClr val="FFFFFF"/>
                </a:solidFill>
                <a:latin typeface="Arial"/>
              </a:rPr>
              <a:t>Troca de cor, material ou referência de fachada precisa de aprovação de Projetos: a fachada é a imagem vendida no lançamento.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2. </a:t>
            </a:r>
            <a:r>
              <a:rPr sz="700" b="0">
                <a:solidFill>
                  <a:srgbClr val="FFFFFF"/>
                </a:solidFill>
                <a:latin typeface="Arial"/>
              </a:rPr>
              <a:t>Itens A VALIDAR não entram em pedido de compra até a definição registrada.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3. </a:t>
            </a:r>
            <a:r>
              <a:rPr sz="700" b="0">
                <a:solidFill>
                  <a:srgbClr val="FFFFFF"/>
                </a:solidFill>
                <a:latin typeface="Arial"/>
              </a:rPr>
              <a:t>Definir formalmente qual proposta de fachada será executada.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4. </a:t>
            </a:r>
            <a:r>
              <a:rPr sz="700" b="0">
                <a:solidFill>
                  <a:srgbClr val="FFFFFF"/>
                </a:solidFill>
                <a:latin typeface="Arial"/>
              </a:rPr>
              <a:t>Amostras físicas (madeira, pedra, pintura, revestimento da piscina) aprovadas no local.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5. </a:t>
            </a:r>
            <a:r>
              <a:rPr sz="700" b="0">
                <a:solidFill>
                  <a:srgbClr val="FFFFFF"/>
                </a:solidFill>
                <a:latin typeface="Arial"/>
              </a:rPr>
              <a:t>Onde memorial, projeto e briefing divergem, prevalece a definição registrada por Projetos.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246120"/>
            <a:ext cx="3730752" cy="9144"/>
          </a:xfrm>
          <a:prstGeom prst="rect">
            <a:avLst/>
          </a:prstGeom>
          <a:solidFill>
            <a:srgbClr val="8FA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34670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ONDE CONSULTAR (1.12 - [1797] IMBASSAÍ SPOT / 02 - PROJETOS)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566160"/>
            <a:ext cx="37307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Fachada: </a:t>
            </a:r>
            <a:r>
              <a:rPr sz="650" b="0">
                <a:solidFill>
                  <a:srgbClr val="9FB0D4"/>
                </a:solidFill>
                <a:latin typeface="Arial"/>
              </a:rPr>
              <a:t>08 / 06 - Projeto Legal / R00 (fachadas 08 e 09) · 05 - Imagens 3D / 03 - Propostas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Imagens: </a:t>
            </a:r>
            <a:r>
              <a:rPr sz="650" b="0">
                <a:solidFill>
                  <a:srgbClr val="9FB0D4"/>
                </a:solidFill>
                <a:latin typeface="Arial"/>
              </a:rPr>
              <a:t>08 / 05 - Imagens 3D / 01 - Lançamento Externa · 10 - Projeto de Interiores / 02 - Imagens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Memoriais: </a:t>
            </a:r>
            <a:r>
              <a:rPr sz="650" b="0">
                <a:solidFill>
                  <a:srgbClr val="9FB0D4"/>
                </a:solidFill>
                <a:latin typeface="Arial"/>
              </a:rPr>
              <a:t>09 - Memorial Descritivo · 10 / 04 - Repasse Lofteria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Premissas: </a:t>
            </a:r>
            <a:r>
              <a:rPr sz="650" b="0">
                <a:solidFill>
                  <a:srgbClr val="9FB0D4"/>
                </a:solidFill>
                <a:latin typeface="Arial"/>
              </a:rPr>
              <a:t>00 - Premissas de Projeto · [Imbassaí SPOT] Premissas de Projeto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Pendências e checklist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IMBASSAÍ SPOT  ·  BOOK DE PREMISSAS DE FACHADA E INTERIORES  ·  25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112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2103120"/>
                <a:gridCol w="4709160"/>
                <a:gridCol w="109728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definir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Fachada a executar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Imagem vendida × proposta da arquiteta (base do PL R00)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Painéis e 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Painéis em todas as janelas × brise fixo parcial · madeira × PVC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Madeira da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Espécie, tratamento e fixação de pilares, brises, jardineiras e muxarabi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Cores das 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ou textura "cor à definir" (PL) × cerâmico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Empena de pedra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e logo Seazone da imagem: incluir ou não no projeto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imitando madeira (briefing) · material no PL em aberto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(PL) × alumínio anodizado ou vidro U inox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Imbassaí SPOT: material, iluminação e ponto elétrico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 e cerca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Cerca de madeira da imagem × muro cor Seazone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Projeto executivo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Pasta 07 - Projeto Executivo vazia: emitir executivo de arquitetura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Pedra, muxarabi e palha: fornecedores e fixação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Mobiliário têxtil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Puffs em tricô × revisão Seazone (evitar crochê/lã)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× pastilha azul · borda · aquecimento solar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Jardim vertical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Irrigação, frase e reforço para balanços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× vinílico (ambos marcados)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Projeto de interiores dos corredores (Outono Gelado, arandelas)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Ducha e torneira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Ducha de piso e torneira junto ao banheiro PNE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Hoje só imagens e memoriais de repasse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IMBASSAÍ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Lançamento × Projeto  ·  Seazone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IMBASSAÍ SPOT  ·  BOOK DE PREMISSAS DE FACHADA E INTERIORES  · 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