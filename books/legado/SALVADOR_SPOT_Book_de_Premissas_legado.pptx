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7"/>
    <p:sldId id="274" r:id="rId6"/>
    <p:sldId id="275" r:id="rId5"/>
    <p:sldId id="276" r:id="rId4"/>
    <p:sldId id="277" r:id="rId3"/>
    <p:sldId id="278" r:id="rId2"/>
    <p:sldId id="279" r:id="rId31"/>
    <p:sldId id="280" r:id="rId32"/>
    <p:sldId id="281" r:id="rId33"/>
    <p:sldId id="282" r:id="rId3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oline Vieira Montedo" initials="" lastIdx="3" clrIdx="0"/>
  <p:cmAuthor id="1" name="Rachel Souto Hudson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9DEEBB-5512-44E8-9C8E-75C5AFC50D94}">
  <a:tblStyle styleId="{D79DEEBB-5512-44E8-9C8E-75C5AFC50D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3.xml"/><Relationship Id="rId3" Type="http://schemas.openxmlformats.org/officeDocument/2006/relationships/slide" Target="slides/slide22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Relationship Id="rId9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jpg"/><Relationship Id="rId8" Type="http://schemas.openxmlformats.org/officeDocument/2006/relationships/image" Target="../media/image17.jpg"/><Relationship Id="rId9" Type="http://schemas.openxmlformats.org/officeDocument/2006/relationships/image" Target="../media/image1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9.jpg"/><Relationship Id="rId5" Type="http://schemas.openxmlformats.org/officeDocument/2006/relationships/image" Target="../media/image3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1.jpg"/><Relationship Id="rId5" Type="http://schemas.openxmlformats.org/officeDocument/2006/relationships/image" Target="../media/image3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3.jpg"/><Relationship Id="rId5" Type="http://schemas.openxmlformats.org/officeDocument/2006/relationships/image" Target="../media/image3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jpg"/><Relationship Id="rId8" Type="http://schemas.openxmlformats.org/officeDocument/2006/relationships/image" Target="../media/image39.jpg"/><Relationship Id="rId9" Type="http://schemas.openxmlformats.org/officeDocument/2006/relationships/image" Target="../media/image4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1.jpg"/><Relationship Id="rId5" Type="http://schemas.openxmlformats.org/officeDocument/2006/relationships/image" Target="../media/image42.jpg"/><Relationship Id="rId6" Type="http://schemas.openxmlformats.org/officeDocument/2006/relationships/image" Target="../media/image43.jpg"/><Relationship Id="rId7" Type="http://schemas.openxmlformats.org/officeDocument/2006/relationships/image" Target="../media/image44.jpg"/><Relationship Id="rId8" Type="http://schemas.openxmlformats.org/officeDocument/2006/relationships/image" Target="../media/image4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_-_Lançamento_Externa__P124_Render_Externo_01.jpg"/>
          <p:cNvPicPr>
            <a:picLocks noChangeAspect="1"/>
          </p:cNvPicPr>
          <p:nvPr/>
        </p:nvPicPr>
        <p:blipFill>
          <a:blip r:embed="rId2"/>
          <a:srcRect l="19520" r="21147"/>
          <a:stretch>
            <a:fillRect/>
          </a:stretch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45720" cy="514350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1783080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847088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Salvador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448056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FB0D4"/>
                </a:solidFill>
                <a:latin typeface="Arial"/>
              </a:rPr>
              <a:t>Lançamento  ×  Executivo  ·  Fachada  ·  Interiores</a:t>
            </a:r>
          </a:p>
          <a:p>
            <a:pPr algn="l">
              <a:spcAft>
                <a:spcPts val="400"/>
              </a:spcAft>
            </a:pPr>
            <a:r>
              <a:rPr sz="750" b="0">
                <a:solidFill>
                  <a:srgbClr val="8FA3CC"/>
                </a:solidFill>
                <a:latin typeface="Arial"/>
              </a:rPr>
              <a:t>Base: imagens de lançamento (P124) · Projeto Executivo de Arquitetura GS Arquitetos (fachadas 13 e 14/15, 31/07/2026) · Conferência de Projetos Executivos · Memorial Descritivo · Premissas de Projeto · LOG de considerações · moodboard e memorial de interiores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342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FA3CC"/>
                </a:solidFill>
                <a:latin typeface="Arial"/>
              </a:rPr>
              <a:t>Rua Milton Oliveira · Barra · Salvador/BA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44805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DOCUMENTO TÉCNICO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objetivo deste material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Consolidar as premissas de </a:t>
            </a:r>
            <a:r>
              <a:rPr sz="750" b="1">
                <a:solidFill>
                  <a:srgbClr val="333333"/>
                </a:solidFill>
                <a:latin typeface="Arial"/>
              </a:rPr>
              <a:t>fachada e interiores</a:t>
            </a:r>
            <a:r>
              <a:rPr sz="750" b="0">
                <a:solidFill>
                  <a:srgbClr val="333333"/>
                </a:solidFill>
                <a:latin typeface="Arial"/>
              </a:rPr>
              <a:t> do Salvador Spot a partir da leitura cruzada entre as </a:t>
            </a:r>
            <a:r>
              <a:rPr sz="750" b="1">
                <a:solidFill>
                  <a:srgbClr val="333333"/>
                </a:solidFill>
                <a:latin typeface="Arial"/>
              </a:rPr>
              <a:t>imagens de lançamento</a:t>
            </a:r>
            <a:r>
              <a:rPr sz="750" b="0">
                <a:solidFill>
                  <a:srgbClr val="333333"/>
                </a:solidFill>
                <a:latin typeface="Arial"/>
              </a:rPr>
              <a:t>, o </a:t>
            </a:r>
            <a:r>
              <a:rPr sz="750" b="1">
                <a:solidFill>
                  <a:srgbClr val="333333"/>
                </a:solidFill>
                <a:latin typeface="Arial"/>
              </a:rPr>
              <a:t>projeto executivo da GS Arquitetos</a:t>
            </a:r>
            <a:r>
              <a:rPr sz="750" b="0">
                <a:solidFill>
                  <a:srgbClr val="333333"/>
                </a:solidFill>
                <a:latin typeface="Arial"/>
              </a:rPr>
              <a:t>, o briefing de premissas e o projeto de interiores: o que a imagem vendeu, o que o executivo traz e o que validar antes da compra.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" y="2139696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4883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Leitura da fachada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5798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 que compõe cada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32303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2468879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7802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Mapa de texturas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8716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· 12 elementos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61487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2798063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807207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Vistas especificadas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816351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esquina e rooftop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90672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" y="3127248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136391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Executivo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4553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elevações e revestimentos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19856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" y="3456432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465575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Lançamento × executivo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4747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e interiores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49039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3785615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79475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Interiores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803903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recepção, rooftop, unidades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78224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4114800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1239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Briefing de projeto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133087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opções marcadas × projeto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407408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4443984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4531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Pontos de atenção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4622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travadas ·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128016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AO ABRIR ESTE BOOK, OBRAS DEVE CONSEGUIR RESPONDER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1636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15727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as imagens de lançamento mostram na fachada?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196596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1901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Onde o executivo diverge da imagem vendida?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29514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22311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revestimentos externos NÃO podem ser comprados ainda?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2624327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Como são os brises, as floreiras e o pergolado?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295351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19472" y="28895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o conceito de interiores que deve ser seguido?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3282695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32186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não pode ser alterado sem validação?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611879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19472" y="35478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pontos ainda precisam ser validados?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02336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8FA3CC"/>
                </a:solidFill>
                <a:latin typeface="Arial"/>
              </a:rPr>
              <a:t>Regra do material: nenhuma informação foi inventada. Fontes (1.14 - [2074] Salvador Spot / 02 - Projetos): 05 - Imagens 3D, 07 - Projeto Executivo (PE-ARQ R11), 06 - Projeto Legal, 09 - Memorial Descritivo, 10 - Projeto de Interiores, 00 - Premissas de Projeto e 12 - Conferência de Projetos. Índices urbanísticos, áreas e custos não fazem parte deste 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e especificações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Leitura geral  ·  mapa de texturas  ·  vistas com marcação  ·  lançamento × executivo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SALVADOR SPOT  ·  BOOK DE PREMISSAS DE FACHADA E INTERIORES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Leitura geral: o que compõe a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11226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P124_Render_Externo_02.jpg"/>
          <p:cNvPicPr>
            <a:picLocks noChangeAspect="1"/>
          </p:cNvPicPr>
          <p:nvPr/>
        </p:nvPicPr>
        <p:blipFill>
          <a:blip r:embed="rId4"/>
          <a:srcRect t="735" b="735"/>
          <a:stretch>
            <a:fillRect/>
          </a:stretch>
        </p:blipFill>
        <p:spPr>
          <a:xfrm>
            <a:off x="502920" y="1170432"/>
            <a:ext cx="205740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1887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FRENTE</a:t>
            </a:r>
          </a:p>
        </p:txBody>
      </p:sp>
      <p:sp>
        <p:nvSpPr>
          <p:cNvPr id="13" name="Oval 12"/>
          <p:cNvSpPr/>
          <p:nvPr/>
        </p:nvSpPr>
        <p:spPr>
          <a:xfrm>
            <a:off x="1193292" y="154222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16152" y="156508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234440" y="222674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57300" y="224960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717929" y="341564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40789" y="343850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193292" y="301934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16152" y="304220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37310" y="323551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0169" y="325837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563624" y="309860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86484" y="312146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1471041" y="181243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93901" y="183529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1399032" y="276715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1892" y="279001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1234440" y="428030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57300" y="430316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1522476" y="446044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545336" y="448330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15768" y="1143000"/>
            <a:ext cx="211226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01_-_Lançamento_Externa__P124_Render_Externo_03.jpg"/>
          <p:cNvPicPr>
            <a:picLocks noChangeAspect="1"/>
          </p:cNvPicPr>
          <p:nvPr/>
        </p:nvPicPr>
        <p:blipFill>
          <a:blip r:embed="rId5"/>
          <a:srcRect t="680" b="831"/>
          <a:stretch>
            <a:fillRect/>
          </a:stretch>
        </p:blipFill>
        <p:spPr>
          <a:xfrm>
            <a:off x="2743200" y="1170432"/>
            <a:ext cx="2057400" cy="3602736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2834640" y="1261872"/>
            <a:ext cx="12801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ESQUINA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83480" y="1170432"/>
            <a:ext cx="365760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1243584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LEGENDA</a:t>
            </a:r>
          </a:p>
        </p:txBody>
      </p:sp>
      <p:sp>
        <p:nvSpPr>
          <p:cNvPr id="38" name="Oval 37"/>
          <p:cNvSpPr/>
          <p:nvPr/>
        </p:nvSpPr>
        <p:spPr>
          <a:xfrm>
            <a:off x="5120640" y="148132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1463040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Logo-casinha iluminado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topo da torre escura (letreiro na caixa d'água)</a:t>
            </a:r>
          </a:p>
        </p:txBody>
      </p:sp>
      <p:sp>
        <p:nvSpPr>
          <p:cNvPr id="40" name="Oval 39"/>
          <p:cNvSpPr/>
          <p:nvPr/>
        </p:nvSpPr>
        <p:spPr>
          <a:xfrm>
            <a:off x="5120640" y="181051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1792224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Torre escura texturizada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volume vertical em tom grafite/marrom</a:t>
            </a:r>
          </a:p>
        </p:txBody>
      </p:sp>
      <p:sp>
        <p:nvSpPr>
          <p:cNvPr id="42" name="Oval 41"/>
          <p:cNvSpPr/>
          <p:nvPr/>
        </p:nvSpPr>
        <p:spPr>
          <a:xfrm>
            <a:off x="5120640" y="213969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2121408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Textura cinza clara granulada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volumes das unidades, pilares e bordas</a:t>
            </a:r>
          </a:p>
        </p:txBody>
      </p:sp>
      <p:sp>
        <p:nvSpPr>
          <p:cNvPr id="44" name="Oval 43"/>
          <p:cNvSpPr/>
          <p:nvPr/>
        </p:nvSpPr>
        <p:spPr>
          <a:xfrm>
            <a:off x="5120640" y="246888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2450592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Brises móveis ripados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painéis de madeira em frente às janelas</a:t>
            </a:r>
          </a:p>
        </p:txBody>
      </p:sp>
      <p:sp>
        <p:nvSpPr>
          <p:cNvPr id="46" name="Oval 45"/>
          <p:cNvSpPr/>
          <p:nvPr/>
        </p:nvSpPr>
        <p:spPr>
          <a:xfrm>
            <a:off x="5120640" y="2798064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2779776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Esquadrias pretas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caixilho quadriculado, vidro incolor</a:t>
            </a:r>
          </a:p>
        </p:txBody>
      </p:sp>
      <p:sp>
        <p:nvSpPr>
          <p:cNvPr id="48" name="Oval 47"/>
          <p:cNvSpPr/>
          <p:nvPr/>
        </p:nvSpPr>
        <p:spPr>
          <a:xfrm>
            <a:off x="5120640" y="312724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3108960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Floreiras em todas as lajes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caqueiros com vegetação na borda</a:t>
            </a:r>
          </a:p>
        </p:txBody>
      </p:sp>
      <p:sp>
        <p:nvSpPr>
          <p:cNvPr id="50" name="Oval 49"/>
          <p:cNvSpPr/>
          <p:nvPr/>
        </p:nvSpPr>
        <p:spPr>
          <a:xfrm>
            <a:off x="5120640" y="345643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3438144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Painel amadeirado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fundo das sacadas, ao lado das janelas</a:t>
            </a:r>
          </a:p>
        </p:txBody>
      </p:sp>
      <p:sp>
        <p:nvSpPr>
          <p:cNvPr id="52" name="Oval 51"/>
          <p:cNvSpPr/>
          <p:nvPr/>
        </p:nvSpPr>
        <p:spPr>
          <a:xfrm>
            <a:off x="5120640" y="3785615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94960" y="3767328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Pergolado ripado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terraço sobre o volume frontal</a:t>
            </a:r>
          </a:p>
        </p:txBody>
      </p:sp>
      <p:sp>
        <p:nvSpPr>
          <p:cNvPr id="54" name="Oval 53"/>
          <p:cNvSpPr/>
          <p:nvPr/>
        </p:nvSpPr>
        <p:spPr>
          <a:xfrm>
            <a:off x="5120640" y="411480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4960" y="4096512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Térreo envidraçado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recepção com caixilho preto</a:t>
            </a:r>
          </a:p>
        </p:txBody>
      </p:sp>
      <p:sp>
        <p:nvSpPr>
          <p:cNvPr id="56" name="Oval 55"/>
          <p:cNvSpPr/>
          <p:nvPr/>
        </p:nvSpPr>
        <p:spPr>
          <a:xfrm>
            <a:off x="5120640" y="4443983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60" y="4425696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Piso externo com grama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placas claras, faixas verdes e bancos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(1/2)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 (P124): referência visual, não substitui amostra física. Especificação: Executivo PE-ARQ R11 (fachadas), Premissas, Memorial e Conferência.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torre.jpg"/>
          <p:cNvPicPr>
            <a:picLocks noChangeAspect="1"/>
          </p:cNvPicPr>
          <p:nvPr/>
        </p:nvPicPr>
        <p:blipFill>
          <a:blip r:embed="rId4"/>
          <a:srcRect t="25209" b="25209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Torre escura texturizada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volume vertical da circulação e caixa d'água.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textura escura grafite/marrom · executivo: textura Ibratin cor Leeds Máximo.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tom próximo, mas a conferência reprova os revestimentos do executivo.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cinza.jpg"/>
          <p:cNvPicPr>
            <a:picLocks noChangeAspect="1"/>
          </p:cNvPicPr>
          <p:nvPr/>
        </p:nvPicPr>
        <p:blipFill>
          <a:blip r:embed="rId5"/>
          <a:srcRect t="23913" b="23913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Textura cinza clara granulada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volumes das unidades, pilares, bordas e empenas.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cinza claro granulado · executivo: pastilha Atlas Rubi SG-8409 (terracota) e Cinza Chumbo B-2134.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diverge da imagem vendida (conferência ARQ #19). CRÍTICO · A VALIDAR.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brise.jpg"/>
          <p:cNvPicPr>
            <a:picLocks noChangeAspect="1"/>
          </p:cNvPicPr>
          <p:nvPr/>
        </p:nvPicPr>
        <p:blipFill>
          <a:blip r:embed="rId6"/>
          <a:srcRect t="24555" b="24555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Brise móvel ripado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frente das janelas das unidades.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ripas horizontais de madeira · briefing: PVC · memorial: madeira · executivo: brise móvel / alumínio ripado.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material em disputa (D2/D16).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esq.jpg"/>
          <p:cNvPicPr>
            <a:picLocks noChangeAspect="1"/>
          </p:cNvPicPr>
          <p:nvPr/>
        </p:nvPicPr>
        <p:blipFill>
          <a:blip r:embed="rId7"/>
          <a:srcRect l="12184" r="12184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Esquadrias pretas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janelas e portas-janela das unidades.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caixilho preto quadriculado · briefing: linha 32 gold, PVC ou alumínio anodizado · executivo: alumínio com vidro incolor.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executivo não declara linha nem cor; vidro depende do laudo térmico.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madeira.jpg"/>
          <p:cNvPicPr>
            <a:picLocks noChangeAspect="1"/>
          </p:cNvPicPr>
          <p:nvPr/>
        </p:nvPicPr>
        <p:blipFill>
          <a:blip r:embed="rId8"/>
          <a:srcRect t="25209" b="25209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Painel amadeirado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fundo das sacadas, ao lado das janelas.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painel liso amadeirado · sem indicação no executivo nem no memorial.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material resistente a intempérie. PENDENTE.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floreira.jpg"/>
          <p:cNvPicPr>
            <a:picLocks noChangeAspect="1"/>
          </p:cNvPicPr>
          <p:nvPr/>
        </p:nvPicPr>
        <p:blipFill>
          <a:blip r:embed="rId9"/>
          <a:srcRect l="25174" r="25174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Floreiras nas lajes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borda de todas as sacadas.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caqueiros com vegetação · executivo: caqueiros com pintura cimento queimado escuro.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projeto de paisagismo (conferência). A VALIDAR.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(2/2)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 (P124): referência visual, não substitui amostra física. Especificação: Executivo PE-ARQ R11, Premissas, Memorial e Conferência.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pergolado.jpg"/>
          <p:cNvPicPr>
            <a:picLocks noChangeAspect="1"/>
          </p:cNvPicPr>
          <p:nvPr/>
        </p:nvPicPr>
        <p:blipFill>
          <a:blip r:embed="rId4"/>
          <a:srcRect l="32395" r="32395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Pergolado ripado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terraço sobre o volume frontal.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ripas claras · memorial: estrutura metálica aço corten com madeira · executivo: pergolado com proteção ignifugante.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material e acabamento sem detalhe.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logo.jpg"/>
          <p:cNvPicPr>
            <a:picLocks noChangeAspect="1"/>
          </p:cNvPicPr>
          <p:nvPr/>
        </p:nvPicPr>
        <p:blipFill>
          <a:blip r:embed="rId5"/>
          <a:srcRect t="18975" b="18975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Logo-casinha iluminado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topo da torre escura.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logo branco com luz de contorno · minuta do memorial: letreiro na caixa d'água com ponto de força.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luminotécnico não contratado. PENDENTE.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seazone.jpg"/>
          <p:cNvPicPr>
            <a:picLocks noChangeAspect="1"/>
          </p:cNvPicPr>
          <p:nvPr/>
        </p:nvPicPr>
        <p:blipFill>
          <a:blip r:embed="rId6"/>
          <a:srcRect l="3692" r="3692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Letreiro seazone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empena cinza do volume frontal.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letras escuras sobre a textura clara · memorial: nome do edifício na fachada.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detalhe de material, fixação e iluminação. PENDENTE.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rooftop.jpg"/>
          <p:cNvPicPr>
            <a:picLocks noChangeAspect="1"/>
          </p:cNvPicPr>
          <p:nvPr/>
        </p:nvPicPr>
        <p:blipFill>
          <a:blip r:embed="rId7"/>
          <a:srcRect t="17590" b="17590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Rooftop: vidro, deck e piscina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15º pavimento.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guarda-corpo de vidro com perfil "U" inox · deck em porcelanato imitando madeira 120×20 · piscina esverdeada 20×20 (briefing).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executivo: guarda-corpo em alumínio e vidros laminados.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terreo.jpg"/>
          <p:cNvPicPr>
            <a:picLocks noChangeAspect="1"/>
          </p:cNvPicPr>
          <p:nvPr/>
        </p:nvPicPr>
        <p:blipFill>
          <a:blip r:embed="rId8"/>
          <a:srcRect l="27381" r="27381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Térreo envidraçado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recepção e acesso.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caixilho preto · executivo: porta em alumínio com vidro incolor + painel alumínio ripado · briefing: comuns imitando madeira.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cor das esquadrias comuns diverge (preto × amadeirado).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piso.jpg"/>
          <p:cNvPicPr>
            <a:picLocks noChangeAspect="1"/>
          </p:cNvPicPr>
          <p:nvPr/>
        </p:nvPicPr>
        <p:blipFill>
          <a:blip r:embed="rId9"/>
          <a:srcRect l="39970" r="39970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Piso externo e jardins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recuo frontal e acesso.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placas claras com faixas de grama e bancos · executivo: piso drenante permeável · briefing: floreira em alvenaria + banco de cobogó iluminado.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paginação de piso externo. A VALIDAR.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Esquina e volume frontal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15798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P124_Render_Externo_03.jpg"/>
          <p:cNvPicPr>
            <a:picLocks noChangeAspect="1"/>
          </p:cNvPicPr>
          <p:nvPr/>
        </p:nvPicPr>
        <p:blipFill>
          <a:blip r:embed="rId4"/>
          <a:srcRect t="1826" b="1826"/>
          <a:stretch>
            <a:fillRect/>
          </a:stretch>
        </p:blipFill>
        <p:spPr>
          <a:xfrm>
            <a:off x="502920" y="1170432"/>
            <a:ext cx="210312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2801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ESQUINA</a:t>
            </a:r>
          </a:p>
        </p:txBody>
      </p:sp>
      <p:sp>
        <p:nvSpPr>
          <p:cNvPr id="13" name="Oval 12"/>
          <p:cNvSpPr/>
          <p:nvPr/>
        </p:nvSpPr>
        <p:spPr>
          <a:xfrm>
            <a:off x="1400860" y="211866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23720" y="214152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611172" y="266988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34032" y="269274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632204" y="327154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55064" y="329440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9829" y="327154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02689" y="329440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295704" y="307338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18564" y="309624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211580" y="339763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34440" y="342049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1211580" y="262304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34440" y="264590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748893" y="438838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1753" y="441124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2834640" y="1170432"/>
          <a:ext cx="5120640" cy="2542032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051560"/>
                <a:gridCol w="3063240"/>
                <a:gridCol w="7772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(imagem × executivo)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Torre escura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escura × Ibratin Leeds Máximo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 seazone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Letras escuras na empena · sem detalhe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Empena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clara granulada × pastilha Rubi / Chumbo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ripada × PVC (briefing) × alumínio (executivo)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 × alumínio sem cor definida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Vegetação × cimento queimado escuro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claro × aço corten + madeira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Jardim frontal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Placas + grama × piso drenante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2834640" y="3840480"/>
            <a:ext cx="512064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9008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48456" y="3941064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LEITURA DA ESQUINA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0088" y="4169664"/>
            <a:ext cx="48097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A imagem vendida é cinza clara, com torre escura, brises de madeira e floreiras em todas as lajes. O executivo pinta a mesma massa em pastilha terracota (Rubi) e cinza chumbo: a conferência registra que a indicação está errada e que Lançamentos fará a nova indicação.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Vista aérea: rooftop e terraços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15798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P124_Render_Externo_04.jpg"/>
          <p:cNvPicPr>
            <a:picLocks noChangeAspect="1"/>
          </p:cNvPicPr>
          <p:nvPr/>
        </p:nvPicPr>
        <p:blipFill>
          <a:blip r:embed="rId4"/>
          <a:srcRect t="1826" b="1826"/>
          <a:stretch>
            <a:fillRect/>
          </a:stretch>
        </p:blipFill>
        <p:spPr>
          <a:xfrm>
            <a:off x="502920" y="1170432"/>
            <a:ext cx="210312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2801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AÉREA</a:t>
            </a:r>
          </a:p>
        </p:txBody>
      </p:sp>
      <p:sp>
        <p:nvSpPr>
          <p:cNvPr id="13" name="Oval 12"/>
          <p:cNvSpPr/>
          <p:nvPr/>
        </p:nvSpPr>
        <p:spPr>
          <a:xfrm>
            <a:off x="959205" y="258702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2065" y="260988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674266" y="150619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97126" y="152905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527048" y="204661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49907" y="206947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926640" y="222674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49500" y="224960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179015" y="190250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01875" y="192536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779422" y="319948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02282" y="322234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1527048" y="373989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549907" y="376275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1527048" y="435236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49907" y="437522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2834640" y="1170432"/>
          <a:ext cx="5120640" cy="2542032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051560"/>
                <a:gridCol w="3063240"/>
                <a:gridCol w="7772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Logo na torre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Casinha iluminada · ponto de força a prever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Integração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Volume envidraçado, caixilho imitando madeira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Deck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imitando madeira 120×20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 esverdeado 20×20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+ perfil "U" inox × alumínio + laminado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Terraços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Floreiras com vegetação (imagem)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com vegetação sobre o volume frontal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Acesso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Escada e jardim frontal · sem paisagismo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2834640" y="3840480"/>
            <a:ext cx="512064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9008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48456" y="3941064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LEITURA DO ROOFTOP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0088" y="4169664"/>
            <a:ext cx="48097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A aérea confirma a piscina esverdeada da premissa e o deck ripado. O rooftop foi redesenhado no executivo para atender aos afastamentos, mantendo o conceito; novas imagens serão feitas após a consolidação do executivo (Relatório de Alterações Seazone).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Elevações do executivo (PE-ARQ R11)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151790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exec_e01.jpg"/>
          <p:cNvPicPr>
            <a:picLocks noChangeAspect="1"/>
          </p:cNvPicPr>
          <p:nvPr/>
        </p:nvPicPr>
        <p:blipFill>
          <a:blip r:embed="rId4"/>
          <a:srcRect t="981" b="981"/>
          <a:stretch>
            <a:fillRect/>
          </a:stretch>
        </p:blipFill>
        <p:spPr>
          <a:xfrm>
            <a:off x="502920" y="1170432"/>
            <a:ext cx="146304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928" y="1234440"/>
            <a:ext cx="109728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E01 · SUDOESTE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75688" y="1143000"/>
            <a:ext cx="192938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_BOOK_ASSETS__exec_e02.jpg"/>
          <p:cNvPicPr>
            <a:picLocks noChangeAspect="1"/>
          </p:cNvPicPr>
          <p:nvPr/>
        </p:nvPicPr>
        <p:blipFill>
          <a:blip r:embed="rId5"/>
          <a:srcRect l="740" r="740"/>
          <a:stretch>
            <a:fillRect/>
          </a:stretch>
        </p:blipFill>
        <p:spPr>
          <a:xfrm>
            <a:off x="2103120" y="1170432"/>
            <a:ext cx="1874519" cy="360273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167128" y="1234440"/>
            <a:ext cx="109728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E02 · SUDESTE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87368" y="1143000"/>
            <a:ext cx="192938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6_BOOK_ASSETS__exec_e04.jpg"/>
          <p:cNvPicPr>
            <a:picLocks noChangeAspect="1"/>
          </p:cNvPicPr>
          <p:nvPr/>
        </p:nvPicPr>
        <p:blipFill>
          <a:blip r:embed="rId6"/>
          <a:srcRect l="31" r="31"/>
          <a:stretch>
            <a:fillRect/>
          </a:stretch>
        </p:blipFill>
        <p:spPr>
          <a:xfrm>
            <a:off x="4114800" y="1170432"/>
            <a:ext cx="1874519" cy="360273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178808" y="1234440"/>
            <a:ext cx="11430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E04 · NOROESTE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170432"/>
            <a:ext cx="2468880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127101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O QUE O EXECUTIVO TRAZ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1499616"/>
            <a:ext cx="2157984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Revestimentos · </a:t>
            </a:r>
            <a:r>
              <a:rPr sz="700" b="0">
                <a:solidFill>
                  <a:srgbClr val="FFFFFF"/>
                </a:solidFill>
                <a:latin typeface="Arial"/>
              </a:rPr>
              <a:t>pastilha Atlas Rubi SG-8409, pastilha Atlas Cinza Chumbo B-2134 e textura Ibratin cor Leeds Máximo.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Caqueiros · </a:t>
            </a:r>
            <a:r>
              <a:rPr sz="700" b="0">
                <a:solidFill>
                  <a:srgbClr val="FFFFFF"/>
                </a:solidFill>
                <a:latin typeface="Arial"/>
              </a:rPr>
              <a:t>pintura em cimento queimado escuro.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Brises · </a:t>
            </a:r>
            <a:r>
              <a:rPr sz="700" b="0">
                <a:solidFill>
                  <a:srgbClr val="FFFFFF"/>
                </a:solidFill>
                <a:latin typeface="Arial"/>
              </a:rPr>
              <a:t>brise móvel nas unidades e brise em alumínio ripado nas áreas técnicas.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Esquadrias · </a:t>
            </a:r>
            <a:r>
              <a:rPr sz="700" b="0">
                <a:solidFill>
                  <a:srgbClr val="FFFFFF"/>
                </a:solidFill>
                <a:latin typeface="Arial"/>
              </a:rPr>
              <a:t>alumínio com vidro incolor; guarda-corpo em alumínio e vidros laminados.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Conferência · </a:t>
            </a:r>
            <a:r>
              <a:rPr sz="700" b="0">
                <a:solidFill>
                  <a:srgbClr val="FFFFFF"/>
                </a:solidFill>
                <a:latin typeface="Arial"/>
              </a:rPr>
              <a:t>revestimentos não condizem com a imagem de venda: não quantificar até a nova indicação.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LANÇAMENTO ×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P124 × Executivo PE-ARQ R11, Premissas, Memorial e Conferência.  DEFINIDO = convergem  ·  A VALIDAR = divergem  ·  PENDENTE = sem definição.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Lançamento (imagens P124)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Executivo / Premissas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Volumes das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cinza clara granulada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Pastilha Atlas Rubi SG-8409 e Cinza Chumbo B-2134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Torre escura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grafite/marrom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Ibratin cor Leeds Máximo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ripada móvel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 móvel / alumínio · PVC (briefing) · madeira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 quadriculadas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vidro incolor · linha 32 gold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 comuns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 no térreo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Imitando madeira (briefing) · alumínio (executivo)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Discreto, sem destaque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montante aparente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+ "U" inox (briefing) × alumínio + laminado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Vegetação em todas as lajes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Caqueiros cimento queimado escuro · sem paisagismo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Painel amadeirado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Fundo das sacadas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indicado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claro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Aço corten + madeira (memorial) · ignifugante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Logo-casinha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Iluminado no topo da torre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 na caixa d'água · sem luminotécnico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 seazone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Letras escuras na empena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detalhe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 e deck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Esverdeada · deck ripado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· porcelanato madeira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Claro, com vegetação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cor Seazone com logo e nome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de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Recepção  ·  rooftop e piscina  ·  mini market  ·  unidades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SALVADOR SPOT  ·  BOOK DE PREMISSAS DE FACHADA E INTERIORES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Conceito Seazone × situação do projeto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lançamento interna × Conferência de Projetos Executivos (aba Interiores), LOG de considerações, moodboard final e memorial de interiores.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252374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417320"/>
                <a:gridCol w="2651760"/>
                <a:gridCol w="2423160"/>
                <a:gridCol w="164592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Ambiente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Conceito Seazone (seguir)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Situação registrada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Painel muxarabi com drywall curvo, reboco baiano, logo e letreiro iluminados, balanço, sofá nuvem, pendentes de fibra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Viabilidade do drywall curvo a checar (LOG 01)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 interno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 de fitinhas do Bonfim, piso com cacos, vigas de madeira, mini market, copa com bancada de concreto branco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Sem detalhamento da copa nem paginação do piso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 externo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Deck ripado, piscina esverdeada, banco de cobogó iluminado com floreira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Imagem interna mostra piscina azul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Guararapes Carvalho Natural e Areia Noronha, velvet cinza, granito preto São Gabriel, porcelanato Branco Savane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Portas brancas × amadeiradas (D4)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Executivo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Contratar 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Não há executivo; conferência 0% (não contratado)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4133087"/>
            <a:ext cx="8138160" cy="64008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242816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4233672"/>
            <a:ext cx="722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REGRA PARA A OBRA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62272"/>
            <a:ext cx="7827264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Não há executivo de interiores. Vale o conceito das imagens de venda (05 - Imagens 3D / 02 - Lançamento Interna), o moodboard final e as indicações 01 a 04 do LOG; logos, letreiros, fitas de LED e pontos do mini market precisam entrar no elétrico antes do fechamento.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INDICAÇÕES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Indicações de interiores do LOG de considerações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"[Salvador Spot] LOG de considerações": indicações de interiores marcadas sobre as imagens de venda.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19659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log_ind1.jpg"/>
          <p:cNvPicPr>
            <a:picLocks noChangeAspect="1"/>
          </p:cNvPicPr>
          <p:nvPr/>
        </p:nvPicPr>
        <p:blipFill>
          <a:blip r:embed="rId4"/>
          <a:srcRect l="15915" r="15915"/>
          <a:stretch>
            <a:fillRect/>
          </a:stretch>
        </p:blipFill>
        <p:spPr>
          <a:xfrm>
            <a:off x="576072" y="1399032"/>
            <a:ext cx="1819656" cy="14173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60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108960"/>
            <a:ext cx="1819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Muxarabi + drywall curvo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456432"/>
            <a:ext cx="181965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Recepção: painel muxarabi com parede de drywall curvada por cima. Checar viabilidade de execução.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4389120"/>
            <a:ext cx="18196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6F7891"/>
                </a:solidFill>
                <a:latin typeface="Arial"/>
              </a:rPr>
              <a:t>Também no LOG: portas e bandeiras amadeiradas; esquadrias comuns imitando madeira.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1325880"/>
            <a:ext cx="19659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6_BOOK_ASSETS__log_ind3.jpg"/>
          <p:cNvPicPr>
            <a:picLocks noChangeAspect="1"/>
          </p:cNvPicPr>
          <p:nvPr/>
        </p:nvPicPr>
        <p:blipFill>
          <a:blip r:embed="rId5"/>
          <a:srcRect l="15908" r="15908"/>
          <a:stretch>
            <a:fillRect/>
          </a:stretch>
        </p:blipFill>
        <p:spPr>
          <a:xfrm>
            <a:off x="2633472" y="1399032"/>
            <a:ext cx="1819656" cy="14173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6334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3108960"/>
            <a:ext cx="1819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Reboco baiano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3472" y="3456432"/>
            <a:ext cx="181965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Acabamento em reboco baiano nas paredes da recepção e do rooftop.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4389120"/>
            <a:ext cx="18196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6F7891"/>
                </a:solidFill>
                <a:latin typeface="Arial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1325880"/>
            <a:ext cx="19659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6_BOOK_ASSETS__log_ind4.jpg"/>
          <p:cNvPicPr>
            <a:picLocks noChangeAspect="1"/>
          </p:cNvPicPr>
          <p:nvPr/>
        </p:nvPicPr>
        <p:blipFill>
          <a:blip r:embed="rId6"/>
          <a:srcRect l="16256" r="16256"/>
          <a:stretch>
            <a:fillRect/>
          </a:stretch>
        </p:blipFill>
        <p:spPr>
          <a:xfrm>
            <a:off x="4690872" y="1399032"/>
            <a:ext cx="1819656" cy="141732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6908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3108960"/>
            <a:ext cx="1819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Piso com cacos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3456432"/>
            <a:ext cx="181965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Piso do rooftop mesclado entre porcelanato padrão e cacos de pisos diversos.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4389120"/>
            <a:ext cx="18196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6F7891"/>
                </a:solidFill>
                <a:latin typeface="Arial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1325880"/>
            <a:ext cx="19659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06_BOOK_ASSETS__log_ind5.jpg"/>
          <p:cNvPicPr>
            <a:picLocks noChangeAspect="1"/>
          </p:cNvPicPr>
          <p:nvPr/>
        </p:nvPicPr>
        <p:blipFill>
          <a:blip r:embed="rId7"/>
          <a:srcRect l="14516" r="14516"/>
          <a:stretch>
            <a:fillRect/>
          </a:stretch>
        </p:blipFill>
        <p:spPr>
          <a:xfrm>
            <a:off x="6748272" y="1399032"/>
            <a:ext cx="1819656" cy="141732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7482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3108960"/>
            <a:ext cx="18196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Vigas de madeira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3456432"/>
            <a:ext cx="181965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Vigas de madeira aparentes no teto do rooftop.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4389120"/>
            <a:ext cx="18196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6F7891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Recepção (pé-direito duplo)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CEPÇÃO__02_-_RECEPÇÃO.jpg"/>
          <p:cNvPicPr>
            <a:picLocks noChangeAspect="1"/>
          </p:cNvPicPr>
          <p:nvPr/>
        </p:nvPicPr>
        <p:blipFill>
          <a:blip r:embed="rId4"/>
          <a:srcRect l="2842" r="2842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RECEPÇÃO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CEPÇÃO__01_-_RECEPÇÃO.jpg"/>
          <p:cNvPicPr>
            <a:picLocks noChangeAspect="1"/>
          </p:cNvPicPr>
          <p:nvPr/>
        </p:nvPicPr>
        <p:blipFill>
          <a:blip r:embed="rId5"/>
          <a:srcRect l="2842" r="2842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BALANÇO + JARDIM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Painel muxarabi com letreiro "Salvador SPOT", logo-casinha iluminado, balanço de corda e vasos de barro.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LOG · moodboard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Pedra Textura Velvet + painel em MDF muxarabi + reboco baiano (briefing e LOG 02)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Painel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Muxarabi com drywall curvo sobreposto e fita de LED (LOG 01 · viabilidade a checar)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Gesso, pé-direito duplo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 · rodapé branco de poliestireno · moodboard: Cemento Grigio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Guararapes Carvalho Natural (moodboard) · portas amadeiradas com bandeira até o 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Sofá estofado Nuvem, puff Pumpkin, poltronas de bambu, balanço Cariri, tapete redondo Samba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Identidade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Letreiro Salvador SPOT, logo seazone e frase: amadeirados com LED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Pendentes artesanais de fibra (4000 K) · interruptor próprio para logos e frases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Decoração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Vasos de barro com cactos · imagens usam plantas naturais × premissa artificial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 interno: integração, copa e mini market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04_-_ROOFTOP.jpg"/>
          <p:cNvPicPr>
            <a:picLocks noChangeAspect="1"/>
          </p:cNvPicPr>
          <p:nvPr/>
        </p:nvPicPr>
        <p:blipFill>
          <a:blip r:embed="rId4"/>
          <a:srcRect l="2842" r="2842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6916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PAREDE DE FITINHAS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06-_ROOFTOP.jpg"/>
          <p:cNvPicPr>
            <a:picLocks noChangeAspect="1"/>
          </p:cNvPicPr>
          <p:nvPr/>
        </p:nvPicPr>
        <p:blipFill>
          <a:blip r:embed="rId5"/>
          <a:srcRect l="2842" r="2842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6916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COPA + MINI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Fitinhas do Senhor do Bonfim, piso de caquinhos, vigas de madeira, balanço e letreiros iluminados.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LOG · moodboard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Reboco baiano + estrutura metálica revestida com fitas do Senhor do Bonfim (briefing e LOG 02)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Copa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Pedra branca estilo canjiquinha (briefing) · bancada em concreto branco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mesclado com cacos de pisos diversos (briefing e LOG 03)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 com vigas de madeira aparentes (briefing e LOG 04) · cortineiro nas portas e janelas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Guararapes Carvalho Natural · mini market com fita de LED e logo iluminado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Mesa Flexa, cadeiras Doha, banco Diamantina, puff Pumpkin, poltronas de bambu, balanço Painho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Letreiros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Frases iluminadas e letreiro "Salvador SPOT" amadeirado com LED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Trilho de iluminação + pendentes de fibra sobre a mesa central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Acabamento imitando madeira em toda a área comum (briefing e LOG)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 externo: piscina e deck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01_-_ROOFTOP.jpg"/>
          <p:cNvPicPr>
            <a:picLocks noChangeAspect="1"/>
          </p:cNvPicPr>
          <p:nvPr/>
        </p:nvPicPr>
        <p:blipFill>
          <a:blip r:embed="rId4"/>
          <a:srcRect l="2842" r="2842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PISCINA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03_-_ROOFTOP.jpg"/>
          <p:cNvPicPr>
            <a:picLocks noChangeAspect="1"/>
          </p:cNvPicPr>
          <p:nvPr/>
        </p:nvPicPr>
        <p:blipFill>
          <a:blip r:embed="rId5"/>
          <a:srcRect l="2842" r="2842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DECK + BANCO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Deck ripado, banco de cobogó iluminado com almofadas e floreira com vegetação atrás.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memorial · moodboard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 externo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que imita madeira 120×20, rodapé embutido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Revestimento esverdeado 20×20 (briefing) · aérea esverdeada × render interno azul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Borda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Cerâmica atérmica ou pedra São Tomé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Moodboard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Referência "On Fire Glacier" na página da 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Floreira em alvenaria + banco de cobogó com iluminação interna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Espreguiçadeiras Selima e puffs Joy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Ducha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Ducha de piso + ralo e torneira próxima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Aquecimento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Solar para a piscina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Unidades: acabamentos e escopo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NIDADE_SIMPLES__04_-_UNIDADE_SIMPLES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UNIDADE SIMPLES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197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UNIDADE_DE_CANTO__01_-_UNIDADE_DE_CANTO.jpg"/>
          <p:cNvPicPr>
            <a:picLocks noChangeAspect="1"/>
          </p:cNvPicPr>
          <p:nvPr/>
        </p:nvPicPr>
        <p:blipFill>
          <a:blip r:embed="rId5"/>
          <a:srcRect t="7265" b="7265"/>
          <a:stretch>
            <a:fillRect/>
          </a:stretch>
        </p:blipFill>
        <p:spPr>
          <a:xfrm>
            <a:off x="502920" y="2697480"/>
            <a:ext cx="2377440" cy="1143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UNIDADE DE CANTO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1363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Imagens das unidades simples, de canto, PCD e garden (05 - Imagens 3D / 02 - Lançamento Interna). Gardens com grama e deck ripado.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moodboard · memorial · conferência)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 (briefing) · moodboard: Urban Branco Savane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Branco gelo acetinado (briefing) · parede de destaque em Coral Decora Velvet Cinza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Banheiro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nas paredes (briefing) × azulejo (memorial 2023, D3) · nicho não previsto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Guararapes Carvalho Natural e MDF Areia Noronha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preto São Gabriel na copa e no banheiro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Metais e box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Metais pretos · box com vidro incolor e perfil preto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Linha 32 gold, PVC ou alumínio anodizado (briefing) · pretas nas imagens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Kit porta pronta lisa · branca (premissa) × amadeirada (LOG) · D4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Vidros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Incolor nas unidades, jateado nos banheiros (briefing) × mini-boreal (memorial, D6)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áreas comuns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do "Moodboard - Salvador Spot - Final" e das imagens de venda.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muxarabi.jpg"/>
          <p:cNvPicPr>
            <a:picLocks noChangeAspect="1"/>
          </p:cNvPicPr>
          <p:nvPr/>
        </p:nvPicPr>
        <p:blipFill>
          <a:blip r:embed="rId4"/>
          <a:srcRect t="13158" b="13158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Painel muxarabi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recepção, parede do letreiro.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painel em MDF muxarabi (briefing, moodboard) com drywall curvo por cima (LOG 01).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checar viabilidade do drywall curvo e prever fita de LED.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fitinhas.jpg"/>
          <p:cNvPicPr>
            <a:picLocks noChangeAspect="1"/>
          </p:cNvPicPr>
          <p:nvPr/>
        </p:nvPicPr>
        <p:blipFill>
          <a:blip r:embed="rId5"/>
          <a:srcRect t="13158" b="13158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Fitinhas do Bonfim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rooftop, parede do balanço.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estrutura metálica revestida com fitas coloridas do Senhor do Bonfim (briefing, moodboard).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estrutura e fixação das fitas. A VALIDAR.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caquinhos.jpg"/>
          <p:cNvPicPr>
            <a:picLocks noChangeAspect="1"/>
          </p:cNvPicPr>
          <p:nvPr/>
        </p:nvPicPr>
        <p:blipFill>
          <a:blip r:embed="rId6"/>
          <a:srcRect t="13158" b="13158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Piso de caquinhos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rooftop interno.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porcelanato mesclado com cacos cerâmicos, referência ao Pelourinho (briefing, LOG 03, moodboard).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paginação no executivo. PENDENTE.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reboco.jpg"/>
          <p:cNvPicPr>
            <a:picLocks noChangeAspect="1"/>
          </p:cNvPicPr>
          <p:nvPr/>
        </p:nvPicPr>
        <p:blipFill>
          <a:blip r:embed="rId7"/>
          <a:srcRect l="15280" r="15280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Reboco baiano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da recepção e do rooftop.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acabamento em reboco baiano (briefing e LOG 02) · textura clara nas imagens.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aprovar painel-teste antes da execução.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vigas.jpg"/>
          <p:cNvPicPr>
            <a:picLocks noChangeAspect="1"/>
          </p:cNvPicPr>
          <p:nvPr/>
        </p:nvPicPr>
        <p:blipFill>
          <a:blip r:embed="rId8"/>
          <a:srcRect l="39821" r="39821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Vigas de madeira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forro do rooftop.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vigas de madeira aparentes sob o forro de gesso (briefing e LOG 04).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planta de forro no executivo. PENDENTE.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cemento.jpg"/>
          <p:cNvPicPr>
            <a:picLocks noChangeAspect="1"/>
          </p:cNvPicPr>
          <p:nvPr/>
        </p:nvPicPr>
        <p:blipFill>
          <a:blip r:embed="rId9"/>
          <a:srcRect t="13158" b="13158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Porcelanato Cemento Grigio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piso da recepção e do rooftop interno.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porcelanato Cemento Grigio (moodboard) · briefing: porcelanato 90×90 natural/acetinado.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combinar com os cacos no rooftop.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unidades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do "Moodboard - Salvador Spot - Final" (unidade simples e banheiro).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carvalho.jpg"/>
          <p:cNvPicPr>
            <a:picLocks noChangeAspect="1"/>
          </p:cNvPicPr>
          <p:nvPr/>
        </p:nvPicPr>
        <p:blipFill>
          <a:blip r:embed="rId4"/>
          <a:srcRect t="13158" b="13158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Guararapes Carvalho Natural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marcenaria das unidades e áreas comuns.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Guararapes Carvalho Natural (moodboard e memorial de interiores).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padrão em todas as tipologias.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noronha.jpg"/>
          <p:cNvPicPr>
            <a:picLocks noChangeAspect="1"/>
          </p:cNvPicPr>
          <p:nvPr/>
        </p:nvPicPr>
        <p:blipFill>
          <a:blip r:embed="rId5"/>
          <a:srcRect t="13158" b="13158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Areia Noronha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aéreos e prateleiras da copa.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Areia Noronha (moodboard e memorial de interiores).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combinar com o carvalho conforme imagens.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savane.jpg"/>
          <p:cNvPicPr>
            <a:picLocks noChangeAspect="1"/>
          </p:cNvPicPr>
          <p:nvPr/>
        </p:nvPicPr>
        <p:blipFill>
          <a:blip r:embed="rId6"/>
          <a:srcRect t="13158" b="13158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Porcelanato Urban Branco Savane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piso da unidade e banheiro.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porcelanato Urban Branco Savane (moodboard) · briefing: 90×90 natural/acetinado.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mesma referência no piso e nas paredes do banheiro.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saogabriel.jpg"/>
          <p:cNvPicPr>
            <a:picLocks noChangeAspect="1"/>
          </p:cNvPicPr>
          <p:nvPr/>
        </p:nvPicPr>
        <p:blipFill>
          <a:blip r:embed="rId7"/>
          <a:srcRect t="13158" b="13158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Granito preto São Gabriel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bancadas da copa e do banheiro.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granito preto São Gabriel (moodboard e memorial de interiores).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deixar pontos conforme as Vistas 01 a 04 (briefing).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velvet.jpg"/>
          <p:cNvPicPr>
            <a:picLocks noChangeAspect="1"/>
          </p:cNvPicPr>
          <p:nvPr/>
        </p:nvPicPr>
        <p:blipFill>
          <a:blip r:embed="rId8"/>
          <a:srcRect t="13158" b="13158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Coral Decora Velvet Cinza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de destaque da unidade.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Coral Decora Velvet Cinza (moodboard) · briefing: demais paredes branco gelo acetinado.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aprovar painel-teste.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44768" y="324612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DECIDIR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03136" y="323697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UNIDADES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4768" y="3465576"/>
            <a:ext cx="2340864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Portas: </a:t>
            </a:r>
            <a:r>
              <a:rPr sz="700" b="0">
                <a:solidFill>
                  <a:srgbClr val="FFFFFF"/>
                </a:solidFill>
                <a:latin typeface="Arial"/>
              </a:rPr>
              <a:t>branca (premissa) × amadeirada (LOG) · D4.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Banheiro: </a:t>
            </a:r>
            <a:r>
              <a:rPr sz="700" b="0">
                <a:solidFill>
                  <a:srgbClr val="FFFFFF"/>
                </a:solidFill>
                <a:latin typeface="Arial"/>
              </a:rPr>
              <a:t>porcelanato × azulejo · D3.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Nicho do box: </a:t>
            </a:r>
            <a:r>
              <a:rPr sz="700" b="0">
                <a:solidFill>
                  <a:srgbClr val="FFFFFF"/>
                </a:solidFill>
                <a:latin typeface="Arial"/>
              </a:rPr>
              <a:t>não previsto nem detalhado.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interiores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× premissas, LOG, moodboard, memoriais e Conferência de Projetos Executivos.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Imagens de interiores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Premissas / LOG / conferência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painel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Muxarabi com recorte curvo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Drywall curvo: viabilidade a checar (LOG 01)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clara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Textura Velvet + reboco baiano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Logos e letreiros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Iluminados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luminotécnico contratado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Plantas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Naturais em vasos de barro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Premissa: plantas artificiais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parede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Fitinhas coloridas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Estrutura metálica + fitas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piso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Caquinhos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+ cacos (LOG 03) · sem paginação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Vigas de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Vigas de madeira (LOG 04) · sem planta de 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Azul (interna) · esverdeada (aérea)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Copa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Bancada clara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branco (moodboard) · canjiquinha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nas imagens internas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Imitando madeira (briefing e LOG)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Branca (premissa) × amadeirada (LOG) · D4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marcenaria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Carvalho + areia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Guararapes Carvalho Natural + Areia Noronha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gold · cor não travada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contratado (conferência)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Briefing de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Acabamentos marcados em "[SALVADOR SPOT] Premissas de Projeto"  ·  cruzamento com 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SALVADOR SPOT  ·  BOOK DE PREMISSAS DE FACHADA E INTERIORES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Briefing × projeto: acabamentos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Opções marcadas em "[SALVADOR SPOT] Premissas de Projeto" (coluna "Conferência" = True) × Executivo PE-ARQ R11, LOG e Memorial.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12723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788920"/>
                <a:gridCol w="32004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Briefing de Projeto (opção marcada)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Executivo / LOG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PVC, conforme detalhamento arquitetônico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 móvel / alumínio (executivo) · madeira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Fechamento do terreno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com pintura cor Seazone, logo e nome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no executivo · cor não indicada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gold · PVC ou alumínio anodizado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vidro incolor · sem linha/cor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Acabamento imitando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LOG confirma · térreo preto na imagem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privativo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com montante aparente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e vidros laminados (executivo)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comum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e vidros laminados (executivo)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Área externa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seguindo o conceito da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Revestimentos do executivo reprovados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Velvet + muxarabi + reboco baiano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LOG 01/02 · imagens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Reboco baiano + fitas do Bonfim + canjiquinha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LOG 02 · imagens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· cacos no rooftop · madeira 120×20 externo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LOG 03 · sem paginação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· aquecimento solar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Aérea esverdeada · render interno azul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Kit pronto · obs.: acabamento 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LOG: amadeirado · premissa: branca (D4)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acetinado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Velvet Cinza na parede de destaque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Vidros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Jateado nos banheiros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Mini-boreal (memorial) · D6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Paisagismo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 em alvenaria + banco de cobogó iluminado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projeto de paisagismo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Pontos de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O que gera retrabalho se não for observado  ·  premissas travadas  ·  checklist de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SALVADOR SPOT  ·  BOOK DE PREMISSAS DE FACHADA E INTERIORES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que Obras precisa observar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REVESTIMENTOS DA FACHADA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Executivo indica pastilha Rubi e Cinza Chumbo.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Imagem vendida é cinza clara granulada.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Não quantificar até a nova indicação.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BRISES E MADEIRA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79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Brises: madeira (imagem) × PVC × alumínio.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Painel amadeirado das sacadas sem indicação.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Pergolado: aço corten + madeira (memorial).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ESQUADRIAS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Unidades pretas nas imagens: travar linha e cor.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Áreas comuns imitando madeira (briefing e LOG).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Vidros dependem do laudo térmico-acústico.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IDENTIDADE E LUZ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Logo-casinha na torre sem ponto de força.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Letreiro seazone na empena sem detalhe.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Luminotécnico não contratado.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79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ROOFTOP E PISCINA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95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Guarda-corpo: vidro + "U" inox × alumínio.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Piscina esverdeada 20×20 (briefing).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95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Deck em porcelanato imitando madeira.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INTERIORES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Drywall curvo da recepção: checar viabilidade.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Cacos, fitinhas e vigas sem detalhamento.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Executivo de interiores não contratado.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Não alterar sem validação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3977639" cy="3602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PREMISSAS TRAVADAS (IMAGEM VENDIDA + BRIEFING)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57276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Fachada cinza clara com torre escura, conforme imagens P124.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Logo-casinha iluminado no topo da torre.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9572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34086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Brises ripados em frente às janelas e floreiras em todas as lajes.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79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2491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Muro com pintura cor Seazone, logo e nome.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6382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08960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Guarda-corpo das áreas comuns em vidro incolor com perfil "U" inox.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4787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9300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Piscina esverdeada 20×20 e deck imitando madeira.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87705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Recepção: muxarabi, pedra Velvet e reboco baiano.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6110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Rooftop: fitinhas do Bonfim, cacos no piso e vigas de madeira.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1271016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ANTES DE COMPRAR OU EXECUTAR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499616"/>
            <a:ext cx="3730752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1. </a:t>
            </a:r>
            <a:r>
              <a:rPr sz="700" b="0">
                <a:solidFill>
                  <a:srgbClr val="FFFFFF"/>
                </a:solidFill>
                <a:latin typeface="Arial"/>
              </a:rPr>
              <a:t>Nenhum revestimento externo entra em pedido até a nova indicação de fachada (conferência ARQ #19).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2. </a:t>
            </a:r>
            <a:r>
              <a:rPr sz="700" b="0">
                <a:solidFill>
                  <a:srgbClr val="FFFFFF"/>
                </a:solidFill>
                <a:latin typeface="Arial"/>
              </a:rPr>
              <a:t>Itens A VALIDAR não entram em pedido de compra até a definição registrada.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3. </a:t>
            </a:r>
            <a:r>
              <a:rPr sz="700" b="0">
                <a:solidFill>
                  <a:srgbClr val="FFFFFF"/>
                </a:solidFill>
                <a:latin typeface="Arial"/>
              </a:rPr>
              <a:t>As indicações 01 a 04 do LOG devem aparecer no executivo de interiores.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4. </a:t>
            </a:r>
            <a:r>
              <a:rPr sz="700" b="0">
                <a:solidFill>
                  <a:srgbClr val="FFFFFF"/>
                </a:solidFill>
                <a:latin typeface="Arial"/>
              </a:rPr>
              <a:t>Amostras físicas (texturas, brise, esquadria, revestimento da piscina, reboco baiano) aprovadas no local.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5. </a:t>
            </a:r>
            <a:r>
              <a:rPr sz="700" b="0">
                <a:solidFill>
                  <a:srgbClr val="FFFFFF"/>
                </a:solidFill>
                <a:latin typeface="Arial"/>
              </a:rPr>
              <a:t>Onde memorial, executivo e briefing divergem, prevalece a definição registrada por Projetos.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246120"/>
            <a:ext cx="3730752" cy="9144"/>
          </a:xfrm>
          <a:prstGeom prst="rect">
            <a:avLst/>
          </a:prstGeom>
          <a:solidFill>
            <a:srgbClr val="8FA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346704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ONDE CONSULTAR (1.14 - [2074] SALVADOR SPOT / 02 - PROJETOS)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566160"/>
            <a:ext cx="373075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Fachada: </a:t>
            </a:r>
            <a:r>
              <a:rPr sz="650" b="0">
                <a:solidFill>
                  <a:srgbClr val="9FB0D4"/>
                </a:solidFill>
                <a:latin typeface="Arial"/>
              </a:rPr>
              <a:t>07 - Projeto Executivo / 04 - Executivo (PE-ARQ R11) · 05 - Imagens 3D / 01 - Lançamento Externa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Interiores: </a:t>
            </a:r>
            <a:r>
              <a:rPr sz="650" b="0">
                <a:solidFill>
                  <a:srgbClr val="9FB0D4"/>
                </a:solidFill>
                <a:latin typeface="Arial"/>
              </a:rPr>
              <a:t>05 - Imagens 3D / 02 - Lançamento Interna · 10 - Projeto de Interiores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Premissas: </a:t>
            </a:r>
            <a:r>
              <a:rPr sz="650" b="0">
                <a:solidFill>
                  <a:srgbClr val="9FB0D4"/>
                </a:solidFill>
                <a:latin typeface="Arial"/>
              </a:rPr>
              <a:t>00 - Premissas de Projeto (briefing e LOG) · 09 - Memorial Descritivo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Conferência: </a:t>
            </a:r>
            <a:r>
              <a:rPr sz="650" b="0">
                <a:solidFill>
                  <a:srgbClr val="9FB0D4"/>
                </a:solidFill>
                <a:latin typeface="Arial"/>
              </a:rPr>
              <a:t>12 - Conferência de Projetos (planilha e relatórios 02 a 05)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Pendências e checklist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SALVADOR SPOT  ·  BOOK DE PREMISSAS DE FACHADA E INTERIORES  ·  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8138160" cy="351129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2103120"/>
                <a:gridCol w="4709160"/>
                <a:gridCol w="109728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O que definir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Revestimentos de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Nova indicação alinhada à imagem de venda (substitui Rubi/Chumbo)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Torre escura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Confirmar Ibratin Leeds Máximo × tom da imagem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Unificar material: madeira × PVC × alumínio (D2/D16)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Linha, cor (preto nas unidades, madeira nas comuns) e vidro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Painel amadeirado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Material e acabamento no fundo das sacadas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Acabamento dos caqueiros e projeto de paisagismo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Material e detalhe (aço corten + madeira no 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Logo e letreiros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Casinha na torre, seazone na empena: material, luz e ponto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+ "U" inox (briefing) × alumínio (executivo)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cor Seazone com logo e nome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 esverdeado 20×20 × render interno azul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Viabilidade do drywall curvo sobre o muxarabi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interno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Paginação dos cacos, estrutura das fitinhas, vigas de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Branca × amadeirada (D4)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Banheiro das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× azulejo (D3) · nicho no box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Luminotécnico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Contratar: fachada, logos e letreiros iluminados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Paisagismo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Contratar: floreiras, jardim frontal e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Contratar escritório especializado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SALVADOR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Lançamento × Executivo  ·  Seazone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SALVADOR SPOT  ·  BOOK DE PREMISSAS DE FACHADA E INTERIORES  · 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4935</Words>
  <Application>Microsoft Office PowerPoint</Application>
  <PresentationFormat>Apresentação na tela (16:9)</PresentationFormat>
  <Paragraphs>580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Rachel Souto</cp:lastModifiedBy>
  <cp:revision>1</cp:revision>
  <dcterms:modified xsi:type="dcterms:W3CDTF">2026-09-23T13:37:10Z</dcterms:modified>
</cp:coreProperties>
</file>