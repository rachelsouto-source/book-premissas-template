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25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7"/>
    <p:sldId id="274" r:id="rId6"/>
    <p:sldId id="275" r:id="rId5"/>
    <p:sldId id="276" r:id="rId4"/>
    <p:sldId id="277" r:id="rId3"/>
    <p:sldId id="278" r:id="rId2"/>
    <p:sldId id="279" r:id="rId31"/>
    <p:sldId id="280" r:id="rId32"/>
    <p:sldId id="281" r:id="rId33"/>
    <p:sldId id="282" r:id="rId34"/>
    <p:sldId id="283" r:id="rId35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Caroline Vieira Montedo" initials="" lastIdx="3" clrIdx="0"/>
  <p:cmAuthor id="1" name="Rachel Souto Hudson" initials="" lastIdx="2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79DEEBB-5512-44E8-9C8E-75C5AFC50D94}">
  <a:tblStyle styleId="{D79DEEBB-5512-44E8-9C8E-75C5AFC50D94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2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23.xml"/><Relationship Id="rId3" Type="http://schemas.openxmlformats.org/officeDocument/2006/relationships/slide" Target="slides/slide22.xml"/><Relationship Id="rId4" Type="http://schemas.openxmlformats.org/officeDocument/2006/relationships/slide" Target="slides/slide21.xml"/><Relationship Id="rId5" Type="http://schemas.openxmlformats.org/officeDocument/2006/relationships/slide" Target="slides/slide20.xml"/><Relationship Id="rId6" Type="http://schemas.openxmlformats.org/officeDocument/2006/relationships/slide" Target="slides/slide19.xml"/><Relationship Id="rId7" Type="http://schemas.openxmlformats.org/officeDocument/2006/relationships/slide" Target="slides/slide18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notesMaster" Target="notesMasters/notesMaster1.xml"/><Relationship Id="rId26" Type="http://schemas.openxmlformats.org/officeDocument/2006/relationships/commentAuthors" Target="commentAuthors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5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6.jpg"/><Relationship Id="rId5" Type="http://schemas.openxmlformats.org/officeDocument/2006/relationships/image" Target="../media/image7.jpg"/><Relationship Id="rId6" Type="http://schemas.openxmlformats.org/officeDocument/2006/relationships/image" Target="../media/image8.jpg"/><Relationship Id="rId7" Type="http://schemas.openxmlformats.org/officeDocument/2006/relationships/image" Target="../media/image9.jpg"/><Relationship Id="rId8" Type="http://schemas.openxmlformats.org/officeDocument/2006/relationships/image" Target="../media/image10.jpg"/><Relationship Id="rId9" Type="http://schemas.openxmlformats.org/officeDocument/2006/relationships/image" Target="../media/image1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2.jpg"/><Relationship Id="rId5" Type="http://schemas.openxmlformats.org/officeDocument/2006/relationships/image" Target="../media/image13.jpg"/><Relationship Id="rId6" Type="http://schemas.openxmlformats.org/officeDocument/2006/relationships/image" Target="../media/image14.jpg"/><Relationship Id="rId7" Type="http://schemas.openxmlformats.org/officeDocument/2006/relationships/image" Target="../media/image15.jpg"/><Relationship Id="rId8" Type="http://schemas.openxmlformats.org/officeDocument/2006/relationships/image" Target="../media/image16.jpg"/><Relationship Id="rId9" Type="http://schemas.openxmlformats.org/officeDocument/2006/relationships/image" Target="../media/image17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8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20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21.jpg"/><Relationship Id="rId5" Type="http://schemas.openxmlformats.org/officeDocument/2006/relationships/image" Target="../media/image22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23.jpg"/><Relationship Id="rId5" Type="http://schemas.openxmlformats.org/officeDocument/2006/relationships/image" Target="../media/image24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25.jpg"/><Relationship Id="rId5" Type="http://schemas.openxmlformats.org/officeDocument/2006/relationships/image" Target="../media/image26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27.jpg"/><Relationship Id="rId5" Type="http://schemas.openxmlformats.org/officeDocument/2006/relationships/image" Target="../media/image2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29.jpg"/><Relationship Id="rId5" Type="http://schemas.openxmlformats.org/officeDocument/2006/relationships/image" Target="../media/image30.jpg"/><Relationship Id="rId6" Type="http://schemas.openxmlformats.org/officeDocument/2006/relationships/image" Target="../media/image31.jpg"/><Relationship Id="rId7" Type="http://schemas.openxmlformats.org/officeDocument/2006/relationships/image" Target="../media/image32.jpg"/><Relationship Id="rId8" Type="http://schemas.openxmlformats.org/officeDocument/2006/relationships/image" Target="../media/image33.jpg"/><Relationship Id="rId9" Type="http://schemas.openxmlformats.org/officeDocument/2006/relationships/image" Target="../media/image34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35.jpg"/><Relationship Id="rId5" Type="http://schemas.openxmlformats.org/officeDocument/2006/relationships/image" Target="../media/image36.jpg"/><Relationship Id="rId6" Type="http://schemas.openxmlformats.org/officeDocument/2006/relationships/image" Target="../media/image37.jpg"/><Relationship Id="rId7" Type="http://schemas.openxmlformats.org/officeDocument/2006/relationships/image" Target="../media/image38.jpg"/><Relationship Id="rId8" Type="http://schemas.openxmlformats.org/officeDocument/2006/relationships/image" Target="../media/image39.jpg"/><Relationship Id="rId9" Type="http://schemas.openxmlformats.org/officeDocument/2006/relationships/image" Target="../media/image40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1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01_-_Lançamento_Externa__05_(1).jpg"/>
          <p:cNvPicPr>
            <a:picLocks noChangeAspect="1"/>
          </p:cNvPicPr>
          <p:nvPr/>
        </p:nvPicPr>
        <p:blipFill>
          <a:blip r:embed="rId2"/>
          <a:srcRect l="556" r="556"/>
          <a:stretch>
            <a:fillRect/>
          </a:stretch>
        </p:blipFill>
        <p:spPr>
          <a:xfrm>
            <a:off x="5074920" y="0"/>
            <a:ext cx="4069080" cy="51435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074920" y="0"/>
            <a:ext cx="45720" cy="5143500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pl_logo_co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566928"/>
            <a:ext cx="1783080" cy="29260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02920" y="1847088"/>
            <a:ext cx="1463040" cy="45720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2029968"/>
            <a:ext cx="43891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FC6058"/>
                </a:solidFill>
                <a:latin typeface="Arial"/>
              </a:rPr>
              <a:t>BOOK DE PREMISSAS DE FACHADA E INTERIORES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286000"/>
            <a:ext cx="44805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Arial"/>
              </a:rPr>
              <a:t>Cachoeira</a:t>
            </a:r>
          </a:p>
          <a:p>
            <a:pPr algn="l"/>
            <a:r>
              <a:rPr sz="3200" b="1">
                <a:solidFill>
                  <a:srgbClr val="FFFFFF"/>
                </a:solidFill>
                <a:latin typeface="Arial"/>
              </a:rPr>
              <a:t>Spot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291840"/>
            <a:ext cx="4480560" cy="9509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9FB0D4"/>
                </a:solidFill>
                <a:latin typeface="Arial"/>
              </a:rPr>
              <a:t>Lançamento  ×  Executivo  ·  Fachada  ·  Interiores</a:t>
            </a:r>
          </a:p>
          <a:p>
            <a:pPr algn="l">
              <a:spcAft>
                <a:spcPts val="400"/>
              </a:spcAft>
            </a:pPr>
            <a:r>
              <a:rPr sz="750" b="0">
                <a:solidFill>
                  <a:srgbClr val="8FA3CC"/>
                </a:solidFill>
                <a:latin typeface="Arial"/>
              </a:rPr>
              <a:t>Base: imagens de lançamento externas e internas · pré-executivo Bloco B (PP-ARQ R02, elevações 011 a 013) · Memorial Descritivo V02 · Conferência de Projetos Executivos · projeto de interiores Seazone · Premissas de Projeto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334256"/>
            <a:ext cx="44805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8FA3CC"/>
                </a:solidFill>
                <a:latin typeface="Arial"/>
              </a:rPr>
              <a:t>Rua da Amizade, 89 · Cachoeira do Bom Jesus · Florianópolis/SC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754880"/>
            <a:ext cx="4480560" cy="100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>
                <a:solidFill>
                  <a:srgbClr val="8FA3CC"/>
                </a:solidFill>
                <a:latin typeface="Arial"/>
              </a:rPr>
              <a:t>DOCUMENTO TÉCNICO INTERNO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CONTEXTUALIZAÇÃO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O objetivo deste material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CACHOEIRA SPOT  ·  BOOK DE PREMISSAS DE FACHADA E INTERIORES  ·  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170432"/>
            <a:ext cx="38404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  <a:latin typeface="Arial"/>
              </a:rPr>
              <a:t>Consolidar as premissas de </a:t>
            </a:r>
            <a:r>
              <a:rPr sz="750" b="1">
                <a:solidFill>
                  <a:srgbClr val="333333"/>
                </a:solidFill>
                <a:latin typeface="Arial"/>
              </a:rPr>
              <a:t>fachada e interiores</a:t>
            </a:r>
            <a:r>
              <a:rPr sz="750" b="0">
                <a:solidFill>
                  <a:srgbClr val="333333"/>
                </a:solidFill>
                <a:latin typeface="Arial"/>
              </a:rPr>
              <a:t> do Cachoeira Spot a partir da leitura cruzada entre as </a:t>
            </a:r>
            <a:r>
              <a:rPr sz="750" b="1">
                <a:solidFill>
                  <a:srgbClr val="333333"/>
                </a:solidFill>
                <a:latin typeface="Arial"/>
              </a:rPr>
              <a:t>imagens de lançamento</a:t>
            </a:r>
            <a:r>
              <a:rPr sz="750" b="0">
                <a:solidFill>
                  <a:srgbClr val="333333"/>
                </a:solidFill>
                <a:latin typeface="Arial"/>
              </a:rPr>
              <a:t>, o </a:t>
            </a:r>
            <a:r>
              <a:rPr sz="750" b="1">
                <a:solidFill>
                  <a:srgbClr val="333333"/>
                </a:solidFill>
                <a:latin typeface="Arial"/>
              </a:rPr>
              <a:t>pré-executivo da Bloco B</a:t>
            </a:r>
            <a:r>
              <a:rPr sz="750" b="0">
                <a:solidFill>
                  <a:srgbClr val="333333"/>
                </a:solidFill>
                <a:latin typeface="Arial"/>
              </a:rPr>
              <a:t> e o projeto de interiores da Seazone: o que a imagem vendeu, o que o projeto especifica, onde divergem e o que validar antes da compra e da execução.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103120"/>
            <a:ext cx="3840480" cy="2834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03504" y="2139696"/>
            <a:ext cx="210312" cy="210312"/>
          </a:xfrm>
          <a:prstGeom prst="ellipse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148839"/>
            <a:ext cx="1554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00143D"/>
                </a:solidFill>
                <a:latin typeface="Arial"/>
              </a:rPr>
              <a:t>Leitura da fachada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14600" y="2157984"/>
            <a:ext cx="1783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0">
                <a:solidFill>
                  <a:srgbClr val="6F7891"/>
                </a:solidFill>
                <a:latin typeface="Arial"/>
              </a:rPr>
              <a:t>o que compõe cada volume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2432303"/>
            <a:ext cx="3840480" cy="2834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03504" y="2468879"/>
            <a:ext cx="210312" cy="210312"/>
          </a:xfrm>
          <a:prstGeom prst="ellipse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2478023"/>
            <a:ext cx="1554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00143D"/>
                </a:solidFill>
                <a:latin typeface="Arial"/>
              </a:rPr>
              <a:t>Mapa de texturas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14600" y="2487168"/>
            <a:ext cx="1783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0">
                <a:solidFill>
                  <a:srgbClr val="6F7891"/>
                </a:solidFill>
                <a:latin typeface="Arial"/>
              </a:rPr>
              <a:t>fachada · 12 materiais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2761487"/>
            <a:ext cx="3840480" cy="2834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03504" y="2798063"/>
            <a:ext cx="210312" cy="210312"/>
          </a:xfrm>
          <a:prstGeom prst="ellipse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2807207"/>
            <a:ext cx="1554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00143D"/>
                </a:solidFill>
                <a:latin typeface="Arial"/>
              </a:rPr>
              <a:t>Vistas especificadas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14600" y="2816351"/>
            <a:ext cx="1783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0">
                <a:solidFill>
                  <a:srgbClr val="6F7891"/>
                </a:solidFill>
                <a:latin typeface="Arial"/>
              </a:rPr>
              <a:t>frontal, esquina e térreo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3090672"/>
            <a:ext cx="3840480" cy="2834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03504" y="3127248"/>
            <a:ext cx="210312" cy="210312"/>
          </a:xfrm>
          <a:prstGeom prst="ellipse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" y="3136391"/>
            <a:ext cx="1554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00143D"/>
                </a:solidFill>
                <a:latin typeface="Arial"/>
              </a:rPr>
              <a:t>Conferência de projetos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14600" y="3145536"/>
            <a:ext cx="1783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0">
                <a:solidFill>
                  <a:srgbClr val="6F7891"/>
                </a:solidFill>
                <a:latin typeface="Arial"/>
              </a:rPr>
              <a:t>fachada × imagem de venda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3419856"/>
            <a:ext cx="3840480" cy="2834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03504" y="3456432"/>
            <a:ext cx="210312" cy="210312"/>
          </a:xfrm>
          <a:prstGeom prst="ellipse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2688" y="3465575"/>
            <a:ext cx="1554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00143D"/>
                </a:solidFill>
                <a:latin typeface="Arial"/>
              </a:rPr>
              <a:t>Lançamento × executivo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514600" y="3474720"/>
            <a:ext cx="1783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0">
                <a:solidFill>
                  <a:srgbClr val="6F7891"/>
                </a:solidFill>
                <a:latin typeface="Arial"/>
              </a:rPr>
              <a:t>fachada e interiores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3749039"/>
            <a:ext cx="3840480" cy="2834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03504" y="3785615"/>
            <a:ext cx="210312" cy="210312"/>
          </a:xfrm>
          <a:prstGeom prst="ellipse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2688" y="3794759"/>
            <a:ext cx="1554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00143D"/>
                </a:solidFill>
                <a:latin typeface="Arial"/>
              </a:rPr>
              <a:t>Interiores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514600" y="3803903"/>
            <a:ext cx="1783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0">
                <a:solidFill>
                  <a:srgbClr val="6F7891"/>
                </a:solidFill>
                <a:latin typeface="Arial"/>
              </a:rPr>
              <a:t>recepção, rooftop, unidades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2920" y="4078224"/>
            <a:ext cx="3840480" cy="2834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03504" y="4114800"/>
            <a:ext cx="210312" cy="210312"/>
          </a:xfrm>
          <a:prstGeom prst="ellipse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2688" y="4123944"/>
            <a:ext cx="1554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00143D"/>
                </a:solidFill>
                <a:latin typeface="Arial"/>
              </a:rPr>
              <a:t>Briefing de projeto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514600" y="4133087"/>
            <a:ext cx="1783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0">
                <a:solidFill>
                  <a:srgbClr val="6F7891"/>
                </a:solidFill>
                <a:latin typeface="Arial"/>
              </a:rPr>
              <a:t>opções marcadas × projeto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2920" y="4407408"/>
            <a:ext cx="3840480" cy="2834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03504" y="4443984"/>
            <a:ext cx="210312" cy="210312"/>
          </a:xfrm>
          <a:prstGeom prst="ellipse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2688" y="4453128"/>
            <a:ext cx="1554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00143D"/>
                </a:solidFill>
                <a:latin typeface="Arial"/>
              </a:rPr>
              <a:t>Pontos de atenção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514600" y="4462272"/>
            <a:ext cx="1783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0">
                <a:solidFill>
                  <a:srgbClr val="6F7891"/>
                </a:solidFill>
                <a:latin typeface="Arial"/>
              </a:rPr>
              <a:t>travadas · checklist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99432" y="1170432"/>
            <a:ext cx="4041648" cy="3602736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754880" y="1280160"/>
            <a:ext cx="374903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>
                <a:solidFill>
                  <a:srgbClr val="8FA3CC"/>
                </a:solidFill>
                <a:latin typeface="Arial"/>
              </a:rPr>
              <a:t>AO ABRIR ESTE BOOK, OBRAS DEVE CONSEGUIR RESPONDER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754880" y="1636776"/>
            <a:ext cx="64008" cy="6400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919472" y="1572768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Arial"/>
              </a:rPr>
              <a:t>O que as imagens de lançamento mostram na fachada?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754880" y="1965960"/>
            <a:ext cx="64008" cy="6400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919472" y="1901952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Arial"/>
              </a:rPr>
              <a:t>Qual material o projeto define para cada elemento?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754880" y="2295144"/>
            <a:ext cx="64008" cy="6400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919472" y="2231136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Arial"/>
              </a:rPr>
              <a:t>Onde o projeto diverge da imagem vendida?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754880" y="2624327"/>
            <a:ext cx="64008" cy="6400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919472" y="2560320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Arial"/>
              </a:rPr>
              <a:t>Como são os brises, o forro e o pergolado?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754880" y="2953512"/>
            <a:ext cx="64008" cy="6400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919472" y="2889504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Arial"/>
              </a:rPr>
              <a:t>Qual é o conceito de interiores que deve ser seguido?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754880" y="3282695"/>
            <a:ext cx="64008" cy="6400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919472" y="3218687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Arial"/>
              </a:rPr>
              <a:t>O que não pode ser alterado sem validação?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754880" y="3611879"/>
            <a:ext cx="64008" cy="6400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919472" y="3547872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Arial"/>
              </a:rPr>
              <a:t>Quais pontos ainda precisam ser validados?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754880" y="4023360"/>
            <a:ext cx="3749039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0">
                <a:solidFill>
                  <a:srgbClr val="8FA3CC"/>
                </a:solidFill>
                <a:latin typeface="Arial"/>
              </a:rPr>
              <a:t>Regra do material: nenhuma informação foi inventada. Fontes (1.20 - [3330] Cachoeira Spot / 02 - Projetos): 08 - Projeto Arquitetônico (imagens 3D, pré-executivo, interiores), 09 - Memorial Descritivo, 12 - Conferência de projetos e 00 - Premissas de Projeto. Foco: imagens externas, texturas e interiores. Índices urbanísticos, áreas e custos não fazem parte deste Book.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1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pl_hou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685800"/>
            <a:ext cx="3749039" cy="3858768"/>
          </a:xfrm>
          <a:prstGeom prst="rect">
            <a:avLst/>
          </a:prstGeom>
        </p:spPr>
      </p:pic>
      <p:pic>
        <p:nvPicPr>
          <p:cNvPr id="4" name="Picture 3" descr="tpl_logo_co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02920" y="2103120"/>
            <a:ext cx="1463040" cy="45720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286000"/>
            <a:ext cx="5212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FC6058"/>
                </a:solidFill>
                <a:latin typeface="Arial"/>
              </a:rPr>
              <a:t>01 · FACHADA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596896"/>
            <a:ext cx="5212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rial"/>
              </a:rPr>
              <a:t>Premissas e especificações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310128"/>
            <a:ext cx="49377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9FB0D4"/>
                </a:solidFill>
                <a:latin typeface="Arial"/>
              </a:rPr>
              <a:t>Leitura geral  ·  mapa de texturas  ·  vistas com marcação e legenda técnica  ·  conferência de projetos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8FA3CC"/>
                </a:solidFill>
                <a:latin typeface="Arial"/>
              </a:rPr>
              <a:t>CACHOEIRA SPOT  ·  BOOK DE PREMISSAS DE FACHADA E INTERIORES  · 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01 · FACHADA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Leitura geral: o que compõe a fachada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CACHOEIRA SPOT  ·  BOOK DE PREMISSAS DE FACHADA E INTERIORES  ·  04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" y="1143000"/>
            <a:ext cx="5129783" cy="28895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01_-_Lançamento_Externa__09.jpg"/>
          <p:cNvPicPr>
            <a:picLocks noChangeAspect="1"/>
          </p:cNvPicPr>
          <p:nvPr/>
        </p:nvPicPr>
        <p:blipFill>
          <a:blip r:embed="rId4"/>
          <a:srcRect t="330" b="330"/>
          <a:stretch>
            <a:fillRect/>
          </a:stretch>
        </p:blipFill>
        <p:spPr>
          <a:xfrm>
            <a:off x="502920" y="1170432"/>
            <a:ext cx="5074920" cy="283464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94360" y="1261872"/>
            <a:ext cx="2103120" cy="15544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LANÇAMENTO · IMAGEM 09 (ESQUINA)</a:t>
            </a:r>
          </a:p>
        </p:txBody>
      </p:sp>
      <p:sp>
        <p:nvSpPr>
          <p:cNvPr id="13" name="Oval 12"/>
          <p:cNvSpPr/>
          <p:nvPr/>
        </p:nvSpPr>
        <p:spPr>
          <a:xfrm>
            <a:off x="2146553" y="1633118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169413" y="1655978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Oval 14"/>
          <p:cNvSpPr/>
          <p:nvPr/>
        </p:nvSpPr>
        <p:spPr>
          <a:xfrm>
            <a:off x="2704795" y="1831543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727655" y="1854403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Oval 16"/>
          <p:cNvSpPr/>
          <p:nvPr/>
        </p:nvSpPr>
        <p:spPr>
          <a:xfrm>
            <a:off x="1892807" y="2058314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915667" y="2081174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Oval 18"/>
          <p:cNvSpPr/>
          <p:nvPr/>
        </p:nvSpPr>
        <p:spPr>
          <a:xfrm>
            <a:off x="1740560" y="2540203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763420" y="2563063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1" name="Oval 20"/>
          <p:cNvSpPr/>
          <p:nvPr/>
        </p:nvSpPr>
        <p:spPr>
          <a:xfrm>
            <a:off x="3415284" y="2497683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3438144" y="2520543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3" name="Oval 22"/>
          <p:cNvSpPr/>
          <p:nvPr/>
        </p:nvSpPr>
        <p:spPr>
          <a:xfrm>
            <a:off x="2045055" y="2766974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067915" y="2789834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25" name="Oval 24"/>
          <p:cNvSpPr/>
          <p:nvPr/>
        </p:nvSpPr>
        <p:spPr>
          <a:xfrm>
            <a:off x="1385316" y="3121304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408176" y="3144164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27" name="Oval 26"/>
          <p:cNvSpPr/>
          <p:nvPr/>
        </p:nvSpPr>
        <p:spPr>
          <a:xfrm>
            <a:off x="1968931" y="3263036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991791" y="3285896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29" name="Oval 28"/>
          <p:cNvSpPr/>
          <p:nvPr/>
        </p:nvSpPr>
        <p:spPr>
          <a:xfrm>
            <a:off x="1791309" y="3532327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814169" y="3555187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31" name="Oval 30"/>
          <p:cNvSpPr/>
          <p:nvPr/>
        </p:nvSpPr>
        <p:spPr>
          <a:xfrm>
            <a:off x="2603296" y="3688232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626156" y="3711092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10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760720" y="1170432"/>
            <a:ext cx="2880360" cy="35844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897880" y="1243584"/>
            <a:ext cx="2606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6F7891"/>
                </a:solidFill>
                <a:latin typeface="Arial"/>
              </a:rPr>
              <a:t>LEGENDA</a:t>
            </a:r>
          </a:p>
        </p:txBody>
      </p:sp>
      <p:sp>
        <p:nvSpPr>
          <p:cNvPr id="35" name="Oval 34"/>
          <p:cNvSpPr/>
          <p:nvPr/>
        </p:nvSpPr>
        <p:spPr>
          <a:xfrm>
            <a:off x="5897880" y="1481328"/>
            <a:ext cx="201168" cy="201168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72200" y="1463040"/>
            <a:ext cx="23774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00143D"/>
                </a:solidFill>
                <a:latin typeface="Arial"/>
              </a:rPr>
              <a:t>Volume superior com logo</a:t>
            </a:r>
          </a:p>
          <a:p>
            <a:pPr algn="l"/>
            <a:r>
              <a:rPr sz="630" b="0">
                <a:solidFill>
                  <a:srgbClr val="6F7891"/>
                </a:solidFill>
                <a:latin typeface="Arial"/>
              </a:rPr>
              <a:t>cinza, letreiro SEAZONE iluminado</a:t>
            </a:r>
          </a:p>
        </p:txBody>
      </p:sp>
      <p:sp>
        <p:nvSpPr>
          <p:cNvPr id="37" name="Oval 36"/>
          <p:cNvSpPr/>
          <p:nvPr/>
        </p:nvSpPr>
        <p:spPr>
          <a:xfrm>
            <a:off x="5897880" y="1810512"/>
            <a:ext cx="201168" cy="201168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72200" y="1792224"/>
            <a:ext cx="23774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00143D"/>
                </a:solidFill>
                <a:latin typeface="Arial"/>
              </a:rPr>
              <a:t>Floreira da cobertura</a:t>
            </a:r>
          </a:p>
          <a:p>
            <a:pPr algn="l"/>
            <a:r>
              <a:rPr sz="630" b="0">
                <a:solidFill>
                  <a:srgbClr val="6F7891"/>
                </a:solidFill>
                <a:latin typeface="Arial"/>
              </a:rPr>
              <a:t>vegetação pendente em toda a borda</a:t>
            </a:r>
          </a:p>
        </p:txBody>
      </p:sp>
      <p:sp>
        <p:nvSpPr>
          <p:cNvPr id="39" name="Oval 38"/>
          <p:cNvSpPr/>
          <p:nvPr/>
        </p:nvSpPr>
        <p:spPr>
          <a:xfrm>
            <a:off x="5897880" y="2139696"/>
            <a:ext cx="201168" cy="201168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72200" y="2121408"/>
            <a:ext cx="23774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00143D"/>
                </a:solidFill>
                <a:latin typeface="Arial"/>
              </a:rPr>
              <a:t>Guarda-corpo das sacadas</a:t>
            </a:r>
          </a:p>
          <a:p>
            <a:pPr algn="l"/>
            <a:r>
              <a:rPr sz="630" b="0">
                <a:solidFill>
                  <a:srgbClr val="6F7891"/>
                </a:solidFill>
                <a:latin typeface="Arial"/>
              </a:rPr>
              <a:t>vidro com perfil fino</a:t>
            </a:r>
          </a:p>
        </p:txBody>
      </p:sp>
      <p:sp>
        <p:nvSpPr>
          <p:cNvPr id="41" name="Oval 40"/>
          <p:cNvSpPr/>
          <p:nvPr/>
        </p:nvSpPr>
        <p:spPr>
          <a:xfrm>
            <a:off x="5897880" y="2468880"/>
            <a:ext cx="201168" cy="201168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172200" y="2450592"/>
            <a:ext cx="23774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00143D"/>
                </a:solidFill>
                <a:latin typeface="Arial"/>
              </a:rPr>
              <a:t>Brise vertical amadeirado</a:t>
            </a:r>
          </a:p>
          <a:p>
            <a:pPr algn="l"/>
            <a:r>
              <a:rPr sz="630" b="0">
                <a:solidFill>
                  <a:srgbClr val="6F7891"/>
                </a:solidFill>
                <a:latin typeface="Arial"/>
              </a:rPr>
              <a:t>ripas em frente às janelas</a:t>
            </a:r>
          </a:p>
        </p:txBody>
      </p:sp>
      <p:sp>
        <p:nvSpPr>
          <p:cNvPr id="43" name="Oval 42"/>
          <p:cNvSpPr/>
          <p:nvPr/>
        </p:nvSpPr>
        <p:spPr>
          <a:xfrm>
            <a:off x="5897880" y="2798064"/>
            <a:ext cx="201168" cy="201168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172200" y="2779776"/>
            <a:ext cx="23774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00143D"/>
                </a:solidFill>
                <a:latin typeface="Arial"/>
              </a:rPr>
              <a:t>Forro e bordas de laje</a:t>
            </a:r>
          </a:p>
          <a:p>
            <a:pPr algn="l"/>
            <a:r>
              <a:rPr sz="630" b="0">
                <a:solidFill>
                  <a:srgbClr val="6F7891"/>
                </a:solidFill>
                <a:latin typeface="Arial"/>
              </a:rPr>
              <a:t>acabamento amadeirado (ACM madeira)</a:t>
            </a:r>
          </a:p>
        </p:txBody>
      </p:sp>
      <p:sp>
        <p:nvSpPr>
          <p:cNvPr id="45" name="Oval 44"/>
          <p:cNvSpPr/>
          <p:nvPr/>
        </p:nvSpPr>
        <p:spPr>
          <a:xfrm>
            <a:off x="5897880" y="3127248"/>
            <a:ext cx="201168" cy="201168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172200" y="3108960"/>
            <a:ext cx="23774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00143D"/>
                </a:solidFill>
                <a:latin typeface="Arial"/>
              </a:rPr>
              <a:t>Pilares e paredes claras</a:t>
            </a:r>
          </a:p>
          <a:p>
            <a:pPr algn="l"/>
            <a:r>
              <a:rPr sz="630" b="0">
                <a:solidFill>
                  <a:srgbClr val="6F7891"/>
                </a:solidFill>
                <a:latin typeface="Arial"/>
              </a:rPr>
              <a:t>cinza claro · cor não especificada</a:t>
            </a:r>
          </a:p>
        </p:txBody>
      </p:sp>
      <p:sp>
        <p:nvSpPr>
          <p:cNvPr id="47" name="Oval 46"/>
          <p:cNvSpPr/>
          <p:nvPr/>
        </p:nvSpPr>
        <p:spPr>
          <a:xfrm>
            <a:off x="5897880" y="3456432"/>
            <a:ext cx="201168" cy="201168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172200" y="3438144"/>
            <a:ext cx="23774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00143D"/>
                </a:solidFill>
                <a:latin typeface="Arial"/>
              </a:rPr>
              <a:t>Floreira do 1º pavimento</a:t>
            </a:r>
          </a:p>
          <a:p>
            <a:pPr algn="l"/>
            <a:r>
              <a:rPr sz="630" b="0">
                <a:solidFill>
                  <a:srgbClr val="6F7891"/>
                </a:solidFill>
                <a:latin typeface="Arial"/>
              </a:rPr>
              <a:t>faixa contínua sobre a marquise</a:t>
            </a:r>
          </a:p>
        </p:txBody>
      </p:sp>
      <p:sp>
        <p:nvSpPr>
          <p:cNvPr id="49" name="Oval 48"/>
          <p:cNvSpPr/>
          <p:nvPr/>
        </p:nvSpPr>
        <p:spPr>
          <a:xfrm>
            <a:off x="5897880" y="3785615"/>
            <a:ext cx="201168" cy="201168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172200" y="3767328"/>
            <a:ext cx="23774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00143D"/>
                </a:solidFill>
                <a:latin typeface="Arial"/>
              </a:rPr>
              <a:t>Letreiro CACHOEIRA SPOT</a:t>
            </a:r>
          </a:p>
          <a:p>
            <a:pPr algn="l"/>
            <a:r>
              <a:rPr sz="630" b="0">
                <a:solidFill>
                  <a:srgbClr val="6F7891"/>
                </a:solidFill>
                <a:latin typeface="Arial"/>
              </a:rPr>
              <a:t>letras iluminadas sobre a marquise</a:t>
            </a:r>
          </a:p>
        </p:txBody>
      </p:sp>
      <p:sp>
        <p:nvSpPr>
          <p:cNvPr id="51" name="Oval 50"/>
          <p:cNvSpPr/>
          <p:nvPr/>
        </p:nvSpPr>
        <p:spPr>
          <a:xfrm>
            <a:off x="5897880" y="4114800"/>
            <a:ext cx="201168" cy="201168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172200" y="4096512"/>
            <a:ext cx="23774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00143D"/>
                </a:solidFill>
                <a:latin typeface="Arial"/>
              </a:rPr>
              <a:t>Base comercial</a:t>
            </a:r>
          </a:p>
          <a:p>
            <a:pPr algn="l"/>
            <a:r>
              <a:rPr sz="630" b="0">
                <a:solidFill>
                  <a:srgbClr val="6F7891"/>
                </a:solidFill>
                <a:latin typeface="Arial"/>
              </a:rPr>
              <a:t>ripado escuro entre vitrines das lojas</a:t>
            </a:r>
          </a:p>
        </p:txBody>
      </p:sp>
      <p:sp>
        <p:nvSpPr>
          <p:cNvPr id="53" name="Oval 52"/>
          <p:cNvSpPr/>
          <p:nvPr/>
        </p:nvSpPr>
        <p:spPr>
          <a:xfrm>
            <a:off x="5897880" y="4443983"/>
            <a:ext cx="201168" cy="201168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10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172200" y="4425696"/>
            <a:ext cx="23774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00143D"/>
                </a:solidFill>
                <a:latin typeface="Arial"/>
              </a:rPr>
              <a:t>Acesso</a:t>
            </a:r>
          </a:p>
          <a:p>
            <a:pPr algn="l"/>
            <a:r>
              <a:rPr sz="630" b="0">
                <a:solidFill>
                  <a:srgbClr val="6F7891"/>
                </a:solidFill>
                <a:latin typeface="Arial"/>
              </a:rPr>
              <a:t>escada com LED nos degraus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02920" y="4096512"/>
            <a:ext cx="5074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  <a:latin typeface="Arial"/>
              </a:rPr>
              <a:t>A fachada vendida é lida em camadas horizontais: lajes com bordas e forro amadeirados, sacadas com guarda-corpo de vidro e brises verticais cor madeira em frente às janelas. No topo, floreira contínua e volume cinza com o logo SEAZONE; na base, floreira sobre a marquise com o letreiro CACHOEIRA SPOT e lojas com ripado escuro.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01 · FACHADA · MAPA DE TEXTURAS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Texturas e acabamentos da fachada (1/2)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CACHOEIRA SPOT  ·  BOOK DE PREMISSAS DE FACHADA E INTERIORES  ·  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115568"/>
            <a:ext cx="81381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F7891"/>
                </a:solidFill>
                <a:latin typeface="Arial"/>
              </a:rPr>
              <a:t>Amostras extraídas das imagens de lançamento: referência visual, não substitui amostra física. Especificação: notas das elevações 011 a 013 (PP R02) e Memorial Descritivo V02.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44475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06_BOOK_ASSETS__sw_brise.jpg"/>
          <p:cNvPicPr>
            <a:picLocks noChangeAspect="1"/>
          </p:cNvPicPr>
          <p:nvPr/>
        </p:nvPicPr>
        <p:blipFill>
          <a:blip r:embed="rId4"/>
          <a:srcRect t="8404" b="8404"/>
          <a:stretch>
            <a:fillRect/>
          </a:stretch>
        </p:blipFill>
        <p:spPr>
          <a:xfrm>
            <a:off x="594360" y="1536192"/>
            <a:ext cx="868680" cy="64008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594360" y="153619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7048" y="151790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Brise das janelas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7048" y="182880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frente das janelas e porta-janelas de todas as fachadas.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223113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imagem: ripas verticais cor madeira · elevações: brise de alumínio cinza (lâminas) · memorial 13.4: estrutura em madeira ou móveis.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265176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três referências diferentes · briefing marca PVC. CRÍTICO · A VALIDAR.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46120" y="144475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06_BOOK_ASSETS__sw_forro.jpg"/>
          <p:cNvPicPr>
            <a:picLocks noChangeAspect="1"/>
          </p:cNvPicPr>
          <p:nvPr/>
        </p:nvPicPr>
        <p:blipFill>
          <a:blip r:embed="rId5"/>
          <a:srcRect l="41706" r="41706"/>
          <a:stretch>
            <a:fillRect/>
          </a:stretch>
        </p:blipFill>
        <p:spPr>
          <a:xfrm>
            <a:off x="3337560" y="1536192"/>
            <a:ext cx="868680" cy="640080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3337560" y="153619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70248" y="151790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Forro e bordas amadeirados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70248" y="182880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face inferior das lajes das sacadas e bordas dos pavimentos.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37560" y="223113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elevações: forro de madeira (ACM madeira), inclinado na elevação 02 · forro externo em ACM madeira com perfis de vinco (prancha 017).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37560" y="265176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converge com a imagem: aprovar padrão da madeira do ACM com amostra. A VALIDAR.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89320" y="144475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06_BOOK_ASSETS__sw_gc.jpg"/>
          <p:cNvPicPr>
            <a:picLocks noChangeAspect="1"/>
          </p:cNvPicPr>
          <p:nvPr/>
        </p:nvPicPr>
        <p:blipFill>
          <a:blip r:embed="rId6"/>
          <a:srcRect l="24554" r="24554"/>
          <a:stretch>
            <a:fillRect/>
          </a:stretch>
        </p:blipFill>
        <p:spPr>
          <a:xfrm>
            <a:off x="6080759" y="1536192"/>
            <a:ext cx="868680" cy="640080"/>
          </a:xfrm>
          <a:prstGeom prst="rect">
            <a:avLst/>
          </a:prstGeom>
        </p:spPr>
      </p:pic>
      <p:sp>
        <p:nvSpPr>
          <p:cNvPr id="27" name="Rectangle 26"/>
          <p:cNvSpPr/>
          <p:nvPr/>
        </p:nvSpPr>
        <p:spPr>
          <a:xfrm>
            <a:off x="6080759" y="153619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13448" y="151790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Guarda-corpo das sacadas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13448" y="182880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sacadas dos pavimentos e cobertura.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80759" y="223113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elevações: guarda-corpo de vidro · memorial: alumínio anodizado com vidro (sacadas) e inox com vidro (piscina).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80759" y="265176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briefing privativo: alumínio anodizado com montante aparente. Definir perfil. A VALIDAR.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313639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06_BOOK_ASSETS__sw_pilar.jpg"/>
          <p:cNvPicPr>
            <a:picLocks noChangeAspect="1"/>
          </p:cNvPicPr>
          <p:nvPr/>
        </p:nvPicPr>
        <p:blipFill>
          <a:blip r:embed="rId7"/>
          <a:srcRect t="29341" b="29341"/>
          <a:stretch>
            <a:fillRect/>
          </a:stretch>
        </p:blipFill>
        <p:spPr>
          <a:xfrm>
            <a:off x="594360" y="3227832"/>
            <a:ext cx="868680" cy="640080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594360" y="322783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T04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27048" y="320954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Pilares e paredes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527048" y="352044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pilares entre janelas, paredes e empenas.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392277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imagem: cinza claro nos pilares e cinza médio nas empenas · memorial: textura/massa acrílica + pintura "conforme memorial de acabamentos".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" y="434340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nenhuma cor definida no projeto nem no memorial. PENDENTE.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46120" y="313639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06_BOOK_ASSETS__sw_logo.jpg"/>
          <p:cNvPicPr>
            <a:picLocks noChangeAspect="1"/>
          </p:cNvPicPr>
          <p:nvPr/>
        </p:nvPicPr>
        <p:blipFill>
          <a:blip r:embed="rId8"/>
          <a:srcRect l="16602" r="16602"/>
          <a:stretch>
            <a:fillRect/>
          </a:stretch>
        </p:blipFill>
        <p:spPr>
          <a:xfrm>
            <a:off x="3337560" y="3227832"/>
            <a:ext cx="868680" cy="640080"/>
          </a:xfrm>
          <a:prstGeom prst="rect">
            <a:avLst/>
          </a:prstGeom>
        </p:spPr>
      </p:pic>
      <p:sp>
        <p:nvSpPr>
          <p:cNvPr id="41" name="Rectangle 40"/>
          <p:cNvSpPr/>
          <p:nvPr/>
        </p:nvSpPr>
        <p:spPr>
          <a:xfrm>
            <a:off x="3337560" y="322783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T05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270248" y="320954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Volume superior + logo SEAZONE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70248" y="352044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caixa d'água / volume técnico da cobertura.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37560" y="392277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imagem: volume cinza com logo SEAZONE iluminado (frente) e casinha (fundos) · memorial: reservatório com acabamento conforme fachada.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337560" y="434340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letreiro sem detalhe de material, iluminação e fixação. PENDENTE.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989320" y="313639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06_BOOK_ASSETS__sw_esq.jpg"/>
          <p:cNvPicPr>
            <a:picLocks noChangeAspect="1"/>
          </p:cNvPicPr>
          <p:nvPr/>
        </p:nvPicPr>
        <p:blipFill>
          <a:blip r:embed="rId9"/>
          <a:srcRect l="7589" r="7589"/>
          <a:stretch>
            <a:fillRect/>
          </a:stretch>
        </p:blipFill>
        <p:spPr>
          <a:xfrm>
            <a:off x="6080759" y="3227832"/>
            <a:ext cx="868680" cy="640080"/>
          </a:xfrm>
          <a:prstGeom prst="rect">
            <a:avLst/>
          </a:prstGeom>
        </p:spPr>
      </p:pic>
      <p:sp>
        <p:nvSpPr>
          <p:cNvPr id="48" name="Rectangle 47"/>
          <p:cNvSpPr/>
          <p:nvPr/>
        </p:nvSpPr>
        <p:spPr>
          <a:xfrm>
            <a:off x="6080759" y="322783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T06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013448" y="320954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Esquadrias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013448" y="352044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janelas e porta-janelas das unidades.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80759" y="392277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tabelas J01–J08 e P01–P16 (014/015-R02): "alumínio; vidro" · briefing: linha 32 (gold) preto fosco.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080759" y="434340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linha e cor não aparecem nas pranchas: completar antes do pedido. A VALIDAR.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01 · FACHADA · MAPA DE TEXTURAS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Texturas e acabamentos da fachada (2/2)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CACHOEIRA SPOT  ·  BOOK DE PREMISSAS DE FACHADA E INTERIORES  ·  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115568"/>
            <a:ext cx="81381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F7891"/>
                </a:solidFill>
                <a:latin typeface="Arial"/>
              </a:rPr>
              <a:t>Amostras extraídas das imagens de lançamento: referência visual, não substitui amostra física. Especificação: pré-executivo, Memorial Descritivo V02, paisagismo e Briefing.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44475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06_BOOK_ASSETS__sw_flor.jpg"/>
          <p:cNvPicPr>
            <a:picLocks noChangeAspect="1"/>
          </p:cNvPicPr>
          <p:nvPr/>
        </p:nvPicPr>
        <p:blipFill>
          <a:blip r:embed="rId4"/>
          <a:srcRect l="34732" r="34732"/>
          <a:stretch>
            <a:fillRect/>
          </a:stretch>
        </p:blipFill>
        <p:spPr>
          <a:xfrm>
            <a:off x="594360" y="1536192"/>
            <a:ext cx="868680" cy="64008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594360" y="153619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T07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7048" y="151790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Floreiras de fachada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7048" y="182880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borda da cobertura e faixa sobre a marquise do térreo.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223113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floreiras A a I impermeabilizadas (membrana elastomérica) · paisagismo: Guaimbé e Russélia branca nas floreiras.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265176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paisagismo só até o pré-executivo: fechar espécies e irrigação. A VALIDAR.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46120" y="144475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06_BOOK_ASSETS__sw_letreiro.jpg"/>
          <p:cNvPicPr>
            <a:picLocks noChangeAspect="1"/>
          </p:cNvPicPr>
          <p:nvPr/>
        </p:nvPicPr>
        <p:blipFill>
          <a:blip r:embed="rId5"/>
          <a:srcRect l="37333" r="37333"/>
          <a:stretch>
            <a:fillRect/>
          </a:stretch>
        </p:blipFill>
        <p:spPr>
          <a:xfrm>
            <a:off x="3337560" y="1536192"/>
            <a:ext cx="868680" cy="640080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3337560" y="153619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T08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70248" y="151790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Letreiro CACHOEIRA SPOT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70248" y="182880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frente da marquise do térreo.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37560" y="223113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imagem: letras brancas iluminadas · memorial: nome do edifício fixado na fachada.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37560" y="265176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sem detalhe no projeto · luminotécnico não contratado (logos iluminados). PENDENTE.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89320" y="144475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06_BOOK_ASSETS__sw_base.jpg"/>
          <p:cNvPicPr>
            <a:picLocks noChangeAspect="1"/>
          </p:cNvPicPr>
          <p:nvPr/>
        </p:nvPicPr>
        <p:blipFill>
          <a:blip r:embed="rId6"/>
          <a:srcRect l="8360" r="8360"/>
          <a:stretch>
            <a:fillRect/>
          </a:stretch>
        </p:blipFill>
        <p:spPr>
          <a:xfrm>
            <a:off x="6080759" y="1536192"/>
            <a:ext cx="868680" cy="640080"/>
          </a:xfrm>
          <a:prstGeom prst="rect">
            <a:avLst/>
          </a:prstGeom>
        </p:spPr>
      </p:pic>
      <p:sp>
        <p:nvSpPr>
          <p:cNvPr id="27" name="Rectangle 26"/>
          <p:cNvSpPr/>
          <p:nvPr/>
        </p:nvSpPr>
        <p:spPr>
          <a:xfrm>
            <a:off x="6080759" y="153619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T09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13448" y="151790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Base comercial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13448" y="182880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fachada das lojas no térreo.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80759" y="223113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imagem: painéis ripados escuros entre as vitrines, marquise com linha de LED.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80759" y="265176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material do ripado e da marquise não especificado nas elevações. PENDENTE.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313639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06_BOOK_ASSETS__sw_perg.jpg"/>
          <p:cNvPicPr>
            <a:picLocks noChangeAspect="1"/>
          </p:cNvPicPr>
          <p:nvPr/>
        </p:nvPicPr>
        <p:blipFill>
          <a:blip r:embed="rId7"/>
          <a:srcRect l="31824" r="31824"/>
          <a:stretch>
            <a:fillRect/>
          </a:stretch>
        </p:blipFill>
        <p:spPr>
          <a:xfrm>
            <a:off x="594360" y="3227832"/>
            <a:ext cx="868680" cy="640080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594360" y="322783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T10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27048" y="320954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Pergolado da cobertura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527048" y="352044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terraço do rooftop.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392277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imagem: pergolado escuro · elevação 02: pergolado metálico BRANCO · memorial 26: aço corten ou ripas de madeira.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" y="434340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três referências divergentes: definir antes da fabricação. CRÍTICO · A VALIDAR.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46120" y="313639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06_BOOK_ASSETS__sw_grelha.jpg"/>
          <p:cNvPicPr>
            <a:picLocks noChangeAspect="1"/>
          </p:cNvPicPr>
          <p:nvPr/>
        </p:nvPicPr>
        <p:blipFill>
          <a:blip r:embed="rId8"/>
          <a:srcRect l="38917" r="38917"/>
          <a:stretch>
            <a:fillRect/>
          </a:stretch>
        </p:blipFill>
        <p:spPr>
          <a:xfrm>
            <a:off x="3337560" y="3227832"/>
            <a:ext cx="868680" cy="640080"/>
          </a:xfrm>
          <a:prstGeom prst="rect">
            <a:avLst/>
          </a:prstGeom>
        </p:spPr>
      </p:pic>
      <p:sp>
        <p:nvSpPr>
          <p:cNvPr id="41" name="Rectangle 40"/>
          <p:cNvSpPr/>
          <p:nvPr/>
        </p:nvSpPr>
        <p:spPr>
          <a:xfrm>
            <a:off x="3337560" y="322783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T11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270248" y="320954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Brise das condensadoras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70248" y="352044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faixas nas lajes da fachada posterior/lateral.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37560" y="392277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elevação 02: brise para condensadoras (lâminas horizontais) · imagem: faixas cinza escuro.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337560" y="434340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integrar com as imagens de venda (conferência de climatização). A VALIDAR.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989320" y="313639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06_BOOK_ASSETS__sw_escada.jpg"/>
          <p:cNvPicPr>
            <a:picLocks noChangeAspect="1"/>
          </p:cNvPicPr>
          <p:nvPr/>
        </p:nvPicPr>
        <p:blipFill>
          <a:blip r:embed="rId9"/>
          <a:srcRect l="23640" r="23640"/>
          <a:stretch>
            <a:fillRect/>
          </a:stretch>
        </p:blipFill>
        <p:spPr>
          <a:xfrm>
            <a:off x="6080759" y="3227832"/>
            <a:ext cx="868680" cy="640080"/>
          </a:xfrm>
          <a:prstGeom prst="rect">
            <a:avLst/>
          </a:prstGeom>
        </p:spPr>
      </p:pic>
      <p:sp>
        <p:nvSpPr>
          <p:cNvPr id="48" name="Rectangle 47"/>
          <p:cNvSpPr/>
          <p:nvPr/>
        </p:nvSpPr>
        <p:spPr>
          <a:xfrm>
            <a:off x="6080759" y="322783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T12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013448" y="320954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Acesso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013448" y="352044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entrada principal pela calçada.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80759" y="392277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imagem: escada com LED nos degraus e guarda-corpo de vidro · acesso sem rampa no lobby (e-mail 19/05/2025).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080759" y="434340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detalhar a escada, o LED e o guarda-corpo no executivo. PENDENTE.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01 · FACHADA · VISTA + ESPECIFICAÇÃO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Fachada frontal (Rua da Amizade)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CACHOEIRA SPOT  ·  BOOK DE PREMISSAS DE FACHADA E INTERIORES  ·  07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" y="1143000"/>
            <a:ext cx="4626864" cy="2624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01_-_Lançamento_Externa__04_(1).jpg"/>
          <p:cNvPicPr>
            <a:picLocks noChangeAspect="1"/>
          </p:cNvPicPr>
          <p:nvPr/>
        </p:nvPicPr>
        <p:blipFill>
          <a:blip r:embed="rId4"/>
          <a:srcRect t="24" b="24"/>
          <a:stretch>
            <a:fillRect/>
          </a:stretch>
        </p:blipFill>
        <p:spPr>
          <a:xfrm>
            <a:off x="502920" y="1170432"/>
            <a:ext cx="4572000" cy="2569464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94360" y="1261872"/>
            <a:ext cx="1920240" cy="15544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LANÇAMENTO · IMAGEM 04 (FRONTAL)</a:t>
            </a:r>
          </a:p>
        </p:txBody>
      </p:sp>
      <p:sp>
        <p:nvSpPr>
          <p:cNvPr id="13" name="Oval 12"/>
          <p:cNvSpPr/>
          <p:nvPr/>
        </p:nvSpPr>
        <p:spPr>
          <a:xfrm>
            <a:off x="2427732" y="1371874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450591" y="1394734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Oval 14"/>
          <p:cNvSpPr/>
          <p:nvPr/>
        </p:nvSpPr>
        <p:spPr>
          <a:xfrm>
            <a:off x="3204972" y="1731599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227832" y="1754459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Oval 16"/>
          <p:cNvSpPr/>
          <p:nvPr/>
        </p:nvSpPr>
        <p:spPr>
          <a:xfrm>
            <a:off x="1741931" y="1962851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764791" y="1985711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Oval 18"/>
          <p:cNvSpPr/>
          <p:nvPr/>
        </p:nvSpPr>
        <p:spPr>
          <a:xfrm>
            <a:off x="2656332" y="2065629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679191" y="2088489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1" name="Oval 20"/>
          <p:cNvSpPr/>
          <p:nvPr/>
        </p:nvSpPr>
        <p:spPr>
          <a:xfrm>
            <a:off x="3387852" y="2155560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3410712" y="2178420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3" name="Oval 22"/>
          <p:cNvSpPr/>
          <p:nvPr/>
        </p:nvSpPr>
        <p:spPr>
          <a:xfrm>
            <a:off x="1513332" y="2245492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536192" y="2268352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25" name="Oval 24"/>
          <p:cNvSpPr/>
          <p:nvPr/>
        </p:nvSpPr>
        <p:spPr>
          <a:xfrm>
            <a:off x="2747772" y="2990636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770632" y="3013496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27" name="Oval 26"/>
          <p:cNvSpPr/>
          <p:nvPr/>
        </p:nvSpPr>
        <p:spPr>
          <a:xfrm>
            <a:off x="1330452" y="2849316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353312" y="2872176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29" name="Oval 28"/>
          <p:cNvSpPr/>
          <p:nvPr/>
        </p:nvSpPr>
        <p:spPr>
          <a:xfrm>
            <a:off x="1741931" y="3273277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764791" y="3296137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31" name="Oval 30"/>
          <p:cNvSpPr/>
          <p:nvPr/>
        </p:nvSpPr>
        <p:spPr>
          <a:xfrm>
            <a:off x="2473452" y="3414598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496312" y="3437458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10</a:t>
            </a:r>
          </a:p>
        </p:txBody>
      </p:sp>
      <p:graphicFrame>
        <p:nvGraphicFramePr>
          <p:cNvPr id="33" name="Table 32"/>
          <p:cNvGraphicFramePr>
            <a:graphicFrameLocks noGrp="1"/>
          </p:cNvGraphicFramePr>
          <p:nvPr/>
        </p:nvGraphicFramePr>
        <p:xfrm>
          <a:off x="5257800" y="1170432"/>
          <a:ext cx="3383280" cy="3291840"/>
        </p:xfrm>
        <a:graphic>
          <a:graphicData uri="http://schemas.openxmlformats.org/drawingml/2006/table">
            <a:tbl>
              <a:tblPr>
                <a:noFill/>
                <a:tableStyleId>{D79DEEBB-5512-44E8-9C8E-75C5AFC50D94}</a:tableStyleId>
              </a:tblPr>
              <a:tblGrid>
                <a:gridCol w="201168"/>
                <a:gridCol w="731520"/>
                <a:gridCol w="1883664"/>
                <a:gridCol w="566928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#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Elemento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Especificação (projeto / memorial)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01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Logo SEAZONE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Iluminado no volume superior · sem detalhe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C6058"/>
                          </a:solidFill>
                          <a:latin typeface="Arial"/>
                        </a:rPr>
                        <a:t>PENDENTE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02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Floreira cobertura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Membrana elastomérica · Guaimbé e Russélia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03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Brises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Alumínio cinza (PP) × ripas madeira (imagem)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04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Guarda-corpo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Vidro (elevações) · perfil a definir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05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Forro das lajes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Forro de madeira em ACM madeira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06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Pilares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Pintura sobre textura · cor não definida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C6058"/>
                          </a:solidFill>
                          <a:latin typeface="Arial"/>
                        </a:rPr>
                        <a:t>PENDENTE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07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Floreira 1º pav.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Faixa contínua sobre a marquise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08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Letreiro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CACHOEIRA SPOT iluminado · sem detalhe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C6058"/>
                          </a:solidFill>
                          <a:latin typeface="Arial"/>
                        </a:rPr>
                        <a:t>PENDENTE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09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Lojas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Vitrines + ripado escuro · sem especificação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C6058"/>
                          </a:solidFill>
                          <a:latin typeface="Arial"/>
                        </a:rPr>
                        <a:t>PENDENTE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Acesso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Escada com LED · sem detalhe executivo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C6058"/>
                          </a:solidFill>
                          <a:latin typeface="Arial"/>
                        </a:rPr>
                        <a:t>PENDENTE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</a:tbl>
          </a:graphicData>
        </a:graphic>
      </p:graphicFrame>
      <p:sp>
        <p:nvSpPr>
          <p:cNvPr id="34" name="Rectangle 33"/>
          <p:cNvSpPr/>
          <p:nvPr/>
        </p:nvSpPr>
        <p:spPr>
          <a:xfrm>
            <a:off x="502920" y="3840480"/>
            <a:ext cx="4572000" cy="93268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58368" y="3950208"/>
            <a:ext cx="566928" cy="15544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LEITURA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16736" y="3941064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8FA3CC"/>
                </a:solidFill>
                <a:latin typeface="Arial"/>
              </a:rPr>
              <a:t>LEITURA DA FACHADA FRONTAL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" y="4169664"/>
            <a:ext cx="426110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700" b="0">
                <a:solidFill>
                  <a:srgbClr val="FFFFFF"/>
                </a:solidFill>
                <a:latin typeface="Arial"/>
              </a:rPr>
              <a:t>A frente é uma grelha regular de sacadas com vidro e brises verticais amadeirados, emoldurada por lajes com forro de madeira. O pré-executivo mantém o forro e o vidro, mas desenha o brise em alumínio cinza: é a principal diferença visual em relação à imagem vendida.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01 · FACHADA · VISTA + ESPECIFICAÇÃO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Esquina e fachada lateral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CACHOEIRA SPOT  ·  BOOK DE PREMISSAS DE FACHADA E INTERIORES  ·  08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" y="1143000"/>
            <a:ext cx="2432304" cy="3657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01_-_Lançamento_Externa__05_(1).jpg"/>
          <p:cNvPicPr>
            <a:picLocks noChangeAspect="1"/>
          </p:cNvPicPr>
          <p:nvPr/>
        </p:nvPicPr>
        <p:blipFill>
          <a:blip r:embed="rId4"/>
          <a:srcRect l="8756" r="8756"/>
          <a:stretch>
            <a:fillRect/>
          </a:stretch>
        </p:blipFill>
        <p:spPr>
          <a:xfrm>
            <a:off x="502920" y="1170432"/>
            <a:ext cx="2377440" cy="3602736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94360" y="1261872"/>
            <a:ext cx="1600200" cy="15544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LANÇAMENTO · IMAGEM 05</a:t>
            </a:r>
          </a:p>
        </p:txBody>
      </p:sp>
      <p:sp>
        <p:nvSpPr>
          <p:cNvPr id="13" name="Oval 12"/>
          <p:cNvSpPr/>
          <p:nvPr/>
        </p:nvSpPr>
        <p:spPr>
          <a:xfrm>
            <a:off x="1559052" y="2623047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581912" y="2645907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Oval 14"/>
          <p:cNvSpPr/>
          <p:nvPr/>
        </p:nvSpPr>
        <p:spPr>
          <a:xfrm>
            <a:off x="982614" y="2857225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05474" y="2880085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Oval 16"/>
          <p:cNvSpPr/>
          <p:nvPr/>
        </p:nvSpPr>
        <p:spPr>
          <a:xfrm>
            <a:off x="1904914" y="3037362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927774" y="3060222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Oval 18"/>
          <p:cNvSpPr/>
          <p:nvPr/>
        </p:nvSpPr>
        <p:spPr>
          <a:xfrm>
            <a:off x="1904914" y="3271540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927774" y="3294400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1" name="Oval 20"/>
          <p:cNvSpPr/>
          <p:nvPr/>
        </p:nvSpPr>
        <p:spPr>
          <a:xfrm>
            <a:off x="1357298" y="3271540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380158" y="3294400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3" name="Oval 22"/>
          <p:cNvSpPr/>
          <p:nvPr/>
        </p:nvSpPr>
        <p:spPr>
          <a:xfrm>
            <a:off x="1069079" y="3667841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91939" y="3690701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25" name="Oval 24"/>
          <p:cNvSpPr/>
          <p:nvPr/>
        </p:nvSpPr>
        <p:spPr>
          <a:xfrm>
            <a:off x="2423708" y="3415649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446568" y="3438509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27" name="Oval 26"/>
          <p:cNvSpPr/>
          <p:nvPr/>
        </p:nvSpPr>
        <p:spPr>
          <a:xfrm>
            <a:off x="1126723" y="4460443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149583" y="4483303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graphicFrame>
        <p:nvGraphicFramePr>
          <p:cNvPr id="29" name="Table 28"/>
          <p:cNvGraphicFramePr>
            <a:graphicFrameLocks noGrp="1"/>
          </p:cNvGraphicFramePr>
          <p:nvPr/>
        </p:nvGraphicFramePr>
        <p:xfrm>
          <a:off x="3063240" y="1170432"/>
          <a:ext cx="5577840" cy="3200400"/>
        </p:xfrm>
        <a:graphic>
          <a:graphicData uri="http://schemas.openxmlformats.org/drawingml/2006/table">
            <a:tbl>
              <a:tblPr>
                <a:noFill/>
                <a:tableStyleId>{D79DEEBB-5512-44E8-9C8E-75C5AFC50D94}</a:tableStyleId>
              </a:tblPr>
              <a:tblGrid>
                <a:gridCol w="228600"/>
                <a:gridCol w="1143000"/>
                <a:gridCol w="3474720"/>
                <a:gridCol w="731520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#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Elemento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Especificação (projeto / memorial)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01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Floreira da cobertura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Vegetação pendente na borda · impermeabilização com membrana elastomérica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02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Volume superior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Cinza, com logo · reservatório com acabamento conforme fachada (memorial)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C6058"/>
                          </a:solidFill>
                          <a:latin typeface="Arial"/>
                        </a:rPr>
                        <a:t>PENDENTE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03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Bordas de laje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Revestidas em madeira na imagem · forro de madeira (ACM madeira) nas elevações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04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Guarda-corpo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Vidro nas elevações · briefing: alumínio anodizado com montante aparente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05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Brises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Ripas verticais amadeiradas (imagem) × alumínio cinza (elevação 01)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06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Paredes claras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Pintura sobre textura acrílica · cor não definida no projeto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C6058"/>
                          </a:solidFill>
                          <a:latin typeface="Arial"/>
                        </a:rPr>
                        <a:t>PENDENTE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07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Fachada lateral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Sacadas repetidas com brise e vidro · faixa de brise das condensadoras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08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Muro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Briefing: pintura cor Seazone com logo e nome · imagem: muro claro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</a:tbl>
          </a:graphicData>
        </a:graphic>
      </p:graphicFrame>
      <p:sp>
        <p:nvSpPr>
          <p:cNvPr id="30" name="TextBox 29"/>
          <p:cNvSpPr txBox="1"/>
          <p:nvPr/>
        </p:nvSpPr>
        <p:spPr>
          <a:xfrm>
            <a:off x="3063240" y="4498848"/>
            <a:ext cx="5577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0">
                <a:solidFill>
                  <a:srgbClr val="6F7891"/>
                </a:solidFill>
                <a:latin typeface="Arial"/>
              </a:rPr>
              <a:t>As elevações 011 a 013 trazem só notas de material (brise, vidro, forro, pergolado). Não há paginação, cores nem caderno de fachada: a imagem de venda é hoje a principal referência de acabamento.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01 · FACHADA · VISTA + ESPECIFICAÇÃO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Térreo: lojas, marquise e acesso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CACHOEIRA SPOT  ·  BOOK DE PREMISSAS DE FACHADA E INTERIORES  ·  09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" y="1088136"/>
            <a:ext cx="8193024" cy="18745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01_-_Lançamento_Externa__04_(2).jpg"/>
          <p:cNvPicPr>
            <a:picLocks noChangeAspect="1"/>
          </p:cNvPicPr>
          <p:nvPr/>
        </p:nvPicPr>
        <p:blipFill>
          <a:blip r:embed="rId4"/>
          <a:srcRect t="9" b="9"/>
          <a:stretch>
            <a:fillRect/>
          </a:stretch>
        </p:blipFill>
        <p:spPr>
          <a:xfrm>
            <a:off x="502920" y="1115568"/>
            <a:ext cx="8138160" cy="1819656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94360" y="1207008"/>
            <a:ext cx="1920240" cy="15544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LANÇAMENTO · IMAGEM 04 (TÉRREO)</a:t>
            </a:r>
          </a:p>
        </p:txBody>
      </p:sp>
      <p:sp>
        <p:nvSpPr>
          <p:cNvPr id="13" name="Oval 12"/>
          <p:cNvSpPr/>
          <p:nvPr/>
        </p:nvSpPr>
        <p:spPr>
          <a:xfrm>
            <a:off x="2730398" y="1783628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753258" y="1806488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Oval 14"/>
          <p:cNvSpPr/>
          <p:nvPr/>
        </p:nvSpPr>
        <p:spPr>
          <a:xfrm>
            <a:off x="4195267" y="1710842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218127" y="1733702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Oval 16"/>
          <p:cNvSpPr/>
          <p:nvPr/>
        </p:nvSpPr>
        <p:spPr>
          <a:xfrm>
            <a:off x="3625596" y="1956495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48456" y="1979355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Oval 18"/>
          <p:cNvSpPr/>
          <p:nvPr/>
        </p:nvSpPr>
        <p:spPr>
          <a:xfrm>
            <a:off x="3869740" y="2129363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892600" y="2152223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1" name="Oval 20"/>
          <p:cNvSpPr/>
          <p:nvPr/>
        </p:nvSpPr>
        <p:spPr>
          <a:xfrm>
            <a:off x="3055924" y="2183952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3078784" y="2206812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3" name="Oval 22"/>
          <p:cNvSpPr/>
          <p:nvPr/>
        </p:nvSpPr>
        <p:spPr>
          <a:xfrm>
            <a:off x="2323490" y="2293132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346350" y="2315992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25" name="Oval 24"/>
          <p:cNvSpPr/>
          <p:nvPr/>
        </p:nvSpPr>
        <p:spPr>
          <a:xfrm>
            <a:off x="4032504" y="2438704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055363" y="2461564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27" name="Oval 26"/>
          <p:cNvSpPr/>
          <p:nvPr/>
        </p:nvSpPr>
        <p:spPr>
          <a:xfrm>
            <a:off x="2486253" y="2511491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509113" y="2534351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29" name="Oval 28"/>
          <p:cNvSpPr/>
          <p:nvPr/>
        </p:nvSpPr>
        <p:spPr>
          <a:xfrm>
            <a:off x="5415991" y="2438704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438851" y="2461564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31" name="Oval 30"/>
          <p:cNvSpPr/>
          <p:nvPr/>
        </p:nvSpPr>
        <p:spPr>
          <a:xfrm>
            <a:off x="6229807" y="2111166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252667" y="2134026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10</a:t>
            </a:r>
          </a:p>
        </p:txBody>
      </p:sp>
      <p:graphicFrame>
        <p:nvGraphicFramePr>
          <p:cNvPr id="33" name="Table 32"/>
          <p:cNvGraphicFramePr>
            <a:graphicFrameLocks noGrp="1"/>
          </p:cNvGraphicFramePr>
          <p:nvPr/>
        </p:nvGraphicFramePr>
        <p:xfrm>
          <a:off x="502920" y="3054096"/>
          <a:ext cx="3886200" cy="1609344"/>
        </p:xfrm>
        <a:graphic>
          <a:graphicData uri="http://schemas.openxmlformats.org/drawingml/2006/table">
            <a:tbl>
              <a:tblPr>
                <a:noFill/>
                <a:tableStyleId>{D79DEEBB-5512-44E8-9C8E-75C5AFC50D94}</a:tableStyleId>
              </a:tblPr>
              <a:tblGrid>
                <a:gridCol w="201168"/>
                <a:gridCol w="1188720"/>
                <a:gridCol w="2496312"/>
              </a:tblGrid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FFFFFF"/>
                          </a:solidFill>
                          <a:latin typeface="Arial"/>
                        </a:rPr>
                        <a:t>#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FFFFFF"/>
                          </a:solidFill>
                          <a:latin typeface="Arial"/>
                        </a:rPr>
                        <a:t>Elemento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FFFFFF"/>
                          </a:solidFill>
                          <a:latin typeface="Arial"/>
                        </a:rPr>
                        <a:t>O que a imagem mostra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01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Letreiro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CACHOEIRA SPOT em letras brancas iluminadas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02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Floreira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Faixa contínua de vegetação sobre a marquise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03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Marquise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Linha de LED na face inferior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04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Ripado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Painéis ripados escuros entre as vitrines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05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Vitrines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Esquadrias pretas, vidro incolor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4" name="Table 33"/>
          <p:cNvGraphicFramePr>
            <a:graphicFrameLocks noGrp="1"/>
          </p:cNvGraphicFramePr>
          <p:nvPr/>
        </p:nvGraphicFramePr>
        <p:xfrm>
          <a:off x="4663440" y="3054096"/>
          <a:ext cx="3977640" cy="1609344"/>
        </p:xfrm>
        <a:graphic>
          <a:graphicData uri="http://schemas.openxmlformats.org/drawingml/2006/table">
            <a:tbl>
              <a:tblPr>
                <a:noFill/>
                <a:tableStyleId>{D79DEEBB-5512-44E8-9C8E-75C5AFC50D94}</a:tableStyleId>
              </a:tblPr>
              <a:tblGrid>
                <a:gridCol w="201168"/>
                <a:gridCol w="1188720"/>
                <a:gridCol w="2587752"/>
              </a:tblGrid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FFFFFF"/>
                          </a:solidFill>
                          <a:latin typeface="Arial"/>
                        </a:rPr>
                        <a:t>#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FFFFFF"/>
                          </a:solidFill>
                          <a:latin typeface="Arial"/>
                        </a:rPr>
                        <a:t>Elemento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FFFFFF"/>
                          </a:solidFill>
                          <a:latin typeface="Arial"/>
                        </a:rPr>
                        <a:t>O que a imagem mostra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06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Guarda-corpo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Vidro na frente das lojas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07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Escada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Degraus com LED embutido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08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Canteiros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Vegetação tropical baixa · paisagismo: Ipê-amarelo, Liriope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09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Mureta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Mureta cinza com canteiro na frente das unidades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Unidades garden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Esquadrias com vegetação à frente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01 · FACHADA · PROJETO × IMAGEM DE VENDA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Conferência de projetos: fachada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CACHOEIRA SPOT  ·  BOOK DE PREMISSAS DE FACHADA E INTERIORES  · 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097280"/>
            <a:ext cx="81381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6F7891"/>
                </a:solidFill>
                <a:latin typeface="Arial"/>
              </a:rPr>
              <a:t>Conferência de Projetos Executivos (12 - Conferência de projetos, 11/08/2026) e Relatório Comparativo de Memorial (D17). Apenas itens de fachada e acabamento.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02920" y="1298448"/>
          <a:ext cx="8138160" cy="2286000"/>
        </p:xfrm>
        <a:graphic>
          <a:graphicData uri="http://schemas.openxmlformats.org/drawingml/2006/table">
            <a:tbl>
              <a:tblPr>
                <a:noFill/>
                <a:tableStyleId>{D79DEEBB-5512-44E8-9C8E-75C5AFC50D94}</a:tableStyleId>
              </a:tblPr>
              <a:tblGrid>
                <a:gridCol w="502920"/>
                <a:gridCol w="1188720"/>
                <a:gridCol w="2926080"/>
                <a:gridCol w="2560320"/>
                <a:gridCol w="960120"/>
              </a:tblGrid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FFFFFF"/>
                          </a:solidFill>
                          <a:latin typeface="Arial"/>
                        </a:rPr>
                        <a:t>#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FFFFFF"/>
                          </a:solidFill>
                          <a:latin typeface="Arial"/>
                        </a:rPr>
                        <a:t>Item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FFFFFF"/>
                          </a:solidFill>
                          <a:latin typeface="Arial"/>
                        </a:rPr>
                        <a:t>Constatação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FFFFFF"/>
                          </a:solidFill>
                          <a:latin typeface="Arial"/>
                        </a:rPr>
                        <a:t>Encaminhamento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FFFFFF"/>
                          </a:solidFill>
                          <a:latin typeface="Arial"/>
                        </a:rPr>
                        <a:t>Situação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6.0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Material dos brises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Elevações: brise de alumínio cinza × memorial: madeira ou móveis × briefing: PVC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Formalizar material definitivo (fachada é produto vendido)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FC6058"/>
                          </a:solidFill>
                          <a:latin typeface="Arial"/>
                        </a:rPr>
                        <a:t>CONFLITO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6.0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Pergolado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Elevação: metálico branco × memorial: aço corten ou ripas de madeira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Definir e registrar em memorial aditivo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FC6058"/>
                          </a:solidFill>
                          <a:latin typeface="Arial"/>
                        </a:rPr>
                        <a:t>CONFLITO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19.0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Caderno de fachada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Só elevações 1:100 com notas; brises BR01–BR88 e BV01–BV05 sem detalhe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Exigir paginação, juntas, fixações, brises e pergolado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B28F36"/>
                          </a:solidFill>
                          <a:latin typeface="Arial"/>
                        </a:rPr>
                        <a:t>PENDENTE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35.0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Esquadrias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Tabelas só com "alumínio; vidro": sem linha 32, sem preto fosco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Completar linha, cor, vidro e ferragem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B28F36"/>
                          </a:solidFill>
                          <a:latin typeface="Arial"/>
                        </a:rPr>
                        <a:t>INCOMPLETO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CLI 20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Condensadoras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Sem elevação que mostre a integração com brises e imagens de venda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Detalhar brise das condensadoras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B28F36"/>
                          </a:solidFill>
                          <a:latin typeface="Arial"/>
                        </a:rPr>
                        <a:t>PENDENTE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EXA 16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Grelhas de exaustão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Saídas externas sem posição nem veneziana na fachada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Integrar à fachada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B28F36"/>
                          </a:solidFill>
                          <a:latin typeface="Arial"/>
                        </a:rPr>
                        <a:t>PENDENTE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LUM 16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Iluminação e logos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Iluminação externa e logos iluminados sem projeto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Contratar luminotécnico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B28F36"/>
                          </a:solidFill>
                          <a:latin typeface="Arial"/>
                        </a:rPr>
                        <a:t>PENDENTE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502920" y="3913632"/>
            <a:ext cx="8138160" cy="859536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8368" y="4023360"/>
            <a:ext cx="566928" cy="15544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ATENÇÃO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16736" y="4014216"/>
            <a:ext cx="7223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8FA3CC"/>
                </a:solidFill>
                <a:latin typeface="Arial"/>
              </a:rPr>
              <a:t>REGRA PARA A OBRA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4242816"/>
            <a:ext cx="7827264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700" b="0">
                <a:solidFill>
                  <a:srgbClr val="FFFFFF"/>
                </a:solidFill>
                <a:latin typeface="Arial"/>
              </a:rPr>
              <a:t>A fachada é o produto vendido. Enquanto o executivo não trouxer material, cor e detalhe de brise, pergolado, letreiros e esquadrias, vale a imagem de lançamento como referência visual, e nenhum desses itens entra em pedido de compra sem definição registrada por Projetos.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01 · FACHADA · EXECUTIVO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Elevações: notas de material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CACHOEIRA SPOT  ·  BOOK DE PREMISSAS DE FACHADA E INTERIORES  ·  11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" y="1143000"/>
            <a:ext cx="4078224" cy="3657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06_BOOK_ASSETS__exec_elev01.jpg"/>
          <p:cNvPicPr>
            <a:picLocks noChangeAspect="1"/>
          </p:cNvPicPr>
          <p:nvPr/>
        </p:nvPicPr>
        <p:blipFill>
          <a:blip r:embed="rId4"/>
          <a:srcRect l="17976" r="17976"/>
          <a:stretch>
            <a:fillRect/>
          </a:stretch>
        </p:blipFill>
        <p:spPr>
          <a:xfrm>
            <a:off x="502920" y="1170432"/>
            <a:ext cx="4023360" cy="3602736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94360" y="1261872"/>
            <a:ext cx="2194560" cy="15544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PRÉ-EXECUTIVO · ELEVAÇÃO 01 (GER-011)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4663440" y="1170432"/>
          <a:ext cx="3977640" cy="3305556"/>
        </p:xfrm>
        <a:graphic>
          <a:graphicData uri="http://schemas.openxmlformats.org/drawingml/2006/table">
            <a:tbl>
              <a:tblPr>
                <a:noFill/>
                <a:tableStyleId>{D79DEEBB-5512-44E8-9C8E-75C5AFC50D94}</a:tableStyleId>
              </a:tblPr>
              <a:tblGrid>
                <a:gridCol w="1188720"/>
                <a:gridCol w="2148840"/>
                <a:gridCol w="640080"/>
              </a:tblGrid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Nota / código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Especificação no projeto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Ref.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</a:tr>
              <a:tr h="278892"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Brise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Brise de alumínio cinza (lâminas)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011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Brise AC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Brise para condensadoras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012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278892"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Guarda-corpo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Guarda-corpo de vidro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011/013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Forro externo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Forro de madeira · ACM madeira com perfis de vinco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011–013/017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278892"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Forro inclinado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Forro de madeira inclinado (elevação 02)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012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Pergolado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Pergolado metálico branco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012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278892"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BR01–BR88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Brises numerados nas plantas de esquadrias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014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BV01–BV05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Brises verticais nas plantas de esquadrias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014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278892"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J01–J08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Janelas em alumínio e vidro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014/015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P01–P16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Portas em madeira, alumínio e vidro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014/015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278892"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Paisagismo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Ipê-amarelo, Melioni, Liriope · floreiras Guaimbé e Russélia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PAI 01/02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01 · FACHADA · LANÇAMENTO × EXECUTIVO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Comparativo: fachada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CACHOEIRA SPOT  ·  BOOK DE PREMISSAS DE FACHADA E INTERIORES  ·  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097280"/>
            <a:ext cx="81381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6F7891"/>
                </a:solidFill>
                <a:latin typeface="Arial"/>
              </a:rPr>
              <a:t>Imagem de lançamento × pré-executivo, memorial e briefing.  DEFINIDO = convergem  ·  A VALIDAR = divergem ou sem detalhe  ·  PENDENTE = sem definição.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02920" y="1298448"/>
          <a:ext cx="8138160" cy="3355848"/>
        </p:xfrm>
        <a:graphic>
          <a:graphicData uri="http://schemas.openxmlformats.org/drawingml/2006/table">
            <a:tbl>
              <a:tblPr>
                <a:noFill/>
                <a:tableStyleId>{D79DEEBB-5512-44E8-9C8E-75C5AFC50D94}</a:tableStyleId>
              </a:tblPr>
              <a:tblGrid>
                <a:gridCol w="228600"/>
                <a:gridCol w="1188720"/>
                <a:gridCol w="2514600"/>
                <a:gridCol w="3474720"/>
                <a:gridCol w="731520"/>
              </a:tblGrid>
              <a:tr h="219456"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#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Elemento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Lançamento (imagens)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Pré-executivo / Memorial V02 / Briefing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01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Brises das janelas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Ripas verticais cor madeira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Alumínio cinza (PP) · madeira ou móveis (memorial) · PVC (briefing)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02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Forro das lajes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Amadeirado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Forro de madeira em ACM madeira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03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Bordas de laje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Revestidas em madeira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ACM madeira na borda · sem detalhe de fixação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04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Guarda-corpos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Vidro com perfil fino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Vidro (PP) · alumínio anodizado com montante (briefing)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05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Pilares e paredes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Cinza claro / cinza médio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Pintura sobre textura · cor não especificada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C6058"/>
                          </a:solidFill>
                          <a:latin typeface="Arial"/>
                        </a:rPr>
                        <a:t>PENDENTE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06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Esquadrias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Pretas, vidro incolor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Alumínio e vidro · briefing: linha 32 preto fosco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07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Pergolado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Escuro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Metálico branco (PP) · corten ou madeira (memorial)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08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Floreiras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Vegetação em cobertura e 1º pav.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Floreiras A–I impermeabilizadas · Guaimbé e Russélia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09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Volume superior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Cinza com logo SEAZONE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Reservatório "conforme fachada" · logo sem detalhe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C6058"/>
                          </a:solidFill>
                          <a:latin typeface="Arial"/>
                        </a:rPr>
                        <a:t>PENDENTE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Letreiro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CACHOEIRA SPOT iluminado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Nome na fachada (memorial) · sem detalhe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C6058"/>
                          </a:solidFill>
                          <a:latin typeface="Arial"/>
                        </a:rPr>
                        <a:t>PENDENTE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Base comercial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Ripado escuro + vitrines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Sem especificação nas elevações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C6058"/>
                          </a:solidFill>
                          <a:latin typeface="Arial"/>
                        </a:rPr>
                        <a:t>PENDENTE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Brise das condensadoras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Faixas cinza escuro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Brise para condensadoras (elevação 02)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Muro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Claro, com vegetação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Briefing: pintura cor Seazone com logo e nome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Acesso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Escada com LED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Sem rampa no lobby · escada sem detalhe executivo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C6058"/>
                          </a:solidFill>
                          <a:latin typeface="Arial"/>
                        </a:rPr>
                        <a:t>PENDENTE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1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pl_hou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685800"/>
            <a:ext cx="3749039" cy="3858768"/>
          </a:xfrm>
          <a:prstGeom prst="rect">
            <a:avLst/>
          </a:prstGeom>
        </p:spPr>
      </p:pic>
      <p:pic>
        <p:nvPicPr>
          <p:cNvPr id="4" name="Picture 3" descr="tpl_logo_co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02920" y="2103120"/>
            <a:ext cx="1463040" cy="45720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286000"/>
            <a:ext cx="5212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FC6058"/>
                </a:solidFill>
                <a:latin typeface="Arial"/>
              </a:rPr>
              <a:t>02 · INTERIORES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596896"/>
            <a:ext cx="5212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rial"/>
              </a:rPr>
              <a:t>Premissas de interiores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310128"/>
            <a:ext cx="49377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9FB0D4"/>
                </a:solidFill>
                <a:latin typeface="Arial"/>
              </a:rPr>
              <a:t>Conceito Seazone  ·  recepção e corredores  ·  rooftop  ·  piscina  ·  unidades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8FA3CC"/>
                </a:solidFill>
                <a:latin typeface="Arial"/>
              </a:rPr>
              <a:t>CACHOEIRA SPOT  ·  BOOK DE PREMISSAS DE FACHADA E INTERIORES  ·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02 · INTERIORES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Conceito Seazone × situação do projeto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CACHOEIRA SPOT  ·  BOOK DE PREMISSAS DE FACHADA E INTERIORES  ·  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097280"/>
            <a:ext cx="81381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6F7891"/>
                </a:solidFill>
                <a:latin typeface="Arial"/>
              </a:rPr>
              <a:t>Imagens e memorial de interiores Seazone (10 - Projeto de Interiores) × LOG de considerações, briefing e Conferência de Projetos (interiores: 27 itens pendentes, sem projeto contratado).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02920" y="1298448"/>
          <a:ext cx="8138160" cy="2523744"/>
        </p:xfrm>
        <a:graphic>
          <a:graphicData uri="http://schemas.openxmlformats.org/drawingml/2006/table">
            <a:tbl>
              <a:tblPr>
                <a:noFill/>
                <a:tableStyleId>{D79DEEBB-5512-44E8-9C8E-75C5AFC50D94}</a:tableStyleId>
              </a:tblPr>
              <a:tblGrid>
                <a:gridCol w="1417320"/>
                <a:gridCol w="2651760"/>
                <a:gridCol w="2423160"/>
                <a:gridCol w="1645920"/>
              </a:tblGrid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FFFFFF"/>
                          </a:solidFill>
                          <a:latin typeface="Arial"/>
                        </a:rPr>
                        <a:t>Ambiente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FFFFFF"/>
                          </a:solidFill>
                          <a:latin typeface="Arial"/>
                        </a:rPr>
                        <a:t>Conceito Seazone (seguir)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FFFFFF"/>
                          </a:solidFill>
                          <a:latin typeface="Arial"/>
                        </a:rPr>
                        <a:t>Situação registrada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FFFFFF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Recepção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Parede em pedra Moledo com logo CACHOEIRA SPOT, parede em cimento queimado com frase, sofá orgânico off white, ripas de madeira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Briefing: pedra Moledo + textura cimento queimado areia · sem executivo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Corredores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Paredes brancas, portas com número preto e arandela em cada porta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Briefing: pintura branca, arandelas, sem iluminação geral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Rooftop interno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Copa com bancada em granito preto, balcão em madeira, forro claro, pergolado de vidro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Briefing: forro modular × projeto em gesso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Rooftop externo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Parede em pedra Moledo com logo, parede verde com balanço, banco de concreto, piscina com borda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Reforço do balanço a prever · piscina sem detalhe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FC6058"/>
                          </a:solidFill>
                          <a:latin typeface="Arial"/>
                        </a:rPr>
                        <a:t>PENDENTE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Unidades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MDF rícori nativo e grafito chess, metal preto, granito São Gabriel, piso Guanabara cinza, muxarabi no mezanino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Memorial de interiores por tipologia (A a W)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502920" y="4133087"/>
            <a:ext cx="8138160" cy="64008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8368" y="4242816"/>
            <a:ext cx="566928" cy="15544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ATENÇÃO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16736" y="4233672"/>
            <a:ext cx="7223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8FA3CC"/>
                </a:solidFill>
                <a:latin typeface="Arial"/>
              </a:rPr>
              <a:t>REGRA PARA A OBRA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4462272"/>
            <a:ext cx="7827264" cy="2560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700" b="0">
                <a:solidFill>
                  <a:srgbClr val="FFFFFF"/>
                </a:solidFill>
                <a:latin typeface="Arial"/>
              </a:rPr>
              <a:t>Não há projeto executivo de interiores contratado. Vale o conceito Seazone (renders em 10 - Projeto de Interiores / 02 - Imagens e memorial descritivo de interiores); qualquer troca de material ou mobiliário precisa de validação registrada.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02 · INTERIORES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Recepção, hall e corredores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CACHOEIRA SPOT  ·  BOOK DE PREMISSAS DE FACHADA E INTERIORES  ·  15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" y="1143000"/>
            <a:ext cx="2432304" cy="1472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Recepção_e_corredor__Editada_01.jpg"/>
          <p:cNvPicPr>
            <a:picLocks noChangeAspect="1"/>
          </p:cNvPicPr>
          <p:nvPr/>
        </p:nvPicPr>
        <p:blipFill>
          <a:blip r:embed="rId4"/>
          <a:srcRect l="2823" r="2823"/>
          <a:stretch>
            <a:fillRect/>
          </a:stretch>
        </p:blipFill>
        <p:spPr>
          <a:xfrm>
            <a:off x="502920" y="1170432"/>
            <a:ext cx="2377440" cy="141732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94360" y="1261872"/>
            <a:ext cx="1508760" cy="15544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CONCEITO SEAZONE · RECEPÇÃO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5488" y="2670048"/>
            <a:ext cx="2432304" cy="1472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Recepção_e_corredor__Editada_03.jpg"/>
          <p:cNvPicPr>
            <a:picLocks noChangeAspect="1"/>
          </p:cNvPicPr>
          <p:nvPr/>
        </p:nvPicPr>
        <p:blipFill>
          <a:blip r:embed="rId5"/>
          <a:srcRect l="2823" r="2823"/>
          <a:stretch>
            <a:fillRect/>
          </a:stretch>
        </p:blipFill>
        <p:spPr>
          <a:xfrm>
            <a:off x="502920" y="2697480"/>
            <a:ext cx="2377440" cy="141732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594360" y="2788920"/>
            <a:ext cx="1417320" cy="15544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CONCEITO · CORREDOR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206240"/>
            <a:ext cx="23774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0">
                <a:solidFill>
                  <a:srgbClr val="6F7891"/>
                </a:solidFill>
                <a:latin typeface="Arial"/>
              </a:rPr>
              <a:t>Frase da recepção: "Seja você sua maior expectativa", em letras pretas sobre o cimento queimado.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3063240" y="1170432"/>
          <a:ext cx="5577840" cy="3483864"/>
        </p:xfrm>
        <a:graphic>
          <a:graphicData uri="http://schemas.openxmlformats.org/drawingml/2006/table">
            <a:tbl>
              <a:tblPr>
                <a:noFill/>
                <a:tableStyleId>{D79DEEBB-5512-44E8-9C8E-75C5AFC50D94}</a:tableStyleId>
              </a:tblPr>
              <a:tblGrid>
                <a:gridCol w="1051560"/>
                <a:gridCol w="4526280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FFFFFF"/>
                          </a:solidFill>
                          <a:latin typeface="Arial"/>
                        </a:rPr>
                        <a:t>Item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FFFFFF"/>
                          </a:solidFill>
                          <a:latin typeface="Arial"/>
                        </a:rPr>
                        <a:t>Premissa (briefing · LOG de considerações · memorial de interiores)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Parede-destaque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Pedra Moledo com logo CACHOEIRA SPOT iluminado (LOG e briefing) · ponto elétrico para o logo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Segunda parede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Textura cimento queimado areia com a frase em letras pretas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Paredes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Pintura acrílica acabamento acetinado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Piso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Porcelanato 90×90 natural/acetinado · rodapé branco de poliestireno de sobrepor, quina viva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Forro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Briefing: gesso acartonado na recepção · corredores com forro modular × gesso no projeto · 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Mobiliário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Sofá orgânico off white, poltronas brancas, puffs cinza, mesa lateral preta (memorial de interiores)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Decoração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Nome do Spot preto, capacho Seazone azul, artes de marketing com moldura preta, números pretos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Iluminação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Recepção: 2 pendentes + spots de embutir pretos · corredores: arandela em cada porta, luz 4000 K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Portas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Brancas com bandeira até o forro · acesso em perfil metálico + vidro com reconhecimento facial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02 · INTERIORES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Rooftop: lazer coberto e copa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CACHOEIRA SPOT  ·  BOOK DE PREMISSAS DE FACHADA E INTERIORES  ·  16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" y="1143000"/>
            <a:ext cx="2432304" cy="1472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Rooftop__Editada_03.jpg"/>
          <p:cNvPicPr>
            <a:picLocks noChangeAspect="1"/>
          </p:cNvPicPr>
          <p:nvPr/>
        </p:nvPicPr>
        <p:blipFill>
          <a:blip r:embed="rId4"/>
          <a:srcRect l="2823" r="2823"/>
          <a:stretch>
            <a:fillRect/>
          </a:stretch>
        </p:blipFill>
        <p:spPr>
          <a:xfrm>
            <a:off x="502920" y="1170432"/>
            <a:ext cx="2377440" cy="141732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94360" y="1261872"/>
            <a:ext cx="1463040" cy="15544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CONCEITO SEAZONE · ROOFTOP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5488" y="2670048"/>
            <a:ext cx="2432304" cy="1472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Rooftop__Editada_02.jpg"/>
          <p:cNvPicPr>
            <a:picLocks noChangeAspect="1"/>
          </p:cNvPicPr>
          <p:nvPr/>
        </p:nvPicPr>
        <p:blipFill>
          <a:blip r:embed="rId5"/>
          <a:srcRect l="2823" r="2823"/>
          <a:stretch>
            <a:fillRect/>
          </a:stretch>
        </p:blipFill>
        <p:spPr>
          <a:xfrm>
            <a:off x="502920" y="2697480"/>
            <a:ext cx="2377440" cy="141732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594360" y="2788920"/>
            <a:ext cx="1417320" cy="15544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COPA · GRANITO PRETO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206240"/>
            <a:ext cx="23774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0">
                <a:solidFill>
                  <a:srgbClr val="6F7891"/>
                </a:solidFill>
                <a:latin typeface="Arial"/>
              </a:rPr>
              <a:t>Balcão em madeira voltado para o mar, com banquetas pretas; copa com bancada em granito São Gabriel e armários escuros.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3063240" y="1170432"/>
          <a:ext cx="5577840" cy="3483864"/>
        </p:xfrm>
        <a:graphic>
          <a:graphicData uri="http://schemas.openxmlformats.org/drawingml/2006/table">
            <a:tbl>
              <a:tblPr>
                <a:noFill/>
                <a:tableStyleId>{D79DEEBB-5512-44E8-9C8E-75C5AFC50D94}</a:tableStyleId>
              </a:tblPr>
              <a:tblGrid>
                <a:gridCol w="1051560"/>
                <a:gridCol w="4526280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FFFFFF"/>
                          </a:solidFill>
                          <a:latin typeface="Arial"/>
                        </a:rPr>
                        <a:t>Item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FFFFFF"/>
                          </a:solidFill>
                          <a:latin typeface="Arial"/>
                        </a:rPr>
                        <a:t>Premissa (briefing · memorial de interiores · conferência)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Paredes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Pintura acrílica acetinada cinza médio · cimento queimado na copa (briefing)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Piso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Porcelanato 90×90 natural/acetinado · rodapé branco de poliestireno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Forro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Briefing: forro modular × gesso acartonado no projeto · conferência: forro PVC madeira a verificar · 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Bancada da copa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Granito São Gabriel polido · cuba inox · torneira de mesa bica alta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Marcenaria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Balcão da copa e mini market com material "a definir" no memorial de interiores · PENDENTE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Mobiliário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Banquetas e cadeiras pretas, mesas, poltronas (memorial de interiores)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Decoração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Nome do Spot preto com LED no "O", frase e letreiro do mini market em preto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Copa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Frigobar + máquina de gelo · mini market com pontos de LED (decisão 19/05/2025)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Iluminação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Spots de embutir pretos na área interna · 2 arandelas na área externa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02 · INTERIORES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Rooftop externo e piscina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CACHOEIRA SPOT  ·  BOOK DE PREMISSAS DE FACHADA E INTERIORES  ·  17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" y="1143000"/>
            <a:ext cx="2432304" cy="1472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Rooftop__Editada_07.jpg"/>
          <p:cNvPicPr>
            <a:picLocks noChangeAspect="1"/>
          </p:cNvPicPr>
          <p:nvPr/>
        </p:nvPicPr>
        <p:blipFill>
          <a:blip r:embed="rId4"/>
          <a:srcRect t="1795" b="1795"/>
          <a:stretch>
            <a:fillRect/>
          </a:stretch>
        </p:blipFill>
        <p:spPr>
          <a:xfrm>
            <a:off x="502920" y="1170432"/>
            <a:ext cx="2377440" cy="141732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94360" y="1261872"/>
            <a:ext cx="1463040" cy="15544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CONCEITO · PISCINA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5488" y="2670048"/>
            <a:ext cx="2432304" cy="1472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Rooftop__Editada_06.jpg"/>
          <p:cNvPicPr>
            <a:picLocks noChangeAspect="1"/>
          </p:cNvPicPr>
          <p:nvPr/>
        </p:nvPicPr>
        <p:blipFill>
          <a:blip r:embed="rId5"/>
          <a:srcRect l="2823" r="2823"/>
          <a:stretch>
            <a:fillRect/>
          </a:stretch>
        </p:blipFill>
        <p:spPr>
          <a:xfrm>
            <a:off x="502920" y="2697480"/>
            <a:ext cx="2377440" cy="141732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594360" y="2788920"/>
            <a:ext cx="1645920" cy="15544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PAREDE MOLEDO + LOGO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206240"/>
            <a:ext cx="23774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0">
                <a:solidFill>
                  <a:srgbClr val="6F7891"/>
                </a:solidFill>
                <a:latin typeface="Arial"/>
              </a:rPr>
              <a:t>Parede externa em pedra Moledo com logo CACHOEIRA SPOT e frase "Seu lugar fora de casa", banco de concreto com almofadas.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3063240" y="1170432"/>
          <a:ext cx="5577840" cy="3483864"/>
        </p:xfrm>
        <a:graphic>
          <a:graphicData uri="http://schemas.openxmlformats.org/drawingml/2006/table">
            <a:tbl>
              <a:tblPr>
                <a:noFill/>
                <a:tableStyleId>{D79DEEBB-5512-44E8-9C8E-75C5AFC50D94}</a:tableStyleId>
              </a:tblPr>
              <a:tblGrid>
                <a:gridCol w="1051560"/>
                <a:gridCol w="4526280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FFFFFF"/>
                          </a:solidFill>
                          <a:latin typeface="Arial"/>
                        </a:rPr>
                        <a:t>Item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FFFFFF"/>
                          </a:solidFill>
                          <a:latin typeface="Arial"/>
                        </a:rPr>
                        <a:t>Premissa (briefing · memorial V02 · LOG · conferência)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Piscina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Briefing: revestimento esverdeado 20×20 · memorial: porcelanato específico para piscina · 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Borda / banco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Briefing: porcelanato que imita madeira 120×20 · memorial: cerâmica atérmica ou pedra São Tomé · A VALIDAR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Guarda-corpo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Briefing: vidro com perfil "U" inox · memorial: aço inox com vidro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Piso externo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Porcelanato 90×90 antiderrapante (briefing)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Parede Moledo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Pedra Moledo + banco em estrutura de concreto (LOG) · logo iluminado com ponto elétrico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Parede verde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Jardim vertical com balanço · prever reforço metálico no teto para o balanço (LOG)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Aquecimento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Solar para a piscina (briefing marcado) · sem projeto específico · PENDENTE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Ducha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Ducha de piso + torneira junto ao banheiro PNE (briefing) · não consta no hidráulico · PENDENTE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Projeto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Piscina sem detalhamento executivo (conferência 22.0) · PENDENTE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02 · INTERIORES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Unidades: acabamentos e escopo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CACHOEIRA SPOT  ·  BOOK DE PREMISSAS DE FACHADA E INTERIORES  ·  18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" y="1143000"/>
            <a:ext cx="2432304" cy="1472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Essential__Editada_02.jpg"/>
          <p:cNvPicPr>
            <a:picLocks noChangeAspect="1"/>
          </p:cNvPicPr>
          <p:nvPr/>
        </p:nvPicPr>
        <p:blipFill>
          <a:blip r:embed="rId4"/>
          <a:srcRect l="2823" r="2823"/>
          <a:stretch>
            <a:fillRect/>
          </a:stretch>
        </p:blipFill>
        <p:spPr>
          <a:xfrm>
            <a:off x="502920" y="1170432"/>
            <a:ext cx="2377440" cy="141732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94360" y="1261872"/>
            <a:ext cx="1463040" cy="15544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CONCEITO · TIPOLOGIA 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5488" y="2670048"/>
            <a:ext cx="2432304" cy="11978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Essential__Editada_05.jpg"/>
          <p:cNvPicPr>
            <a:picLocks noChangeAspect="1"/>
          </p:cNvPicPr>
          <p:nvPr/>
        </p:nvPicPr>
        <p:blipFill>
          <a:blip r:embed="rId5"/>
          <a:srcRect t="7265" b="7265"/>
          <a:stretch>
            <a:fillRect/>
          </a:stretch>
        </p:blipFill>
        <p:spPr>
          <a:xfrm>
            <a:off x="502920" y="2697480"/>
            <a:ext cx="2377440" cy="114300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594360" y="2788920"/>
            <a:ext cx="1645920" cy="15544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MEZANINO · MUXARABI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913632"/>
            <a:ext cx="23774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0">
                <a:solidFill>
                  <a:srgbClr val="6F7891"/>
                </a:solidFill>
                <a:latin typeface="Arial"/>
              </a:rPr>
              <a:t>Tipologias A a W com imagens, panoramas e plantas humanizadas (10 - Projeto de Interiores / 02 - Imagens). Moodboard de validação com as seis amostras de material.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3063240" y="1170432"/>
          <a:ext cx="5577840" cy="3483864"/>
        </p:xfrm>
        <a:graphic>
          <a:graphicData uri="http://schemas.openxmlformats.org/drawingml/2006/table">
            <a:tbl>
              <a:tblPr>
                <a:noFill/>
                <a:tableStyleId>{D79DEEBB-5512-44E8-9C8E-75C5AFC50D94}</a:tableStyleId>
              </a:tblPr>
              <a:tblGrid>
                <a:gridCol w="1051560"/>
                <a:gridCol w="4526280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FFFFFF"/>
                          </a:solidFill>
                          <a:latin typeface="Arial"/>
                        </a:rPr>
                        <a:t>Item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FFFFFF"/>
                          </a:solidFill>
                          <a:latin typeface="Arial"/>
                        </a:rPr>
                        <a:t>Premissa (briefing · memorial V02 · memorial de interiores · LOG)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Piso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Porcelanato 90×90 natural/acetinado (briefing e memorial) · moodboard: piso Guanabara cinza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Paredes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Pintura acrílica branco gelo acetinado · teto branco neve fosco · moodboard: tinta cinza claro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Banheiro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Paredes em porcelanato 90×90 (briefing) × azulejo 30×60 (memorial V02) · 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Rodapé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Branco de poliestireno de sobrepor, quina viva (briefing) × memorial com outra largura · A VALIDAR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Marcenaria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MDF grafito chess e rícori nativo com metal preto fosco · vidro canelado nos aéreos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Bancadas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Granito São Gabriel polido na copa · cuba de sobrepor branca no banheiro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Mezanino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Escada metálica preta · guarda-corpo em painel muxarabi (LOG) · divisória muxarabi na tipologia U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Portas e vidros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Kit porta pronta lisa branca · vidro incolor · banheiro: box vidro incolor com esquadria preta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Metais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Kit de metais preto, toalheiro térmico preto · luminárias e spots pretos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02 · INTERIORES · MAPA DE MATERIALIDADE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Materiais de interiores: áreas comuns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CACHOEIRA SPOT  ·  BOOK DE PREMISSAS DE FACHADA E INTERIORES  ·  19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115568"/>
            <a:ext cx="81381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F7891"/>
                </a:solidFill>
                <a:latin typeface="Arial"/>
              </a:rPr>
              <a:t>Amostras extraídas dos renders de interiores Seazone. Referência visual, não substitui amostra física.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44475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06_BOOK_ASSETS__sw_moledo.jpg"/>
          <p:cNvPicPr>
            <a:picLocks noChangeAspect="1"/>
          </p:cNvPicPr>
          <p:nvPr/>
        </p:nvPicPr>
        <p:blipFill>
          <a:blip r:embed="rId4"/>
          <a:srcRect t="26462" b="26462"/>
          <a:stretch>
            <a:fillRect/>
          </a:stretch>
        </p:blipFill>
        <p:spPr>
          <a:xfrm>
            <a:off x="594360" y="1536192"/>
            <a:ext cx="868680" cy="64008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594360" y="153619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T13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7048" y="151790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Pedra Moledo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7048" y="182880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parede do logo na recepção e parede externa do rooftop.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223113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pedra Moledo (LOG de considerações e briefing) com logo CACHOEIRA SPOT iluminado.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265176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prever ponto elétrico e fixação do logo antes da pedra.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46120" y="144475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06_BOOK_ASSETS__sw_cimentoparede.jpg"/>
          <p:cNvPicPr>
            <a:picLocks noChangeAspect="1"/>
          </p:cNvPicPr>
          <p:nvPr/>
        </p:nvPicPr>
        <p:blipFill>
          <a:blip r:embed="rId5"/>
          <a:srcRect l="6197" r="6197"/>
          <a:stretch>
            <a:fillRect/>
          </a:stretch>
        </p:blipFill>
        <p:spPr>
          <a:xfrm>
            <a:off x="3337560" y="1536192"/>
            <a:ext cx="868680" cy="640080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3337560" y="153619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T14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70248" y="151790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Cimento queimado areia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70248" y="182880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segunda parede da recepção e copa do rooftop.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37560" y="223113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textura cimento queimado areia (briefing) · frase em letras pretas.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37560" y="265176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aplicação por equipe única; aprovar painel-teste no local.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89320" y="144475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06_BOOK_ASSETS__sw_ripas.jpg"/>
          <p:cNvPicPr>
            <a:picLocks noChangeAspect="1"/>
          </p:cNvPicPr>
          <p:nvPr/>
        </p:nvPicPr>
        <p:blipFill>
          <a:blip r:embed="rId6"/>
          <a:srcRect t="999" b="999"/>
          <a:stretch>
            <a:fillRect/>
          </a:stretch>
        </p:blipFill>
        <p:spPr>
          <a:xfrm>
            <a:off x="6080759" y="1536192"/>
            <a:ext cx="868680" cy="640080"/>
          </a:xfrm>
          <a:prstGeom prst="rect">
            <a:avLst/>
          </a:prstGeom>
        </p:spPr>
      </p:pic>
      <p:sp>
        <p:nvSpPr>
          <p:cNvPr id="27" name="Rectangle 26"/>
          <p:cNvSpPr/>
          <p:nvPr/>
        </p:nvSpPr>
        <p:spPr>
          <a:xfrm>
            <a:off x="6080759" y="153619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T15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13448" y="151790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Ripas de madeira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13448" y="182880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hall de entrada da recepção.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80759" y="223113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ripas verticais de madeira suspensas (imagem da recepção).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80759" y="265176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material e fixação não especificados no memorial de interiores. PENDENTE.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313639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06_BOOK_ASSETS__sw_paredeverde.jpg"/>
          <p:cNvPicPr>
            <a:picLocks noChangeAspect="1"/>
          </p:cNvPicPr>
          <p:nvPr/>
        </p:nvPicPr>
        <p:blipFill>
          <a:blip r:embed="rId7"/>
          <a:srcRect t="35609" b="35609"/>
          <a:stretch>
            <a:fillRect/>
          </a:stretch>
        </p:blipFill>
        <p:spPr>
          <a:xfrm>
            <a:off x="594360" y="3227832"/>
            <a:ext cx="868680" cy="640080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594360" y="322783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T16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27048" y="320954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Parede verde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527048" y="352044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área externa do rooftop, parede do balanço.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392277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parede verde (briefing: pedra Moledo e parede verde na área externa).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" y="434340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definir sistema (natural × permanente), irrigação e reforço do balanço. A VALIDAR.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46120" y="313639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06_BOOK_ASSETS__sw_bancada.jpg"/>
          <p:cNvPicPr>
            <a:picLocks noChangeAspect="1"/>
          </p:cNvPicPr>
          <p:nvPr/>
        </p:nvPicPr>
        <p:blipFill>
          <a:blip r:embed="rId8"/>
          <a:srcRect l="17254" r="17254"/>
          <a:stretch>
            <a:fillRect/>
          </a:stretch>
        </p:blipFill>
        <p:spPr>
          <a:xfrm>
            <a:off x="3337560" y="3227832"/>
            <a:ext cx="868680" cy="640080"/>
          </a:xfrm>
          <a:prstGeom prst="rect">
            <a:avLst/>
          </a:prstGeom>
        </p:spPr>
      </p:pic>
      <p:sp>
        <p:nvSpPr>
          <p:cNvPr id="41" name="Rectangle 40"/>
          <p:cNvSpPr/>
          <p:nvPr/>
        </p:nvSpPr>
        <p:spPr>
          <a:xfrm>
            <a:off x="3337560" y="322783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T17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270248" y="320954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Balcão em madeira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70248" y="352044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lazer coberto do rooftop, voltado para o mar.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37560" y="392277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balcão amadeirado com banquetas pretas (imagem) · marcenaria "a definir" (memorial de interiores).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337560" y="434340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fechar material do balcão antes do pedido de marcenaria. PENDENTE.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989320" y="313639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06_BOOK_ASSETS__sw_piscina.jpg"/>
          <p:cNvPicPr>
            <a:picLocks noChangeAspect="1"/>
          </p:cNvPicPr>
          <p:nvPr/>
        </p:nvPicPr>
        <p:blipFill>
          <a:blip r:embed="rId9"/>
          <a:srcRect l="34845" r="34845"/>
          <a:stretch>
            <a:fillRect/>
          </a:stretch>
        </p:blipFill>
        <p:spPr>
          <a:xfrm>
            <a:off x="6080759" y="3227832"/>
            <a:ext cx="868680" cy="640080"/>
          </a:xfrm>
          <a:prstGeom prst="rect">
            <a:avLst/>
          </a:prstGeom>
        </p:spPr>
      </p:pic>
      <p:sp>
        <p:nvSpPr>
          <p:cNvPr id="48" name="Rectangle 47"/>
          <p:cNvSpPr/>
          <p:nvPr/>
        </p:nvSpPr>
        <p:spPr>
          <a:xfrm>
            <a:off x="6080759" y="322783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T18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013448" y="320954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Piscina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013448" y="352044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rooftop, com banco e borda.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80759" y="392277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briefing: revestimento esverdeado 20×20 · borda/banco em porcelanato que imita madeira 120×20.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080759" y="434340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imagem mostra revestimento acinzentado: fechar referência. A VALIDAR.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02 · INTERIORES · MAPA DE MATERIALIDADE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Materiais de interiores: unidades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CACHOEIRA SPOT  ·  BOOK DE PREMISSAS DE FACHADA E INTERIORES  ·  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115568"/>
            <a:ext cx="81381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F7891"/>
                </a:solidFill>
                <a:latin typeface="Arial"/>
              </a:rPr>
              <a:t>Amostras do Moodboard Cachoeira Spot (validação de interiores) e dos renders das tipologias. Referência visual, não substitui amostra física.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44475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06_BOOK_ASSETS__sw_ricori.jpg"/>
          <p:cNvPicPr>
            <a:picLocks noChangeAspect="1"/>
          </p:cNvPicPr>
          <p:nvPr/>
        </p:nvPicPr>
        <p:blipFill>
          <a:blip r:embed="rId4"/>
          <a:srcRect l="9286" r="9286"/>
          <a:stretch>
            <a:fillRect/>
          </a:stretch>
        </p:blipFill>
        <p:spPr>
          <a:xfrm>
            <a:off x="594360" y="1536192"/>
            <a:ext cx="868680" cy="64008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594360" y="153619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T19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7048" y="151790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MDF rícori nativo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7048" y="182880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cabeceira, aéreos, arara, mesa lateral e móvel do banheiro.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223113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MDF rícori nativo com metal preto fosco (memorial de interiores).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265176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prever ponto de LED da cabeceira (briefing).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46120" y="144475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06_BOOK_ASSETS__sw_grafito.jpg"/>
          <p:cNvPicPr>
            <a:picLocks noChangeAspect="1"/>
          </p:cNvPicPr>
          <p:nvPr/>
        </p:nvPicPr>
        <p:blipFill>
          <a:blip r:embed="rId5"/>
          <a:srcRect l="9286" r="9286"/>
          <a:stretch>
            <a:fillRect/>
          </a:stretch>
        </p:blipFill>
        <p:spPr>
          <a:xfrm>
            <a:off x="3337560" y="1536192"/>
            <a:ext cx="868680" cy="640080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3337560" y="153619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T20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70248" y="151790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MDF grafito chess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70248" y="182880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balcão da cozinha/copa das unidades.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37560" y="223113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MDF grafito chess (memorial de interiores e moodboard).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37560" y="265176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cooktop e frigobar com ponto centralizado no nicho (briefing).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89320" y="144475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06_BOOK_ASSETS__sw_metal.jpg"/>
          <p:cNvPicPr>
            <a:picLocks noChangeAspect="1"/>
          </p:cNvPicPr>
          <p:nvPr/>
        </p:nvPicPr>
        <p:blipFill>
          <a:blip r:embed="rId6"/>
          <a:srcRect l="9286" r="9286"/>
          <a:stretch>
            <a:fillRect/>
          </a:stretch>
        </p:blipFill>
        <p:spPr>
          <a:xfrm>
            <a:off x="6080759" y="1536192"/>
            <a:ext cx="868680" cy="640080"/>
          </a:xfrm>
          <a:prstGeom prst="rect">
            <a:avLst/>
          </a:prstGeom>
        </p:spPr>
      </p:pic>
      <p:sp>
        <p:nvSpPr>
          <p:cNvPr id="27" name="Rectangle 26"/>
          <p:cNvSpPr/>
          <p:nvPr/>
        </p:nvSpPr>
        <p:spPr>
          <a:xfrm>
            <a:off x="6080759" y="153619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T21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13448" y="151790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Metal preto fosco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13448" y="182880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estrutura da arara, mesas, escada do mezanino.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80759" y="223113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metal preto fosco (moodboard) · escada metálica preta no mezanino.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80759" y="265176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mesmo acabamento em todas as peças metálicas.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313639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06_BOOK_ASSETS__sw_guanabara.jpg"/>
          <p:cNvPicPr>
            <a:picLocks noChangeAspect="1"/>
          </p:cNvPicPr>
          <p:nvPr/>
        </p:nvPicPr>
        <p:blipFill>
          <a:blip r:embed="rId7"/>
          <a:srcRect l="9286" r="9286"/>
          <a:stretch>
            <a:fillRect/>
          </a:stretch>
        </p:blipFill>
        <p:spPr>
          <a:xfrm>
            <a:off x="594360" y="3227832"/>
            <a:ext cx="868680" cy="640080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594360" y="322783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T22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27048" y="320954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Piso Guanabara cinza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527048" y="352044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piso das unidades.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392277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piso Guanabara cinza (moodboard) · briefing e memorial: porcelanato 90×90.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" y="434340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confirmar referência e acabamento (natural/acetinado) antes da compra. A VALIDAR.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46120" y="313639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06_BOOK_ASSETS__sw_saogabriel.jpg"/>
          <p:cNvPicPr>
            <a:picLocks noChangeAspect="1"/>
          </p:cNvPicPr>
          <p:nvPr/>
        </p:nvPicPr>
        <p:blipFill>
          <a:blip r:embed="rId8"/>
          <a:srcRect l="9286" r="9286"/>
          <a:stretch>
            <a:fillRect/>
          </a:stretch>
        </p:blipFill>
        <p:spPr>
          <a:xfrm>
            <a:off x="3337560" y="3227832"/>
            <a:ext cx="868680" cy="640080"/>
          </a:xfrm>
          <a:prstGeom prst="rect">
            <a:avLst/>
          </a:prstGeom>
        </p:spPr>
      </p:pic>
      <p:sp>
        <p:nvSpPr>
          <p:cNvPr id="41" name="Rectangle 40"/>
          <p:cNvSpPr/>
          <p:nvPr/>
        </p:nvSpPr>
        <p:spPr>
          <a:xfrm>
            <a:off x="3337560" y="322783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T23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270248" y="320954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Granito São Gabriel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70248" y="352044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bancadas da copa das unidades e do rooftop.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37560" y="392277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granito São Gabriel polido (memorial de interiores e moodboard).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337560" y="434340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deixar pontos hidráulicos e elétricos conforme o briefing.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989320" y="313639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06_BOOK_ASSETS__sw_muxarabi.jpg"/>
          <p:cNvPicPr>
            <a:picLocks noChangeAspect="1"/>
          </p:cNvPicPr>
          <p:nvPr/>
        </p:nvPicPr>
        <p:blipFill>
          <a:blip r:embed="rId9"/>
          <a:srcRect t="23787" b="23787"/>
          <a:stretch>
            <a:fillRect/>
          </a:stretch>
        </p:blipFill>
        <p:spPr>
          <a:xfrm>
            <a:off x="6080759" y="3227832"/>
            <a:ext cx="868680" cy="640080"/>
          </a:xfrm>
          <a:prstGeom prst="rect">
            <a:avLst/>
          </a:prstGeom>
        </p:spPr>
      </p:pic>
      <p:sp>
        <p:nvSpPr>
          <p:cNvPr id="48" name="Rectangle 47"/>
          <p:cNvSpPr/>
          <p:nvPr/>
        </p:nvSpPr>
        <p:spPr>
          <a:xfrm>
            <a:off x="6080759" y="322783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T24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013448" y="320954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Muxarabi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013448" y="352044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guarda-corpo do mezanino e divisória da tipologia U.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80759" y="392277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painel muxarabi (ou material semelhante) em madeira (LOG de considerações).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080759" y="434340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prever reforço no gesso para a divisória da tipologia U (LOG).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02 · INTERIORES · LANÇAMENTO × EXECUTIVO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Comparativo: interiores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CACHOEIRA SPOT  ·  BOOK DE PREMISSAS DE FACHADA E INTERIORES  ·  21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097280"/>
            <a:ext cx="81381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6F7891"/>
                </a:solidFill>
                <a:latin typeface="Arial"/>
              </a:rPr>
              <a:t>Renders de interiores Seazone × Memorial V02, briefing, LOG de considerações e Conferência de Projetos.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02920" y="1298448"/>
          <a:ext cx="8138160" cy="3355848"/>
        </p:xfrm>
        <a:graphic>
          <a:graphicData uri="http://schemas.openxmlformats.org/drawingml/2006/table">
            <a:tbl>
              <a:tblPr>
                <a:noFill/>
                <a:tableStyleId>{D79DEEBB-5512-44E8-9C8E-75C5AFC50D94}</a:tableStyleId>
              </a:tblPr>
              <a:tblGrid>
                <a:gridCol w="228600"/>
                <a:gridCol w="1188720"/>
                <a:gridCol w="2331720"/>
                <a:gridCol w="3657600"/>
                <a:gridCol w="731520"/>
              </a:tblGrid>
              <a:tr h="219456"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#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Elemento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Conceito Seazone (imagens)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Memorial V02 / briefing / conferência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01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Piso geral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Claro, grandes formatos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Porcelanato 90×90 (memorial e briefing) · moodboard Guanabara cinza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02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Recepção · parede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Pedra Moledo + logo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Pedra Moledo (LOG e briefing)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03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Recepção · textura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Cimento queimado com frase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Textura cimento queimado areia (briefing)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04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Forros comuns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Liso claro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Briefing: modular × projeto: gesso acartonado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05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Corredores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Paredes brancas + arandelas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Pintura branca, arandela em cada porta (briefing)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06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Rooftop · marcenaria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Balcão em madeira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Material "a definir" (memorial de interiores)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C6058"/>
                          </a:solidFill>
                          <a:latin typeface="Arial"/>
                        </a:rPr>
                        <a:t>PENDENTE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07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Piscina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Revestimento acinzentado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Esverdeado 20×20 (briefing) · porcelanato de piscina (memorial)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08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Borda da piscina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Banco amadeirado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Porcelanato madeira 120×20 (briefing) × atérmica/São Tomé (memorial)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09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Balanço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Parede verde com balanço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Reforço metálico no teto a prever (LOG)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C6058"/>
                          </a:solidFill>
                          <a:latin typeface="Arial"/>
                        </a:rPr>
                        <a:t>PENDENTE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Paredes do BWC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Porcelanato claro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90×90 (briefing) × azulejo 30×60 (memorial)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Rodapé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Branco discreto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Poliestireno branco (briefing) × outra largura (memorial)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Marcenaria unidades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Madeira clara + grafito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Rícori nativo, grafito chess, metal preto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Mezanino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Escada preta + muxarabi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Muxarabi (LOG) · escada sem detalhe executivo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Nicho do box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Nicho preto no box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Não previsto em nenhuma prancha (conferência 36.0)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C6058"/>
                          </a:solidFill>
                          <a:latin typeface="Arial"/>
                        </a:rPr>
                        <a:t>PENDENTE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1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pl_hou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685800"/>
            <a:ext cx="3749039" cy="3858768"/>
          </a:xfrm>
          <a:prstGeom prst="rect">
            <a:avLst/>
          </a:prstGeom>
        </p:spPr>
      </p:pic>
      <p:pic>
        <p:nvPicPr>
          <p:cNvPr id="4" name="Picture 3" descr="tpl_logo_co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02920" y="2103120"/>
            <a:ext cx="1463040" cy="45720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286000"/>
            <a:ext cx="5212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FC6058"/>
                </a:solidFill>
                <a:latin typeface="Arial"/>
              </a:rPr>
              <a:t>03 · BRIEFING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596896"/>
            <a:ext cx="5212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rial"/>
              </a:rPr>
              <a:t>Briefing de projeto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310128"/>
            <a:ext cx="49377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9FB0D4"/>
                </a:solidFill>
                <a:latin typeface="Arial"/>
              </a:rPr>
              <a:t>Acabamentos marcados no Briefing de Projeto  ·  cruzamento com o projeto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8FA3CC"/>
                </a:solidFill>
                <a:latin typeface="Arial"/>
              </a:rPr>
              <a:t>CACHOEIRA SPOT  ·  BOOK DE PREMISSAS DE FACHADA E INTERIORES  ·  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03 · BRIEFING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Briefing × projeto: acabamentos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CACHOEIRA SPOT  ·  BOOK DE PREMISSAS DE FACHADA E INTERIORES  ·  23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097280"/>
            <a:ext cx="81381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6F7891"/>
                </a:solidFill>
                <a:latin typeface="Arial"/>
              </a:rPr>
              <a:t>Opções de acabamento marcadas em "[CACHOEIRA SPOT] Premissas de Projeto" (coluna "Conferência") × pré-executivo e Memorial V02.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02920" y="1298448"/>
          <a:ext cx="8138160" cy="3127236"/>
        </p:xfrm>
        <a:graphic>
          <a:graphicData uri="http://schemas.openxmlformats.org/drawingml/2006/table">
            <a:tbl>
              <a:tblPr>
                <a:noFill/>
                <a:tableStyleId>{D79DEEBB-5512-44E8-9C8E-75C5AFC50D94}</a:tableStyleId>
              </a:tblPr>
              <a:tblGrid>
                <a:gridCol w="228600"/>
                <a:gridCol w="1188720"/>
                <a:gridCol w="2788920"/>
                <a:gridCol w="3200400"/>
                <a:gridCol w="731520"/>
              </a:tblGrid>
              <a:tr h="219456"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#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Elemento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Briefing de Projeto (opção marcada)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Pré-executivo / memorial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</a:tr>
              <a:tr h="193852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01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Brises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PVC, conforme detalhamento arquitetônico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Alumínio cinza (PP) · madeira ou móveis (memorial)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193852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02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Muro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Pintura cor Seazone com logo e nome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Sem especificação no projeto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193852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03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Esquadrias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Linha 32 (gold), PVC ou alumínio · áreas comuns preto fosco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"Alumínio; vidro" nas tabelas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193852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04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Guarda-corpo privativo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Alumínio anodizado com montante aparente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Guarda-corpo de vidro (elevações)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193852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05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Guarda-corpo comum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Vidro com perfil "U" inox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Inox com vidro na piscina (memorial)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193852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06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Recepção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Pedra Moledo e textura cimento queimado areia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Sem executivo de interiores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193852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07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Rooftop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Cinza médio · cimento queimado na copa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Sem executivo de interiores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193852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08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Corredores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Pintura branca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Pintura acrílica (memorial)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193852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09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Área externa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Pedra Moledo e parede verde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Sem detalhe no projeto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193852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Forros comuns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Modular em rooftop, corredores e mini market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Gesso acartonado em todos os pavimentos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193852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Pisos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Porcelanato 90×90 · externo antiderrapante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Porcelanato 90×90 (memorial)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193852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Piscina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Esverdeado 20×20 · borda em porcelanato madeira 120×20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Porcelanato de piscina · borda atérmica/São Tomé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193852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Paredes do BWC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Porcelanato 90×90 natural/acetinado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Azulejo 30×60 (memorial)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193852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Portas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Brancas, kit porta pronta, bandeira até o forro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Madeira tipo kit pronto (memorial)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193852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Vidros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Incolor · banheiros jateado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Lisos · banheiros mini boreal (memorial)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1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pl_hou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685800"/>
            <a:ext cx="3749039" cy="3858768"/>
          </a:xfrm>
          <a:prstGeom prst="rect">
            <a:avLst/>
          </a:prstGeom>
        </p:spPr>
      </p:pic>
      <p:pic>
        <p:nvPicPr>
          <p:cNvPr id="4" name="Picture 3" descr="tpl_logo_co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02920" y="2103120"/>
            <a:ext cx="1463040" cy="45720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286000"/>
            <a:ext cx="5212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FC6058"/>
                </a:solidFill>
                <a:latin typeface="Arial"/>
              </a:rPr>
              <a:t>04 · PONTOS DE ATENÇÃO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596896"/>
            <a:ext cx="5212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rial"/>
              </a:rPr>
              <a:t>Pontos de atenção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310128"/>
            <a:ext cx="49377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9FB0D4"/>
                </a:solidFill>
                <a:latin typeface="Arial"/>
              </a:rPr>
              <a:t>O que gera retrabalho se não for observado  ·  premissas travadas  ·  checklist de validação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8FA3CC"/>
                </a:solidFill>
                <a:latin typeface="Arial"/>
              </a:rPr>
              <a:t>CACHOEIRA SPOT  ·  BOOK DE PREMISSAS DE FACHADA E INTERIORES  ·  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04 · PONTOS DE ATENÇÃO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O que Obras precisa observar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CACHOEIRA SPOT  ·  BOOK DE PREMISSAS DE FACHADA E INTERIORES  ·  25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170432"/>
            <a:ext cx="2651760" cy="1737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252728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FC6058"/>
                </a:solidFill>
                <a:latin typeface="Arial"/>
              </a:rPr>
              <a:t>BRISES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1554480"/>
            <a:ext cx="64008" cy="6400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" y="1499616"/>
            <a:ext cx="22311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Imagem vendeu ripas verticais cor madeira; o projeto desenha alumínio cinza.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2011680"/>
            <a:ext cx="64008" cy="6400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" y="1956816"/>
            <a:ext cx="22311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Memorial fala em madeira e o briefing em PVC.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2468880"/>
            <a:ext cx="64008" cy="6400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" y="2414016"/>
            <a:ext cx="22311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Não fabricar antes de fechar material, cor e fixação.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46120" y="1170432"/>
            <a:ext cx="2651760" cy="1737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83279" y="1252728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FC6058"/>
                </a:solidFill>
                <a:latin typeface="Arial"/>
              </a:rPr>
              <a:t>PERGOLADO E FORRO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83279" y="1554480"/>
            <a:ext cx="64008" cy="6400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29584" y="1499616"/>
            <a:ext cx="22311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Pergolado: escuro (imagem) × branco (projeto) × corten/madeira (memorial).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383279" y="2011680"/>
            <a:ext cx="64008" cy="6400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529584" y="1956816"/>
            <a:ext cx="22311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Forro das lajes em ACM madeira: aprovar padrão com amostra.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383279" y="2468880"/>
            <a:ext cx="64008" cy="6400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29584" y="2414016"/>
            <a:ext cx="22311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Sem caderno de fachada com fixações e juntas.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89320" y="1170432"/>
            <a:ext cx="2651760" cy="1737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26480" y="1252728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FC6058"/>
                </a:solidFill>
                <a:latin typeface="Arial"/>
              </a:rPr>
              <a:t>CORES DA FACHADA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26480" y="1554480"/>
            <a:ext cx="64008" cy="6400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72784" y="1499616"/>
            <a:ext cx="22311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Nenhuma cor de pintura definida no projeto ou no memorial.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26480" y="2011680"/>
            <a:ext cx="64008" cy="6400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72784" y="1956816"/>
            <a:ext cx="22311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Usar a imagem de venda como referência até a definição.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26480" y="2468880"/>
            <a:ext cx="64008" cy="6400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72784" y="2414016"/>
            <a:ext cx="22311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Pintura sempre sobre textura ou massa acrílica.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" y="2980944"/>
            <a:ext cx="2651760" cy="1737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3063239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FC6058"/>
                </a:solidFill>
                <a:latin typeface="Arial"/>
              </a:rPr>
              <a:t>IDENTIDADE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" y="3364991"/>
            <a:ext cx="64008" cy="6400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86384" y="3310127"/>
            <a:ext cx="22311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Logo SEAZONE no volume superior e letreiro CACHOEIRA SPOT sem detalhe.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" y="3822191"/>
            <a:ext cx="64008" cy="6400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6384" y="3767327"/>
            <a:ext cx="22311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Luminotécnico não contratado: prever pontos antes dos revestimentos.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0080" y="4279391"/>
            <a:ext cx="64008" cy="6400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86384" y="4224527"/>
            <a:ext cx="22311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Muro com cor Seazone, logo e nome (briefing).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46120" y="2980944"/>
            <a:ext cx="2651760" cy="1737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383279" y="3063239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FC6058"/>
                </a:solidFill>
                <a:latin typeface="Arial"/>
              </a:rPr>
              <a:t>INTERIORES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383279" y="3364991"/>
            <a:ext cx="64008" cy="6400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529584" y="3310127"/>
            <a:ext cx="22311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Seguir os renders Seazone: não há executivo de interiores.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383279" y="3822191"/>
            <a:ext cx="64008" cy="6400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529584" y="3767327"/>
            <a:ext cx="22311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Pedra Moledo, cimento queimado areia e parede verde conforme o conceito.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383279" y="4279391"/>
            <a:ext cx="64008" cy="6400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529584" y="4224527"/>
            <a:ext cx="22311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Muxarabi no mezanino e reforço para o balanço do rooftop.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989320" y="2980944"/>
            <a:ext cx="2651760" cy="1737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126480" y="3063239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FC6058"/>
                </a:solidFill>
                <a:latin typeface="Arial"/>
              </a:rPr>
              <a:t>ROOFTOP E PISCINA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26480" y="3364991"/>
            <a:ext cx="64008" cy="6400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272784" y="3310127"/>
            <a:ext cx="22311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Revestimento e borda da piscina a definir (briefing × memorial × imagem).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26480" y="3822191"/>
            <a:ext cx="64008" cy="6400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272784" y="3767327"/>
            <a:ext cx="22311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Piscina e ducha sem projeto executivo.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126480" y="4279391"/>
            <a:ext cx="64008" cy="6400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272784" y="4224527"/>
            <a:ext cx="22311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Aquecimento solar marcado no briefing, sem projeto.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04 · PONTOS DE ATENÇÃO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Não alterar sem validação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CACHOEIRA SPOT  ·  BOOK DE PREMISSAS DE FACHADA E INTERIORES  ·  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170432"/>
            <a:ext cx="3977639" cy="36027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252728"/>
            <a:ext cx="374903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6F7891"/>
                </a:solidFill>
                <a:latin typeface="Arial"/>
              </a:rPr>
              <a:t>PREMISSAS TRAVADAS (CONVERGEM LANÇAMENTO E PROJETO)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1627632"/>
            <a:ext cx="64008" cy="6400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" y="1572768"/>
            <a:ext cx="36027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Forro das lajes em madeira (ACM madeira), como na imagem de venda.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2011680"/>
            <a:ext cx="64008" cy="6400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" y="1956816"/>
            <a:ext cx="36027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Sacadas com guarda-corpo de vidro em toda a grelha da fachada.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2395728"/>
            <a:ext cx="64008" cy="6400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" y="2340864"/>
            <a:ext cx="36027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Floreiras com vegetação na cobertura e sobre a marquise.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2779776"/>
            <a:ext cx="64008" cy="6400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" y="2724912"/>
            <a:ext cx="36027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Volume superior cinza com o logo SEAZONE.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3163824"/>
            <a:ext cx="64008" cy="6400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6384" y="3108960"/>
            <a:ext cx="36027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Recepção com pedra Moledo e cimento queimado areia.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3547872"/>
            <a:ext cx="64008" cy="6400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6384" y="3493008"/>
            <a:ext cx="36027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Corredores brancos com arandela em cada porta.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3931920"/>
            <a:ext cx="64008" cy="6400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6384" y="3877056"/>
            <a:ext cx="36027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Marcenaria em rícori nativo, grafito chess e metal preto fosco.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4315968"/>
            <a:ext cx="64008" cy="6400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6384" y="4261104"/>
            <a:ext cx="36027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Bancadas em granito São Gabriel polido.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99432" y="1170432"/>
            <a:ext cx="4041648" cy="3602736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754880" y="1280160"/>
            <a:ext cx="566928" cy="15544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ATENÇÃO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13248" y="1271016"/>
            <a:ext cx="312724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8FA3CC"/>
                </a:solidFill>
                <a:latin typeface="Arial"/>
              </a:rPr>
              <a:t>ANTES DE COMPRAR OU EXECUTAR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54880" y="1499616"/>
            <a:ext cx="3730752" cy="3218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700" b="1">
                <a:solidFill>
                  <a:srgbClr val="FC6058"/>
                </a:solidFill>
                <a:latin typeface="Arial"/>
              </a:rPr>
              <a:t>1. </a:t>
            </a:r>
            <a:r>
              <a:rPr sz="700" b="0">
                <a:solidFill>
                  <a:srgbClr val="FFFFFF"/>
                </a:solidFill>
                <a:latin typeface="Arial"/>
              </a:rPr>
              <a:t>Troca de cor, material ou referência de fachada precisa de aprovação de Projetos: a fachada é a imagem vendida no lançamento.</a:t>
            </a:r>
          </a:p>
          <a:p>
            <a:pPr algn="l">
              <a:spcAft>
                <a:spcPts val="200"/>
              </a:spcAft>
            </a:pPr>
            <a:r>
              <a:rPr sz="700" b="1">
                <a:solidFill>
                  <a:srgbClr val="FC6058"/>
                </a:solidFill>
                <a:latin typeface="Arial"/>
              </a:rPr>
              <a:t>2. </a:t>
            </a:r>
            <a:r>
              <a:rPr sz="700" b="0">
                <a:solidFill>
                  <a:srgbClr val="FFFFFF"/>
                </a:solidFill>
                <a:latin typeface="Arial"/>
              </a:rPr>
              <a:t>Itens A VALIDAR não entram em pedido de compra até a definição registrada.</a:t>
            </a:r>
          </a:p>
          <a:p>
            <a:pPr algn="l">
              <a:spcAft>
                <a:spcPts val="200"/>
              </a:spcAft>
            </a:pPr>
            <a:r>
              <a:rPr sz="700" b="1">
                <a:solidFill>
                  <a:srgbClr val="FC6058"/>
                </a:solidFill>
                <a:latin typeface="Arial"/>
              </a:rPr>
              <a:t>3. </a:t>
            </a:r>
            <a:r>
              <a:rPr sz="700" b="0">
                <a:solidFill>
                  <a:srgbClr val="FFFFFF"/>
                </a:solidFill>
                <a:latin typeface="Arial"/>
              </a:rPr>
              <a:t>Brise e pergolado só após memorial aditivo com o material definitivo.</a:t>
            </a:r>
          </a:p>
          <a:p>
            <a:pPr algn="l">
              <a:spcAft>
                <a:spcPts val="200"/>
              </a:spcAft>
            </a:pPr>
            <a:r>
              <a:rPr sz="700" b="1">
                <a:solidFill>
                  <a:srgbClr val="FC6058"/>
                </a:solidFill>
                <a:latin typeface="Arial"/>
              </a:rPr>
              <a:t>4. </a:t>
            </a:r>
            <a:r>
              <a:rPr sz="700" b="0">
                <a:solidFill>
                  <a:srgbClr val="FFFFFF"/>
                </a:solidFill>
                <a:latin typeface="Arial"/>
              </a:rPr>
              <a:t>Amostras físicas (brise, ACM madeira, pintura, pedra Moledo, revestimento da piscina) aprovadas no local.</a:t>
            </a:r>
          </a:p>
          <a:p>
            <a:pPr algn="l">
              <a:spcAft>
                <a:spcPts val="200"/>
              </a:spcAft>
            </a:pPr>
            <a:r>
              <a:rPr sz="700" b="1">
                <a:solidFill>
                  <a:srgbClr val="FC6058"/>
                </a:solidFill>
                <a:latin typeface="Arial"/>
              </a:rPr>
              <a:t>5. </a:t>
            </a:r>
            <a:r>
              <a:rPr sz="700" b="0">
                <a:solidFill>
                  <a:srgbClr val="FFFFFF"/>
                </a:solidFill>
                <a:latin typeface="Arial"/>
              </a:rPr>
              <a:t>Onde memorial, prancha e briefing divergem, prevalece a definição registrada por Projetos.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754880" y="3246120"/>
            <a:ext cx="3730752" cy="9144"/>
          </a:xfrm>
          <a:prstGeom prst="rect">
            <a:avLst/>
          </a:prstGeom>
          <a:solidFill>
            <a:srgbClr val="8FA3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54880" y="3346704"/>
            <a:ext cx="373075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>
                <a:solidFill>
                  <a:srgbClr val="8FA3CC"/>
                </a:solidFill>
                <a:latin typeface="Arial"/>
              </a:rPr>
              <a:t>ONDE CONSULTAR (1.20 - [3330] CACHOEIRA SPOT / 02 - PROJETOS)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54880" y="3566160"/>
            <a:ext cx="373075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650" b="1">
                <a:solidFill>
                  <a:srgbClr val="FFFFFF"/>
                </a:solidFill>
                <a:latin typeface="Arial"/>
              </a:rPr>
              <a:t>Fachada: </a:t>
            </a:r>
            <a:r>
              <a:rPr sz="650" b="0">
                <a:solidFill>
                  <a:srgbClr val="9FB0D4"/>
                </a:solidFill>
                <a:latin typeface="Arial"/>
              </a:rPr>
              <a:t>08 - Projeto Arquitetônico / 07 - Projeto Executivo / Projeto Pré-executivo (PP-ARQ 011–015)</a:t>
            </a:r>
          </a:p>
          <a:p>
            <a:pPr algn="l">
              <a:spcAft>
                <a:spcPts val="300"/>
              </a:spcAft>
            </a:pPr>
            <a:r>
              <a:rPr sz="650" b="1">
                <a:solidFill>
                  <a:srgbClr val="FFFFFF"/>
                </a:solidFill>
                <a:latin typeface="Arial"/>
              </a:rPr>
              <a:t>Imagens: </a:t>
            </a:r>
            <a:r>
              <a:rPr sz="650" b="0">
                <a:solidFill>
                  <a:srgbClr val="9FB0D4"/>
                </a:solidFill>
                <a:latin typeface="Arial"/>
              </a:rPr>
              <a:t>08 / 05 - Imagens 3D (Lançamento Externa) · 08 / 10 - Projeto de Interiores / 02 - Imagens</a:t>
            </a:r>
          </a:p>
          <a:p>
            <a:pPr algn="l">
              <a:spcAft>
                <a:spcPts val="300"/>
              </a:spcAft>
            </a:pPr>
            <a:r>
              <a:rPr sz="650" b="1">
                <a:solidFill>
                  <a:srgbClr val="FFFFFF"/>
                </a:solidFill>
                <a:latin typeface="Arial"/>
              </a:rPr>
              <a:t>Memoriais: </a:t>
            </a:r>
            <a:r>
              <a:rPr sz="650" b="0">
                <a:solidFill>
                  <a:srgbClr val="9FB0D4"/>
                </a:solidFill>
                <a:latin typeface="Arial"/>
              </a:rPr>
              <a:t>09 - Memorial Descritivo (V02) · 10 - Projeto de Interiores / 03 - Memorial descritivo</a:t>
            </a:r>
          </a:p>
          <a:p>
            <a:pPr algn="l">
              <a:spcAft>
                <a:spcPts val="300"/>
              </a:spcAft>
            </a:pPr>
            <a:r>
              <a:rPr sz="650" b="1">
                <a:solidFill>
                  <a:srgbClr val="FFFFFF"/>
                </a:solidFill>
                <a:latin typeface="Arial"/>
              </a:rPr>
              <a:t>Premissas: </a:t>
            </a:r>
            <a:r>
              <a:rPr sz="650" b="0">
                <a:solidFill>
                  <a:srgbClr val="9FB0D4"/>
                </a:solidFill>
                <a:latin typeface="Arial"/>
              </a:rPr>
              <a:t>00 - Premissas de Projeto · 12 - Conferência de projetos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04 · PONTOS DE ATENÇÃO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Pendências e checklist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CACHOEIRA SPOT  ·  BOOK DE PREMISSAS DE FACHADA E INTERIORES  ·  27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02920" y="1170432"/>
          <a:ext cx="8138160" cy="3511296"/>
        </p:xfrm>
        <a:graphic>
          <a:graphicData uri="http://schemas.openxmlformats.org/drawingml/2006/table">
            <a:tbl>
              <a:tblPr>
                <a:noFill/>
                <a:tableStyleId>{D79DEEBB-5512-44E8-9C8E-75C5AFC50D94}</a:tableStyleId>
              </a:tblPr>
              <a:tblGrid>
                <a:gridCol w="228600"/>
                <a:gridCol w="2103120"/>
                <a:gridCol w="4709160"/>
                <a:gridCol w="1097280"/>
              </a:tblGrid>
              <a:tr h="219456"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#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Item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O que definir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01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Brises das janelas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Madeira (imagem/memorial) × alumínio cinza (PP) × PVC (briefing): material, cor e fixação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02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Pergolado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Escuro (imagem) × metálico branco (PP) × corten/madeira (memorial)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03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Forro e bordas em ACM madeira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Padrão da madeira, perfis e fixação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04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Cores da fachada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Definir cores de pilares, paredes, empenas e volume superior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C6058"/>
                          </a:solidFill>
                          <a:latin typeface="Arial"/>
                        </a:rPr>
                        <a:t>PENDENTE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05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Caderno de fachada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Paginação, juntas, fixações, brises BR/BV e pergolado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C6058"/>
                          </a:solidFill>
                          <a:latin typeface="Arial"/>
                        </a:rPr>
                        <a:t>PENDENTE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06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Esquadrias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Linha 32, preto fosco, vidro e ferragens nas tabelas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07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Guarda-corpos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Vidro (PP) × alumínio anodizado com montante (briefing privativo)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08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Logo SEAZONE e letreiro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Material, iluminação e fixação · projeto luminotécnico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C6058"/>
                          </a:solidFill>
                          <a:latin typeface="Arial"/>
                        </a:rPr>
                        <a:t>PENDENTE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09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Base comercial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Material do ripado escuro e da marquise com LED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C6058"/>
                          </a:solidFill>
                          <a:latin typeface="Arial"/>
                        </a:rPr>
                        <a:t>PENDENTE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Muro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Pintura cor Seazone com logo e nome (briefing)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Condensadoras e exaustão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Integrar brise das condensadoras e grelhas à fachada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Forros comuns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Modular (briefing) × gesso acartonado (projeto)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Marcenaria do rooftop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Balcão da copa e mini market "a definir"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C6058"/>
                          </a:solidFill>
                          <a:latin typeface="Arial"/>
                        </a:rPr>
                        <a:t>PENDENTE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Piscina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Revestimento, borda/banco, aquecimento e projeto executivo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C6058"/>
                          </a:solidFill>
                          <a:latin typeface="Arial"/>
                        </a:rPr>
                        <a:t>PENDENTE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Balanço e parede verde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Reforço metálico no teto e sistema da parede verde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C6058"/>
                          </a:solidFill>
                          <a:latin typeface="Arial"/>
                        </a:rPr>
                        <a:t>PENDENTE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Paredes do BWC e rodapé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Porcelanato 90×90 (briefing) × azulejo 30×60 (memorial) · rodapé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Nicho do box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Nicho embutido no box em todas as unidades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C6058"/>
                          </a:solidFill>
                          <a:latin typeface="Arial"/>
                        </a:rPr>
                        <a:t>PENDENTE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Executivo de interiores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Contratar ou registrar responsável (27 itens pendentes)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C6058"/>
                          </a:solidFill>
                          <a:latin typeface="Arial"/>
                        </a:rPr>
                        <a:t>PENDENTE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1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pl_hou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685800"/>
            <a:ext cx="3749039" cy="3858768"/>
          </a:xfrm>
          <a:prstGeom prst="rect">
            <a:avLst/>
          </a:prstGeom>
        </p:spPr>
      </p:pic>
      <p:pic>
        <p:nvPicPr>
          <p:cNvPr id="4" name="Picture 3" descr="tpl_logo_co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02920" y="2103120"/>
            <a:ext cx="1463040" cy="45720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286000"/>
            <a:ext cx="5212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FC6058"/>
                </a:solidFill>
                <a:latin typeface="Arial"/>
              </a:rPr>
              <a:t>CACHOEIRA SPOT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596896"/>
            <a:ext cx="521208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rial"/>
              </a:rPr>
              <a:t>Book de Premissas de Fachada e Interiores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611880"/>
            <a:ext cx="49377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9FB0D4"/>
                </a:solidFill>
                <a:latin typeface="Arial"/>
              </a:rPr>
              <a:t>Lançamento × Executivo  ·  Seazone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8FA3CC"/>
                </a:solidFill>
                <a:latin typeface="Arial"/>
              </a:rPr>
              <a:t>CACHOEIRA SPOT  ·  BOOK DE PREMISSAS DE FACHADA E INTERIORES  ·  28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4935</Words>
  <Application>Microsoft Office PowerPoint</Application>
  <PresentationFormat>Apresentação na tela (16:9)</PresentationFormat>
  <Paragraphs>580</Paragraphs>
  <Slides>23</Slides>
  <Notes>23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Rachel Souto</cp:lastModifiedBy>
  <cp:revision>1</cp:revision>
  <dcterms:modified xsi:type="dcterms:W3CDTF">2026-09-23T13:37:10Z</dcterms:modified>
</cp:coreProperties>
</file>