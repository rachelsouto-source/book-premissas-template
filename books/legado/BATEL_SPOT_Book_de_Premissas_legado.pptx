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RENDERS_LANCAMENTO__BATELSPOT-AP-ARQ-IMG-GER-002-R03.jpg"/>
          <p:cNvPicPr>
            <a:picLocks noChangeAspect="1"/>
          </p:cNvPicPr>
          <p:nvPr/>
        </p:nvPicPr>
        <p:blipFill>
          <a:blip r:embed="rId2"/>
          <a:srcRect l="556" r="556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Batel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3D R03 · executivo de arquitetura HS (rev. 2025/2026) · Memorial Descritivo R01 · Memorial de Interiores · Divergências Seazone × HS · Briefing de Projeto · Indicações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Av. Visconde de Guarapuava, 5354 · Batel · Curitiba/PR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Batel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 (R03)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executivo da HS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 e o projeto de interiores da Seazone: o que a imagem vendeu, o que o executivo especifica, onde divergem e o que validar antes da compra e da execução.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frontal, lateral e acesso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e guarda-corpos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detalhes do executivo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ático,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e indicações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premissas e divergências 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cor e textura o executivo define para cada volume?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lançamento, executivo e briefing divergem?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os brises e os guarda-corpos?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(1.23 - [3299] Batel Spot / 02 - Projetos): 05 - Imagens 3D (R03), 07 - Projeto Executivo (pranchas HS 0598), 09 - Memorial Descritivo R01, 10 - Projeto de Interiores (Seazone e divergências HS) e 00 - Premissas de Projeto. Índices urbanísticos não fazem parte deste Book. Divergências estão marcadas A VALIDAR.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e legenda técnica  ·  brises e guarda-corpos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BATEL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BATELSPOT-AP-ARQ-IMG-GER-005-R03.jpg"/>
          <p:cNvPicPr>
            <a:picLocks noChangeAspect="1"/>
          </p:cNvPicPr>
          <p:nvPr/>
        </p:nvPicPr>
        <p:blipFill>
          <a:blip r:embed="rId4"/>
          <a:srcRect t="370" b="37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3317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RENDER 005 · PERSPECTIVA (LANÇAMENTO R03)</a:t>
            </a:r>
          </a:p>
        </p:txBody>
      </p:sp>
      <p:sp>
        <p:nvSpPr>
          <p:cNvPr id="13" name="Oval 12"/>
          <p:cNvSpPr/>
          <p:nvPr/>
        </p:nvSpPr>
        <p:spPr>
          <a:xfrm>
            <a:off x="2501798" y="12362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24658" y="12591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009290" y="15480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2150" y="15709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009290" y="200162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2150" y="202448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4925" y="22283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97785" y="22512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491407" y="205831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14267" y="208117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186912" y="266776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09772" y="269062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425674" y="285201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48534" y="287487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654046" y="289453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76906" y="291739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618280" y="343311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41140" y="345597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3872026" y="36031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94886" y="36260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SEAZONE no ático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letras iluminadas · sem detalhe no executivo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Vegetação da cobertura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floreiras dos terraços · impermeab. antirraiz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verticais das janelas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R4 alumínio tonalidade amêndoa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Volumes em tom bege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R2 pintura Suvinil C164 Ovelha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Painéis recuados cinza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R3 efeito cimento queimado Imensidão Cinza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Bordas das lajes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R1 efeito cimento queimado Branco Gatinho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linha 32 (gold), preto fosco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 de fachada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alvenaria/concreto com vegetação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Marquise com letreiro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BATEL SPOT sobre marquise metálica preta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Totem de acesso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casa Seazone iluminada no jardim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é lida em três camadas: volumes em tom bege (R2) e cinza (R3) com lajes marcadas (R1); faixas verticais de brises amadeirados (R4) em frente às janelas; e uma base ajardinada com araucárias preservadas, marquise com letreiro BATEL SPOT e totem da casa Seazone. No ático, o volume da caixa d'água leva o letreiro SEAZONE.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legenda "Revestimentos das fachadas" (PE 11 a 14) e Memorial 26.3.3.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1.jpg"/>
          <p:cNvPicPr>
            <a:picLocks noChangeAspect="1"/>
          </p:cNvPicPr>
          <p:nvPr/>
        </p:nvPicPr>
        <p:blipFill>
          <a:blip r:embed="rId4"/>
          <a:srcRect l="41329" r="4132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R1 · Cimento queimado claro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de laje e faixas horizontais das fachadas (elevações 1 a 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revestimento efeito cimento queimado Coral, cor Branco Gatinho (PE 11–14 · memorial 26.3.3).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o render mostra as bordas de laje em cinza: aprovar amostra contra a imagem antes da compra.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R2.jpg"/>
          <p:cNvPicPr>
            <a:picLocks noChangeAspect="1"/>
          </p:cNvPicPr>
          <p:nvPr/>
        </p:nvPicPr>
        <p:blipFill>
          <a:blip r:embed="rId5"/>
          <a:srcRect t="6459" b="645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R2 · Pintura Ovelha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volumes principais em tom bege das quatro fachadas.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Suvinil, cor C164 Ovelha, sobre textura/massa acrílica (memorial 23.2).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fazer painel-teste na fachada; mesma cor e lote em todas as faces.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3.jpg"/>
          <p:cNvPicPr>
            <a:picLocks noChangeAspect="1"/>
          </p:cNvPicPr>
          <p:nvPr/>
        </p:nvPicPr>
        <p:blipFill>
          <a:blip r:embed="rId6"/>
          <a:srcRect t="33709" b="33709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R3 · Cimento queimado cinza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painéis recuados entre janelas e volume da caixa d'água.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revestimento efeito cimento queimado Coral, cor Imensidão Cinza (PE 11–14 · memorial 26.3.3).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efeito texturizado: aplicar por equipe única e aprovar amostra em painel.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R4.jpg"/>
          <p:cNvPicPr>
            <a:picLocks noChangeAspect="1"/>
          </p:cNvPicPr>
          <p:nvPr/>
        </p:nvPicPr>
        <p:blipFill>
          <a:blip r:embed="rId7"/>
          <a:srcRect t="24086" b="2408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R4 · Brise amêndoa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faixas verticais em frente às janelas, do 2º pavimento ao ático.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brise em alumínio na tonalidade amêndoa "a definir" (PE 11) · memorial 26.3.3: alumínio amêndoa.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cor ainda "a definir" no executivo e briefing marca brise em PVC. A VALIDAR antes da compra.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esq.jpg"/>
          <p:cNvPicPr>
            <a:picLocks noChangeAspect="1"/>
          </p:cNvPicPr>
          <p:nvPr/>
        </p:nvPicPr>
        <p:blipFill>
          <a:blip r:embed="rId8"/>
          <a:srcRect t="9411" b="941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porta-janelas de todas as unidades e áreas comuns.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linha 32 (linha gold), PVC ou alumínio anodizado/pintado preto fosco, vidro incolor/laminado (caderno de esquadrias · memorial 11).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contramarco antes do reboco; boneca mínima de 10 cm (briefing); vidro mini boreal nos BWC.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gc.jpg"/>
          <p:cNvPicPr>
            <a:picLocks noChangeAspect="1"/>
          </p:cNvPicPr>
          <p:nvPr/>
        </p:nvPicPr>
        <p:blipFill>
          <a:blip r:embed="rId9"/>
          <a:srcRect l="5516" r="5516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terraços do ático (GC1, GC2, GC3) e terraços descobertos.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mureta de alvenaria h=0,80 m + vidro h=1,00 m, perfil de sobrepor Infinity preto (DT 06–08).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briefing: vidro com perfil "U" inox, sem alumínio. Definir perfil antes do pedido.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executivo, Memorial Descritivo R01 e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flor.jpg"/>
          <p:cNvPicPr>
            <a:picLocks noChangeAspect="1"/>
          </p:cNvPicPr>
          <p:nvPr/>
        </p:nvPicPr>
        <p:blipFill>
          <a:blip r:embed="rId4"/>
          <a:srcRect l="32125" r="32125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 de fachada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de laje dos terraços e floreiras do térreo (h=1,80 m na implantação).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floreiras em alvenaria/concreto impermeabilizadas com pintura antirraiz (memorial 17.2 e 26.3.3).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teste de estanqueidade antes do plantio; paisagismo conforme projeto específico.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etreiro.jpg"/>
          <p:cNvPicPr>
            <a:picLocks noChangeAspect="1"/>
          </p:cNvPicPr>
          <p:nvPr/>
        </p:nvPicPr>
        <p:blipFill>
          <a:blip r:embed="rId5"/>
          <a:srcRect l="26611" r="2661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SEAZONE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da caixa d'água, voltado para a Av. Visconde de Guarapuava.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letras iluminadas no render · memorial 24: nome do edifício fixado na fachada.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de material, iluminação e fixação no executivo.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marquise.jpg"/>
          <p:cNvPicPr>
            <a:picLocks noChangeAspect="1"/>
          </p:cNvPicPr>
          <p:nvPr/>
        </p:nvPicPr>
        <p:blipFill>
          <a:blip r:embed="rId6"/>
          <a:srcRect l="25057" r="2505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Marquise + letreiro BATEL SPOT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 principal do térreo.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marquise metálica preta com letras BATEL SPOT iluminadas (render 008) · projeção de marquise na implantação.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detalhar estrutura, letras e iluminação com Projetos.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totem.jpg"/>
          <p:cNvPicPr>
            <a:picLocks noChangeAspect="1"/>
          </p:cNvPicPr>
          <p:nvPr/>
        </p:nvPicPr>
        <p:blipFill>
          <a:blip r:embed="rId7"/>
          <a:srcRect t="21445" b="21445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Totem casa Seazone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frontal, ao lado do acesso.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totem em forma de casa, iluminado, sobre base preta (renders 001, 004, 008).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não consta no executivo: definir fornecedor, base e ponto elétrico.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muro.jpg"/>
          <p:cNvPicPr>
            <a:picLocks noChangeAspect="1"/>
          </p:cNvPicPr>
          <p:nvPr/>
        </p:nvPicPr>
        <p:blipFill>
          <a:blip r:embed="rId8"/>
          <a:srcRect l="28364" r="28364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Muro e floreiras do térreo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fechamento frontal e lateral do lote.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muro h=1,80/2,20 m (implantação) · briefing: muro com pintura cor Seazone, logo e nome.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render mostra muro claro com arandelas: confirmar cor e iluminação.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arauc.jpg"/>
          <p:cNvPicPr>
            <a:picLocks noChangeAspect="1"/>
          </p:cNvPicPr>
          <p:nvPr/>
        </p:nvPicPr>
        <p:blipFill>
          <a:blip r:embed="rId9"/>
          <a:srcRect l="8499" r="8499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Araucárias preservadas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frontal, em frente ao acesso.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preservação da araucária existente na implantação (memorial 26.3.3) · 2 araucárias na implantação.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proteger raízes e copas durante toda a obra; não remover sem autorização.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frontal (Av. Visconde de Guarapuava)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BATELSPOT-AP-ARQ-IMG-GER-001-R03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RENDER 001 (FRONTAL)</a:t>
            </a:r>
          </a:p>
        </p:txBody>
      </p:sp>
      <p:sp>
        <p:nvSpPr>
          <p:cNvPr id="13" name="Oval 12"/>
          <p:cNvSpPr/>
          <p:nvPr/>
        </p:nvSpPr>
        <p:spPr>
          <a:xfrm>
            <a:off x="2747772" y="159027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70632" y="161313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290572" y="16802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13432" y="17030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519171" y="196285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42031" y="198571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221992" y="18729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4852" y="18957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359151" y="221979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82011" y="224265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656332" y="274653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79191" y="276939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113532" y="29264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36391" y="29492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296412" y="308056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19272" y="310342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473452" y="311910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96312" y="31419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iluminadas no volume da caixa d'água (render)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ático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Mureta 0,80 m + vidro 1,00 m, perfil Infinity preto (GC1–GC3)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R4 alumínio amêndoa "a definir" · briefing: PVC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Alvenaria/concreto com pintura antirraiz (memorial 17.2)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Volumes bege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R2 pintura Suvinil C164 Ovelha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Araucárias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Preservadas na implantação (memorial 26.3.3)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BATEL SPOT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Sobre marquise metálica preta (render)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Totem casa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Totem iluminado no jardim (render) · não consta no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frontal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h=1,80/2,20 m · briefing: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FRONTAL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fachada frontal é simétrica: faixa central de brises amadeirados entre volumes em tom bege, lajes marcadas e coroamento com o letreiro SEAZONE. Na base, a marquise com BATEL SPOT, o totem da casa e as araucárias preservadas formam a identidade do acesso.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 e fachada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BATELSPOT-AP-ARQ-IMG-GER-002-R03.jpg"/>
          <p:cNvPicPr>
            <a:picLocks noChangeAspect="1"/>
          </p:cNvPicPr>
          <p:nvPr/>
        </p:nvPicPr>
        <p:blipFill>
          <a:blip r:embed="rId4"/>
          <a:srcRect l="9632" r="7881"/>
          <a:stretch>
            <a:fillRect/>
          </a:stretch>
        </p:blipFill>
        <p:spPr>
          <a:xfrm>
            <a:off x="502920" y="1170432"/>
            <a:ext cx="23774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RENDER 002</a:t>
            </a:r>
          </a:p>
        </p:txBody>
      </p:sp>
      <p:sp>
        <p:nvSpPr>
          <p:cNvPr id="13" name="Oval 12"/>
          <p:cNvSpPr/>
          <p:nvPr/>
        </p:nvSpPr>
        <p:spPr>
          <a:xfrm>
            <a:off x="1994964" y="233482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7824" y="235768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418527" y="246092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1387" y="248378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60883" y="276715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83743" y="279001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908499" y="30193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31359" y="30422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239950" y="30193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62810" y="30422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822033" y="32715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44893" y="32944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159130" y="379393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1990" y="381679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764389" y="393804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87249" y="396090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063240" y="1170432"/>
          <a:ext cx="5577840" cy="32004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43000"/>
                <a:gridCol w="347472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Repetido na face lateral do volume da caixa d'água (render)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da cobertura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dos terraços do ático impermeabilizadas com pintura antirraiz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R4 alumínio tonalidade amêndoa "a definir" (PE 11–14) × briefing: PVC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bege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R2 pintura Suvinil C164 Ovelha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Face lateral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R3 efeito cimento queimado Coral Imensidão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preto fosco · J1 200×168 e PJ 200×230 (caderno de esquadrias)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Araucárias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Preservação na implantação; proteger durante a obra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BATEL SPOT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Sobre a marquise do acesso (render)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063240" y="44988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As quatro elevações (PE 11 a 14) repetem os códigos R1 a R4. Nas imagens, as lajes aparecem em cinza e os volumes em bege-rosado: confirmar cores com amostra antes da compra.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Térreo: acesso, marquise e totem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BATELSPOT-AP-ARQ-IMG-GER-008-R03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8288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RENDER 008 (ACESSO)</a:t>
            </a:r>
          </a:p>
        </p:txBody>
      </p:sp>
      <p:sp>
        <p:nvSpPr>
          <p:cNvPr id="13" name="Oval 12"/>
          <p:cNvSpPr/>
          <p:nvPr/>
        </p:nvSpPr>
        <p:spPr>
          <a:xfrm>
            <a:off x="3753612" y="13975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76472" y="14204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113532" y="183437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36391" y="185723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210812" y="22454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33672" y="22683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570732" y="23739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93591" y="23968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741931" y="263091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64791" y="265377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290572" y="22711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13432" y="22940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747772" y="129479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70632" y="131765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284732" y="15517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07592" y="15745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519171" y="309341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42031" y="311627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BATEL SPOT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brancas iluminadas sobre a 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Marquise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Estrutura metálica preta com spots (render) · projeção na implantação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Totem casa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Casa iluminada sobre base preta, no jardim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 de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Perfil metálico + vidro temperado · reconhecimento facial (memorial 15.2)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rampa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perfis pretos (render) · corrimão conforme NBR 9050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com arandelas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Mureta/floreira clara com arandelas de facho duplo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R4 amêndoa sobre os terraços do 2º pavimento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Araucárias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Preservadas no jardim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e piso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Piso claro no acesso · paisagismo conforme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IDENTIDADE DO ACESSO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Marquise, letreiro, totem e iluminação do jardim são a "cara" do empreendimento no lançamento e nenhum deles está detalhado no executivo. Precisam de projeto (estrutura, elétrica e fornecedor) antes do fechamento de fachada.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Brises e guarda-corpos: detalhes do executivo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Detalhamento HS: DT 09/10 (brises BR1 a BR4) e DT 06 a 08/10 (guarda-corpos GC1 a GC3 do ático), rev. 19/08/2025 a 20/03/2026.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2651760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481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51790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 BR1 A BR4</a:t>
            </a:r>
          </a:p>
        </p:txBody>
      </p:sp>
      <p:pic>
        <p:nvPicPr>
          <p:cNvPr id="14" name="Picture 13" descr="06_BOOK_ASSETS__exec_brise.jpg"/>
          <p:cNvPicPr>
            <a:picLocks noChangeAspect="1"/>
          </p:cNvPicPr>
          <p:nvPr/>
        </p:nvPicPr>
        <p:blipFill>
          <a:blip r:embed="rId4"/>
          <a:srcRect l="9537" r="9537"/>
          <a:stretch>
            <a:fillRect/>
          </a:stretch>
        </p:blipFill>
        <p:spPr>
          <a:xfrm>
            <a:off x="640080" y="1828800"/>
            <a:ext cx="237744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BR1 · 95 cm de largura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BR2 · 195 cm · BR3 · 155 cm · BR4 · 135 cm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Altura 248 cm · ripas verticais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2377440" cy="54864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6F7891"/>
                </a:solidFill>
                <a:latin typeface="Arial"/>
              </a:rPr>
              <a:t>OBSERVAÇÃO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R4 alumínio amêndoa "a definir" × briefing PVC: definir antes de fabricar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371600"/>
            <a:ext cx="2651760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83279" y="1481328"/>
            <a:ext cx="219456" cy="219456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151790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GUARDA-CORPOS GC1 A GC3</a:t>
            </a:r>
          </a:p>
        </p:txBody>
      </p:sp>
      <p:pic>
        <p:nvPicPr>
          <p:cNvPr id="22" name="Picture 21" descr="06_BOOK_ASSETS__exec_gc.jpg"/>
          <p:cNvPicPr>
            <a:picLocks noChangeAspect="1"/>
          </p:cNvPicPr>
          <p:nvPr/>
        </p:nvPicPr>
        <p:blipFill>
          <a:blip r:embed="rId5"/>
          <a:srcRect l="16796" r="16796"/>
          <a:stretch>
            <a:fillRect/>
          </a:stretch>
        </p:blipFill>
        <p:spPr>
          <a:xfrm>
            <a:off x="3383279" y="1828800"/>
            <a:ext cx="237744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83279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Mureta de alvenaria h=0,80 m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+ vidro h=1,00 m (total 1,80 m)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Perfil de sobrepor Infinity preto (rev. 02)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4114800"/>
            <a:ext cx="2377440" cy="54864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6052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6F7891"/>
                </a:solidFill>
                <a:latin typeface="Arial"/>
              </a:rPr>
              <a:t>OBSERVAÇÃO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2976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Terraços do ático · briefing: vidro com perfil "U" inox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371600"/>
            <a:ext cx="2651760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0" y="1481328"/>
            <a:ext cx="219456" cy="219456"/>
          </a:xfrm>
          <a:prstGeom prst="ellipse">
            <a:avLst/>
          </a:prstGeom>
          <a:solidFill>
            <a:srgbClr val="B28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151790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B28F36"/>
                </a:solidFill>
                <a:latin typeface="Arial"/>
              </a:rPr>
              <a:t>ESQUADRIAS · LINHA 32</a:t>
            </a:r>
          </a:p>
        </p:txBody>
      </p:sp>
      <p:pic>
        <p:nvPicPr>
          <p:cNvPr id="30" name="Picture 29" descr="06_BOOK_ASSETS__sw_esq.jpg"/>
          <p:cNvPicPr>
            <a:picLocks noChangeAspect="1"/>
          </p:cNvPicPr>
          <p:nvPr/>
        </p:nvPicPr>
        <p:blipFill>
          <a:blip r:embed="rId6"/>
          <a:srcRect t="18220" b="18220"/>
          <a:stretch>
            <a:fillRect/>
          </a:stretch>
        </p:blipFill>
        <p:spPr>
          <a:xfrm>
            <a:off x="6126480" y="1828800"/>
            <a:ext cx="2377440" cy="1371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26480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J1 200×168/62 · J2 60×60/170 maxim-ar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J3 545×110/120 · 4 folhas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PJ1/PJ2 200×230 · PJ3 400×230 · PJ4 245×230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114800"/>
            <a:ext cx="2377440" cy="54864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16052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6F7891"/>
                </a:solidFill>
                <a:latin typeface="Arial"/>
              </a:rPr>
              <a:t>OBSERVAÇÃO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976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PVC ou alumínio anodizado, pintura preto fosco, vidro incolor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Elevações: códigos de acabamento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36210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elev1.jpg"/>
          <p:cNvPicPr>
            <a:picLocks noChangeAspect="1"/>
          </p:cNvPicPr>
          <p:nvPr/>
        </p:nvPicPr>
        <p:blipFill>
          <a:blip r:embed="rId4"/>
          <a:srcRect t="4109" b="6163"/>
          <a:stretch>
            <a:fillRect/>
          </a:stretch>
        </p:blipFill>
        <p:spPr>
          <a:xfrm>
            <a:off x="502920" y="1170432"/>
            <a:ext cx="35661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0116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EXECUTIVO · ELEVAÇÃO 1 (PE 11/14)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0" y="1170432"/>
          <a:ext cx="4434840" cy="336498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548640"/>
                <a:gridCol w="3108960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Efeito cimento queimado Coral · cor Branco Gatinho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11–14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Suvinil · cor C164 Ovelha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11–14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Efeito cimento queimado Coral · cor Imensidão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11–14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em alumínio · tonalidade amêndoa "a definir"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11–14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GC1–GC3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Mureta alvenaria 0,80 m + vidro 1,00 m · perfil Infinity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DT 06–08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BR1–BR4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95 / 195 / 155 / 135 cm × 248 cm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DT 09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J1–J3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Janelas linha 32 preto fosco · J2 maxim-ar · J3 4 folhas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Caderno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PJ1–PJ4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Porta-janelas 200×230 · 400×230 · 245×230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Caderno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P1–P3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Portas de madeira lisas brancas, guarnição 7 cm · P1 com fechadura eletrônica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Caderno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1–3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Vinílico + rodapé 7 cm · porcelanato 90×90 natural · 90×90 antiderrapante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 1–2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Acrílica branco gelo acetinado · porcelanato 90×90 natural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legenda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Teto 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gesso acartonado, pintura branco neve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 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executivo e memorial.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 3D R03)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HS / Memorial R01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 principais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Bege-rosado nas quatro faces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R2 pintura Suvinil C164 Ovelha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Painéis recuados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entre as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R3 cimento queimado Coral Imensidão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de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Cinza, marcando cada pavimento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R1 cimento queimado Coral Branco Gatinho (claro)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verticais amadeiradas em faixas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R4 alumínio amêndoa "a definir" · briefing: PVC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vidro incolor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preto fosco, PVC ou alumínio (caderno · memorial 11)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no ático e terraços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Mureta 0,80 + vidro 1,00, perfil Infinity preto × briefing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pendente nas lajes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Alvenaria/concreto com pintura antirraiz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iluminadas no ático, frente e lateral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Memorial 24: nome na fachada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Marquise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Metálica preta com letreiro BATEL SPOT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Projeção de marquise na implantação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Totem casa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Totem iluminado no jardim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consta no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 frontal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com arandelas e vegetação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1,80/2,20 m · briefing: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Araucárias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Duas araucárias no jardim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Preservadas na implantação (memorial 26.3.3)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 da 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verde com deck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Weekend South Beach azul-turquesa (memorial) × esverdeado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Reservatório / ático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bege-acinzentado com 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R3 no volume da caixa d'água (elevação 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Conceito Seazone  ·  recepção e corredores  ·  ático  ·  terraço e piscina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BATEL SPOT  ·  BOOK DE PREMISSAS DE FACHADA E INTERIORES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prévias HS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Documento "Divergências Interiores (Seazone × HS)", 27/07/2026: a Seazone já criou o projeto de interiores; o escopo da HS é transformá-lo em executivo, sem reinterpretar o design.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7523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560320"/>
                <a:gridCol w="251460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Prévia HS (divergente)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 / hall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(treliça preta + plantas) com letreiro Batel Spot; poltronas terracota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Muxarabi de madeira, parede cinza-escura, poltrona preta/dourada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 · retornar ao conceito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Ático · lounge, copa e jantar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Cobogó bege, ilha faceada em cobogó com tampo preto, mesa preta, cadeiras couro caramelo, pendente esfera dourada, sofá Togo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Muxarabi, mesa oval de madeira, veludo verde, paredes verdes, ilha em pedra escura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 · retornar ao conceito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 dos pavimentos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Cobogó bege claro com piso amadeirado; shafts embutidos no padrão da vedação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Muxarabi de madeira e porcelanato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 · retornar ao conceito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Terraço + 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Pastilha verde, deck de madeira, cadeiras Acapulco pretas, almofadões brancos, guarda-corpo de vidro, 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Fiel ao projeto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 · aprovado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Pendências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Imagem 11 (ático sem adega) não enviada · decisão da Seazone sobre manter a adega fechada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Onde a prévia da HS diverge, vale o conceito Seazone (renders em 10 - Projeto de Interiores / 00 - Projeto Seazone / 02 - Imagens). Não executar muxarabi, paredes verdes nem ilha em pedra escura sem nova validação.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Recepção, hall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Editada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0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874519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COBOGÓ + AMADEIRADO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Corredor: conceito Seazone com cobogó bege e piso amadeirado (documento de divergências). Recepção entregue mobiliada e equipada (memorial 27).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memorial de interiores · briefing · divergências)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Parede-destaque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em treliça metálica preta com plantas + letreiro Batel Spot iluminado (ponto elétrico H 1,20–1,40 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Memorial: destaque Cinza Chumbo e demais Crômio (Suvinil) · briefing: cinza médio e cinza claro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Recepção: Superquadra Concreto Natural 90×90 · corredor: memorial Superquadra × conceito piso amadeirado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acartonado, Suvinil Branco Neve · corredores: forro modular 2,60 m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Poliestireno branco h=7 cm, laca PU, quina viva (memorial e briefing convergem)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Duas poltronas terracota (conceito) × memorial de interiores: poltrona em couro ecológico e metal preto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Spots sobrepostos + perfil de LED na parede · corredores: arandela ao lado de cada porta + trilho nos quadros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 e números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 lisa branca com bandeira até o forro · números soltos pretos com arandela/spot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 em perfil metálico + vidro temperado · reconhecimento facial Intelbras SS 3532 MF ou similar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Ático: lounge, copa e jantar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ditada_01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ÁTICO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3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ILHA FACEADA EM COBOGÓ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Indicações 01, 02 e 03 (00 - Premissas de Projeto) marcam exatamente o cobogó, a ilha e o trilho de iluminação desta imagem.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memorial de interiores · briefing · divergências)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Divisória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Cobogó bege (conceito e memorial de interiores: parede em cobogó da ilha, 3,5 m³) × memorial R01: muxarabi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Ilha / bar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Faceada em cobogó com tampo em granito São Gabriel polido · pontos elétricos e hidráulicos saindo do piso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Vinílico em réguas Carvalho Natural Claro (memorial R01 e conceito) × briefing: porcelanato que imita madeira 120×20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Gerais Ouro Branco fosco · destaque Cinza Chumbo (memorial) · briefing: cinza médio setorizado parede/teto + cinza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acartonado Branco Neve, pintura setorizada conforme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Mesa retangular preta, cadeiras couro caramelo, sofá Togo couro preto, puffs (conceito Seazone)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Frapê e Nogueira Persa com metal preto fosco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 esfera trançada dourada + trilho de spots · arandelas Monaco facho duplo na área externa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Adega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Manter ou não o espaço fechado: decisão da Seazone pendente ·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Terraço e piscina do ático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ditada_06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7830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PISCINA (APROVADO)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ditada_05.jpg"/>
          <p:cNvPicPr>
            <a:picLocks noChangeAspect="1"/>
          </p:cNvPicPr>
          <p:nvPr/>
        </p:nvPicPr>
        <p:blipFill>
          <a:blip r:embed="rId5"/>
          <a:srcRect t="191" b="191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TERRAÇO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Terraço e piscina são o único ambiente aprovado nas prévias HS: pode avançar para o executivo seguindo estas imagens.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memorial de interiores · briefing · divergências)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Revestimento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Pastilha verde nas imagens · memorial: Portobello Weekend South Beach azul-turquesa · briefing: esverdeado 20×20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 / banco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Memorial: mesmo revestimento da piscina · briefing: porcelanato que imita madeira 120×20 · imagem: deck de madeira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Rejunte e escada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Epóxi Cinza Platina (Portobello) · escada/barra de apoio em aço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 20.8: bomba de calor × briefing: aquecimento solar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do terraço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Superquadra Concreto Natural 90×90 (memorial) · briefing: porcelanato 90×90 antiderrapante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Mureta alvenaria 0,80 m + vidro 1,00 m, perfil Infinity preto (GC1–GC3)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Poltronas Acapulco pretas, espreguiçadeiras, almofadões brancos, balanço instalado na laje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Pontos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Logo Seazone iluminado H 1,40 m · tomadas no banco de concreto e junto às mesas e fire places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Impermeabilização com pintura antirraiz e teste de estanqueidade (memorial 17.2)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A__Editada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TIPOLOGIA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A__Editada_01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E ACESSO · TIPOLOGIA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Reforço para TV no teto (briefing): 104, 113, 114, 115, 201, 212, 301, 312, 401, 412, 501, 512, 601, 612, 701, 712, 801 e 812. Tipologias A a I com imagens, plantas humanizadas e panoramas.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executivo · briefing ·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Vinílico em réguas Carvalho Natural Claro + rodapé poliestireno branco 7 cm (memorial, legenda PE e briefing convergem)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Acrílica branco gelo acetinado (PE e briefing) × memorial 26.2.1: Suvinil Branco Neve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Paredes: Cetim Bianco 30×60 (memorial) × porcelanato 90×90 natural (PE e briefing) · piso Superquadra 90×90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acartonado Branco Neve fosco · copa e BWC pé-direito 2,50 m · evitar rebaixos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 e vidros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preto fosco · BWC: mini boreal (memorial) × jateado (briefing)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7 cm, fechadura eletrônica Intelbras MFV 3000 ou similar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Grafito Chess, Rícori Nativo e Cinza Cristal com metal preto fosco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na copa e no banheiro · cuba de sobrepor branca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Não incluso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Mobiliário, marcenaria, cuba e metais da copa, eletros, luminárias, A/C (só infra), box e chuveiro (memorial 28)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dos renders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obogo.jpg"/>
          <p:cNvPicPr>
            <a:picLocks noChangeAspect="1"/>
          </p:cNvPicPr>
          <p:nvPr/>
        </p:nvPicPr>
        <p:blipFill>
          <a:blip r:embed="rId4"/>
          <a:srcRect t="17263" b="17263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Cobogó bege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divisória e face da ilha do ático; corredores (conceito Seazone).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bloco vazado bege (divergências 27/07/2026) · memorial de interiores: parede em cobogó da ilha.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memorial R01 descreve muxarabi: não executar muxarabi. A VALIDAR com Projetos.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jardim.jpg"/>
          <p:cNvPicPr>
            <a:picLocks noChangeAspect="1"/>
          </p:cNvPicPr>
          <p:nvPr/>
        </p:nvPicPr>
        <p:blipFill>
          <a:blip r:embed="rId5"/>
          <a:srcRect t="10727" b="10727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Jardim vertical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parede-destaque da recepção, com letreiro Batel Spot.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treliça metálica preta com plantas (conceito) · memorial de interiores: metal preto fosco na parede.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detalhar fixação, irrigação, impermeabilização e iluminação (divergências).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vinilico.jpg"/>
          <p:cNvPicPr>
            <a:picLocks noChangeAspect="1"/>
          </p:cNvPicPr>
          <p:nvPr/>
        </p:nvPicPr>
        <p:blipFill>
          <a:blip r:embed="rId6"/>
          <a:srcRect l="26138" r="2613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Vinílico Carvalho Natural Claro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unidades e ático interno.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vinílico em réguas, tonalidade amadeirada clara, fosco (memorial 26) · rodapé branco 7 cm.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ático: briefing marca porcelanato madeira 120×20 × vinílico do memorial.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superquadra.jpg"/>
          <p:cNvPicPr>
            <a:picLocks noChangeAspect="1"/>
          </p:cNvPicPr>
          <p:nvPr/>
        </p:nvPicPr>
        <p:blipFill>
          <a:blip r:embed="rId7"/>
          <a:srcRect l="30881" r="30881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Superquadra Concreto Natural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recepção, hall, terraço externo e banheiros.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retificado 90×90 Portobello (memorial 26) · briefing: 90×90 natural/acetinado.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peças &gt; 40×40 com argamassa no tardoz; corredor pode ser amadeirado (conceito).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saogabriel.jpg"/>
          <p:cNvPicPr>
            <a:picLocks noChangeAspect="1"/>
          </p:cNvPicPr>
          <p:nvPr/>
        </p:nvPicPr>
        <p:blipFill>
          <a:blip r:embed="rId8"/>
          <a:srcRect l="11982" r="1198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das unidades, dos WCs comuns e ilha do ático.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São Gabriel polido, espessura conforme detalhamento (memorial 26).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bancadas das unidades não são instaladas pela construtora (memorial 28): deixar pontos.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aredeescura.jpg"/>
          <p:cNvPicPr>
            <a:picLocks noChangeAspect="1"/>
          </p:cNvPicPr>
          <p:nvPr/>
        </p:nvPicPr>
        <p:blipFill>
          <a:blip r:embed="rId9"/>
          <a:srcRect t="36890" b="3689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Parede escura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parede-destaque da recepção e do ático.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Suvinil Cinza Chumbo (memorial) · briefing: cinza médio setorizado.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cor única com o conceito antes da compra; aprovar amostra.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dos renders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astilha.jpg"/>
          <p:cNvPicPr>
            <a:picLocks noChangeAspect="1"/>
          </p:cNvPicPr>
          <p:nvPr/>
        </p:nvPicPr>
        <p:blipFill>
          <a:blip r:embed="rId4"/>
          <a:srcRect l="33627" r="33627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Pastilha da piscina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do ático.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memorial: Weekend South Beach azul-turquesa · briefing: esverdeado 20×20 · rejunte epóxi cinza platina.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imagem aprovada mostra pastilha verde: fechar referência antes do pedido.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deck.jpg"/>
          <p:cNvPicPr>
            <a:picLocks noChangeAspect="1"/>
          </p:cNvPicPr>
          <p:nvPr/>
        </p:nvPicPr>
        <p:blipFill>
          <a:blip r:embed="rId5"/>
          <a:srcRect l="34742" r="34742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de madeira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borda/banco da piscina e gardens das unidades.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deck de madeira nos gardens (briefing) · borda: porcelanato que imita madeira 120×20 (briefing).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memorial não especifica deck: definir material e fixação sobre a impermeabilização.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cori.jpg"/>
          <p:cNvPicPr>
            <a:picLocks noChangeAspect="1"/>
          </p:cNvPicPr>
          <p:nvPr/>
        </p:nvPicPr>
        <p:blipFill>
          <a:blip r:embed="rId6"/>
          <a:srcRect t="25385" b="2538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Rícori Nativo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cabeceira, nichos e marcenaria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Rícori Nativo com metal preto fosco (memorial de interiores).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escopo Decor: prever pontos de LED da cabeceira H 1,10 m (briefing).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grafito.jpg"/>
          <p:cNvPicPr>
            <a:picLocks noChangeAspect="1"/>
          </p:cNvPicPr>
          <p:nvPr/>
        </p:nvPicPr>
        <p:blipFill>
          <a:blip r:embed="rId7"/>
          <a:srcRect t="6450" b="645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Grafito Chess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balcão da copa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Grafito Chess, Rícori Nativo e metal preto fosco (memorial de interiores).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cooktop e frigobar com ponto a 60 cm (eixo), centralizado no nicho (briefing).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couro.jpg"/>
          <p:cNvPicPr>
            <a:picLocks noChangeAspect="1"/>
          </p:cNvPicPr>
          <p:nvPr/>
        </p:nvPicPr>
        <p:blipFill>
          <a:blip r:embed="rId8"/>
          <a:srcRect t="15846" b="1584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Couro caramelo / terracota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cadeiras do ático e poltronas da recepção.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couro caramelo/laranja no ático · poltronas terracota na recepção (conceito Seazone).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prévia HS trocou por veludo verde e poltrona preta/dourada: seguir o conceito.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endente.jpg"/>
          <p:cNvPicPr>
            <a:picLocks noChangeAspect="1"/>
          </p:cNvPicPr>
          <p:nvPr/>
        </p:nvPicPr>
        <p:blipFill>
          <a:blip r:embed="rId9"/>
          <a:srcRect t="18573" b="18573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Pendente esfera dourada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mesa do ático.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pendente esfera trançada dourada + trilho de spots (conceito · Indicação 03).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interruptor separado para o pendente central (briefing).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Renders de interiores Seazone × Memorial R01, legenda do executivo HS, memorial de interiores e briefing.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Conceito Seazone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Memorial R01 / executivo / briefing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Vinílico Carvalho Natural Claro + rodapé branco 7 cm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Branco/off-white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(PE, briefing) × Branco Neve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Banheiros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Cetim Bianco 30×60 (memorial) × 90×90 natural (PE, 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preta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+ 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Metal preto fosco na parede (interiores) · prévia HS com muxarabi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poltronas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Terracota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Couro ecológico e metal preto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Cobogó bege + piso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Superquadra 90×90 e pintura Crômio (memorial) · briefing Outono Gelado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Ático · divisória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Cobogó bege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 (memorial R01) × cobogó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Ático · 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Vinílico madeira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Vinílico (memorial) × porcelanato madeira 120×20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Ático · ilha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Cobogó + tampo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na ilha · pontos saindo do 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Azul-turquesa (memorial) × 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Aquecimento 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Bomba de calor (memorial) × solar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 lisas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porta pronta branca, guarnição 7 cm (caderno, memorial, 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Adega do ático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Fechada (render)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Decisão da Seazone pendente (divergências)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 E INDICAÇÕES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e indicações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Premissas marcadas no Briefing de Projeto  ·  indicações ilustradas  ·  cruzamento com 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BATEL SPOT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 E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ilustradas (BATEL - INDICAÇÕES)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 documento de indicações (00 - Premissas de Projeto, 06/07/2025) traz apenas imagens com setas, sem texto. A leitura abaixo descreve o que está marcado; confirmar o pedido com Projetos.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d_imgs__Indicação_01_e_02_1.jpg"/>
          <p:cNvPicPr>
            <a:picLocks noChangeAspect="1"/>
          </p:cNvPicPr>
          <p:nvPr/>
        </p:nvPicPr>
        <p:blipFill>
          <a:blip r:embed="rId4"/>
          <a:srcRect l="15209" r="15209"/>
          <a:stretch>
            <a:fillRect/>
          </a:stretch>
        </p:blipFill>
        <p:spPr>
          <a:xfrm>
            <a:off x="576072" y="1399032"/>
            <a:ext cx="1819656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01/02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Cobogó e ilha do 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Setas no painel de cobogó e na face da ilha faceada em cobogó (render do ático): manter cobogó como no conceito Seazone.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nd_imgs__Indicação_03_2.jpg"/>
          <p:cNvPicPr>
            <a:picLocks noChangeAspect="1"/>
          </p:cNvPicPr>
          <p:nvPr/>
        </p:nvPicPr>
        <p:blipFill>
          <a:blip r:embed="rId5"/>
          <a:srcRect l="18206" r="18206"/>
          <a:stretch>
            <a:fillRect/>
          </a:stretch>
        </p:blipFill>
        <p:spPr>
          <a:xfrm>
            <a:off x="2633472" y="1399032"/>
            <a:ext cx="1819656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6334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Trilho sobre a mesa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Seta no trilho de iluminação acima da mesa de jantar do ático, junto ao pendente dourado.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nd_imgs__Indicação_04_3.jpg"/>
          <p:cNvPicPr>
            <a:picLocks noChangeAspect="1"/>
          </p:cNvPicPr>
          <p:nvPr/>
        </p:nvPicPr>
        <p:blipFill>
          <a:blip r:embed="rId6"/>
          <a:srcRect t="23042" b="34563"/>
          <a:stretch>
            <a:fillRect/>
          </a:stretch>
        </p:blipFill>
        <p:spPr>
          <a:xfrm>
            <a:off x="4690872" y="1399032"/>
            <a:ext cx="1819656" cy="14173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908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Parede da unidade final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Marcação na parede lateral da planta humanizada da unidade final 11 (25,28 m²). Confirmar o pedido com Projetos.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nd_imgs__Indicação_05_4.jpg"/>
          <p:cNvPicPr>
            <a:picLocks noChangeAspect="1"/>
          </p:cNvPicPr>
          <p:nvPr/>
        </p:nvPicPr>
        <p:blipFill>
          <a:blip r:embed="rId7"/>
          <a:srcRect t="6377" b="9566"/>
          <a:stretch>
            <a:fillRect/>
          </a:stretch>
        </p:blipFill>
        <p:spPr>
          <a:xfrm>
            <a:off x="6748272" y="1399032"/>
            <a:ext cx="1819656" cy="14173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7482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Faixa frontal do térreo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456432"/>
            <a:ext cx="18196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Área marcada em vermelho na planta do térreo, na faixa frontal junto aos terraços descobertos. Confirmar o pedido com Projetos.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 E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executivo: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no Briefing de Projeto (planilha, coluna "Conferência") × executivo HS e Memorial R01.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210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memoriais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R4 brise em alumínio amêndoa (PE,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inox, sem alumínio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Mureta 0,80 + vidro 1,00 · perfil Infinity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(gold), PVC ou alumínio, preto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preto fosco (caderno, memorial 11)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1,80/2,20 m · cor não especificada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e rooftop em gesso 2,60 m · corredores modular 2,60 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Gesso acartonado Branco Neve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cinza médio/claro · rooftop cinza médio setorizado · corredores Outono Gelado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Crômio, Cinza Chumbo e Ouro Branco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Vinílico + rodapé branco 7 cm, quina viva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Vinílico Carvalho Natural Claro (memorial, PE)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comum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e corredores 90×90 · rooftop porcelanato madeira 120×20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Superquadra 90×90 · ático vinílico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Cetim Bianco 30×60 (memorial) · 90×90 (PE)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Acrílica branco gelo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(PE) × Branco Neve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Azul-turquesa · bomba de calor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Gardens e 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de madeira nos gardens · borda da piscina em porcelanato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 no memorial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Vidros do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Jateado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Mini boreal (memorial 16 e 26.2.2)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7 cm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P1–P3 madeira lisa branca (caderno)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Instalado diretamente na laje (rooftop externo)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 no 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Reforço de TV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 unidades com suporte de TV no 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indicado nas pranchas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BATEL SPOT  ·  BOOK DE PREMISSAS DE FACHADA E INTERIORES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CORES E TEXTURAS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R1 e R3 são efeito cimento queimado Coral: amostra aprovada em painel antes da compra.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Render mostra lajes cinza e executivo pede R1 Branco Gatinho: validar.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Pintura externa sempre sobre textura ou massa acrílica (memorial 23.2).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R4 amêndoa ainda "a definir" no executivo; briefing marca PVC.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Módulos BR1 a BR4 com 95, 195, 155 e 135 cm × 248 cm (DT 09).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fabricar antes de fechar material, cor e fixação.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GUARDA-CORPOS E ESQUADRIAS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GC1–GC3: mureta 0,80 m + vidro 1,00 m com perfil Infinity preto.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Linha 32 preto fosco; contramarco antes do reboco; boneca mínima 10 cm.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instalado sobre sacada acabada (impermeabilização + revestimento).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DO ACESSO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Letreiros SEAZONE e BATEL SPOT, marquise e totem sem detalhe no executivo.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Prever pontos elétricos e estrutura antes do revestimento da fachada.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cor Seazone, logo e nome (briefing).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o conceito Seazone: cobogó, jardim vertical, couro caramelo, pendente dourado.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executar muxarabi nem paredes verdes das prévias HS.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Terraço e piscina aprovados: podem seguir para o executivo.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ARAUCÁRIAS E PAISAGISMO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Preservar as araucárias do jardim frontal durante toda a obra.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com pintura antirraiz e teste de estanqueidade.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Paisagismo e iluminação do jardim conforme projeto específico.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EXECUTIVO)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Volumes em R2 Suvinil Ovelha e painéis em R3 cimento queimado Imensidão Cinza.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Faixas verticais de brises em frente às janelas (material: A VALIDAR).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linha 32 preto fosco com vidro incolor.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de fachada com vegetação e araucárias preservadas.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Piso vinílico amadeirado claro nas unidades, rodapé branco 7 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Bancadas em granito São Gabriel polido; portas brancas lisas.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Terraço e piscina conforme conceito Seazone aprovado.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 com jardim vertical e letreiro Batel Spot (conceito Seazone).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(R1, R2, R3, brise, pastilha da piscina) aprovadas no local, com registro fotográfico.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Interiores: vale o conceito Seazone sobre as prévias HS (documento de divergências de 27/07/2026).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prancha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(1.23 - [3299] BATEL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08 - Projeto Arquitetônico / 07 - Projeto Executivo / 02 - Executivo (PE 11–14, DT 06–09)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05 - Imagens 3D (R03) · 10 - Projeto de Interiores / 00 - Projeto Seazone / 02 - Imagens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 (R01) · 10 - Projeto de Interiores / 03 - Memorial descritivo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Briefing e BATEL - INDICAÇÕES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BATEL SPOT  ·  BOOK DE PREMISSAS DE FACHADA E INTERIORES  ·  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SEAZONE no ático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Detalhe, material, iluminação e fixação no volume da caixa d'água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Marquise e letreiro BATEL SPOT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Estrutura metálica, letras, iluminação e pontos elétricos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Totem casa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Fornecedor, base, fixação e ponto elétrico no jardim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 (R4)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(alumínio × PVC do briefing) e cor amêndoa "a definir"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de laje (R1)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Gatinho do executivo × cinza das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Perfil Infinity preto com mureta × vidro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 frontal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Seazone com logo e nome (briefing) × muro claro das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e poltronas terracota × metal preto e couro ecológico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Cobogó bege + piso amadeirado (conceito) × Superquadra e pintura Crômio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Ático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Cobogó (conceito) × muxarabi (memorial R01) · piso vinílico × porcelanato 120×20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Adega do ático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Manter ou não o espaço fechado (decisão Seazone) · imagem 11 da HS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Pastilha: azul-turquesa × esverdeado · aquecimento: bomba de calor ×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dos banheiros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Cetim Bianco 30×60 (memorial) × porcelanato 90×90 (PE e 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(PE e briefing) × Branco Neve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Vidros dos banheiros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Mini boreal (memorial) × jateado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 e borda da 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de madeira nos gardens e borda em porcelanato madeira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Indicações 04 e 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Documento só com imagens: registrar o pedido por escrito com Projetos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Reforço de TV e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 unidades com TV no teto e balanço na laje: incluir no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BATEL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BATEL SPOT  ·  BOOK DE PREMISSAS DE FACHADA E INTERIORES  ·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