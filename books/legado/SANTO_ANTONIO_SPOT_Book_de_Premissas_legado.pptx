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7"/>
    <p:sldId id="274" r:id="rId6"/>
    <p:sldId id="275" r:id="rId5"/>
    <p:sldId id="276" r:id="rId4"/>
    <p:sldId id="277" r:id="rId3"/>
    <p:sldId id="278" r:id="rId2"/>
    <p:sldId id="279" r:id="rId31"/>
    <p:sldId id="280" r:id="rId32"/>
    <p:sldId id="281" r:id="rId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oline Vieira Montedo" initials="" lastIdx="3" clrIdx="0"/>
  <p:cmAuthor id="1" name="Rachel Souto Hudson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9DEEBB-5512-44E8-9C8E-75C5AFC50D94}">
  <a:tblStyle styleId="{D79DEEBB-5512-44E8-9C8E-75C5AFC50D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3.xml"/><Relationship Id="rId3" Type="http://schemas.openxmlformats.org/officeDocument/2006/relationships/slide" Target="slides/slide22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5.jpg"/><Relationship Id="rId5" Type="http://schemas.openxmlformats.org/officeDocument/2006/relationships/image" Target="../media/image2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29.jpg"/><Relationship Id="rId8" Type="http://schemas.openxmlformats.org/officeDocument/2006/relationships/image" Target="../media/image3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03_IMAGENS_FINAIS__03.jpg"/>
          <p:cNvPicPr>
            <a:picLocks noChangeAspect="1"/>
          </p:cNvPicPr>
          <p:nvPr/>
        </p:nvPicPr>
        <p:blipFill>
          <a:blip r:embed="rId2"/>
          <a:srcRect l="484" r="484"/>
          <a:stretch>
            <a:fillRect/>
          </a:stretch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45720" cy="514350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1783080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847088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Santo Antônio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448056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FB0D4"/>
                </a:solidFill>
                <a:latin typeface="Arial"/>
              </a:rPr>
              <a:t>Lançamento  ×  Projeto  ·  Fachada  ·  Interiores</a:t>
            </a:r>
          </a:p>
          <a:p>
            <a:pPr algn="l">
              <a:spcAft>
                <a:spcPts val="400"/>
              </a:spcAft>
            </a:pPr>
            <a:r>
              <a:rPr sz="750" b="0">
                <a:solidFill>
                  <a:srgbClr val="8FA3CC"/>
                </a:solidFill>
                <a:latin typeface="Arial"/>
              </a:rPr>
              <a:t>Base: imagens de lançamento (R03 imagens finais) · Anteprojeto C2 Arquitetura rev7 (pasta pré-executivo, 04/04/2025) · Projeto Legal aprovado (30/07/2026) · Memorial Descritivo · Premissas de Projeto · Indicações · interiores Seazone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342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FA3CC"/>
                </a:solidFill>
                <a:latin typeface="Arial"/>
              </a:rPr>
              <a:t>Rodovia Gilson da Costa Xavier · Santo Antônio de Lisboa · Florianópolis/SC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44805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DOCUMENTO TÉCNICO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objetivo deste material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Consolidar as premissas de </a:t>
            </a:r>
            <a:r>
              <a:rPr sz="750" b="1">
                <a:solidFill>
                  <a:srgbClr val="333333"/>
                </a:solidFill>
                <a:latin typeface="Arial"/>
              </a:rPr>
              <a:t>fachada e interiores</a:t>
            </a:r>
            <a:r>
              <a:rPr sz="750" b="0">
                <a:solidFill>
                  <a:srgbClr val="333333"/>
                </a:solidFill>
                <a:latin typeface="Arial"/>
              </a:rPr>
              <a:t> do Santo Antônio Spot a partir da leitura cruzada entre as </a:t>
            </a:r>
            <a:r>
              <a:rPr sz="750" b="1">
                <a:solidFill>
                  <a:srgbClr val="333333"/>
                </a:solidFill>
                <a:latin typeface="Arial"/>
              </a:rPr>
              <a:t>imagens de lançamento</a:t>
            </a:r>
            <a:r>
              <a:rPr sz="750" b="0">
                <a:solidFill>
                  <a:srgbClr val="333333"/>
                </a:solidFill>
                <a:latin typeface="Arial"/>
              </a:rPr>
              <a:t>, o </a:t>
            </a:r>
            <a:r>
              <a:rPr sz="750" b="1">
                <a:solidFill>
                  <a:srgbClr val="333333"/>
                </a:solidFill>
                <a:latin typeface="Arial"/>
              </a:rPr>
              <a:t>anteprojeto da C2 Arquitetura</a:t>
            </a:r>
            <a:r>
              <a:rPr sz="750" b="0">
                <a:solidFill>
                  <a:srgbClr val="333333"/>
                </a:solidFill>
                <a:latin typeface="Arial"/>
              </a:rPr>
              <a:t>, o briefing de premissas e o projeto de interiores da Seazone: o que a imagem vendeu, o que o projeto traz e o que validar antes da compra.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" y="2139696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4883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Leitura da fachada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5798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 que compõe cada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32303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2468879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7802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Mapa de texturas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8716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· 12 elementos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61487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2798063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807207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Vistas especificadas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816351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frente e conjunto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90672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" y="3127248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136391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Projeto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4553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elevação sem legenda de material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19856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" y="3456432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465575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Lançamento × projeto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4747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e interiores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49039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3785615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79475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Interiores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803903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recepção, rooftop, unidades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78224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4114800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1239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Briefing de projeto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133087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opções marcadas × projeto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407408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4443984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4531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Pontos de atenção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4622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travadas ·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128016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AO ABRIR ESTE BOOK, OBRAS DEVE CONSEGUIR RESPONDER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1636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15727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as imagens de lançamento mostram na fachada?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196596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1901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o projeto especifica e o que falta?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29514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22311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o revestimento das paredes e dos pilares?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2624327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Como são o ripado, o forro de madeira e o pergolado?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295351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19472" y="28895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o conceito de interiores que deve ser seguido?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3282695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32186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não pode ser alterado sem validação?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611879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19472" y="35478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pontos ainda precisam ser validados?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02336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8FA3CC"/>
                </a:solidFill>
                <a:latin typeface="Arial"/>
              </a:rPr>
              <a:t>Regra do material: nenhuma informação foi inventada. Fontes (1.27 - [3656] Santo Antônio Spot / 02 - Projetos): 08 - Projeto Arquitetônico (imagens 3D, anteprojeto, legal, interiores), 09 - Memorial Descritivo e 00 - Premissas de Projeto. Não há executivo nem planilha de conferência para este Spot. Índices urbanísticos, áreas e custos não fazem parte deste 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e especificações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Leitura geral  ·  mapa de texturas  ·  vistas com marcação  ·  lançamento ×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SANTO ANTÔNIO SPOT  ·  BOOK DE PREMISSAS DE FACHADA E INTERIORES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Leitura geral: o que compõe a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907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03_IMAGENS_FINAIS__01.jpg"/>
          <p:cNvPicPr>
            <a:picLocks noChangeAspect="1"/>
          </p:cNvPicPr>
          <p:nvPr/>
        </p:nvPicPr>
        <p:blipFill>
          <a:blip r:embed="rId4"/>
          <a:srcRect l="152" r="152"/>
          <a:stretch>
            <a:fillRect/>
          </a:stretch>
        </p:blipFill>
        <p:spPr>
          <a:xfrm>
            <a:off x="502920" y="1170432"/>
            <a:ext cx="5074920" cy="2852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FRENTE</a:t>
            </a:r>
          </a:p>
        </p:txBody>
      </p:sp>
      <p:sp>
        <p:nvSpPr>
          <p:cNvPr id="13" name="Oval 12"/>
          <p:cNvSpPr/>
          <p:nvPr/>
        </p:nvSpPr>
        <p:spPr>
          <a:xfrm>
            <a:off x="2755544" y="157990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78404" y="160276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400300" y="139446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23160" y="141731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2501798" y="170828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24658" y="173114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603296" y="197931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26156" y="200217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171928" y="217901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94788" y="220187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3060039" y="226460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082899" y="228746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298801" y="269254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321661" y="271540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3948150" y="300636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71010" y="302922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1943557" y="274960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966417" y="277246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776325" y="340577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9185" y="342863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1170432"/>
            <a:ext cx="288036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124358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LEGENDA</a:t>
            </a:r>
          </a:p>
        </p:txBody>
      </p:sp>
      <p:sp>
        <p:nvSpPr>
          <p:cNvPr id="35" name="Oval 34"/>
          <p:cNvSpPr/>
          <p:nvPr/>
        </p:nvSpPr>
        <p:spPr>
          <a:xfrm>
            <a:off x="5897880" y="148132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146304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Floreira do rooftop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vegetação contínua na borda</a:t>
            </a:r>
          </a:p>
        </p:txBody>
      </p:sp>
      <p:sp>
        <p:nvSpPr>
          <p:cNvPr id="37" name="Oval 36"/>
          <p:cNvSpPr/>
          <p:nvPr/>
        </p:nvSpPr>
        <p:spPr>
          <a:xfrm>
            <a:off x="5897880" y="181051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179222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Guarda-corpo do rooftop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vidro com montante preto</a:t>
            </a:r>
          </a:p>
        </p:txBody>
      </p:sp>
      <p:sp>
        <p:nvSpPr>
          <p:cNvPr id="39" name="Oval 38"/>
          <p:cNvSpPr/>
          <p:nvPr/>
        </p:nvSpPr>
        <p:spPr>
          <a:xfrm>
            <a:off x="5897880" y="213969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212140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Forro de madeira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face inferior das lajes em balanço</a:t>
            </a:r>
          </a:p>
        </p:txBody>
      </p:sp>
      <p:sp>
        <p:nvSpPr>
          <p:cNvPr id="41" name="Oval 40"/>
          <p:cNvSpPr/>
          <p:nvPr/>
        </p:nvSpPr>
        <p:spPr>
          <a:xfrm>
            <a:off x="5897880" y="246888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245059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Ripado vertical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madeira em frente às janelas</a:t>
            </a:r>
          </a:p>
        </p:txBody>
      </p:sp>
      <p:sp>
        <p:nvSpPr>
          <p:cNvPr id="43" name="Oval 42"/>
          <p:cNvSpPr/>
          <p:nvPr/>
        </p:nvSpPr>
        <p:spPr>
          <a:xfrm>
            <a:off x="5897880" y="2798064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277977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Pilares em placas claras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aspecto de pedra/concreto</a:t>
            </a:r>
          </a:p>
        </p:txBody>
      </p:sp>
      <p:sp>
        <p:nvSpPr>
          <p:cNvPr id="45" name="Oval 44"/>
          <p:cNvSpPr/>
          <p:nvPr/>
        </p:nvSpPr>
        <p:spPr>
          <a:xfrm>
            <a:off x="5897880" y="312724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10896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Guarda-corpo das sacadas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vidro com corrimão preto</a:t>
            </a:r>
          </a:p>
        </p:txBody>
      </p:sp>
      <p:sp>
        <p:nvSpPr>
          <p:cNvPr id="47" name="Oval 46"/>
          <p:cNvSpPr/>
          <p:nvPr/>
        </p:nvSpPr>
        <p:spPr>
          <a:xfrm>
            <a:off x="5897880" y="345643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343814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Esquadrias pretas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caixilho quadriculado</a:t>
            </a:r>
          </a:p>
        </p:txBody>
      </p:sp>
      <p:sp>
        <p:nvSpPr>
          <p:cNvPr id="49" name="Oval 48"/>
          <p:cNvSpPr/>
          <p:nvPr/>
        </p:nvSpPr>
        <p:spPr>
          <a:xfrm>
            <a:off x="5897880" y="3785615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376732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Letreiro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SANTO ANTÔNIO SPOT em relevo</a:t>
            </a:r>
          </a:p>
        </p:txBody>
      </p:sp>
      <p:sp>
        <p:nvSpPr>
          <p:cNvPr id="51" name="Oval 50"/>
          <p:cNvSpPr/>
          <p:nvPr/>
        </p:nvSpPr>
        <p:spPr>
          <a:xfrm>
            <a:off x="5897880" y="411480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409651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Paredes em concreto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textura cinza nas empenas</a:t>
            </a:r>
          </a:p>
        </p:txBody>
      </p:sp>
      <p:sp>
        <p:nvSpPr>
          <p:cNvPr id="53" name="Oval 52"/>
          <p:cNvSpPr/>
          <p:nvPr/>
        </p:nvSpPr>
        <p:spPr>
          <a:xfrm>
            <a:off x="5897880" y="4443983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442569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Muro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textura rústica cinza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411480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A frente vendida tem três pavimentos com pilares claros, ripado e forro de madeira sob as lajes, guarda-corpos de vidro e esquadrias pretas. O térreo é envidraçado, com o letreiro sobre a marquise, e o rooftop tem floreira contínua.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(1/2)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 (R03): referência visual, não substitui amostra física. O anteprojeto não traz legenda de material.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pilar.jpg"/>
          <p:cNvPicPr>
            <a:picLocks noChangeAspect="1"/>
          </p:cNvPicPr>
          <p:nvPr/>
        </p:nvPicPr>
        <p:blipFill>
          <a:blip r:embed="rId4"/>
          <a:srcRect t="40211" b="40211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Pilares em placas claras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pilares e montantes da fachada frontal.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placas claras com veios, aspecto de pedra · anteprojeto: sem especificação · memorial: revestimento conforme projeto.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material e paginação. PENDENTE.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concreto.jpg"/>
          <p:cNvPicPr>
            <a:picLocks noChangeAspect="1"/>
          </p:cNvPicPr>
          <p:nvPr/>
        </p:nvPicPr>
        <p:blipFill>
          <a:blip r:embed="rId5"/>
          <a:srcRect t="37119" b="37119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Concreto cinza texturizado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empenas e paredes laterais.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textura cinza · briefing: área externa com pintura seguindo o conceito da fachada.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produto e cor. PENDENTE.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ripado.jpg"/>
          <p:cNvPicPr>
            <a:picLocks noChangeAspect="1"/>
          </p:cNvPicPr>
          <p:nvPr/>
        </p:nvPicPr>
        <p:blipFill>
          <a:blip r:embed="rId6"/>
          <a:srcRect t="36427" b="36427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Ripado vertical de madeira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frente das janelas das unidades.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ripas verticais de madeira · anteprojeto: indica "madeira" · briefing: brises em PVC · memorial: madeira ou móveis.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material em disputa (madeira × PVC).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forro.jpg"/>
          <p:cNvPicPr>
            <a:picLocks noChangeAspect="1"/>
          </p:cNvPicPr>
          <p:nvPr/>
        </p:nvPicPr>
        <p:blipFill>
          <a:blip r:embed="rId7"/>
          <a:srcRect l="24214" r="24214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Forro de madeira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face inferior das lajes em balanço.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forro amadeirado com spots embutidos · sem especificação no projeto.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material resistente a intempérie. PENDENTE.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esq.jpg"/>
          <p:cNvPicPr>
            <a:picLocks noChangeAspect="1"/>
          </p:cNvPicPr>
          <p:nvPr/>
        </p:nvPicPr>
        <p:blipFill>
          <a:blip r:embed="rId8"/>
          <a:srcRect l="2209" r="2209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Esquadrias pretas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térreo e unidades.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caixilho preto quadriculado · briefing: linha 32 gold com perfil preto; comuns em preto fosco.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o briefing. DEFINIDO.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gc.jpg"/>
          <p:cNvPicPr>
            <a:picLocks noChangeAspect="1"/>
          </p:cNvPicPr>
          <p:nvPr/>
        </p:nvPicPr>
        <p:blipFill>
          <a:blip r:embed="rId9"/>
          <a:srcRect l="17913" r="17913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Guarda-corpo de vidro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sacadas e rooftop.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vidro com corrimão preto · briefing privativo: alumínio anodizado com montante aparente · comum: vidro com perfil "U" inox.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modelo nas sacadas. A VALIDAR.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(2/2)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 (R03): referência visual, não substitui amostra física. Especificação: briefing, memorial e anteprojeto.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pergolado.jpg"/>
          <p:cNvPicPr>
            <a:picLocks noChangeAspect="1"/>
          </p:cNvPicPr>
          <p:nvPr/>
        </p:nvPicPr>
        <p:blipFill>
          <a:blip r:embed="rId4"/>
          <a:srcRect l="41663" r="41663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Pergolado de madeira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rooftop, sobre a piscina.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pilares e vigas de madeira com vegetação · memorial: aço corten ou ripas de madeira.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material e tratamento.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floreira.jpg"/>
          <p:cNvPicPr>
            <a:picLocks noChangeAspect="1"/>
          </p:cNvPicPr>
          <p:nvPr/>
        </p:nvPicPr>
        <p:blipFill>
          <a:blip r:embed="rId5"/>
          <a:srcRect l="37301" r="37301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Floreira do rooftop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borda do último pavimento.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floreira contínua com vegetação · sem projeto de paisagismo na pasta.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impermeabilização e irrigação. PENDENTE.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torre.jpg"/>
          <p:cNvPicPr>
            <a:picLocks noChangeAspect="1"/>
          </p:cNvPicPr>
          <p:nvPr/>
        </p:nvPicPr>
        <p:blipFill>
          <a:blip r:embed="rId6"/>
          <a:srcRect l="4246" r="4246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Torre escura com logo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volume da circulação vertical.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torre grafite com "Seazone" iluminado (vista do conjunto) · anteprojeto: torres em cinza escuro.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confirmar arte e ponto elétrico do logo. PENDENTE.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letreiro.jpg"/>
          <p:cNvPicPr>
            <a:picLocks noChangeAspect="1"/>
          </p:cNvPicPr>
          <p:nvPr/>
        </p:nvPicPr>
        <p:blipFill>
          <a:blip r:embed="rId7"/>
          <a:srcRect l="33617" r="33617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Letreiro SANTO ANTÔNIO SPOT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marquise do térreo.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letras brancas em relevo · memorial: nome do edifício na fachada interna.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detalhe e sem luminotécnico. PENDENTE.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muro.jpg"/>
          <p:cNvPicPr>
            <a:picLocks noChangeAspect="1"/>
          </p:cNvPicPr>
          <p:nvPr/>
        </p:nvPicPr>
        <p:blipFill>
          <a:blip r:embed="rId8"/>
          <a:srcRect l="7460" r="7460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Muro em textura rústica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fechamento frontal.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muro cinza com textura rústica · briefing: muro com pintura cor Seazone, logo e nome.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diverge do briefing.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piscina.jpg"/>
          <p:cNvPicPr>
            <a:picLocks noChangeAspect="1"/>
          </p:cNvPicPr>
          <p:nvPr/>
        </p:nvPicPr>
        <p:blipFill>
          <a:blip r:embed="rId9"/>
          <a:srcRect t="16053" b="16053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Piscina do rooftop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rooftop com vista para a baía.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lajota verde · briefing: revestimento esverdeado 20×20 · textura "Lajota piscina" do projeto de interiores.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o briefing. DEFINIDO.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Frente e acesso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24942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03_IMAGENS_FINAIS__03.jpg"/>
          <p:cNvPicPr>
            <a:picLocks noChangeAspect="1"/>
          </p:cNvPicPr>
          <p:nvPr/>
        </p:nvPicPr>
        <p:blipFill>
          <a:blip r:embed="rId4"/>
          <a:srcRect l="11874" r="11874"/>
          <a:stretch>
            <a:fillRect/>
          </a:stretch>
        </p:blipFill>
        <p:spPr>
          <a:xfrm>
            <a:off x="502920" y="1170432"/>
            <a:ext cx="219456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2801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FRENTE</a:t>
            </a:r>
          </a:p>
        </p:txBody>
      </p:sp>
      <p:sp>
        <p:nvSpPr>
          <p:cNvPr id="13" name="Oval 12"/>
          <p:cNvSpPr/>
          <p:nvPr/>
        </p:nvSpPr>
        <p:spPr>
          <a:xfrm>
            <a:off x="1511503" y="165030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34363" y="167316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13992" y="197455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6852" y="199741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57884" y="229880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80744" y="232166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765352" y="283921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8212" y="286207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687068" y="273112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09928" y="275398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818741" y="341564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41601" y="343850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1401775" y="402811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24635" y="405097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545896" y="428030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8756" y="430316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2880360" y="1170432"/>
          <a:ext cx="5212080" cy="2542032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051560"/>
                <a:gridCol w="2926080"/>
                <a:gridCol w="10058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(imagem × projeto)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Pilares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Placas claras · sem legenda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sob as lajes · sem especificação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(imagem e anteprojeto) × PVC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Empena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cinza texturizado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× alumínio anodizado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Letras brancas em relevo · sem detalhe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Pretas, linha 32 gold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rústica × cor Seazone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2880360" y="3840480"/>
            <a:ext cx="521208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3580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94176" y="3941064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LEITURA DA FRENTE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35808" y="4169664"/>
            <a:ext cx="4901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A frente combina pilares claros, madeira (ripado e forro) e vidro. O anteprojeto só indica "madeira" nos brises e o projeto legal aprovado não tem elevações: nenhum revestimento de fachada está especificado.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Vista do conjunto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907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03_IMAGENS_FINAIS__09.jpg"/>
          <p:cNvPicPr>
            <a:picLocks noChangeAspect="1"/>
          </p:cNvPicPr>
          <p:nvPr/>
        </p:nvPicPr>
        <p:blipFill>
          <a:blip r:embed="rId4"/>
          <a:srcRect l="152" r="152"/>
          <a:stretch>
            <a:fillRect/>
          </a:stretch>
        </p:blipFill>
        <p:spPr>
          <a:xfrm>
            <a:off x="502920" y="1170432"/>
            <a:ext cx="5074920" cy="2852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CONJUNTO</a:t>
            </a:r>
          </a:p>
        </p:txBody>
      </p:sp>
      <p:sp>
        <p:nvSpPr>
          <p:cNvPr id="13" name="Oval 12"/>
          <p:cNvSpPr/>
          <p:nvPr/>
        </p:nvSpPr>
        <p:spPr>
          <a:xfrm>
            <a:off x="2603296" y="237872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26156" y="240158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588312" y="252136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11172" y="254422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3161538" y="292077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84398" y="294363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400300" y="332018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23160" y="334304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4075023" y="252136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7883" y="254422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4227271" y="274960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50131" y="277246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4988509" y="343430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11369" y="345716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" y="303489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00684" y="305775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760720" y="1170432"/>
          <a:ext cx="2880360" cy="276148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960120"/>
                <a:gridCol w="16916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Torre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Grafite com logo iluminado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Volumes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Brancos em patamares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Contenção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de concreto no talude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no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Vegetação no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Frente da rodovia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Talude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Gramado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02920" y="411480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O conjunto se escalona no terreno em volumes brancos, com duas torres de circulação escuras e muro de contenção de concreto no talude. O anteprojeto (elevação noroeste) mostra a mesma composição, com as torres em cinza escuro e os volumes claros.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Elevação do anteprojeto (C2 Arquitetura · rev7)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358383" cy="2615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pp_noroeste.jpg"/>
          <p:cNvPicPr>
            <a:picLocks noChangeAspect="1"/>
          </p:cNvPicPr>
          <p:nvPr/>
        </p:nvPicPr>
        <p:blipFill>
          <a:blip r:embed="rId4"/>
          <a:srcRect l="17480" r="17480"/>
          <a:stretch>
            <a:fillRect/>
          </a:stretch>
        </p:blipFill>
        <p:spPr>
          <a:xfrm>
            <a:off x="502920" y="1170432"/>
            <a:ext cx="5303520" cy="2560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928" y="1234440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ELEVAÇÃO NOROESTE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4048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Elevação noroeste do anteprojeto rev7 (04/04/2025), arquivada na pasta "07 - Projeto Executivo / 00 - Projeto pré-executivo". Volumes claros, torres em cinza escuro e esquadrias quadriculadas; a planta indica os brises como "madeira". Não há quadro de materiais.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170432"/>
            <a:ext cx="2651760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127101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O QUE O PROJETO TRAZ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1499616"/>
            <a:ext cx="2340864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Fase · </a:t>
            </a:r>
            <a:r>
              <a:rPr sz="700" b="0">
                <a:solidFill>
                  <a:srgbClr val="FFFFFF"/>
                </a:solidFill>
                <a:latin typeface="Arial"/>
              </a:rPr>
              <a:t>não há executivo: a pasta de pré-executivo guarda o anteprojeto rev6 e rev7.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Legal · </a:t>
            </a:r>
            <a:r>
              <a:rPr sz="700" b="0">
                <a:solidFill>
                  <a:srgbClr val="FFFFFF"/>
                </a:solidFill>
                <a:latin typeface="Arial"/>
              </a:rPr>
              <a:t>projeto aprovado em 30/07/2026, sem elevações.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Materiais · </a:t>
            </a:r>
            <a:r>
              <a:rPr sz="700" b="0">
                <a:solidFill>
                  <a:srgbClr val="FFFFFF"/>
                </a:solidFill>
                <a:latin typeface="Arial"/>
              </a:rPr>
              <a:t>só "madeira" nos brises; sem legenda de revestimentos.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Alterações · </a:t>
            </a:r>
            <a:r>
              <a:rPr sz="700" b="0">
                <a:solidFill>
                  <a:srgbClr val="FFFFFF"/>
                </a:solidFill>
                <a:latin typeface="Arial"/>
              </a:rPr>
              <a:t>relatórios por unidade tratam de áreas (fora deste Book).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Conferência · </a:t>
            </a:r>
            <a:r>
              <a:rPr sz="700" b="0">
                <a:solidFill>
                  <a:srgbClr val="FFFFFF"/>
                </a:solidFill>
                <a:latin typeface="Arial"/>
              </a:rPr>
              <a:t>não há planilha de conferência de projetos na pasta.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lançamento (R03) × anteprojeto rev7, Projeto Legal, Premissas e Memorial.  DEFINIDO = convergem  ·  A VALIDAR = divergem  ·  PENDENTE = sem definição.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Lançamento (imagens)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Projeto / Premissas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Pilares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Placas claras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legenda · revestimento conforme projeto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Empenas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cinza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seguindo o conceito da fachada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Volumes do conjunto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Claros no anteprojeto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Torres de circulação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Grafite com logo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escuro no anteprojeto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Ripado vertical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(anteprojeto e memorial) × PVC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das lajes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com spots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especificação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gold, perfil preto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sacadas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Vidro, corrimão preto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montante aparente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Aço corten ou ripas de madeira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 e logo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SANTO ANTÔNIO SPOT e Seazone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Nome na fachada interna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projeto de paisagismo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Lajota verde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rústica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cor Seazone com logo e nome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de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Recepção  ·  rooftop e piscina  ·  mini market  ·  unidades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SANTO ANTÔNIO SPOT  ·  BOOK DE PREMISSAS DE FACHADA E INTERIORES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Conceito Seazone × situação do projeto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Seazone (10 - Projeto de Interiores / 02 - Imagens) × briefing, memorial, moodboard e texturas do projeto de interiores.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252374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417320"/>
                <a:gridCol w="2651760"/>
                <a:gridCol w="2423160"/>
                <a:gridCol w="164592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Ambiente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Conceito Seazone (seguir)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Situação registrada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Jardim vertical com logo, painel ripado claro, sofá em "L", balanço de fibra, espelho orgânico, frase na parede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textura velvet + painel PVC ripado + jardim vertical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 interno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Mini market, copa com bancada escura, painel ripado com logo, mesa redonda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textura velvet + painel PVC ripado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 externo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Pergolado de madeira com vegetação, piscina com lajota verde, deck, banco com almofadas, 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Deck imitando madeira só na área da piscina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Jequitibá e Cinza Puro, granito São Gabriel, textura velvet, tinta Crômio, metal preto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Portas e rodapés pretos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Executivo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Só imagens, texturas e moodboard na pasta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4133087"/>
            <a:ext cx="8138160" cy="64008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242816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4233672"/>
            <a:ext cx="722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REGRA PARA A OBRA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62272"/>
            <a:ext cx="7827264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Não há executivo de interiores. Vale o conceito das imagens de venda, o moodboard final e as texturas da pasta "01 - Arquivos de projeto / Texturas"; logos, frases, jardim vertical, balanço e pontos do mini market precisam entrar no elétrico, no hidráulico e no estrutural antes do fechamento.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INDICAÇÕES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Indicações sobre as imagens de venda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"Santo Antonio Spot - Indicações" (00 - Premissas de Projeto): 8 indicações sem texto descritivo; abaixo, as marcadas sobre imagens, lidas junto ao briefing.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26517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image2.jpg"/>
          <p:cNvPicPr>
            <a:picLocks noChangeAspect="1"/>
          </p:cNvPicPr>
          <p:nvPr/>
        </p:nvPicPr>
        <p:blipFill>
          <a:blip r:embed="rId4"/>
          <a:srcRect l="9235" r="9235"/>
          <a:stretch>
            <a:fillRect/>
          </a:stretch>
        </p:blipFill>
        <p:spPr>
          <a:xfrm>
            <a:off x="576072" y="1399032"/>
            <a:ext cx="2505456" cy="14173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60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10896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Floreira do rooftop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401568"/>
            <a:ext cx="25054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Trecho de guarda-corpo e vegetação marcado no rooftop. Briefing: floreira em alvenaria + banco em concreto resinado.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325880"/>
            <a:ext cx="26517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6_BOOK_ASSETS__image7.jpg"/>
          <p:cNvPicPr>
            <a:picLocks noChangeAspect="1"/>
          </p:cNvPicPr>
          <p:nvPr/>
        </p:nvPicPr>
        <p:blipFill>
          <a:blip r:embed="rId5"/>
          <a:srcRect t="4745" b="4745"/>
          <a:stretch>
            <a:fillRect/>
          </a:stretch>
        </p:blipFill>
        <p:spPr>
          <a:xfrm>
            <a:off x="3319272" y="1399032"/>
            <a:ext cx="2505456" cy="14173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3192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310896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Banco junto à piscina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3401568"/>
            <a:ext cx="25054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Banco marcado ao lado da piscina, sob o pergolado. Deck imitando madeira 120×20 apenas na área da piscina (briefing).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325880"/>
            <a:ext cx="26517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6_BOOK_ASSETS__image9.jpg"/>
          <p:cNvPicPr>
            <a:picLocks noChangeAspect="1"/>
          </p:cNvPicPr>
          <p:nvPr/>
        </p:nvPicPr>
        <p:blipFill>
          <a:blip r:embed="rId6"/>
          <a:srcRect t="13197" b="13197"/>
          <a:stretch>
            <a:fillRect/>
          </a:stretch>
        </p:blipFill>
        <p:spPr>
          <a:xfrm>
            <a:off x="6062472" y="1399032"/>
            <a:ext cx="2505456" cy="14173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0624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62472" y="310896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Floreira com banco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2472" y="3401568"/>
            <a:ext cx="25054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Floreira com banco marcada no terraço. Briefing: floreira em alvenaria + banco em concreto resinado.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Recepção e circulação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cepção__Imagem_02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RECEPÇÃO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cepção__Imagem_04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BALANÇO + FRASE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Jardim vertical com logo iluminado, painel ripado claro, sofá em "L" e balanço de fibra com frase na parede.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moodboard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textura velvet (briefing) · textura velvet Coral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Painel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Painel PVC ripado (briefing) · ripado claro na imagem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Destaque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Jardim vertical com logo Santo Antônio SPOT (briefing e 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 com pé-direito livre de 2,60 m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natural/acetinado, rodapé de poliestireno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Balanço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Poltrona balanço presa na laje, com reforço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Portas e rodapés das áreas comuns em preto, bandeira até o forro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Sofá em "L", mesas de apoio, espelho orgânico, aparador (imagem)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Cinza Urbano + Calopsita (briefing) · arandelas nas portas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Rooftop: pergolado, piscina e mini market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Imagem_09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6916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PERGOLADO + PISCINA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Imagem_02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6916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COPA + MINI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Pergolado de madeira com vegetação sobre a piscina, banco com almofadas, redes e mini market na área coberta.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memorial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textura velvet + painel PVC ripado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Forro modular 2,60 m (briefing) · cortineiro de 20 cm nas portas e janelas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 interno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 externo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imitando madeira 120×20 só na área da piscina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Revestimento esverdeado 20×20 (briefing) · lajota verde (imagem e texturas)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Madeira com vegetação (imagem) · aço corten ou madeira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Estante com produtos, copa com bancada escura (imagem)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Aquecimento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Solar para a piscina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Unidades: acabamentos e escopo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pologia_E__Imagem_02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TIPOLOGIA 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197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ipologia_E__Imagem_01.jpg"/>
          <p:cNvPicPr>
            <a:picLocks noChangeAspect="1"/>
          </p:cNvPicPr>
          <p:nvPr/>
        </p:nvPicPr>
        <p:blipFill>
          <a:blip r:embed="rId5"/>
          <a:srcRect t="7265" b="7265"/>
          <a:stretch>
            <a:fillRect/>
          </a:stretch>
        </p:blipFill>
        <p:spPr>
          <a:xfrm>
            <a:off x="502920" y="2697480"/>
            <a:ext cx="2377440" cy="1143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COPA · TIPOLOGIA 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1363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Imagens das tipologias (10 - Projeto de Interiores / 02 - Imagens).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moodboard · memorial)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natural/acetinado, rodapé preto (briefing) · Urban Savane (texturas)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Branco gelo acetinado (briefing) · textura velvet Coral e tinta Crômio Suvinil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Banheiro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nas paredes e no piso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Jequitibá e MDF Cinza Puro Arauco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São Gabriel polido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Metais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Metal preto fosco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Linha 32 gold com perfil preto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Portas e rodapés pretos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Vidros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Incolor nas unidades · mini boreal no banheiro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áreas comuns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Texturas da pasta "10 - Projeto de Interiores / 01 - Arquivos de projeto / Texturas" e moodboard final.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velvet.jpg"/>
          <p:cNvPicPr>
            <a:picLocks noChangeAspect="1"/>
          </p:cNvPicPr>
          <p:nvPr/>
        </p:nvPicPr>
        <p:blipFill>
          <a:blip r:embed="rId4"/>
          <a:srcRect t="13158" b="13158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Textura velvet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da recepção e do rooftop.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pintura textura velvet (briefing) · textura velvet Coral (moodboard).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aprovar painel-teste.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lajota.jpg"/>
          <p:cNvPicPr>
            <a:picLocks noChangeAspect="1"/>
          </p:cNvPicPr>
          <p:nvPr/>
        </p:nvPicPr>
        <p:blipFill>
          <a:blip r:embed="rId5"/>
          <a:srcRect t="13370" b="13370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Lajota da piscina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revestimento da piscina.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textura "Lajota piscina" (projeto de interiores) · briefing: esverdeado 20×20.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o briefing. DEFINIDO.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barro.jpg"/>
          <p:cNvPicPr>
            <a:picLocks noChangeAspect="1"/>
          </p:cNvPicPr>
          <p:nvPr/>
        </p:nvPicPr>
        <p:blipFill>
          <a:blip r:embed="rId6"/>
          <a:srcRect l="4466" r="4466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Cerâmica de barro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referência de piso/revestimento.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textura "Cerâmica de barro" do projeto de interiores.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confirmar onde será aplicada.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savane.jpg"/>
          <p:cNvPicPr>
            <a:picLocks noChangeAspect="1"/>
          </p:cNvPicPr>
          <p:nvPr/>
        </p:nvPicPr>
        <p:blipFill>
          <a:blip r:embed="rId7"/>
          <a:srcRect t="13158" b="13158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Porcelanato Urban Savane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pisos internos.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Urban Savane 90×90 (texturas) · briefing: porcelanato 90×90.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o briefing. DEFINIDO.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veludo.jpg"/>
          <p:cNvPicPr>
            <a:picLocks noChangeAspect="1"/>
          </p:cNvPicPr>
          <p:nvPr/>
        </p:nvPicPr>
        <p:blipFill>
          <a:blip r:embed="rId8"/>
          <a:srcRect l="16168" r="16168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Veludo liso cinza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estofados das áreas comuns.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textura "Tecido veludo liso cinza" do projeto de interiores.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referência de mobiliário.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metal.jpg"/>
          <p:cNvPicPr>
            <a:picLocks noChangeAspect="1"/>
          </p:cNvPicPr>
          <p:nvPr/>
        </p:nvPicPr>
        <p:blipFill>
          <a:blip r:embed="rId9"/>
          <a:srcRect t="13158" b="13158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Metal preto fosco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esquadrias, espelhos e mobiliário.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metal preto fosco (moodboard) · esquadrias comuns em preto fosco (briefing).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acabamento em todos os metais. DEFINIDO.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unidades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do "Moodboard - Santo Antônio - Versão final" (materiais usados na unidade) e da pasta de texturas.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jequitiba.jpg"/>
          <p:cNvPicPr>
            <a:picLocks noChangeAspect="1"/>
          </p:cNvPicPr>
          <p:nvPr/>
        </p:nvPicPr>
        <p:blipFill>
          <a:blip r:embed="rId4"/>
          <a:srcRect t="25632" b="25632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Jequitibá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marcenaria das unidades.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Jequitibá Arauco (moodboard e texturas).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padrão em todas as tipologias.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cinzapuro.jpg"/>
          <p:cNvPicPr>
            <a:picLocks noChangeAspect="1"/>
          </p:cNvPicPr>
          <p:nvPr/>
        </p:nvPicPr>
        <p:blipFill>
          <a:blip r:embed="rId5"/>
          <a:srcRect t="25211" b="25211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Cinza Puro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marcenaria das unidades.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Cinza Puro Arauco (moodboard e texturas).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combinar com o Jequitibá conforme imagens.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saogabriel.jpg"/>
          <p:cNvPicPr>
            <a:picLocks noChangeAspect="1"/>
          </p:cNvPicPr>
          <p:nvPr/>
        </p:nvPicPr>
        <p:blipFill>
          <a:blip r:embed="rId6"/>
          <a:srcRect t="13158" b="13158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Granito São Gabriel polido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bancadas da copa e do banheiro.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granito preto São Gabriel polido (moodboard e texturas).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deixar pontos conforme as vistas do briefing.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velvet.jpg"/>
          <p:cNvPicPr>
            <a:picLocks noChangeAspect="1"/>
          </p:cNvPicPr>
          <p:nvPr/>
        </p:nvPicPr>
        <p:blipFill>
          <a:blip r:embed="rId7"/>
          <a:srcRect t="13158" b="13158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Textura velvet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de destaque.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textura velvet Coral (moodboard) · briefing: branco gelo acetinado.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onde entra a textura.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cromio.jpg"/>
          <p:cNvPicPr>
            <a:picLocks noChangeAspect="1"/>
          </p:cNvPicPr>
          <p:nvPr/>
        </p:nvPicPr>
        <p:blipFill>
          <a:blip r:embed="rId8"/>
          <a:srcRect l="15496" r="15496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Tinta Crômio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das unidades.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tinta Crômio Suvinil (moodboard) · briefing: branco gelo acetinado.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a cor das paredes.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44768" y="324612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LEMBRAR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03136" y="323697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UNIDADES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4768" y="3465576"/>
            <a:ext cx="2340864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Portas e rodapés: </a:t>
            </a:r>
            <a:r>
              <a:rPr sz="700" b="0">
                <a:solidFill>
                  <a:srgbClr val="FFFFFF"/>
                </a:solidFill>
                <a:latin typeface="Arial"/>
              </a:rPr>
              <a:t>pretos (briefing).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Metais: </a:t>
            </a:r>
            <a:r>
              <a:rPr sz="700" b="0">
                <a:solidFill>
                  <a:srgbClr val="FFFFFF"/>
                </a:solidFill>
                <a:latin typeface="Arial"/>
              </a:rPr>
              <a:t>preto fosco.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TV na laje: </a:t>
            </a:r>
            <a:r>
              <a:rPr sz="700" b="0">
                <a:solidFill>
                  <a:srgbClr val="FFFFFF"/>
                </a:solidFill>
                <a:latin typeface="Arial"/>
              </a:rPr>
              <a:t>reforço nas unidades indicadas no briefing.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interiores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× premissas, moodboard, texturas do projeto e memorial.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Imagens de interiores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Premissas / moodboard / texturas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jardim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Jardim vertical com logo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Jardim vertical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painel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claro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Painel PVC ripado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Claras texturizadas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velvet (briefing e 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Balanço de fibra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Reforço na laje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Logos e frases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Iluminados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luminotécnico na pasta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Pretas, bandeira até o forro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com vegetação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Aço corten ou madeira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Lajota verde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Deck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em torno da 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Imitando madeira só na área da 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Estante e copa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Pontos elétricos a prever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+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MDF Jequitibá + Cinza Puro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× velvet/Crômio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rodapé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Rodapé preto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há executivo na pasta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Briefing de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Acabamentos marcados em "[SANTO ANTONIO SPOT] Premissas de Projeto"  ·  cruzamento com 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SANTO ANTÔNIO SPOT  ·  BOOK DE PREMISSAS DE FACHADA E INTERIORES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Briefing × projeto: acabamentos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Opções marcadas em "[SANTO ANTONIO SPOT] Premissas de Projeto" (coluna "Conferência" = True) × anteprojeto rev7, imagens e Memorial.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12723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788920"/>
                <a:gridCol w="32004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Briefing de Projeto (opção marcada)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Projeto / imagens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PVC, conforme detalhamento arquitetônico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(anteprojeto, imagem e 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Fechamento do terreno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com pintura cor Seazone, logo e nome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rústica cinza na imagem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gold · perfil preto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 nas imagens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Acabamento preto fosco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 nas imagens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privativo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com montante aparente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corrimão preto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comum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no rooftop (imagem)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Área externa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seguindo o conceito da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Fachada sem legenda no projeto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velvet + painel PVC ripado + jardim vertical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confirmam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velvet + painel PVC ripado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confirmam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Urbano + Calopsita (Suvinil)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claras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· madeira 120×20 só na 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Urban Savane (texturas)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· aquecimento solar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Lajota verde na imagem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 e rodapés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Pretos nas unidades e nas áreas comuns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confirmam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Poltrona balanço presa na laje da recepção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Balanço na imagem da recepção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Área externa · banco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 em alvenaria + banco em concreto resinado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Indicações 01 e 08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Pontos de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O que gera retrabalho se não for observado  ·  premissas travadas  ·  checklist de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SANTO ANTÔNIO SPOT  ·  BOOK DE PREMISSAS DE FACHADA E INTERIORES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que Obras precisa observar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REVESTIMENTOS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Nenhuma legenda de material no projeto.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Imagem: pilares claros, empenas de concreto.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Não comprar revestimento externo sem definição.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MADEIRA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79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Ripado: madeira × PVC (briefing).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Forro de madeira sob as lajes sem especificação.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Pergolado: aço corten ou madeira.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ESQUADRIAS E GUARDA-CORPOS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Esquadrias pretas, linha 32 gold.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Guarda-corpo: vidro (imagem) × alumínio (briefing).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Rooftop: vidro com perfil "U" inox.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IDENTIDADE E LUZ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Letreiro da marquise sem detalhe.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Logo iluminado na torre de circulação.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Spots no forro: sem luminotécnico.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79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MURO E PAISAGISMO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95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Muro: textura rústica × cor Seazone.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Floreiras do rooftop e do terraço.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95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Talude gramado e contenção.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PROJETO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Sem executivo: só anteprojeto rev7.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Legal aprovado sem elevações.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Sem executivo de interiores.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Não alterar sem validação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3977639" cy="3602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PREMISSAS TRAVADAS (IMAGEM VENDIDA + BRIEFING)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57276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Pilares claros com ripado e forro de madeira na frente.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Volumes brancos e torres escuras no conjunto.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9572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34086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Esquadrias pretas (linha 32 gold, perfil preto).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79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2491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Guarda-corpo das áreas comuns em vidro com perfil "U" inox.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6382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08960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Portas e rodapés pretos.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4787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9300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Piscina esverdeada com pergolado de madeira.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87705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Recepção: jardim vertical, painel ripado e textura velvet.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6110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Muro com pintura cor Seazone, logo e nome (briefing).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1271016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ANTES DE COMPRAR OU EXECUTAR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499616"/>
            <a:ext cx="3730752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1. </a:t>
            </a:r>
            <a:r>
              <a:rPr sz="700" b="0">
                <a:solidFill>
                  <a:srgbClr val="FFFFFF"/>
                </a:solidFill>
                <a:latin typeface="Arial"/>
              </a:rPr>
              <a:t>Troca de cor, material ou referência de fachada precisa de aprovação de Projetos: a fachada é a imagem vendida no lançamento.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2. </a:t>
            </a:r>
            <a:r>
              <a:rPr sz="700" b="0">
                <a:solidFill>
                  <a:srgbClr val="FFFFFF"/>
                </a:solidFill>
                <a:latin typeface="Arial"/>
              </a:rPr>
              <a:t>Itens A VALIDAR e PENDENTE não entram em pedido de compra até a definição registrada.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3. </a:t>
            </a:r>
            <a:r>
              <a:rPr sz="700" b="0">
                <a:solidFill>
                  <a:srgbClr val="FFFFFF"/>
                </a:solidFill>
                <a:latin typeface="Arial"/>
              </a:rPr>
              <a:t>O executivo de arquitetura deve trazer quadro de materiais da fachada.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4. </a:t>
            </a:r>
            <a:r>
              <a:rPr sz="700" b="0">
                <a:solidFill>
                  <a:srgbClr val="FFFFFF"/>
                </a:solidFill>
                <a:latin typeface="Arial"/>
              </a:rPr>
              <a:t>Amostras físicas (placas dos pilares, madeira, textura, revestimento da piscina) aprovadas no local.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5. </a:t>
            </a:r>
            <a:r>
              <a:rPr sz="700" b="0">
                <a:solidFill>
                  <a:srgbClr val="FFFFFF"/>
                </a:solidFill>
                <a:latin typeface="Arial"/>
              </a:rPr>
              <a:t>Onde memorial, projeto e briefing divergem, prevalece a definição registrada por Projetos.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246120"/>
            <a:ext cx="3730752" cy="9144"/>
          </a:xfrm>
          <a:prstGeom prst="rect">
            <a:avLst/>
          </a:prstGeom>
          <a:solidFill>
            <a:srgbClr val="8FA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346704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ONDE CONSULTAR (1.27 - [3656] SANTO ANTÔNIO SPOT / 02 - PROJETOS)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566160"/>
            <a:ext cx="373075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Fachada: </a:t>
            </a:r>
            <a:r>
              <a:rPr sz="650" b="0">
                <a:solidFill>
                  <a:srgbClr val="9FB0D4"/>
                </a:solidFill>
                <a:latin typeface="Arial"/>
              </a:rPr>
              <a:t>08 / 05 - Imagens 3D / R03 · 08 / 07 - Projeto Executivo (anteprojeto rev7) · 08 / 06 - Projeto Legal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Interiores: </a:t>
            </a:r>
            <a:r>
              <a:rPr sz="650" b="0">
                <a:solidFill>
                  <a:srgbClr val="9FB0D4"/>
                </a:solidFill>
                <a:latin typeface="Arial"/>
              </a:rPr>
              <a:t>08 / 10 - Projeto de Interiores (imagens, texturas, moodboard)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Premissas: </a:t>
            </a:r>
            <a:r>
              <a:rPr sz="650" b="0">
                <a:solidFill>
                  <a:srgbClr val="9FB0D4"/>
                </a:solidFill>
                <a:latin typeface="Arial"/>
              </a:rPr>
              <a:t>00 - Premissas de Projeto (briefing e Indicações)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Memorial: </a:t>
            </a:r>
            <a:r>
              <a:rPr sz="650" b="0">
                <a:solidFill>
                  <a:srgbClr val="9FB0D4"/>
                </a:solidFill>
                <a:latin typeface="Arial"/>
              </a:rPr>
              <a:t>09 - Memorial Descritivo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Pendências e checklist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SANTO ANTÔNIO SPOT  ·  BOOK DE PREMISSAS DE FACHADA E INTERIORES  ·  25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8138160" cy="351129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2103120"/>
                <a:gridCol w="4709160"/>
                <a:gridCol w="109728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O que definir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arquitetura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Contratar e emitir com quadro de materiais da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Pilares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Material e paginação das placas claras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Empenas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de concreto: produto e cor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Ripado e 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(imagem) × PVC (briefing): material e fixação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das lajes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Material do forro amadeirado e spots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das sacadas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corrimão (imagem) × alumínio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× aço corten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SANTO ANTÔNIO SPOT: material, luz e ponto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Logo na torre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Arte, iluminação e ponto elétrico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rústica (imagem) × cor Seazone com logo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Paisagismo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Floreiras, jardim vertical e talude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Luminotécnico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Spots da fachada, logos, frases e áreas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 da 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Reforço na laje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Cores dos corredores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Urbano + Calopsita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× velvet/Crômio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Cerâmica de barro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Confirmar onde será aplicada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Pontos da estante e da copa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Contratar e detalhar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SANTO ANTÔNIO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Lançamento × Projeto  ·  Seazone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SANTO ANTÔNIO SPOT  ·  BOOK DE PREMISSAS DE FACHADA E INTERIORES  · 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4935</Words>
  <Application>Microsoft Office PowerPoint</Application>
  <PresentationFormat>Apresentação na tela (16:9)</PresentationFormat>
  <Paragraphs>580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Rachel Souto</cp:lastModifiedBy>
  <cp:revision>1</cp:revision>
  <dcterms:modified xsi:type="dcterms:W3CDTF">2026-09-23T13:37:10Z</dcterms:modified>
</cp:coreProperties>
</file>