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5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7"/>
    <p:sldId id="274" r:id="rId6"/>
    <p:sldId id="275" r:id="rId5"/>
    <p:sldId id="276" r:id="rId4"/>
    <p:sldId id="277" r:id="rId3"/>
    <p:sldId id="278" r:id="rId2"/>
    <p:sldId id="279" r:id="rId31"/>
    <p:sldId id="280" r:id="rId32"/>
    <p:sldId id="281" r:id="rId33"/>
    <p:sldId id="282" r:id="rId3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aroline Vieira Montedo" initials="" lastIdx="3" clrIdx="0"/>
  <p:cmAuthor id="1" name="Rachel Souto Hudson" initials="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79DEEBB-5512-44E8-9C8E-75C5AFC50D94}">
  <a:tblStyle styleId="{D79DEEBB-5512-44E8-9C8E-75C5AFC50D9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3.xml"/><Relationship Id="rId3" Type="http://schemas.openxmlformats.org/officeDocument/2006/relationships/slide" Target="slides/slide22.xml"/><Relationship Id="rId4" Type="http://schemas.openxmlformats.org/officeDocument/2006/relationships/slide" Target="slides/slide21.xml"/><Relationship Id="rId5" Type="http://schemas.openxmlformats.org/officeDocument/2006/relationships/slide" Target="slides/slide20.xml"/><Relationship Id="rId6" Type="http://schemas.openxmlformats.org/officeDocument/2006/relationships/slide" Target="slides/slide19.xml"/><Relationship Id="rId7" Type="http://schemas.openxmlformats.org/officeDocument/2006/relationships/slide" Target="slides/slide18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notesMaster" Target="notesMasters/notesMaster1.xml"/><Relationship Id="rId26" Type="http://schemas.openxmlformats.org/officeDocument/2006/relationships/commentAuthors" Target="commentAuthors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6.jpg"/><Relationship Id="rId5" Type="http://schemas.openxmlformats.org/officeDocument/2006/relationships/image" Target="../media/image7.jpg"/><Relationship Id="rId6" Type="http://schemas.openxmlformats.org/officeDocument/2006/relationships/image" Target="../media/image8.jpg"/><Relationship Id="rId7" Type="http://schemas.openxmlformats.org/officeDocument/2006/relationships/image" Target="../media/image9.jpg"/><Relationship Id="rId8" Type="http://schemas.openxmlformats.org/officeDocument/2006/relationships/image" Target="../media/image10.jpg"/><Relationship Id="rId9" Type="http://schemas.openxmlformats.org/officeDocument/2006/relationships/image" Target="../media/image1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2.jpg"/><Relationship Id="rId5" Type="http://schemas.openxmlformats.org/officeDocument/2006/relationships/image" Target="../media/image13.jpg"/><Relationship Id="rId6" Type="http://schemas.openxmlformats.org/officeDocument/2006/relationships/image" Target="../media/image14.jpg"/><Relationship Id="rId7" Type="http://schemas.openxmlformats.org/officeDocument/2006/relationships/image" Target="../media/image15.jpg"/><Relationship Id="rId8" Type="http://schemas.openxmlformats.org/officeDocument/2006/relationships/image" Target="../media/image16.jpg"/><Relationship Id="rId9" Type="http://schemas.openxmlformats.org/officeDocument/2006/relationships/image" Target="../media/image1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1.jpg"/><Relationship Id="rId5" Type="http://schemas.openxmlformats.org/officeDocument/2006/relationships/image" Target="../media/image20.jpg"/><Relationship Id="rId6" Type="http://schemas.openxmlformats.org/officeDocument/2006/relationships/image" Target="../media/image2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3.jpg"/><Relationship Id="rId5" Type="http://schemas.openxmlformats.org/officeDocument/2006/relationships/image" Target="../media/image2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5.jpg"/><Relationship Id="rId5" Type="http://schemas.openxmlformats.org/officeDocument/2006/relationships/image" Target="../media/image26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7.jpg"/><Relationship Id="rId5" Type="http://schemas.openxmlformats.org/officeDocument/2006/relationships/image" Target="../media/image28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9.jpg"/><Relationship Id="rId5" Type="http://schemas.openxmlformats.org/officeDocument/2006/relationships/image" Target="../media/image30.jpg"/><Relationship Id="rId6" Type="http://schemas.openxmlformats.org/officeDocument/2006/relationships/image" Target="../media/image31.jpg"/><Relationship Id="rId7" Type="http://schemas.openxmlformats.org/officeDocument/2006/relationships/image" Target="../media/image32.jpg"/><Relationship Id="rId8" Type="http://schemas.openxmlformats.org/officeDocument/2006/relationships/image" Target="../media/image33.jpg"/><Relationship Id="rId9" Type="http://schemas.openxmlformats.org/officeDocument/2006/relationships/image" Target="../media/image3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5.jpg"/><Relationship Id="rId5" Type="http://schemas.openxmlformats.org/officeDocument/2006/relationships/image" Target="../media/image36.jpg"/><Relationship Id="rId6" Type="http://schemas.openxmlformats.org/officeDocument/2006/relationships/image" Target="../media/image37.jpg"/><Relationship Id="rId7" Type="http://schemas.openxmlformats.org/officeDocument/2006/relationships/image" Target="../media/image38.jpg"/><Relationship Id="rId8" Type="http://schemas.openxmlformats.org/officeDocument/2006/relationships/image" Target="../media/image39.jpg"/><Relationship Id="rId9" Type="http://schemas.openxmlformats.org/officeDocument/2006/relationships/image" Target="../media/image40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1.jpg"/><Relationship Id="rId5" Type="http://schemas.openxmlformats.org/officeDocument/2006/relationships/image" Target="../media/image42.jpg"/><Relationship Id="rId6" Type="http://schemas.openxmlformats.org/officeDocument/2006/relationships/image" Target="../media/image43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1_RENDERS_LANCAMENTO__05_(2).jpg"/>
          <p:cNvPicPr>
            <a:picLocks noChangeAspect="1"/>
          </p:cNvPicPr>
          <p:nvPr/>
        </p:nvPicPr>
        <p:blipFill>
          <a:blip r:embed="rId2"/>
          <a:srcRect l="556" r="556"/>
          <a:stretch>
            <a:fillRect/>
          </a:stretch>
        </p:blipFill>
        <p:spPr>
          <a:xfrm>
            <a:off x="5074920" y="0"/>
            <a:ext cx="4069080" cy="5143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74920" y="0"/>
            <a:ext cx="45720" cy="514350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66928"/>
            <a:ext cx="1783080" cy="2926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1847088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029968"/>
            <a:ext cx="4389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BOOK DE PREMISSAS DE FACHADA E INTERIORES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86000"/>
            <a:ext cx="4480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Canasvieiras</a:t>
            </a:r>
          </a:p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Spot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91840"/>
            <a:ext cx="4480560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9FB0D4"/>
                </a:solidFill>
                <a:latin typeface="Arial"/>
              </a:rPr>
              <a:t>Lançamento  ×  Executivo  ·  Fachada  ·  Interiores</a:t>
            </a:r>
          </a:p>
          <a:p>
            <a:pPr algn="l">
              <a:spcAft>
                <a:spcPts val="400"/>
              </a:spcAft>
            </a:pPr>
            <a:r>
              <a:rPr sz="750" b="0">
                <a:solidFill>
                  <a:srgbClr val="8FA3CC"/>
                </a:solidFill>
                <a:latin typeface="Arial"/>
              </a:rPr>
              <a:t>Base: imagens 3D de lançamento · executivo de arquitetura (rev. jul/2026) · Memorial Descritivo (02/10/2025) · Memorial de Texturas · Memorial de Interiores · Briefing de Projeto · LOG de considerações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334256"/>
            <a:ext cx="4480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8FA3CC"/>
                </a:solidFill>
                <a:latin typeface="Arial"/>
              </a:rPr>
              <a:t>R. Waldemiro José Carlsson, 263 · Canasvieiras · Florianópolis/SC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754880"/>
            <a:ext cx="4480560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>
                <a:solidFill>
                  <a:srgbClr val="8FA3CC"/>
                </a:solidFill>
                <a:latin typeface="Arial"/>
              </a:rPr>
              <a:t>DOCUMENTO TÉCNICO INTERNO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CONTEXTUALIZAÇÃO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O objetivo deste material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CANASVIEIRAS SPOT  ·  BOOK DE PREMISSAS DE FACHADA E INTERIORES  · 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70432"/>
            <a:ext cx="3840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  <a:latin typeface="Arial"/>
              </a:rPr>
              <a:t>Consolidar as premissas de </a:t>
            </a:r>
            <a:r>
              <a:rPr sz="750" b="1">
                <a:solidFill>
                  <a:srgbClr val="333333"/>
                </a:solidFill>
                <a:latin typeface="Arial"/>
              </a:rPr>
              <a:t>fachada e interiores</a:t>
            </a:r>
            <a:r>
              <a:rPr sz="750" b="0">
                <a:solidFill>
                  <a:srgbClr val="333333"/>
                </a:solidFill>
                <a:latin typeface="Arial"/>
              </a:rPr>
              <a:t> do Canasvieiras Spot a partir da leitura cruzada entre as </a:t>
            </a:r>
            <a:r>
              <a:rPr sz="750" b="1">
                <a:solidFill>
                  <a:srgbClr val="333333"/>
                </a:solidFill>
                <a:latin typeface="Arial"/>
              </a:rPr>
              <a:t>imagens de lançamento</a:t>
            </a:r>
            <a:r>
              <a:rPr sz="750" b="0">
                <a:solidFill>
                  <a:srgbClr val="333333"/>
                </a:solidFill>
                <a:latin typeface="Arial"/>
              </a:rPr>
              <a:t> e o </a:t>
            </a:r>
            <a:r>
              <a:rPr sz="750" b="1">
                <a:solidFill>
                  <a:srgbClr val="333333"/>
                </a:solidFill>
                <a:latin typeface="Arial"/>
              </a:rPr>
              <a:t>projeto executivo</a:t>
            </a:r>
            <a:r>
              <a:rPr sz="750" b="0">
                <a:solidFill>
                  <a:srgbClr val="333333"/>
                </a:solidFill>
                <a:latin typeface="Arial"/>
              </a:rPr>
              <a:t>: o que a imagem vendeu, o que o executivo especifica, onde os dois divergem e o que precisa ser validado antes da compra e da execução.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103120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03504" y="2139696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148839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Leitura da fachada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157984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o que compõe cada volume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432303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3504" y="2468879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2478023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Mapa de texturas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2487168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fachada · 12 materiais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761487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03504" y="2798063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2807207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Vistas especificadas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2816351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esquina, posterior e térreo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090672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3504" y="3127248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136391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Brises e elevações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3145536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tipos, quantidades, códigos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419856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03504" y="3456432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3465575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Lançamento × executivo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4600" y="347472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fachada e interiores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749039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03504" y="3785615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3794759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Interiores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14600" y="3803903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recepção, rooftop, unidades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078224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03504" y="4114800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" y="4123944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Briefing e LOG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14600" y="4133087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premissas e indicações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407408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03504" y="4443984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4453128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Pontos de atenção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14600" y="4462272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travadas · checklist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9432" y="1170432"/>
            <a:ext cx="4041648" cy="3602736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54880" y="1280160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>
                <a:solidFill>
                  <a:srgbClr val="8FA3CC"/>
                </a:solidFill>
                <a:latin typeface="Arial"/>
              </a:rPr>
              <a:t>AO ABRIR ESTE BOOK, OBRAS DEVE CONSEGUIR RESPONDER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54880" y="1636776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919472" y="157276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O que as imagens de lançamento mostram na fachada?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54880" y="1965960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19472" y="190195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Qual material o executivo especifica para cada elemento?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754880" y="2295144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19472" y="2231136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Onde lançamento e executivo divergem?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54880" y="2624327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919472" y="25603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Quais cores e texturas exigem amostra aprovada?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754880" y="2953512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919472" y="2889504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Quais acabamentos de interiores estão definidos?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754880" y="3282695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19472" y="3218687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O que não pode ser alterado sem validação?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754880" y="3611879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919472" y="354787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Quais pontos ainda precisam ser validados?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54880" y="4023360"/>
            <a:ext cx="37490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0">
                <a:solidFill>
                  <a:srgbClr val="8FA3CC"/>
                </a:solidFill>
                <a:latin typeface="Arial"/>
              </a:rPr>
              <a:t>Regra do material: nenhuma informação foi inventada. Fontes: 05 - Imagens 3D (lançamento externa), 10 - Projeto de Interiores, executivo de arquitetura (pranchas 19 a 28 e 40 a 44), Memorial Descritivo (02/10/2025), Memorial de Texturas, Memorial de Interiores, Briefing de Projeto e LOG de considerações (00 - Premissas de Projeto). Índices urbanísticos não fazem parte deste Book. Onde os documentos divergem, o item está marcado A VALIDAR.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01 · FACHADA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Premissas e especificações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012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Leitura geral  ·  mapa de texturas  ·  vistas com marcação e legenda técnica  ·  brises e elevações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CANASVIEIRAS SPOT  ·  BOOK DE PREMISSAS DE FACHADA E INTERIORES  ·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Leitura geral: o que compõe a fachada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CANASVIEIRAS SPOT  ·  BOOK DE PREMISSAS DE FACHADA E INTERIORES  ·  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5129783" cy="2889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1_RENDERS_LANCAMENTO__01_(1).jpg"/>
          <p:cNvPicPr>
            <a:picLocks noChangeAspect="1"/>
          </p:cNvPicPr>
          <p:nvPr/>
        </p:nvPicPr>
        <p:blipFill>
          <a:blip r:embed="rId4"/>
          <a:srcRect t="330" b="330"/>
          <a:stretch>
            <a:fillRect/>
          </a:stretch>
        </p:blipFill>
        <p:spPr>
          <a:xfrm>
            <a:off x="502920" y="1170432"/>
            <a:ext cx="5074920" cy="28346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233172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RENDER · FACHADA FRONTAL (LANÇAMENTO)</a:t>
            </a:r>
          </a:p>
        </p:txBody>
      </p:sp>
      <p:sp>
        <p:nvSpPr>
          <p:cNvPr id="13" name="Oval 12"/>
          <p:cNvSpPr/>
          <p:nvPr/>
        </p:nvSpPr>
        <p:spPr>
          <a:xfrm>
            <a:off x="2755544" y="1378000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778404" y="1400860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3922776" y="1505559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945635" y="1528419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562938" y="1675638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585798" y="169849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2907792" y="1746504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930652" y="1769364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2324176" y="1987448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347036" y="201030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3415284" y="2455164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438144" y="2478024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Oval 24"/>
          <p:cNvSpPr/>
          <p:nvPr/>
        </p:nvSpPr>
        <p:spPr>
          <a:xfrm>
            <a:off x="1994306" y="2341778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017166" y="236463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7" name="Oval 26"/>
          <p:cNvSpPr/>
          <p:nvPr/>
        </p:nvSpPr>
        <p:spPr>
          <a:xfrm>
            <a:off x="1613687" y="2185873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636547" y="2208733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9" name="Oval 28"/>
          <p:cNvSpPr/>
          <p:nvPr/>
        </p:nvSpPr>
        <p:spPr>
          <a:xfrm>
            <a:off x="2577922" y="3064611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600782" y="3087471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31" name="Oval 30"/>
          <p:cNvSpPr/>
          <p:nvPr/>
        </p:nvSpPr>
        <p:spPr>
          <a:xfrm>
            <a:off x="4100398" y="3064611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123258" y="3087471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60720" y="1170432"/>
            <a:ext cx="2880360" cy="35844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97880" y="1243584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6F7891"/>
                </a:solidFill>
                <a:latin typeface="Arial"/>
              </a:rPr>
              <a:t>LEGENDA</a:t>
            </a:r>
          </a:p>
        </p:txBody>
      </p:sp>
      <p:sp>
        <p:nvSpPr>
          <p:cNvPr id="35" name="Oval 34"/>
          <p:cNvSpPr/>
          <p:nvPr/>
        </p:nvSpPr>
        <p:spPr>
          <a:xfrm>
            <a:off x="5897880" y="1481328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1463040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Letreiro SEAZONE no coroamento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letras-caixa iluminadas · não detalhado no executivo</a:t>
            </a:r>
          </a:p>
        </p:txBody>
      </p:sp>
      <p:sp>
        <p:nvSpPr>
          <p:cNvPr id="37" name="Oval 36"/>
          <p:cNvSpPr/>
          <p:nvPr/>
        </p:nvSpPr>
        <p:spPr>
          <a:xfrm>
            <a:off x="5897880" y="1810512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1792224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Pergolado da cobertura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AC-02 pergolado em alumínio</a:t>
            </a:r>
          </a:p>
        </p:txBody>
      </p:sp>
      <p:sp>
        <p:nvSpPr>
          <p:cNvPr id="39" name="Oval 38"/>
          <p:cNvSpPr/>
          <p:nvPr/>
        </p:nvSpPr>
        <p:spPr>
          <a:xfrm>
            <a:off x="5897880" y="2139696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2121408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Guarda-corpo dos terraços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GC-01 alumínio / vidro · h=110 cm</a:t>
            </a:r>
          </a:p>
        </p:txBody>
      </p:sp>
      <p:sp>
        <p:nvSpPr>
          <p:cNvPr id="41" name="Oval 40"/>
          <p:cNvSpPr/>
          <p:nvPr/>
        </p:nvSpPr>
        <p:spPr>
          <a:xfrm>
            <a:off x="5897880" y="2468880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72200" y="2450592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Volume central amadeirado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REV-08 porcelanato Boreal Natural 20×120</a:t>
            </a:r>
          </a:p>
        </p:txBody>
      </p:sp>
      <p:sp>
        <p:nvSpPr>
          <p:cNvPr id="43" name="Oval 42"/>
          <p:cNvSpPr/>
          <p:nvPr/>
        </p:nvSpPr>
        <p:spPr>
          <a:xfrm>
            <a:off x="5897880" y="2798064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72200" y="2779776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Brises verticais das janelas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BRI-01 brise de correr 75×25 · preto e Oak</a:t>
            </a:r>
          </a:p>
        </p:txBody>
      </p:sp>
      <p:sp>
        <p:nvSpPr>
          <p:cNvPr id="45" name="Oval 44"/>
          <p:cNvSpPr/>
          <p:nvPr/>
        </p:nvSpPr>
        <p:spPr>
          <a:xfrm>
            <a:off x="5897880" y="3127248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72200" y="3108960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Ripado horizontal nas janelas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só no render · não consta nas elevações</a:t>
            </a:r>
          </a:p>
        </p:txBody>
      </p:sp>
      <p:sp>
        <p:nvSpPr>
          <p:cNvPr id="47" name="Oval 46"/>
          <p:cNvSpPr/>
          <p:nvPr/>
        </p:nvSpPr>
        <p:spPr>
          <a:xfrm>
            <a:off x="5897880" y="3456432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72200" y="3438144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Painéis laterais em grelha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EV3 elemento vazado de concreto 40×40</a:t>
            </a:r>
          </a:p>
        </p:txBody>
      </p:sp>
      <p:sp>
        <p:nvSpPr>
          <p:cNvPr id="49" name="Oval 48"/>
          <p:cNvSpPr/>
          <p:nvPr/>
        </p:nvSpPr>
        <p:spPr>
          <a:xfrm>
            <a:off x="5897880" y="3785615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72200" y="3767328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Floreiras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AC-01 vaso 29×80 cm · Vasoflex</a:t>
            </a:r>
          </a:p>
        </p:txBody>
      </p:sp>
      <p:sp>
        <p:nvSpPr>
          <p:cNvPr id="51" name="Oval 50"/>
          <p:cNvSpPr/>
          <p:nvPr/>
        </p:nvSpPr>
        <p:spPr>
          <a:xfrm>
            <a:off x="5897880" y="4114800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72200" y="4096512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Brises amadeirados do mezanino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Lesco Green Brise · Oak</a:t>
            </a:r>
          </a:p>
        </p:txBody>
      </p:sp>
      <p:sp>
        <p:nvSpPr>
          <p:cNvPr id="53" name="Oval 52"/>
          <p:cNvSpPr/>
          <p:nvPr/>
        </p:nvSpPr>
        <p:spPr>
          <a:xfrm>
            <a:off x="5897880" y="4443983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4425696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Elemento vazado sobre as lojas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EV1 concreto 40×40 · 1.200×240 cm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4096512"/>
            <a:ext cx="5074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  <a:latin typeface="Arial"/>
              </a:rPr>
              <a:t>A fachada é lida em quatro camadas: volume central em porcelanato amadeirado (REV-08) com brises verticais de correr; volumes laterais em cinza escuro (REV-06) e branco (REV-07) com floreiras e painéis em elemento vazado; base do térreo e mezanino com brises Oak, elemento vazado sobre as lojas e totem de acesso; coroamento com guarda-corpo de vidro, pergolado e letreiro SEAZONE.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MAPA DE TEXTURAS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Texturas e acabamentos da fachada (1/2)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CANASVIEIRAS SPOT  ·  BOOK DE PREMISSAS DE FACHADA E INTERIORES  · 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891"/>
                </a:solidFill>
                <a:latin typeface="Arial"/>
              </a:rPr>
              <a:t>Amostras extraídas das imagens de lançamento: referência visual, não substitui amostra física. Especificação: executivo e Memorial Descritivo.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sw_rev06.jpg"/>
          <p:cNvPicPr>
            <a:picLocks noChangeAspect="1"/>
          </p:cNvPicPr>
          <p:nvPr/>
        </p:nvPicPr>
        <p:blipFill>
          <a:blip r:embed="rId4"/>
          <a:srcRect t="25316" b="25316"/>
          <a:stretch>
            <a:fillRect/>
          </a:stretch>
        </p:blipFill>
        <p:spPr>
          <a:xfrm>
            <a:off x="594360" y="1536192"/>
            <a:ext cx="868680" cy="640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REV-06 · Pintura cinza escuro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volumes escuros laterais, bases e molduras nas 4 elevações.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pintura acrílica sobre textura/massa acrílica · ref. cor Rock'n Roll (Suvinil).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aprovar amostra em painel na própria fachada antes da compra; mesma cor e lote nas 4 faces.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_BOOK_ASSETS__sw_rev05.jpg"/>
          <p:cNvPicPr>
            <a:picLocks noChangeAspect="1"/>
          </p:cNvPicPr>
          <p:nvPr/>
        </p:nvPicPr>
        <p:blipFill>
          <a:blip r:embed="rId5"/>
          <a:srcRect l="27381" r="27381"/>
          <a:stretch>
            <a:fillRect/>
          </a:stretch>
        </p:blipFill>
        <p:spPr>
          <a:xfrm>
            <a:off x="3337560" y="1536192"/>
            <a:ext cx="868680" cy="6400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3375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REV-05 · Pintura "cinza claro"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faixas de laje, marquise do térreo e fundo do elemento vazado das lojas.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pintura acrílica · descrita como "cinza claro" com ref. cor Nanquim (Suvinil).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nome da cor e descrição não conferem entre si: validar amostra contra o render. A VALIDAR.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6_BOOK_ASSETS__sw_rev07.jpg"/>
          <p:cNvPicPr>
            <a:picLocks noChangeAspect="1"/>
          </p:cNvPicPr>
          <p:nvPr/>
        </p:nvPicPr>
        <p:blipFill>
          <a:blip r:embed="rId6"/>
          <a:srcRect t="20027" b="20027"/>
          <a:stretch>
            <a:fillRect/>
          </a:stretch>
        </p:blipFill>
        <p:spPr>
          <a:xfrm>
            <a:off x="6080759" y="1536192"/>
            <a:ext cx="868680" cy="6400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080759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REV-07 · Pintura branco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volumes laterais claros, platibanda da cobertura e caixa do reservatório.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pintura acrílica · ref. Branco Puro (Suvinil).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reservatório com acabamento externo idem fachada (memorial 30.4.3).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6_BOOK_ASSETS__sw_rev08.jpg"/>
          <p:cNvPicPr>
            <a:picLocks noChangeAspect="1"/>
          </p:cNvPicPr>
          <p:nvPr/>
        </p:nvPicPr>
        <p:blipFill>
          <a:blip r:embed="rId7"/>
          <a:srcRect t="35965" b="35965"/>
          <a:stretch>
            <a:fillRect/>
          </a:stretch>
        </p:blipFill>
        <p:spPr>
          <a:xfrm>
            <a:off x="594360" y="3227832"/>
            <a:ext cx="868680" cy="6400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943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REV-08 · Porcelanato amadeirado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volume central das fachadas frontal e posterior e montantes entre janelas.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porcelanato retificado 20×120 cm · Boreal Natural (Portobello) · memorial 10.1 e 30.3.5.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o render mostra tom mais quente e claro: aprovar peça física contra a imagem; definir paginação e juntas.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06_BOOK_ASSETS__sw_bri_oak.jpg"/>
          <p:cNvPicPr>
            <a:picLocks noChangeAspect="1"/>
          </p:cNvPicPr>
          <p:nvPr/>
        </p:nvPicPr>
        <p:blipFill>
          <a:blip r:embed="rId8"/>
          <a:srcRect t="26596" b="26596"/>
          <a:stretch>
            <a:fillRect/>
          </a:stretch>
        </p:blipFill>
        <p:spPr>
          <a:xfrm>
            <a:off x="3337560" y="3227832"/>
            <a:ext cx="868680" cy="64008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33375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02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BRI-01 · Brise amadeirado (Oak)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02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térreo, mezanino e parte dos pavimentos 2 a 4 · 51 módulos.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brise de correr em alumínio · ref. Lesco Green Brise 75×25 mm, cor Oak · módulo 140 cm.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briefing (gerais) marca brise em PVC e desmarca metálico: confirmar material antes de comprar. A VALIDAR.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06_BOOK_ASSETS__sw_bri_preto.jpg"/>
          <p:cNvPicPr>
            <a:picLocks noChangeAspect="1"/>
          </p:cNvPicPr>
          <p:nvPr/>
        </p:nvPicPr>
        <p:blipFill>
          <a:blip r:embed="rId9"/>
          <a:srcRect t="13158" b="13158"/>
          <a:stretch>
            <a:fillRect/>
          </a:stretch>
        </p:blipFill>
        <p:spPr>
          <a:xfrm>
            <a:off x="6080759" y="3227832"/>
            <a:ext cx="868680" cy="64008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080759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34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BRI-01 · Brise alumínio preto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34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janelas dos pavimentos 2, 3 e 4 (e 1 no mezanino) · 44 módulos.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59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brise de correr em alumínio preto 75×25 mm · trilho BRI-02 em alumínio preto.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59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Brise 1 (250 cm) e Brise 2 (200 cm) não se trocam entre pavimentos; material × briefing (PVC): A VALIDAR.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MAPA DE TEXTURAS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Texturas e acabamentos da fachada (2/2)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CANASVIEIRAS SPOT  ·  BOOK DE PREMISSAS DE FACHADA E INTERIORES  · 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891"/>
                </a:solidFill>
                <a:latin typeface="Arial"/>
              </a:rPr>
              <a:t>Amostras extraídas das imagens de lançamento: referência visual, não substitui amostra física. Especificação: executivo e Memorial Descritivo.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sw_ev.jpg"/>
          <p:cNvPicPr>
            <a:picLocks noChangeAspect="1"/>
          </p:cNvPicPr>
          <p:nvPr/>
        </p:nvPicPr>
        <p:blipFill>
          <a:blip r:embed="rId4"/>
          <a:srcRect l="12534" r="12534"/>
          <a:stretch>
            <a:fillRect/>
          </a:stretch>
        </p:blipFill>
        <p:spPr>
          <a:xfrm>
            <a:off x="594360" y="1536192"/>
            <a:ext cx="868680" cy="640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Elemento vazado de concreto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fachada sobre as lojas (EV1 1.200×240) e EV2 160×180.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elemento vazado de concreto 40×40 cm, peças fixas (quadro de esquadrias, prancha 27).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o render mostra borda inferior "pixelada" (peças omitidas); o executivo mostra borda reta. A VALIDAR.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_BOOK_ASSETS__sw_grid_preto.jpg"/>
          <p:cNvPicPr>
            <a:picLocks noChangeAspect="1"/>
          </p:cNvPicPr>
          <p:nvPr/>
        </p:nvPicPr>
        <p:blipFill>
          <a:blip r:embed="rId5"/>
          <a:srcRect t="27693" b="27693"/>
          <a:stretch>
            <a:fillRect/>
          </a:stretch>
        </p:blipFill>
        <p:spPr>
          <a:xfrm>
            <a:off x="3337560" y="1536192"/>
            <a:ext cx="868680" cy="6400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3375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Painéis laterais em grelha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faixas verticais ao lado do volume central (EV3 240×260, 6 un · EV4 40×260, 6 un).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elemento vazado de concreto 40×40 cm; cor da peça não especificada.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no render as peças são pretas: definir se recebem REV-06 ou ficam aparentes. A VALIDAR.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6_BOOK_ASSETS__sw_esq.jpg"/>
          <p:cNvPicPr>
            <a:picLocks noChangeAspect="1"/>
          </p:cNvPicPr>
          <p:nvPr/>
        </p:nvPicPr>
        <p:blipFill>
          <a:blip r:embed="rId6"/>
          <a:srcRect t="6495" b="6495"/>
          <a:stretch>
            <a:fillRect/>
          </a:stretch>
        </p:blipFill>
        <p:spPr>
          <a:xfrm>
            <a:off x="6080759" y="1536192"/>
            <a:ext cx="868680" cy="6400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080759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Esquadrias de alumínio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janelas e porta-janelas de todas as unidades, lojas e áreas comuns.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alumínio anodizado preto (padrão Alcoa) · vidro laminado transparente; mini boreal 4 mm nos banheiros.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peitoril e pingadeira em granito preto São Gabriel com frisos nos dois lados (memorial 20).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6_BOOK_ASSETS__sw_gc.jpg"/>
          <p:cNvPicPr>
            <a:picLocks noChangeAspect="1"/>
          </p:cNvPicPr>
          <p:nvPr/>
        </p:nvPicPr>
        <p:blipFill>
          <a:blip r:embed="rId7"/>
          <a:srcRect l="32048" r="32048"/>
          <a:stretch>
            <a:fillRect/>
          </a:stretch>
        </p:blipFill>
        <p:spPr>
          <a:xfrm>
            <a:off x="594360" y="3227832"/>
            <a:ext cx="868680" cy="6400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943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Guarda-corpos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terraços da cobertura, terraços dos studios e borda da piscina.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alumínio anodizado preto + vidro · GC-01 h=110 cm · GC-02 h=90 cm · GC-03 h=118 cm (piscina).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briefing: vidro incolor com perfil "U" inox, sem perfis de alumínio × executivo: alumínio + vidro. A VALIDAR.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06_BOOK_ASSETS__sw_flor.jpg"/>
          <p:cNvPicPr>
            <a:picLocks noChangeAspect="1"/>
          </p:cNvPicPr>
          <p:nvPr/>
        </p:nvPicPr>
        <p:blipFill>
          <a:blip r:embed="rId8"/>
          <a:srcRect l="34242" r="34242"/>
          <a:stretch>
            <a:fillRect/>
          </a:stretch>
        </p:blipFill>
        <p:spPr>
          <a:xfrm>
            <a:off x="3337560" y="3227832"/>
            <a:ext cx="868680" cy="64008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33375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02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Floreiras de fachada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02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bordas de laje dos volumes laterais nos pavimentos 2 a 4.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AC-01 vaso para plantas 29×80 cm, h=29 cm · floreira modelo estrutural Vasoflex (Ecotelhado).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fixação mecânica com buchas e vasos independentes; paisagismo por empresa especializada.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06_BOOK_ASSETS__sw_perg.jpg"/>
          <p:cNvPicPr>
            <a:picLocks noChangeAspect="1"/>
          </p:cNvPicPr>
          <p:nvPr/>
        </p:nvPicPr>
        <p:blipFill>
          <a:blip r:embed="rId9"/>
          <a:srcRect l="30304" r="30304"/>
          <a:stretch>
            <a:fillRect/>
          </a:stretch>
        </p:blipFill>
        <p:spPr>
          <a:xfrm>
            <a:off x="6080759" y="3227832"/>
            <a:ext cx="868680" cy="64008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080759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34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Pergolado da cobertura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34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cobertura das áreas de integração e terraços do último pavimento.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59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AC-02 pergolado em alumínio (elevações) · memorial 30.3.5: "estrutura metálica com madeira".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59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LOG Ind. 06: reforço na estrutura metálica para o balanço. Alumínio × metálico com madeira: A VALIDAR.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VISTA + ESPECIFICAÇÃO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Esquina: fachada frontal e lateral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CANASVIEIRAS SPOT  ·  BOOK DE PREMISSAS DE FACHADA E INTERIORES  ·  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4626864" cy="2624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1_RENDERS_LANCAMENTO__07.jpg"/>
          <p:cNvPicPr>
            <a:picLocks noChangeAspect="1"/>
          </p:cNvPicPr>
          <p:nvPr/>
        </p:nvPicPr>
        <p:blipFill>
          <a:blip r:embed="rId4"/>
          <a:srcRect t="24" b="24"/>
          <a:stretch>
            <a:fillRect/>
          </a:stretch>
        </p:blipFill>
        <p:spPr>
          <a:xfrm>
            <a:off x="502920" y="1170432"/>
            <a:ext cx="4572000" cy="256946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92024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LANÇAMENTO · PERSPECTIVA DE ESQUINA</a:t>
            </a:r>
          </a:p>
        </p:txBody>
      </p:sp>
      <p:sp>
        <p:nvSpPr>
          <p:cNvPr id="13" name="Oval 12"/>
          <p:cNvSpPr/>
          <p:nvPr/>
        </p:nvSpPr>
        <p:spPr>
          <a:xfrm>
            <a:off x="2610612" y="1423263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633472" y="1446123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3387852" y="1641668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10712" y="166452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696212" y="1808683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719072" y="1831543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3113532" y="1834377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136391" y="1857237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604772" y="232257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627632" y="2345436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2427732" y="2027087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450591" y="2049947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Oval 24"/>
          <p:cNvSpPr/>
          <p:nvPr/>
        </p:nvSpPr>
        <p:spPr>
          <a:xfrm>
            <a:off x="2747772" y="2528133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770632" y="2550993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7" name="Oval 26"/>
          <p:cNvSpPr/>
          <p:nvPr/>
        </p:nvSpPr>
        <p:spPr>
          <a:xfrm>
            <a:off x="3067812" y="2964942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090672" y="2987802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9" name="Oval 28"/>
          <p:cNvSpPr/>
          <p:nvPr/>
        </p:nvSpPr>
        <p:spPr>
          <a:xfrm>
            <a:off x="3799332" y="2964942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22191" y="2987802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31" name="Oval 30"/>
          <p:cNvSpPr/>
          <p:nvPr/>
        </p:nvSpPr>
        <p:spPr>
          <a:xfrm>
            <a:off x="2382012" y="3401750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404872" y="3424610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5257800" y="1170432"/>
          <a:ext cx="3383280" cy="3566160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01168"/>
                <a:gridCol w="731520"/>
                <a:gridCol w="1883664"/>
                <a:gridCol w="566928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Especificação (executivo)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Letreiro SEAZONE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Letras-caixa iluminadas sobre painel cinza (render) · executivo: reservatório em REV-07, sem detalhe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Pergolado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AC-02 pergolado em alumínio · perfis pretos no render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Guarda-corpo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GC-01 alumínio anodizado preto / vidro · h=110 cm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Volume central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REV-08 porcelanato 20×120 Boreal Natural (Portobello)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Brises pretos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BRI-01 brise de correr alumínio preto 75×25 + trilho BRI-02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Floreiras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AC-01 vaso 29×80 cm · Vasoflex, fixação mecânica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Painel em grelha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EV3 elemento vazado concreto 40×40 · cor a definir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Brises Oak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BRI-01 Lesco Green Brise Oak · térreo e mezanino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Elemento vazado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EV1 concreto 40×40 (1.200×240) sobre REV-05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Totem de acesso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Nome "CANASVIEIRAS SPOT" em letras iluminadas no muro frontal (render)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502920" y="3840480"/>
            <a:ext cx="4572000" cy="93268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" y="3950208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LEITURA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16736" y="3941064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LEITURA DA ESQUINA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4169664"/>
            <a:ext cx="4261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A esquina concentra os três materiais de maior impacto visual: porcelanato amadeirado (REV-08), cinza escuro (REV-06) e brises. As floreiras marcam os volumes laterais e o elemento vazado com borda "pixelada" fecha o volume das lojas. O totem iluminado não tem detalhe no executivo.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VISTA + ESPECIFICAÇÃO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Fachada posterior e lateral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CANASVIEIRAS SPOT  ·  BOOK DE PREMISSAS DE FACHADA E INTERIORES  ·  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432304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1_RENDERS_LANCAMENTO__05_(2).jpg"/>
          <p:cNvPicPr>
            <a:picLocks noChangeAspect="1"/>
          </p:cNvPicPr>
          <p:nvPr/>
        </p:nvPicPr>
        <p:blipFill>
          <a:blip r:embed="rId4"/>
          <a:srcRect l="8231" r="9282"/>
          <a:stretch>
            <a:fillRect/>
          </a:stretch>
        </p:blipFill>
        <p:spPr>
          <a:xfrm>
            <a:off x="502920" y="1170432"/>
            <a:ext cx="2377440" cy="360273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60020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LANÇAMENTO · POSTERIOR</a:t>
            </a:r>
          </a:p>
        </p:txBody>
      </p:sp>
      <p:sp>
        <p:nvSpPr>
          <p:cNvPr id="13" name="Oval 12"/>
          <p:cNvSpPr/>
          <p:nvPr/>
        </p:nvSpPr>
        <p:spPr>
          <a:xfrm>
            <a:off x="1660660" y="2136678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683520" y="215953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430085" y="291126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452945" y="2934126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458906" y="2352842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81766" y="2375702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747125" y="3001335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769985" y="3024195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372441" y="3415649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95301" y="3438509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882469" y="2659075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5329" y="2681935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Oval 24"/>
          <p:cNvSpPr/>
          <p:nvPr/>
        </p:nvSpPr>
        <p:spPr>
          <a:xfrm>
            <a:off x="2121810" y="3199485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144670" y="3222345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3063240" y="1170432"/>
          <a:ext cx="5577840" cy="3200400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1143000"/>
                <a:gridCol w="3474720"/>
                <a:gridCol w="73152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Especificação (executivo / memorial)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Piscina da cobertura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Borda infinita com guarda-corpo GC-03 alumínio/vidro h=118 cm · revestimento Barlavento Blanc 14,5×14,5 (REV-09)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Volume amadeirado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REV-08 porcelanato 20×120 Boreal Natural (Portobello) · mesma leitura da fachada frontal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Brises das janelas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BRI-01 brise de correr alumínio preto e Oak · trilho BRI-02 alumínio preto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Ripado horizontal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Ripado metálico horizontal no peitoril das janelas (render) · não consta nas elevações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Brises Oak do térreo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Brise 3 Oak (210×140, 3 un) e Brise 4 Oak (220×140, 14 un) no pavimento 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Volume escuro lateral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REV-06 pintura cinza escuro · ref. Rock'n Roll (Suvinil)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Montantes brancos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REV-07 pintura Branco Puro (Suvinil)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Brise de ar-condicionado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BRI-03 veneziana de alumínio preto nas posições das condensadoras (elevações N e O)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3063240" y="4498848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Fachadas laterais e posterior repetem a paleta da frontal: REV-05, REV-06, REV-07 e REV-08 + brises. Referências: elevações Norte, Oeste e Leste (pranchas 20 a 22) e detalhes de elevação (pranchas 23 a 25).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VISTA + ESPECIFICAÇÃO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Térreo: acesso, lojas e totem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CANASVIEIRAS SPOT  ·  BOOK DE PREMISSAS DE FACHADA E INTERIORES  ·  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8193024" cy="2569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1_RENDERS_LANCAMENTO__04_(2).jpg"/>
          <p:cNvPicPr>
            <a:picLocks noChangeAspect="1"/>
          </p:cNvPicPr>
          <p:nvPr/>
        </p:nvPicPr>
        <p:blipFill>
          <a:blip r:embed="rId4"/>
          <a:srcRect l="131" r="131"/>
          <a:stretch>
            <a:fillRect/>
          </a:stretch>
        </p:blipFill>
        <p:spPr>
          <a:xfrm>
            <a:off x="502920" y="1170432"/>
            <a:ext cx="8138160" cy="25146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201168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LANÇAMENTO · TÉRREO E MEZANINO</a:t>
            </a:r>
          </a:p>
        </p:txBody>
      </p:sp>
      <p:sp>
        <p:nvSpPr>
          <p:cNvPr id="13" name="Oval 12"/>
          <p:cNvSpPr/>
          <p:nvPr/>
        </p:nvSpPr>
        <p:spPr>
          <a:xfrm>
            <a:off x="4073194" y="3175253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096054" y="3198113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3625596" y="2948940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48456" y="2971800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2649016" y="2898648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671876" y="292150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6311188" y="2898648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34048" y="292150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6473952" y="247116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96812" y="2494026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5253228" y="2420874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276088" y="2443734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Oval 24"/>
          <p:cNvSpPr/>
          <p:nvPr/>
        </p:nvSpPr>
        <p:spPr>
          <a:xfrm>
            <a:off x="4520793" y="171678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43653" y="1739645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7" name="Oval 26"/>
          <p:cNvSpPr/>
          <p:nvPr/>
        </p:nvSpPr>
        <p:spPr>
          <a:xfrm>
            <a:off x="4032504" y="1867662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055363" y="1890522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9" name="Oval 28"/>
          <p:cNvSpPr/>
          <p:nvPr/>
        </p:nvSpPr>
        <p:spPr>
          <a:xfrm>
            <a:off x="4439412" y="2710053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62272" y="2732913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31" name="Oval 30"/>
          <p:cNvSpPr/>
          <p:nvPr/>
        </p:nvSpPr>
        <p:spPr>
          <a:xfrm>
            <a:off x="4195267" y="2244851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218127" y="2267711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33" name="Oval 32"/>
          <p:cNvSpPr/>
          <p:nvPr/>
        </p:nvSpPr>
        <p:spPr>
          <a:xfrm>
            <a:off x="502920" y="3794759"/>
            <a:ext cx="173736" cy="17373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3803903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1">
                <a:solidFill>
                  <a:srgbClr val="00143D"/>
                </a:solidFill>
                <a:latin typeface="Arial"/>
              </a:rPr>
              <a:t>Totem CANASVIEIRAS SPOT  </a:t>
            </a:r>
            <a:r>
              <a:rPr sz="680" b="0">
                <a:solidFill>
                  <a:srgbClr val="6F7891"/>
                </a:solidFill>
                <a:latin typeface="Arial"/>
              </a:rPr>
              <a:t>letras iluminadas no muro · sem detalhe no executivo</a:t>
            </a:r>
          </a:p>
        </p:txBody>
      </p:sp>
      <p:sp>
        <p:nvSpPr>
          <p:cNvPr id="35" name="Oval 34"/>
          <p:cNvSpPr/>
          <p:nvPr/>
        </p:nvSpPr>
        <p:spPr>
          <a:xfrm>
            <a:off x="502920" y="3991355"/>
            <a:ext cx="173736" cy="17373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4000499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1">
                <a:solidFill>
                  <a:srgbClr val="00143D"/>
                </a:solidFill>
                <a:latin typeface="Arial"/>
              </a:rPr>
              <a:t>Rampa de acesso  </a:t>
            </a:r>
            <a:r>
              <a:rPr sz="680" b="0">
                <a:solidFill>
                  <a:srgbClr val="6F7891"/>
                </a:solidFill>
                <a:latin typeface="Arial"/>
              </a:rPr>
              <a:t>guarda-corpo/corrimão em perfil preto</a:t>
            </a:r>
          </a:p>
        </p:txBody>
      </p:sp>
      <p:sp>
        <p:nvSpPr>
          <p:cNvPr id="37" name="Oval 36"/>
          <p:cNvSpPr/>
          <p:nvPr/>
        </p:nvSpPr>
        <p:spPr>
          <a:xfrm>
            <a:off x="502920" y="4187951"/>
            <a:ext cx="173736" cy="17373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4197095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1">
                <a:solidFill>
                  <a:srgbClr val="00143D"/>
                </a:solidFill>
                <a:latin typeface="Arial"/>
              </a:rPr>
              <a:t>Paisagismo do passeio  </a:t>
            </a:r>
            <a:r>
              <a:rPr sz="680" b="0">
                <a:solidFill>
                  <a:srgbClr val="6F7891"/>
                </a:solidFill>
                <a:latin typeface="Arial"/>
              </a:rPr>
              <a:t>vegetação alta em frente às unidades do térreo</a:t>
            </a:r>
          </a:p>
        </p:txBody>
      </p:sp>
      <p:sp>
        <p:nvSpPr>
          <p:cNvPr id="39" name="Oval 38"/>
          <p:cNvSpPr/>
          <p:nvPr/>
        </p:nvSpPr>
        <p:spPr>
          <a:xfrm>
            <a:off x="502920" y="4384548"/>
            <a:ext cx="173736" cy="17373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4393692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1">
                <a:solidFill>
                  <a:srgbClr val="00143D"/>
                </a:solidFill>
                <a:latin typeface="Arial"/>
              </a:rPr>
              <a:t>Lojas 01 e 02  </a:t>
            </a:r>
            <a:r>
              <a:rPr sz="680" b="0">
                <a:solidFill>
                  <a:srgbClr val="6F7891"/>
                </a:solidFill>
                <a:latin typeface="Arial"/>
              </a:rPr>
              <a:t>vitrines em vidro · esquadria de alumínio preto</a:t>
            </a:r>
          </a:p>
        </p:txBody>
      </p:sp>
      <p:sp>
        <p:nvSpPr>
          <p:cNvPr id="41" name="Oval 40"/>
          <p:cNvSpPr/>
          <p:nvPr/>
        </p:nvSpPr>
        <p:spPr>
          <a:xfrm>
            <a:off x="502920" y="4581144"/>
            <a:ext cx="173736" cy="17373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8" y="4590288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1">
                <a:solidFill>
                  <a:srgbClr val="00143D"/>
                </a:solidFill>
                <a:latin typeface="Arial"/>
              </a:rPr>
              <a:t>Elemento vazado EV1  </a:t>
            </a:r>
            <a:r>
              <a:rPr sz="680" b="0">
                <a:solidFill>
                  <a:srgbClr val="6F7891"/>
                </a:solidFill>
                <a:latin typeface="Arial"/>
              </a:rPr>
              <a:t>concreto 40×40 · borda "pixelada" A VALIDAR</a:t>
            </a:r>
          </a:p>
        </p:txBody>
      </p:sp>
      <p:sp>
        <p:nvSpPr>
          <p:cNvPr id="43" name="Oval 42"/>
          <p:cNvSpPr/>
          <p:nvPr/>
        </p:nvSpPr>
        <p:spPr>
          <a:xfrm>
            <a:off x="4617720" y="3794759"/>
            <a:ext cx="173736" cy="17373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64608" y="3803903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1">
                <a:solidFill>
                  <a:srgbClr val="00143D"/>
                </a:solidFill>
                <a:latin typeface="Arial"/>
              </a:rPr>
              <a:t>Brises Oak do mezanino  </a:t>
            </a:r>
            <a:r>
              <a:rPr sz="680" b="0">
                <a:solidFill>
                  <a:srgbClr val="6F7891"/>
                </a:solidFill>
                <a:latin typeface="Arial"/>
              </a:rPr>
              <a:t>Brise 2 Oak 200×140 · 17 un no mezanino</a:t>
            </a:r>
          </a:p>
        </p:txBody>
      </p:sp>
      <p:sp>
        <p:nvSpPr>
          <p:cNvPr id="45" name="Oval 44"/>
          <p:cNvSpPr/>
          <p:nvPr/>
        </p:nvSpPr>
        <p:spPr>
          <a:xfrm>
            <a:off x="4617720" y="3991355"/>
            <a:ext cx="173736" cy="17373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64608" y="4000499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1">
                <a:solidFill>
                  <a:srgbClr val="00143D"/>
                </a:solidFill>
                <a:latin typeface="Arial"/>
              </a:rPr>
              <a:t>Painel em grelha EV3  </a:t>
            </a:r>
            <a:r>
              <a:rPr sz="680" b="0">
                <a:solidFill>
                  <a:srgbClr val="6F7891"/>
                </a:solidFill>
                <a:latin typeface="Arial"/>
              </a:rPr>
              <a:t>elemento vazado 40×40 · cor A VALIDAR</a:t>
            </a:r>
          </a:p>
        </p:txBody>
      </p:sp>
      <p:sp>
        <p:nvSpPr>
          <p:cNvPr id="47" name="Oval 46"/>
          <p:cNvSpPr/>
          <p:nvPr/>
        </p:nvSpPr>
        <p:spPr>
          <a:xfrm>
            <a:off x="4617720" y="4187951"/>
            <a:ext cx="173736" cy="17373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64608" y="4197095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1">
                <a:solidFill>
                  <a:srgbClr val="00143D"/>
                </a:solidFill>
                <a:latin typeface="Arial"/>
              </a:rPr>
              <a:t>Floreiras AC-01  </a:t>
            </a:r>
            <a:r>
              <a:rPr sz="680" b="0">
                <a:solidFill>
                  <a:srgbClr val="6F7891"/>
                </a:solidFill>
                <a:latin typeface="Arial"/>
              </a:rPr>
              <a:t>vaso 29×80 cm · Vasoflex</a:t>
            </a:r>
          </a:p>
        </p:txBody>
      </p:sp>
      <p:sp>
        <p:nvSpPr>
          <p:cNvPr id="49" name="Oval 48"/>
          <p:cNvSpPr/>
          <p:nvPr/>
        </p:nvSpPr>
        <p:spPr>
          <a:xfrm>
            <a:off x="4617720" y="4384548"/>
            <a:ext cx="173736" cy="17373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64608" y="4393692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1">
                <a:solidFill>
                  <a:srgbClr val="00143D"/>
                </a:solidFill>
                <a:latin typeface="Arial"/>
              </a:rPr>
              <a:t>Faixa de laje / marquise  </a:t>
            </a:r>
            <a:r>
              <a:rPr sz="680" b="0">
                <a:solidFill>
                  <a:srgbClr val="6F7891"/>
                </a:solidFill>
                <a:latin typeface="Arial"/>
              </a:rPr>
              <a:t>REV-05 pintura cinza (ref. Nanquim)</a:t>
            </a:r>
          </a:p>
        </p:txBody>
      </p:sp>
      <p:sp>
        <p:nvSpPr>
          <p:cNvPr id="51" name="Oval 50"/>
          <p:cNvSpPr/>
          <p:nvPr/>
        </p:nvSpPr>
        <p:spPr>
          <a:xfrm>
            <a:off x="4617720" y="4581144"/>
            <a:ext cx="173736" cy="17373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64608" y="4590288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1">
                <a:solidFill>
                  <a:srgbClr val="00143D"/>
                </a:solidFill>
                <a:latin typeface="Arial"/>
              </a:rPr>
              <a:t>Esquadrias do pavimento 1  </a:t>
            </a:r>
            <a:r>
              <a:rPr sz="680" b="0">
                <a:solidFill>
                  <a:srgbClr val="6F7891"/>
                </a:solidFill>
                <a:latin typeface="Arial"/>
              </a:rPr>
              <a:t>alumínio anodizado preto · vidro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Brises: tipos, quantidades e fixação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CANASVIEIRAS SPOT  ·  BOOK DE PREMISSAS DE FACHADA E INTERIORES  · 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891"/>
                </a:solidFill>
                <a:latin typeface="Arial"/>
              </a:rPr>
              <a:t>95 módulos de brise de correr com 140 cm de largura (prancha 28 · MIE-13). A cor e a altura mudam por pavimento: conferir o quadro antes de fabricar.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371600"/>
            <a:ext cx="2651760" cy="34015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0080" y="148132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1517904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BRISE PRETO · ALUMÍNIO 75×25</a:t>
            </a:r>
          </a:p>
        </p:txBody>
      </p:sp>
      <p:pic>
        <p:nvPicPr>
          <p:cNvPr id="14" name="Picture 13" descr="06_BOOK_ASSETS__sw_bri_preto.jpg"/>
          <p:cNvPicPr>
            <a:picLocks noChangeAspect="1"/>
          </p:cNvPicPr>
          <p:nvPr/>
        </p:nvPicPr>
        <p:blipFill>
          <a:blip r:embed="rId4"/>
          <a:srcRect t="21154" b="21154"/>
          <a:stretch>
            <a:fillRect/>
          </a:stretch>
        </p:blipFill>
        <p:spPr>
          <a:xfrm>
            <a:off x="640080" y="1828800"/>
            <a:ext cx="2377440" cy="1371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0080" y="3310128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80" b="0">
                <a:solidFill>
                  <a:srgbClr val="333333"/>
                </a:solidFill>
                <a:latin typeface="Arial"/>
              </a:rPr>
              <a:t>Brise 1 · 250×140 cm · 15 un</a:t>
            </a:r>
          </a:p>
          <a:p>
            <a:pPr algn="l">
              <a:spcAft>
                <a:spcPts val="200"/>
              </a:spcAft>
            </a:pPr>
            <a:r>
              <a:rPr sz="680" b="0">
                <a:solidFill>
                  <a:srgbClr val="333333"/>
                </a:solidFill>
                <a:latin typeface="Arial"/>
              </a:rPr>
              <a:t>Brise 2 · 200×140 cm · 29 un</a:t>
            </a:r>
          </a:p>
          <a:p>
            <a:pPr algn="l">
              <a:spcAft>
                <a:spcPts val="200"/>
              </a:spcAft>
            </a:pPr>
            <a:r>
              <a:rPr sz="680" b="0">
                <a:solidFill>
                  <a:srgbClr val="333333"/>
                </a:solidFill>
                <a:latin typeface="Arial"/>
              </a:rPr>
              <a:t>Ripas de alumínio preto 75×25 mm, espaçamento 25 mm.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114800"/>
            <a:ext cx="2377440" cy="548640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160520"/>
            <a:ext cx="2194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50" b="1">
                <a:solidFill>
                  <a:srgbClr val="6F7891"/>
                </a:solidFill>
                <a:latin typeface="Arial"/>
              </a:rPr>
              <a:t>APLICAÇÃO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97680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1">
                <a:solidFill>
                  <a:srgbClr val="00143D"/>
                </a:solidFill>
                <a:latin typeface="Arial"/>
              </a:rPr>
              <a:t>Pav. 2: 5 + 8 · Pav. 3: 5 + 10 · Pav. 4: 5 + 10 · Mezanino: 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6120" y="1371600"/>
            <a:ext cx="2651760" cy="34015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383279" y="1481328"/>
            <a:ext cx="219456" cy="219456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75887" y="1517904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BRISE OAK · LESCO GREEN BRISE</a:t>
            </a:r>
          </a:p>
        </p:txBody>
      </p:sp>
      <p:pic>
        <p:nvPicPr>
          <p:cNvPr id="22" name="Picture 21" descr="06_BOOK_ASSETS__sw_lesco.jpg"/>
          <p:cNvPicPr>
            <a:picLocks noChangeAspect="1"/>
          </p:cNvPicPr>
          <p:nvPr/>
        </p:nvPicPr>
        <p:blipFill>
          <a:blip r:embed="rId5"/>
          <a:srcRect t="33711" b="33711"/>
          <a:stretch>
            <a:fillRect/>
          </a:stretch>
        </p:blipFill>
        <p:spPr>
          <a:xfrm>
            <a:off x="3383279" y="1828800"/>
            <a:ext cx="2377440" cy="1371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383279" y="3310128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80" b="0">
                <a:solidFill>
                  <a:srgbClr val="333333"/>
                </a:solidFill>
                <a:latin typeface="Arial"/>
              </a:rPr>
              <a:t>Brise 2 Oak · 200×140 cm · 34 un</a:t>
            </a:r>
          </a:p>
          <a:p>
            <a:pPr algn="l">
              <a:spcAft>
                <a:spcPts val="200"/>
              </a:spcAft>
            </a:pPr>
            <a:r>
              <a:rPr sz="680" b="0">
                <a:solidFill>
                  <a:srgbClr val="333333"/>
                </a:solidFill>
                <a:latin typeface="Arial"/>
              </a:rPr>
              <a:t>Brise 3 Oak · 210×140 cm · 3 un</a:t>
            </a:r>
          </a:p>
          <a:p>
            <a:pPr algn="l">
              <a:spcAft>
                <a:spcPts val="200"/>
              </a:spcAft>
            </a:pPr>
            <a:r>
              <a:rPr sz="680" b="0">
                <a:solidFill>
                  <a:srgbClr val="333333"/>
                </a:solidFill>
                <a:latin typeface="Arial"/>
              </a:rPr>
              <a:t>Brise 4 Oak · 220×140 cm · 14 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79" y="4114800"/>
            <a:ext cx="2377440" cy="548640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0" y="4160520"/>
            <a:ext cx="2194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50" b="1">
                <a:solidFill>
                  <a:srgbClr val="6F7891"/>
                </a:solidFill>
                <a:latin typeface="Arial"/>
              </a:rPr>
              <a:t>APLICAÇÃO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297680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1">
                <a:solidFill>
                  <a:srgbClr val="00143D"/>
                </a:solidFill>
                <a:latin typeface="Arial"/>
              </a:rPr>
              <a:t>Pav. 1: 3 + 14 · Mezanino: 17 · Pav. 2: 7 · Pav. 3: 5 · Pav. 4: 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9320" y="1371600"/>
            <a:ext cx="2651760" cy="34015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126480" y="1481328"/>
            <a:ext cx="219456" cy="219456"/>
          </a:xfrm>
          <a:prstGeom prst="ellipse">
            <a:avLst/>
          </a:prstGeom>
          <a:solidFill>
            <a:srgbClr val="B28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1517904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B28F36"/>
                </a:solidFill>
                <a:latin typeface="Arial"/>
              </a:rPr>
              <a:t>TRILHO BRI-02 E BRISE AC BRI-03</a:t>
            </a:r>
          </a:p>
        </p:txBody>
      </p:sp>
      <p:pic>
        <p:nvPicPr>
          <p:cNvPr id="30" name="Picture 29" descr="06_BOOK_ASSETS__sw_brise_det.jpg"/>
          <p:cNvPicPr>
            <a:picLocks noChangeAspect="1"/>
          </p:cNvPicPr>
          <p:nvPr/>
        </p:nvPicPr>
        <p:blipFill>
          <a:blip r:embed="rId6"/>
          <a:srcRect t="6715" b="6715"/>
          <a:stretch>
            <a:fillRect/>
          </a:stretch>
        </p:blipFill>
        <p:spPr>
          <a:xfrm>
            <a:off x="6126480" y="1828800"/>
            <a:ext cx="2377440" cy="13716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126480" y="3310128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680" b="0">
                <a:solidFill>
                  <a:srgbClr val="333333"/>
                </a:solidFill>
                <a:latin typeface="Arial"/>
              </a:rPr>
              <a:t>Brises de correr em trilho de alumínio preto (BRI-02), com cortineiro de 15 cm no forro (FOR-04).</a:t>
            </a:r>
          </a:p>
          <a:p>
            <a:pPr algn="l">
              <a:spcAft>
                <a:spcPts val="200"/>
              </a:spcAft>
            </a:pPr>
            <a:r>
              <a:rPr sz="680" b="0">
                <a:solidFill>
                  <a:srgbClr val="333333"/>
                </a:solidFill>
                <a:latin typeface="Arial"/>
              </a:rPr>
              <a:t>BRI-03: veneziana de alumínio preto nas condensadoras.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4114800"/>
            <a:ext cx="2377440" cy="548640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4160520"/>
            <a:ext cx="21945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50" b="1">
                <a:solidFill>
                  <a:srgbClr val="6F7891"/>
                </a:solidFill>
                <a:latin typeface="Arial"/>
              </a:rPr>
              <a:t>APLICAÇÃO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4297680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1">
                <a:solidFill>
                  <a:srgbClr val="00143D"/>
                </a:solidFill>
                <a:latin typeface="Arial"/>
              </a:rPr>
              <a:t>Todas as fachadas com brise móvel · BRI-03 nas elevações Norte e Oeste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EXECUTIVO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Elevações: códigos de acabamento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CANASVIEIRAS SPOT  ·  BOOK DE PREMISSAS DE FACHADA E INTERIORES  · 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3621024" cy="2816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6_BOOK_ASSETS__exec_elev_sul.jpg"/>
          <p:cNvPicPr>
            <a:picLocks noChangeAspect="1"/>
          </p:cNvPicPr>
          <p:nvPr/>
        </p:nvPicPr>
        <p:blipFill>
          <a:blip r:embed="rId4"/>
          <a:srcRect l="4919" r="4919"/>
          <a:stretch>
            <a:fillRect/>
          </a:stretch>
        </p:blipFill>
        <p:spPr>
          <a:xfrm>
            <a:off x="502920" y="1170432"/>
            <a:ext cx="3566160" cy="276148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205740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EXECUTIVO · ELEVAÇÃO SUL (PRANCHA 19)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206240" y="1170432"/>
          <a:ext cx="4434840" cy="3387852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548640"/>
                <a:gridCol w="3108960"/>
                <a:gridCol w="777240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Código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Especificação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Ref.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REV-05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 cinza claro · ref. cor Nanquim (Suvinil)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pr. 19–22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REV-06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 cinza escuro · ref. cor Rock'n Roll (Suvinil)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pr. 19–22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REV-07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 branco · ref. Branco Puro (Suvinil)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pr. 19–22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REV-08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Porcelanato retificado 20×120 · Boreal Natural (Portobello)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pr. 19–22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REV-09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Porcelanato Barlavento Blanc 14,5×14,5 (Portobello) · piscina, 66,31 m²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pr. 44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BRI-01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Brise de correr em alumínio · Lesco Green Brise 75×25 Oak / preto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pr. 28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BRI-02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Trilho do brise · alumínio preto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pr. 23–25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BRI-03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Brise de ar-condicionado · veneziana de alumínio preto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pr. 20, 22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GC-01/02/03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Guarda-corpo alumínio / vidro · h=110 / 90 / 118 cm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pr. 19, 23, 44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AC-01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Vaso para plantas 29×80 cm, h=29 · floreira Vasoflex (Ecotelhado)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pr. 19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AC-02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Pergolado em alumínio · ver detalhe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pr. 20–22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EV1–EV4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Elemento vazado de concreto 40×40 cm (1.200×240 · 160×180 · 240×260 · 40×260)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pr. 27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SOL-01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Soleira em granito cinza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pr. 23–25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502920" y="4023360"/>
            <a:ext cx="3566160" cy="7498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4133088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ATENÇÃO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6736" y="4123944"/>
            <a:ext cx="2651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QUADRO DE QUANTIDADES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352544"/>
            <a:ext cx="3255264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Quadro "Revestimento externo" (pranchas 19, 21, 22): 830,57 · 1.419,23 · 93,44 · 294,87 m² (total 2.638,11 m²). A ordem dos rótulos não confere com a legenda de cores: conferir antes de orçar.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LANÇAMENTO × EXECUTIVO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Comparativo: fachada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CANASVIEIRAS SPOT  ·  BOOK DE PREMISSAS DE FACHADA E INTERIORES  · 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Imagem de lançamento × executivo e memorial.  DEFINIDO = convergem  ·  A VALIDAR = divergem ou sem detalhe  ·  PENDENTE = sem definição.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298448"/>
          <a:ext cx="8138160" cy="3355848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1188720"/>
                <a:gridCol w="2514600"/>
                <a:gridCol w="3474720"/>
                <a:gridCol w="73152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Lançamento (imagens 3D)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Executivo / Memorial Descritivo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Volume central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Painéis em madeira clara e quente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REV-08 porcelanato 20×120 Boreal Natural (Portobello) · memorial 10.1 e 30.3.5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Volumes escuros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Grafite quase preto nos volumes laterais e bases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REV-06 pintura cinza escuro · ref. Rock'n Roll (Suvinil)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Faixas e marquise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Cinza médio nas bandas de laje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REV-05 "cinza claro" · ref. Nanquim (Suvinil): nome × descrição a conferir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Volumes brancos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Branco nos volumes laterais e reservatório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REV-07 pintura Branco Puro (Suvinil)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Brises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Brises verticais pretos e amadeirados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BRI-01 de correr, alumínio 75×25 preto e Lesco Oak · 95 módulos × briefing: PVC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Ripado horizontal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Ripado no peitoril das janelas (madeira na frontal, metálico na posterior)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Não aparece nas elevações: executivo mostra brise de piso a teto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Painéis em grelha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Painéis pretos com grelha quadrada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EV3/EV4 elemento vazado de concreto 40×40 · cor não especificada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Cobogó das lojas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Cinza, com borda inferior "pixelada"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EV1 elemento vazado 40×40, 1.200×240 cm, borda reta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Floreiras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Floreiras pretas com vegetação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AC-01 vaso 29×80 cm · Vasoflex (Ecotelhado)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Pergolado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Pergolado metálico preto em balanço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AC-02 em alumínio × memorial "metálica com madeira" · LOG Ind. 06: reforço p/ balanço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Guarda-corpos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 com perfil preto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GC-01/02/03 alumínio anodizado + vidro × briefing: vidro com perfil "U" inox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Esquadrias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Alumínio preto, vidro incolor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Alumínio anodizado preto (memorial 16.1) · quadro de esquadrias pranchas 26 e 27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Letreiro SEAZONE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Letras-caixa iluminadas no reservatório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Reservatório em REV-07; letreiro não detalhado (memorial 28.2)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Totem de acesso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Muro com letras iluminadas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Nome no muro frontal (elevação sul), sem detalhe de letra e iluminação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Premissas de interiores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012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Recepção e corredores  ·  rooftop  ·  unidades  ·  mapa de materialidade  ·  lançamento × executivo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CANASVIEIRAS SPOT  ·  BOOK DE PREMISSAS DE FACHADA E INTERIORES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Recepção, hall e corredores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CANASVIEIRAS SPOT  ·  BOOK DE PREMISSAS DE FACHADA E INTERIORES  · 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ECEPÇÃO__IMAGEM_02.jpg"/>
          <p:cNvPicPr>
            <a:picLocks noChangeAspect="1"/>
          </p:cNvPicPr>
          <p:nvPr/>
        </p:nvPicPr>
        <p:blipFill>
          <a:blip r:embed="rId4"/>
          <a:srcRect l="2842" r="2842"/>
          <a:stretch>
            <a:fillRect/>
          </a:stretch>
        </p:blipFill>
        <p:spPr>
          <a:xfrm>
            <a:off x="502920" y="1170432"/>
            <a:ext cx="2377440" cy="14173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23444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REFERÊNCIA · RECEPÇÃO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670048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ECEPÇÃO__CORREDOR_01.jpg"/>
          <p:cNvPicPr>
            <a:picLocks noChangeAspect="1"/>
          </p:cNvPicPr>
          <p:nvPr/>
        </p:nvPicPr>
        <p:blipFill>
          <a:blip r:embed="rId5"/>
          <a:srcRect l="2842" r="2842"/>
          <a:stretch>
            <a:fillRect/>
          </a:stretch>
        </p:blipFill>
        <p:spPr>
          <a:xfrm>
            <a:off x="502920" y="2697480"/>
            <a:ext cx="2377440" cy="14173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94360" y="2788920"/>
            <a:ext cx="123444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REFERÊNCIA · CORREDOR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06240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Imagens em 10 - Projeto de Interiores / 02 - Imagens / RECEPÇÃO (5 vistas, 2 corredores e planta). Recepção entregue mobiliada e equipada (memorial 31).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063240" y="1170432"/>
          <a:ext cx="5577840" cy="348386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051560"/>
                <a:gridCol w="452628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Premissa (memorial de texturas · memorial descritivo · memorial de interiores)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Piso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Porcelanato Superquadra Concreto Natural 90×90 retificado (Portobello) · lobby e corredores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Paredes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Off-white acetinado · Suvinil "Vela" / Coral "Camurça Clara" (texturas) × briefing corredores: "Outono Gelado" (Coral) · 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Painel do logo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Textura Velvet off-white (Suvinil Efeito Veludo / Coral Design) + "Canasvieiras SPOT" preto com LED no "O"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Ripado e floreiras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Sarrafos verticais em MDF Savana com verniz fosco · floreiras em MDF Savana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Teto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Recepção: gesso acartonado, pé-direito duplo (briefing) · corredores: forro modular, pé-direito 2,60 m (briefing + memorial 15.2)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Rodapé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Briefing + prancha 24: poliestireno branco 7 cm de sobrepor, quina viva × memorial 5 cm × texturas: esmalte preto · 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Iluminação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Trilho com 4 spots direcionáveis em alumínio preto · arandelas de corredor: cilindro off-white + haste Savana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Mobiliário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Sofá em couro (WestWing) · puffs Aurora e Saturno cinza · puff Seat Garden · tapete Debrum Chevron cinza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Esquadrias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Alumínio anodizado preto com vidro · portas de acesso das unidades conforme memorial 17.1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Rooftop: integração, gourmet e piscina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CANASVIEIRAS SPOT  ·  BOOK DE PREMISSAS DE FACHADA E INTERIORES  · 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OOFTOP__IMAGEM_02.jpg"/>
          <p:cNvPicPr>
            <a:picLocks noChangeAspect="1"/>
          </p:cNvPicPr>
          <p:nvPr/>
        </p:nvPicPr>
        <p:blipFill>
          <a:blip r:embed="rId4"/>
          <a:srcRect l="2842" r="2842"/>
          <a:stretch>
            <a:fillRect/>
          </a:stretch>
        </p:blipFill>
        <p:spPr>
          <a:xfrm>
            <a:off x="502920" y="1170432"/>
            <a:ext cx="2377440" cy="14173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46304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REFERÊNCIA · ROOFTOP / LOGO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670048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OOFTOP__IMAGEM_05.jpg"/>
          <p:cNvPicPr>
            <a:picLocks noChangeAspect="1"/>
          </p:cNvPicPr>
          <p:nvPr/>
        </p:nvPicPr>
        <p:blipFill>
          <a:blip r:embed="rId5"/>
          <a:srcRect l="2842" r="2842"/>
          <a:stretch>
            <a:fillRect/>
          </a:stretch>
        </p:blipFill>
        <p:spPr>
          <a:xfrm>
            <a:off x="502920" y="2697480"/>
            <a:ext cx="2377440" cy="14173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94360" y="2788920"/>
            <a:ext cx="146304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REFERÊNCIA · GOURMET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06240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Regra do memorial de texturas: onde o render mostra cimento queimado, aplicar textura Velvet (efeito veludo), preferência Suvinil e Coral.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063240" y="1170432"/>
          <a:ext cx="5577840" cy="348386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051560"/>
                <a:gridCol w="452628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Premissa (memorial de texturas · memorial descritivo · memorial de interiores)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Painéis cinza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Textura Velvet cinza concreto médio (Suvinil "Cimento Queimado"/"Concreto") · aprovar amostra contra render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Paredes internas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Pintura fosco aveludado lavável cinza claro · Suvinil "Cromo" / Coral "Cinza Sublime"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Pedra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Pedra branca estilo moledo: copa, parede do balanço e lateral · floreira e banco em alvenaria com a mesma pedra (LOG Ind. 02)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Deck e piso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Externo: porcelanato que imita madeira 120×20 (briefing) · interno: porcelanato 90×90 natural/acetinado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Marcenaria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Ripados e prateleiras em MDF Savana · armários do gourmet e mini market em MDF Cinza Sagrado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Bancada da copa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Granito Pitaya · cuba inox · torneira Gali bica alta (Docol)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Piscina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Aquecimento solar, 219×923 cm · Barlavento Blanc 14,5×14,5 (memorial) × briefing: esverdeado 20×20 · 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Mobiliário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Cadeira Mara bouclé cinza · poltrona alumínio preto · banqueta Clarice · balanço Acapulco · espreguiçadeira aço preto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Iluminação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Spots de sobrepor pretos · pendente Bulan em rattan · nome SPOT preto com LED no "O"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Unidades: acabamentos e escopo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CANASVIEIRAS SPOT  ·  BOOK DE PREMISSAS DE FACHADA E INTERIORES  ·  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ipologia_8__IMAGEM_02.jpg"/>
          <p:cNvPicPr>
            <a:picLocks noChangeAspect="1"/>
          </p:cNvPicPr>
          <p:nvPr/>
        </p:nvPicPr>
        <p:blipFill>
          <a:blip r:embed="rId4"/>
          <a:srcRect l="2842" r="2842"/>
          <a:stretch>
            <a:fillRect/>
          </a:stretch>
        </p:blipFill>
        <p:spPr>
          <a:xfrm>
            <a:off x="502920" y="1170432"/>
            <a:ext cx="2377440" cy="14173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23444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REFERÊNCIA · UNIDADE 205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670048"/>
            <a:ext cx="2432304" cy="1197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tipologia_1_(mezanino)__IMAGEM_02.jpg"/>
          <p:cNvPicPr>
            <a:picLocks noChangeAspect="1"/>
          </p:cNvPicPr>
          <p:nvPr/>
        </p:nvPicPr>
        <p:blipFill>
          <a:blip r:embed="rId5"/>
          <a:srcRect t="7248" b="7248"/>
          <a:stretch>
            <a:fillRect/>
          </a:stretch>
        </p:blipFill>
        <p:spPr>
          <a:xfrm>
            <a:off x="502920" y="2697480"/>
            <a:ext cx="2377440" cy="1143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94360" y="2788920"/>
            <a:ext cx="182880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REFERÊNCIA · UNIDADE 101 (MEZANINO)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913632"/>
            <a:ext cx="23774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Reforço para TV na laje: 101 a 117 (mezanino) e 201, 217, 301, 305, 311, 401, 405, 411, 501, 502, 505. Jacuzzi/hidro: 305, 311, 504, 505 e 506. Copa: mínimo de 55 cm livres (LOG · briefing).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063240" y="1170432"/>
          <a:ext cx="5577840" cy="348386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051560"/>
                <a:gridCol w="452628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Premissa (memorial descritivo · memorial de interiores)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Piso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Porcelanato Superquadra Concreto Natural 90×90 retificado (Portobello) · inclusive banheiros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Paredes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Acrílica acetinada branco gelo · teto branco neve fosco (briefing) · memorial 9.6: branco acetinado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Banheiro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Cetim Bianco 30×60 até o teto (memorial, pr. 40–41) × briefing: porcelanato 90×90 · vidro jateado (briefing) · 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Teto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Forro de gesso acartonado, pintura branco fosco · pé-direito 2,60 m; rebaixo de 20 cm em cozinha e BWC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Esquadrias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Alumínio anodizado preto · vidro laminado transparente; mini boreal 4 mm no BWC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Portas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Kit porta pronta lisa branca, guarnição 7 cm, bandeira alta · entrada laca PU branca · fechadura eletrônica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Marcenaria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Balcão MDF Cinza Urban · aéreo Savana + Cinza Urban · cabeceira Savana com LED · arara e mesa Savana + metal Pearl Gold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Bancadas e metais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Granito Pitaya (cozinha e BWC) · cuba inox e cuba de sobrepor branca · Docol Gali/Loggica · kit Square preto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Não instalado pela construtora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Cubas, bancadas, marcenaria, eletros, luminárias, A/C e metais (memorial 32.1): escopo Decor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 · MAPA DE MATERIALIDADE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Materiais de interiores (1/2)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CANASVIEIRAS SPOT  ·  BOOK DE PREMISSAS DE FACHADA E INTERIORES  ·  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891"/>
                </a:solidFill>
                <a:latin typeface="Arial"/>
              </a:rPr>
              <a:t>Amostras extraídas das imagens de interiores. Referência visual, não substitui amostra física. Especificação conforme memoriais e pranchas 40 a 44.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sw_piso_rec.jpg"/>
          <p:cNvPicPr>
            <a:picLocks noChangeAspect="1"/>
          </p:cNvPicPr>
          <p:nvPr/>
        </p:nvPicPr>
        <p:blipFill>
          <a:blip r:embed="rId4"/>
          <a:srcRect l="28964" r="28964"/>
          <a:stretch>
            <a:fillRect/>
          </a:stretch>
        </p:blipFill>
        <p:spPr>
          <a:xfrm>
            <a:off x="594360" y="1536192"/>
            <a:ext cx="868680" cy="640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Porcelanato Superquadra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unidades, lojas, hall, circulações, WC comuns e terraços da cobertura.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Superquadra Concreto Natural retificado 90×90 (Portobello) · memorial 12.4 e 30.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peças &gt; 40×40 com argamassa também no tardoz; alinhar paginação hall × circulação.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_BOOK_ASSETS__sw_cetim.jpg"/>
          <p:cNvPicPr>
            <a:picLocks noChangeAspect="1"/>
          </p:cNvPicPr>
          <p:nvPr/>
        </p:nvPicPr>
        <p:blipFill>
          <a:blip r:embed="rId5"/>
          <a:srcRect t="10526" b="10526"/>
          <a:stretch>
            <a:fillRect/>
          </a:stretch>
        </p:blipFill>
        <p:spPr>
          <a:xfrm>
            <a:off x="3337560" y="1536192"/>
            <a:ext cx="868680" cy="6400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3375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Porcelanato Cetim Bianco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paredes dos banheiros e áreas de serviço comuns, até o teto.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porcelanato retificado 30×60 Cetim Bianco (Portobello) · memorial cita "Mate" (9.4) e "Line" (30.2).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briefing marca porcelanato 90×90 nas paredes do BWC × 30×60 do executivo: A VALIDAR antes da compra.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6_BOOK_ASSETS__sw_savana.jpg"/>
          <p:cNvPicPr>
            <a:picLocks noChangeAspect="1"/>
          </p:cNvPicPr>
          <p:nvPr/>
        </p:nvPicPr>
        <p:blipFill>
          <a:blip r:embed="rId6"/>
          <a:srcRect t="33064" b="33064"/>
          <a:stretch>
            <a:fillRect/>
          </a:stretch>
        </p:blipFill>
        <p:spPr>
          <a:xfrm>
            <a:off x="6080759" y="1536192"/>
            <a:ext cx="868680" cy="6400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080759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MDF Savana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cabeceiras, araras, mesas e prateleiras; ripados e floreiras das áreas comuns.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MDF Savana (amadeirado claro) · verniz fosco nos ripados · metal Pearl Gold nas araras.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escopo Decor: prever ponto elétrico para o LED da cabeceira em todas as unidades.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6_BOOK_ASSETS__sw_urban.jpg"/>
          <p:cNvPicPr>
            <a:picLocks noChangeAspect="1"/>
          </p:cNvPicPr>
          <p:nvPr/>
        </p:nvPicPr>
        <p:blipFill>
          <a:blip r:embed="rId7"/>
          <a:srcRect t="11504" b="11504"/>
          <a:stretch>
            <a:fillRect/>
          </a:stretch>
        </p:blipFill>
        <p:spPr>
          <a:xfrm>
            <a:off x="594360" y="3227832"/>
            <a:ext cx="868680" cy="6400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943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MDF Cinza Urban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balcão e aéreo da cozinha das unidades.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MDF Cinza Urban (memorial de interiores) · rooftop usa MDF Cinza Sagrado (memorial de texturas).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confirmar se Cinza Urban e Cinza Sagrado são padrões distintos antes do pedido.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06_BOOK_ASSETS__sw_pitaya.jpg"/>
          <p:cNvPicPr>
            <a:picLocks noChangeAspect="1"/>
          </p:cNvPicPr>
          <p:nvPr/>
        </p:nvPicPr>
        <p:blipFill>
          <a:blip r:embed="rId8"/>
          <a:srcRect l="2877" r="2877"/>
          <a:stretch>
            <a:fillRect/>
          </a:stretch>
        </p:blipFill>
        <p:spPr>
          <a:xfrm>
            <a:off x="3337560" y="3227832"/>
            <a:ext cx="868680" cy="64008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33375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02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Granito Pitaya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02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bancadas de cozinha e banheiro das unidades e copa do rooftop.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granito Pitaya · cuba inox na cozinha, cuba de sobrepor branca no BWC.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bancada não instalada pela construtora (memorial 32.1): deixar pontos na cota do projeto.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06_BOOK_ASSETS__sw_velvet.jpg"/>
          <p:cNvPicPr>
            <a:picLocks noChangeAspect="1"/>
          </p:cNvPicPr>
          <p:nvPr/>
        </p:nvPicPr>
        <p:blipFill>
          <a:blip r:embed="rId9"/>
          <a:srcRect t="13280" b="13280"/>
          <a:stretch>
            <a:fillRect/>
          </a:stretch>
        </p:blipFill>
        <p:spPr>
          <a:xfrm>
            <a:off x="6080759" y="3227832"/>
            <a:ext cx="868680" cy="64008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080759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34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Textura Velvet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34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onde o render mostra cimento queimado: painéis cinza do rooftop e painel do logo da recepção.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59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Suvinil Efeito Veludo / Coral Design Efeito Veludo · cinza concreto (rooftop) e off-white (recepção).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59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aprovar amostra contra o render antes de aplicar em área grande.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 · MAPA DE MATERIALIDADE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Materiais de interiores (2/2)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CANASVIEIRAS SPOT  ·  BOOK DE PREMISSAS DE FACHADA E INTERIORES  · 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891"/>
                </a:solidFill>
                <a:latin typeface="Arial"/>
              </a:rPr>
              <a:t>Amostras extraídas das imagens de interiores. Referência visual, não substitui amostra física. Especificação conforme memoriais e pranchas 40 a 44.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sw_pedra.jpg"/>
          <p:cNvPicPr>
            <a:picLocks noChangeAspect="1"/>
          </p:cNvPicPr>
          <p:nvPr/>
        </p:nvPicPr>
        <p:blipFill>
          <a:blip r:embed="rId4"/>
          <a:srcRect l="11774" r="11774"/>
          <a:stretch>
            <a:fillRect/>
          </a:stretch>
        </p:blipFill>
        <p:spPr>
          <a:xfrm>
            <a:off x="594360" y="1536192"/>
            <a:ext cx="868680" cy="640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Pedra natural (moledo)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painel do logo do rooftop e backsplash do gourmet.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pedra branca estilo moledo, irregular, junta seca (briefing · memorial de texturas).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LOG Ind. 02: floreira e banco em alvenaria revestidos com a mesma pedra no rooftop externo.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_BOOK_ASSETS__sw_deck.jpg"/>
          <p:cNvPicPr>
            <a:picLocks noChangeAspect="1"/>
          </p:cNvPicPr>
          <p:nvPr/>
        </p:nvPicPr>
        <p:blipFill>
          <a:blip r:embed="rId5"/>
          <a:srcRect l="11849" r="11849"/>
          <a:stretch>
            <a:fillRect/>
          </a:stretch>
        </p:blipFill>
        <p:spPr>
          <a:xfrm>
            <a:off x="3337560" y="1536192"/>
            <a:ext cx="868680" cy="6400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3375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Deck do rooftop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deck aberto da cobertura e entorno da piscina.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piso elevado sobre painel wall (prancha 44) · briefing: porcelanato que imita madeira 120×20.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formato definido pelo briefing; referência comercial antiderrapante não definida. PENDENTE.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6_BOOK_ASSETS__sw_piscina.jpg"/>
          <p:cNvPicPr>
            <a:picLocks noChangeAspect="1"/>
          </p:cNvPicPr>
          <p:nvPr/>
        </p:nvPicPr>
        <p:blipFill>
          <a:blip r:embed="rId6"/>
          <a:srcRect l="33488" r="33488"/>
          <a:stretch>
            <a:fillRect/>
          </a:stretch>
        </p:blipFill>
        <p:spPr>
          <a:xfrm>
            <a:off x="6080759" y="1536192"/>
            <a:ext cx="868680" cy="6400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080759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Revestimento da piscina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piscina aquecida da cobertura (219×923 cm).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Barlavento Blanc 14,5×14,5 (memorial, pr. 44) × briefing: revestimento esverdeado 20×20.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cor/formato e borda (curva × infinita/atérmica) divergem entre memorial, prancha e briefing. A VALIDAR.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6_BOOK_ASSETS__sw_ripado_mdf.jpg"/>
          <p:cNvPicPr>
            <a:picLocks noChangeAspect="1"/>
          </p:cNvPicPr>
          <p:nvPr/>
        </p:nvPicPr>
        <p:blipFill>
          <a:blip r:embed="rId7"/>
          <a:srcRect t="21167" b="21167"/>
          <a:stretch>
            <a:fillRect/>
          </a:stretch>
        </p:blipFill>
        <p:spPr>
          <a:xfrm>
            <a:off x="594360" y="3227832"/>
            <a:ext cx="868680" cy="6400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943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Ripado de marcenaria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painéis divisórios do gourmet e da sala de espera do rooftop.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MDF Savana ripado, verniz fosco (memorial de texturas).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memorial de interiores lista a marcenaria do rooftop como "material a definir". PENDENTE.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06_BOOK_ASSETS__sw_sarrafo.jpg"/>
          <p:cNvPicPr>
            <a:picLocks noChangeAspect="1"/>
          </p:cNvPicPr>
          <p:nvPr/>
        </p:nvPicPr>
        <p:blipFill>
          <a:blip r:embed="rId8"/>
          <a:srcRect t="16269" b="16269"/>
          <a:stretch>
            <a:fillRect/>
          </a:stretch>
        </p:blipFill>
        <p:spPr>
          <a:xfrm>
            <a:off x="3337560" y="3227832"/>
            <a:ext cx="868680" cy="64008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33375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02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Sarrafos dos corredores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02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lobby e corredores dos pavimentos.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sarrafos verticais em MDF Savana sobre parede off-white acetinada · arandelas cilindro + madeira.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fixar após a pintura final; prever ponto das arandelas no eixo dos sarrafos.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06_BOOK_ASSETS__sw_painel_logo.jpg"/>
          <p:cNvPicPr>
            <a:picLocks noChangeAspect="1"/>
          </p:cNvPicPr>
          <p:nvPr/>
        </p:nvPicPr>
        <p:blipFill>
          <a:blip r:embed="rId9"/>
          <a:srcRect l="11849" r="11849"/>
          <a:stretch>
            <a:fillRect/>
          </a:stretch>
        </p:blipFill>
        <p:spPr>
          <a:xfrm>
            <a:off x="6080759" y="3227832"/>
            <a:ext cx="868680" cy="64008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080759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34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Painel do logo · recepção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34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parede de fundo da recepção.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59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textura Velvet clara + "Canasvieiras SPOT" em letras pretas com LED no "O".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59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prever alimentação elétrica do letreiro embutida antes da textura.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 · LANÇAMENTO × EXECUTIVO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Comparativo: interiores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CANASVIEIRAS SPOT  ·  BOOK DE PREMISSAS DE FACHADA E INTERIORES  ·  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Imagens de interiores × Memorial Descritivo, pranchas do executivo, Memorial de Texturas e Memorial de Interiores.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298448"/>
          <a:ext cx="8138160" cy="3355848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1188720"/>
                <a:gridCol w="2331720"/>
                <a:gridCol w="3657600"/>
                <a:gridCol w="73152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Imagens de interiores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Memorial / executivo / memorial de texturas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Porcelanato cinza claro cimentício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Superquadra Concreto Natural 90×90 (Portobello) · memorial 12.4 e 30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Banheiros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Porcelanato branco até o teto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Cetim Bianco 30×60 até o teto (memorial) × briefing: porcelanato 90×90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Rodapé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Preto nas circulações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Briefing + ROD-01 (pr. 24): branco 7 cm × memorial 5 cm × texturas: esmalte preto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Forro das circulações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Liso, com spots e trilho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Forro modular 2,60 m (briefing) = mineral 60×60 (memorial) · imagem ilustrativa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Portas das unidades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Pretas nos corredores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Brancas, bandeira até o forro (briefing) = laca PU branca (memorial) · imagem ilustrativa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Paredes das áreas comuns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Off-white + sarrafos amadeirados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Acrílica branco acetinado (9.8) · sarrafos MDF Savana (texturas, escopo Decor)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Paredes cinza do rooftop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Cimento queimado cinza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Regra: textura Velvet no lugar do cimento queimado · memorial: textura + acrílica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Painel do logo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Pedra (rooftop) e cimento claro (recepção)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Pedra moledo junta seca · textura Velvet off-white (texturas)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Piscina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Revestimento claro, borda em pedra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Barlavento Blanc (memorial, pr. 44) × esverdeado 20×20 (briefing) · borda a definir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Deck do rooftop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Deck amadeirado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Porcelanato imita madeira 120×20 (briefing) em piso elevado (pr. 44) · referência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Marcenaria das unidades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Amadeirado claro + cinza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MDF Savana, Cinza Urban e metal Pearl Gold (memorial de interiores)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Bancadas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Pedra clara granulada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Granito Pitaya · não instalado pela construtora (memorial 32.1)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Marcenaria rooftop / recepção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Ripados, prateleiras, mini market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"Material a definir" (interiores) × Savana e Cinza Sagrado (texturas)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Esquadrias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Alumínio preto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Alumínio anodizado preto · laminado transparente; mini boreal no BWC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03 · BRIEFING E 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Briefing e LOG de considerações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012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Premissas marcadas no Briefing de Projeto  ·  indicações do LOG  ·  cruzamento com o executivo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CANASVIEIRAS SPOT  ·  BOOK DE PREMISSAS DE FACHADA E INTERIORES  ·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03 · BRIEFING E 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Indicações do LOG: rooftop e interiores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CANASVIEIRAS SPOT  ·  BOOK DE PREMISSAS DE FACHADA E INTERIORES  ·  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Texto do LOG de considerações (00 - Premissas de Projeto) e do Briefing de Projeto. Só itens de fachada e interiores; indicações de aprovação e índices não entram neste Book.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325880"/>
            <a:ext cx="2651760" cy="21762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log_imgs__INDICAÇÃO_02.jpg"/>
          <p:cNvPicPr>
            <a:picLocks noChangeAspect="1"/>
          </p:cNvPicPr>
          <p:nvPr/>
        </p:nvPicPr>
        <p:blipFill>
          <a:blip r:embed="rId4"/>
          <a:srcRect t="10814" b="10814"/>
          <a:stretch>
            <a:fillRect/>
          </a:stretch>
        </p:blipFill>
        <p:spPr>
          <a:xfrm>
            <a:off x="594360" y="1417320"/>
            <a:ext cx="2468880" cy="100584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2514600"/>
            <a:ext cx="475488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IND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505456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Floreira e banco em alvenaria com pedra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74320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333333"/>
                </a:solidFill>
                <a:latin typeface="Arial"/>
              </a:rPr>
              <a:t>Criar floreira e banco em alvenaria, revestidos com pedra, no rooftop externo. Briefing: pedra branca estilo moledo na parede do balanço e na lateral, mesma pedra na floreira e no banco; tomadas triplas H 0,2–0,4 m nos bancos.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1325880"/>
            <a:ext cx="2651760" cy="21762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og_imgs__INDICAÇÃO_06.jpg"/>
          <p:cNvPicPr>
            <a:picLocks noChangeAspect="1"/>
          </p:cNvPicPr>
          <p:nvPr/>
        </p:nvPicPr>
        <p:blipFill>
          <a:blip r:embed="rId5"/>
          <a:srcRect t="7572" b="55525"/>
          <a:stretch>
            <a:fillRect/>
          </a:stretch>
        </p:blipFill>
        <p:spPr>
          <a:xfrm>
            <a:off x="3337560" y="1417320"/>
            <a:ext cx="2468880" cy="100584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3337560" y="2514600"/>
            <a:ext cx="475488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IND 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2505456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Reforço no pergolado para o balanço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274320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333333"/>
                </a:solidFill>
                <a:latin typeface="Arial"/>
              </a:rPr>
              <a:t>Prever reforço no pergolado (estrutura metálica) para instalação do balanço no rooftop. O Briefing (áreas comuns) marca o balanço instalado diretamente na laje: definir a fixação. A VALIDAR.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1325880"/>
            <a:ext cx="2651760" cy="21762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ROOFTOP__IMAGEM_03.jpg"/>
          <p:cNvPicPr>
            <a:picLocks noChangeAspect="1"/>
          </p:cNvPicPr>
          <p:nvPr/>
        </p:nvPicPr>
        <p:blipFill>
          <a:blip r:embed="rId6"/>
          <a:srcRect t="13786" b="13786"/>
          <a:stretch>
            <a:fillRect/>
          </a:stretch>
        </p:blipFill>
        <p:spPr>
          <a:xfrm>
            <a:off x="6080759" y="1417320"/>
            <a:ext cx="2468880" cy="100584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080759" y="2514600"/>
            <a:ext cx="475488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BRIEF.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2505456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Logos iluminados e piscina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59" y="274320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333333"/>
                </a:solidFill>
                <a:latin typeface="Arial"/>
              </a:rPr>
              <a:t>Ponto para logo iluminado: recepção H 1,20–1,40 m e parede externa do rooftop H 1,40 m, interruptor no logo. Piscina com aquecimento solar e revestimento esverdeado 20×20 no briefing (memorial: Barlavento Blanc).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593592"/>
            <a:ext cx="2651760" cy="1179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675887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REFORÇO PARA TV NA LAJE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913632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Mezanino (piso superior): 101 a 117 · demais tipologias: 201, 217, 301, 305, 311, 401, 405, 411, 501, 502 e 505 (LOG · Interiores e Briefing).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46120" y="3593592"/>
            <a:ext cx="2651760" cy="1179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83279" y="3675887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PONTOS DE JACUZZI / HIDRO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79" y="3913632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Unidades 305, 311, 504, 505 e 506: prever carga estrutural, elétrica e hidráulica (LOG · Interiores e Briefing áreas privativas).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89320" y="3593592"/>
            <a:ext cx="2651760" cy="1179576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44768" y="3703320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ATENÇÃO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03136" y="3694176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COPA DAS UNIDADES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3922776"/>
            <a:ext cx="2340864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Unidades já no limite: garantir 55 cm livres para a copa no corredor de acesso, ao lado da porta (LOG · Interiores).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03 · BRIEFING E 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Briefing × executivo: acabamentos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CANASVIEIRAS SPOT  ·  BOOK DE PREMISSAS DE FACHADA E INTERIORES  · 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Opções marcadas no Briefing de Projeto (Gerais e Áreas comuns 08/10/2024 · Áreas privativas 06/12/2024) × executivo e memoriais.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298448"/>
          <a:ext cx="8138160" cy="3321088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1188720"/>
                <a:gridCol w="2788920"/>
                <a:gridCol w="3200400"/>
                <a:gridCol w="73152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Briefing de Projeto (opção marcada)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Executivo / memoriais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Brises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PVC, conforme detalhamento (metálico desmarcado)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BRI-01 brise de correr em alumínio · Lesco 75×25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Guarda-corpos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 incolor com perfil "U" inox, sem perfis de alumínio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GC-01/02/03 alumínio anodizado + vidro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Esquadrias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Linha 32 (gold), alumínio anodizado ou PVC, preto fosco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Alumínio anodizado preto (memorial 16.1)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Muro frontal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 cor Seazone com logo e nome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Nome no muro (elevação sul) · totem iluminado no render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Forros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Recepção gesso (pé-direito duplo) · corredores, rooftop e mini market: modular 2,60 m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Forro mineral modular 60×60 nas circulações (memorial 15.2)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Paredes das áreas comuns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Recepção: cimento queimado areia · rooftop: cinza médio · corredores: Outono Gelado (Coral)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Texturas: Velvet no lugar do cimento queimado · corredores Vela / Camurça Clara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Pedra do rooftop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Pedra branca estilo moledo: copa, parede do balanço e lateral, floreira e banco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Pedra moledo junta seca (memorial de texturas)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Pisos internos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Porcelanato 90×90 natural/acetinado (vinílico desmarcado)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Superquadra Concreto Natural 90×90 (memorial 12.4)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Rodapé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Poliestireno branco 7 cm de sobrepor, quina viva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ROD-01 7 cm (pr. 24) × memorial 5 cm × texturas preto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Paredes do BWC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Porcelanato 90×90 natural/acetinado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Cetim Bianco 30×60 até o teto (memorial, pr. 40–41)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Rooftop externo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Porcelanato que imita madeira 120×20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Piso elevado porcelanato (pr. 44) · referência não definida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Piscina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Revestimento esverdeado 20×20 · aquecimento solar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Barlavento Blanc 14,5×14,5 (memorial 30.3.1, pr. 44)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Gardens e varandas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Deck de madeira nos gardens · varandas em porcelanato 90×90 antiderrapante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Terraços do térreo: Boreal Natural 20×120 (memorial 30.3.4)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Portas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Kit porta pronta lisa branca, bandeira até o forro, guarnição 7 cm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Laca PU branca (memorial 17.1)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Vidros dos BWC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Jateado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Mini boreal 4 mm (memorial 19.1 e 30.2.2)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938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Paredes das unidades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Acrílica acetinada branco gelo · teto branco neve fosco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Acrílica branco acetinado (memorial 9.6)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04 · PONTOS DE ATENÇÃO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Pontos de atenção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012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O que gera retrabalho se não for observado  ·  premissas travadas  ·  checklist de validação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CANASVIEIRAS SPOT  ·  BOOK DE PREMISSAS DE FACHADA E INTERIORES  ·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04 · PONTOS DE ATENÇÃO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O que Obras precisa observar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CANASVIEIRAS SPOT  ·  BOOK DE PREMISSAS DE FACHADA E INTERIORES  ·  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170432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5272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CORES E AMOSTRAS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5544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14996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Amostra física de REV-05, REV-06 e REV-07 aplicada na fachada e aprovada antes da compra.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0116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19568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REV-08 Boreal Natural: aprovar tom contra o render (a imagem é mais quente).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4688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24140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Pintura externa sempre sobre textura ou massa acrílica (memorial 11.2).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170432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79" y="125272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BRISES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79" y="15544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9584" y="14996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Briefing marca brise em PVC; executivo especifica alumínio: definir antes do pedido.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79" y="20116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9584" y="19568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Trilho BRI-02 e cortineiro FOR-04 de 15 cm devem ser compatibilizados com o forro.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79" y="24688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9584" y="24140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BRI-03 nas condensadoras: fechar posição das máquinas antes de fabricar.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20" y="1170432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125272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ELEMENTO VAZADO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15544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72784" y="14996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Peças de concreto 40×40: EV1 1.200×240, EV2 160×180, EV3 240×260 (6), EV4 40×260 (6).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20116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72784" y="19568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Definir cor das peças (render preto × concreto) e borda do EV1 antes da compra.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24688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72784" y="24140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Garantir prumo e alinhamento com as faixas de laje em REV-05.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2980944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3063239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GUARDA-CORPOS E ESQUADRIAS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33649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" y="33101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GC-01 h=110 · GC-02 h=90 · GC-03 h=118 cm na piscina: não padronizar alturas.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38221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37673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Esquadrias em alumínio anodizado preto, padrão Alcoa (quadro nas pranchas 26 e 27).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2793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6384" y="42245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Peitoril e pingadeira em granito preto São Gabriel com frisos (memorial 20).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46120" y="2980944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83279" y="3063239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FLOREIRAS E COBERTURA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83279" y="33649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29584" y="33101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AC-01 Vasoflex: fixação mecânica com buchas e vasos independentes.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83279" y="38221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29584" y="37673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Floreiras e jardins impermeabilizados; paisagismo por empresa especializada.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83279" y="42793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29584" y="42245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Balanço: reforço no pergolado (LOG Ind. 06) × fixação na laje (briefing).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89320" y="2980944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26480" y="3063239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INTERFACE OBRA × DECOR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0" y="33649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72784" y="33101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Obras entrega piso, revestimentos, forro, pintura e esquadrias (memorial 30).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26480" y="38221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72784" y="37673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Decor instala marcenaria, bancadas, metais, eletros e luminárias (memorial 32.1).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26480" y="42793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72784" y="42245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Pontos: LED de cabeceira, arandelas, logos iluminados, reforço de TV e jacuzzi.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04 · PONTOS DE ATENÇÃO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Não alterar sem validação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CANASVIEIRAS SPOT  ·  BOOK DE PREMISSAS DE FACHADA E INTERIORES  ·  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170432"/>
            <a:ext cx="3977639" cy="36027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52728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6F7891"/>
                </a:solidFill>
                <a:latin typeface="Arial"/>
              </a:rPr>
              <a:t>PREMISSAS TRAVADAS (CONVERGEM LANÇAMENTO E EXECUTIVO)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627632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1572768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Paleta da fachada: REV-05, REV-06, REV-07 e REV-08 nos volumes indicados nas elevações.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011680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1956816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Porcelanato Boreal Natural 20×120 no volume central (frontal e posterior).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395728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2340864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Brises de correr 75×25, preto e Oak, com trilho preto (material: A VALIDAR).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779776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2724912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Esquadrias em alumínio anodizado preto fosco (linha 32).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163824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3108960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Floreiras de fachada com vegetação nos volumes laterais.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547872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3493008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Piso porcelanato 90×90 Superquadra nas unidades e áreas comuns; portas brancas.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931920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3877056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Regra Velvet no lugar do cimento queimado das imagens de interiores.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315968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" y="4261104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Marcenaria das unidades em MDF Savana e Cinza Urban; bancadas em granito Pitaya.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99432" y="1170432"/>
            <a:ext cx="4041648" cy="3602736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54880" y="1280160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ATENÇÃO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13248" y="1271016"/>
            <a:ext cx="31272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ANTES DE COMPRAR OU EXECUTAR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1499616"/>
            <a:ext cx="3730752" cy="3218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1. </a:t>
            </a:r>
            <a:r>
              <a:rPr sz="700" b="0">
                <a:solidFill>
                  <a:srgbClr val="FFFFFF"/>
                </a:solidFill>
                <a:latin typeface="Arial"/>
              </a:rPr>
              <a:t>Qualquer troca de cor, material ou referência de fachada precisa de aprovação de Projetos: a fachada é a imagem vendida no lançamento.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2. </a:t>
            </a:r>
            <a:r>
              <a:rPr sz="700" b="0">
                <a:solidFill>
                  <a:srgbClr val="FFFFFF"/>
                </a:solidFill>
                <a:latin typeface="Arial"/>
              </a:rPr>
              <a:t>Itens A VALIDAR não entram em pedido de compra até a definição registrada.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3. </a:t>
            </a:r>
            <a:r>
              <a:rPr sz="700" b="0">
                <a:solidFill>
                  <a:srgbClr val="FFFFFF"/>
                </a:solidFill>
                <a:latin typeface="Arial"/>
              </a:rPr>
              <a:t>Amostras físicas (pinturas, porcelanato amadeirado, textura Velvet, pedra) aprovadas no local, com registro fotográfico.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4. </a:t>
            </a:r>
            <a:r>
              <a:rPr sz="700" b="0">
                <a:solidFill>
                  <a:srgbClr val="FFFFFF"/>
                </a:solidFill>
                <a:latin typeface="Arial"/>
              </a:rPr>
              <a:t>Quantidades de revestimento externo: não usar o quadro das pranchas sem conferência (rótulos × valores).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5. </a:t>
            </a:r>
            <a:r>
              <a:rPr sz="700" b="0">
                <a:solidFill>
                  <a:srgbClr val="FFFFFF"/>
                </a:solidFill>
                <a:latin typeface="Arial"/>
              </a:rPr>
              <a:t>Onde memorial, prancha e briefing divergem (brises, guarda-corpo, rodapé, BWC, piscina, pergolado), prevalece a definição registrada por Projetos.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54880" y="3246120"/>
            <a:ext cx="3730752" cy="9144"/>
          </a:xfrm>
          <a:prstGeom prst="rect">
            <a:avLst/>
          </a:prstGeom>
          <a:solidFill>
            <a:srgbClr val="8FA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0" y="3346704"/>
            <a:ext cx="3730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>
                <a:solidFill>
                  <a:srgbClr val="8FA3CC"/>
                </a:solidFill>
                <a:latin typeface="Arial"/>
              </a:rPr>
              <a:t>ONDE CONSULTAR (1.17 - [2798] CANASVIEIRAS SPOT / 02 - PROJETOS)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3566160"/>
            <a:ext cx="373075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Fachada: </a:t>
            </a:r>
            <a:r>
              <a:rPr sz="650" b="0">
                <a:solidFill>
                  <a:srgbClr val="9FB0D4"/>
                </a:solidFill>
                <a:latin typeface="Arial"/>
              </a:rPr>
              <a:t>elevações pr. 19–22 · detalhes pr. 23–25 · esquadrias pr. 26–27 · brises pr. 28</a:t>
            </a:r>
          </a:p>
          <a:p>
            <a:pPr algn="l">
              <a:spcAft>
                <a:spcPts val="3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Interiores: </a:t>
            </a:r>
            <a:r>
              <a:rPr sz="650" b="0">
                <a:solidFill>
                  <a:srgbClr val="9FB0D4"/>
                </a:solidFill>
                <a:latin typeface="Arial"/>
              </a:rPr>
              <a:t>paginação de banheiros pr. 40–41 · piscina pr. 44 · 10 - Projeto de Interiores / 03 - Memorial descritivo</a:t>
            </a:r>
          </a:p>
          <a:p>
            <a:pPr algn="l">
              <a:spcAft>
                <a:spcPts val="3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Imagens: </a:t>
            </a:r>
            <a:r>
              <a:rPr sz="650" b="0">
                <a:solidFill>
                  <a:srgbClr val="9FB0D4"/>
                </a:solidFill>
                <a:latin typeface="Arial"/>
              </a:rPr>
              <a:t>08 - Projeto Arquitetônico / 05 - Imagens 3D / 01 - Lançamento Externa</a:t>
            </a:r>
          </a:p>
          <a:p>
            <a:pPr algn="l">
              <a:spcAft>
                <a:spcPts val="3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Memorial: </a:t>
            </a:r>
            <a:r>
              <a:rPr sz="650" b="0">
                <a:solidFill>
                  <a:srgbClr val="9FB0D4"/>
                </a:solidFill>
                <a:latin typeface="Arial"/>
              </a:rPr>
              <a:t>CANASVIEIRASSPOT-PE-ARQ-MED-GER-XXX-000 (02/10/2025)</a:t>
            </a:r>
          </a:p>
          <a:p>
            <a:pPr algn="l">
              <a:spcAft>
                <a:spcPts val="3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Premissas: </a:t>
            </a:r>
            <a:r>
              <a:rPr sz="650" b="0">
                <a:solidFill>
                  <a:srgbClr val="9FB0D4"/>
                </a:solidFill>
                <a:latin typeface="Arial"/>
              </a:rPr>
              <a:t>00 - Premissas de Projeto · Briefing de Projeto e LOG de considerações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04 · PONTOS DE ATENÇÃO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Pendências e checklist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CANASVIEIRAS SPOT  ·  BOOK DE PREMISSAS DE FACHADA E INTERIORES  ·  26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170432"/>
          <a:ext cx="8138160" cy="3511296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2103120"/>
                <a:gridCol w="4709160"/>
                <a:gridCol w="109728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O que definir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Letreiro SEAZONE no coroamento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Detalhe, material, iluminação e fixação no reservatório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Ripado horizontal das janelas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Confirmar se o ripado do render entra na obra ou se prevalece o brise de piso a teto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Cor do elemento vazado (EV1–EV4)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Peças pretas (render) × concreto aparente / REV-06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Borda do EV1 sobre as lojas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Borda "pixelada" do render × borda reta do executivo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REV-05 · cor Nanquim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Descrição "cinza claro" × nome da cor: aprovar amostra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Tom do Boreal Natural (REV-08)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Aprovar peça física contra o render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Quadro de quantidades externas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Conferir rótulos × valores (2.638,11 m²) antes de orçar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Pergolado AC-02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Alumínio (executivo) × metálico com madeira (memorial 30.3.5)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Soleiras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Granito cinza SOL-01 (pranchas) × porcelanato (memorial 20.1)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Totem de acesso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Detalhe das letras, iluminação e acabamento do muro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Brises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PVC (briefing) × alumínio Lesco 75×25 (executivo)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Guarda-corpos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 com perfil "U" inox (briefing) × alumínio anodizado + vidro (executivo)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Rodapé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Branco 7 cm (briefing + pr. 24) × 5 cm (memorial) × preto (texturas)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Revestimento dos banheiros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Porcelanato 90×90 (briefing) × Cetim Bianco 30×60 (memorial + pr. 40–41)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Piscina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Esverdeado 20×20 (briefing) × Barlavento Blanc 14,5 (memorial) · borda curva × infinita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Balanço do rooftop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Reforço no pergolado (LOG Ind. 06) × instalação na laje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Deck do rooftop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Porcelanato imita madeira 120×20 (briefing): referência comercial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Marcenaria rooftop / recepção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Materiais "a definir" no memorial de interiores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CANASVIEIRAS SPOT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Book de Premissas de Fachada e Interiores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11880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Lançamento × Executivo  ·  Seazone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CANASVIEIRAS SPOT  ·  BOOK DE PREMISSAS DE FACHADA E INTERIORES  · 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4935</Words>
  <Application>Microsoft Office PowerPoint</Application>
  <PresentationFormat>Apresentação na tela (16:9)</PresentationFormat>
  <Paragraphs>580</Paragraphs>
  <Slides>23</Slides>
  <Notes>23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Rachel Souto</cp:lastModifiedBy>
  <cp:revision>1</cp:revision>
  <dcterms:modified xsi:type="dcterms:W3CDTF">2026-09-23T13:37:10Z</dcterms:modified>
</cp:coreProperties>
</file>