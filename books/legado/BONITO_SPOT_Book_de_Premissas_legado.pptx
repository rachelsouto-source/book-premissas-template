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7"/>
    <p:sldId id="274" r:id="rId6"/>
    <p:sldId id="275" r:id="rId5"/>
    <p:sldId id="276" r:id="rId4"/>
    <p:sldId id="277" r:id="rId3"/>
    <p:sldId id="278" r:id="rId2"/>
    <p:sldId id="279" r:id="rId31"/>
    <p:sldId id="280" r:id="rId32"/>
    <p:sldId id="281" r:id="rId33"/>
    <p:sldId id="282" r:id="rId34"/>
    <p:sldId id="283" r:id="rId35"/>
    <p:sldId id="284" r:id="rId3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oline Vieira Montedo" initials="" lastIdx="3" clrIdx="0"/>
  <p:cmAuthor id="1" name="Rachel Souto Hud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DEEBB-5512-44E8-9C8E-75C5AFC50D94}">
  <a:tblStyle styleId="{D79DEEBB-5512-44E8-9C8E-75C5AFC50D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3.xml"/><Relationship Id="rId3" Type="http://schemas.openxmlformats.org/officeDocument/2006/relationships/slide" Target="slides/slide22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31.jpg"/><Relationship Id="rId9" Type="http://schemas.openxmlformats.org/officeDocument/2006/relationships/image" Target="../media/image3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3.jpg"/><Relationship Id="rId5" Type="http://schemas.openxmlformats.org/officeDocument/2006/relationships/image" Target="../media/image3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5.jpg"/><Relationship Id="rId5" Type="http://schemas.openxmlformats.org/officeDocument/2006/relationships/image" Target="../media/image3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7.jpg"/><Relationship Id="rId5" Type="http://schemas.openxmlformats.org/officeDocument/2006/relationships/image" Target="../media/image3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jpg"/><Relationship Id="rId8" Type="http://schemas.openxmlformats.org/officeDocument/2006/relationships/image" Target="../media/image43.jpg"/><Relationship Id="rId9" Type="http://schemas.openxmlformats.org/officeDocument/2006/relationships/image" Target="../media/image4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7.jpg"/><Relationship Id="rId7" Type="http://schemas.openxmlformats.org/officeDocument/2006/relationships/image" Target="../media/image48.jpg"/><Relationship Id="rId8" Type="http://schemas.openxmlformats.org/officeDocument/2006/relationships/image" Target="../media/image49.jpg"/><Relationship Id="rId9" Type="http://schemas.openxmlformats.org/officeDocument/2006/relationships/image" Target="../media/image5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02__SZ06.jpg"/>
          <p:cNvPicPr>
            <a:picLocks noChangeAspect="1"/>
          </p:cNvPicPr>
          <p:nvPr/>
        </p:nvPicPr>
        <p:blipFill>
          <a:blip r:embed="rId2"/>
          <a:srcRect l="556" r="556"/>
          <a:stretch>
            <a:fillRect/>
          </a:stretch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45720" cy="514350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1783080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847088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Bonito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448056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FB0D4"/>
                </a:solidFill>
                <a:latin typeface="Arial"/>
              </a:rPr>
              <a:t>Lançamento  ×  Projeto  ·  Fachada  ·  Interiores</a:t>
            </a:r>
          </a:p>
          <a:p>
            <a:pPr algn="l">
              <a:spcAft>
                <a:spcPts val="400"/>
              </a:spcAft>
            </a:pPr>
            <a:r>
              <a:rPr sz="750" b="0">
                <a:solidFill>
                  <a:srgbClr val="8FA3CC"/>
                </a:solidFill>
                <a:latin typeface="Arial"/>
              </a:rPr>
              <a:t>Base: imagens de lançamento (V02) · LOG de considerações de fachada (7 indicações validadas pela diretoria) · pré-executivo Shiota R04 · Projeto Legal · Memorial Descritivo · Premissas de Projeto · interiores Seazone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342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FA3CC"/>
                </a:solidFill>
                <a:latin typeface="Arial"/>
              </a:rPr>
              <a:t>Rua Pedro Álvares Cabral · Alvorada · Bonito/MS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44805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DOCUMENTO TÉCNICO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objetivo deste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Consolidar as premissas de </a:t>
            </a:r>
            <a:r>
              <a:rPr sz="750" b="1">
                <a:solidFill>
                  <a:srgbClr val="333333"/>
                </a:solidFill>
                <a:latin typeface="Arial"/>
              </a:rPr>
              <a:t>fachada e interiores</a:t>
            </a:r>
            <a:r>
              <a:rPr sz="750" b="0">
                <a:solidFill>
                  <a:srgbClr val="333333"/>
                </a:solidFill>
                <a:latin typeface="Arial"/>
              </a:rPr>
              <a:t> do Bonito Spot a partir da leitura cruzada entre as </a:t>
            </a:r>
            <a:r>
              <a:rPr sz="750" b="1">
                <a:solidFill>
                  <a:srgbClr val="333333"/>
                </a:solidFill>
                <a:latin typeface="Arial"/>
              </a:rPr>
              <a:t>imagens de lançamento</a:t>
            </a:r>
            <a:r>
              <a:rPr sz="750" b="0">
                <a:solidFill>
                  <a:srgbClr val="333333"/>
                </a:solidFill>
                <a:latin typeface="Arial"/>
              </a:rPr>
              <a:t>, o </a:t>
            </a:r>
            <a:r>
              <a:rPr sz="750" b="1">
                <a:solidFill>
                  <a:srgbClr val="333333"/>
                </a:solidFill>
                <a:latin typeface="Arial"/>
              </a:rPr>
              <a:t>LOG de considerações de fachada</a:t>
            </a:r>
            <a:r>
              <a:rPr sz="750" b="0">
                <a:solidFill>
                  <a:srgbClr val="333333"/>
                </a:solidFill>
                <a:latin typeface="Arial"/>
              </a:rPr>
              <a:t> validado pela diretoria, o pré-executivo da Shiota Arquitetura, o briefing de premissas e o projeto de interiores: o que a imagem vendeu, o que foi especificado e o que validar antes da compra.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2139696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3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Leitura da fachada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5798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 que compõe cada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32303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468879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7802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LOG de fachada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8716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7 indicações validadas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61487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2798063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0720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Mapa de texturas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816351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· 16 elementos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90672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3127248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136391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Vistas especificadas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4553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frente, pórtico e rooftop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19856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" y="3456432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46557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Projeto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4747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pré-executivo Shiota R04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49039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3785615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79475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Lançamento × projeto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803903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e interiores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78224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4114800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1239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Interiores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133087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recepção, rooftop, unidades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07408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4443984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4531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Briefing e pontos de atenção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4622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opções marcadas ·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128016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AO ABRIR ESTE BOOK, OBRAS DEVE CONSEGUIR RESPONDER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1636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1572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as imagens de lançamento mostram na fachada?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196596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cores e texturas a diretoria validou no LOG?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29514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22311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o pré-executivo especifica e o que falta?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262432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Brises e ripados: madeira ou PVC Amêndoa?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295351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19472" y="28895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conceito de interiores que deve ser seguido?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282695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32186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não pode ser alterado sem validação?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61187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9472" y="35478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pontos ainda precisam ser validados?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02336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8FA3CC"/>
                </a:solidFill>
                <a:latin typeface="Arial"/>
              </a:rPr>
              <a:t>Regra do material: nenhuma informação foi inventada. Fontes (1.30 - [5316] Bonito Spot / 02 - Projetos): 00 - Premissas de Projeto (briefing e LOG de considerações), 08 - Projeto Arquitetônico (imagens 3D, pré-executivo, legal, interiores) e 09 - Memorial Descritivo. Não há planilha de conferência. Índices urbanísticos, áreas, medidas e custos não fazem parte deste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e especificações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Leitura geral  ·  LOG de fachada  ·  mapa de texturas  ·  vistas com marcação  ·  lançamento ×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BONITO SPOT  ·  BOOK DE PREMISSAS DE FACHADA E INTERIORES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Leitura geral: o que compõe a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38658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02__SZ06.jpg"/>
          <p:cNvPicPr>
            <a:picLocks noChangeAspect="1"/>
          </p:cNvPicPr>
          <p:nvPr/>
        </p:nvPicPr>
        <p:blipFill>
          <a:blip r:embed="rId4"/>
          <a:srcRect l="9549" r="9549"/>
          <a:stretch>
            <a:fillRect/>
          </a:stretch>
        </p:blipFill>
        <p:spPr>
          <a:xfrm>
            <a:off x="502920" y="1170432"/>
            <a:ext cx="233172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173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FRENTE</a:t>
            </a:r>
          </a:p>
        </p:txBody>
      </p:sp>
      <p:sp>
        <p:nvSpPr>
          <p:cNvPr id="13" name="Oval 12"/>
          <p:cNvSpPr/>
          <p:nvPr/>
        </p:nvSpPr>
        <p:spPr>
          <a:xfrm>
            <a:off x="1075041" y="211866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901" y="214152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536192" y="228078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59052" y="230364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671535" y="262304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4395" y="264590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593835" y="291126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16695" y="293412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902110" y="258702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970" y="260988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314382" y="244291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37242" y="246577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026164" y="345167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49024" y="347453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2400848" y="363181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23708" y="365467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1334438" y="363181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57298" y="365467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2256739" y="215469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279599" y="217755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1170432"/>
            <a:ext cx="2788920" cy="3538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54679" y="1243584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LEGENDA</a:t>
            </a:r>
          </a:p>
        </p:txBody>
      </p:sp>
      <p:sp>
        <p:nvSpPr>
          <p:cNvPr id="35" name="Oval 34"/>
          <p:cNvSpPr/>
          <p:nvPr/>
        </p:nvSpPr>
        <p:spPr>
          <a:xfrm>
            <a:off x="3154679" y="148132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1463040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Pergolado do rooftop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madeira sobre a área externa</a:t>
            </a:r>
          </a:p>
        </p:txBody>
      </p:sp>
      <p:sp>
        <p:nvSpPr>
          <p:cNvPr id="37" name="Oval 36"/>
          <p:cNvSpPr/>
          <p:nvPr/>
        </p:nvSpPr>
        <p:spPr>
          <a:xfrm>
            <a:off x="3154679" y="180594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1787652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Lajes de borda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cimento queimado off-white</a:t>
            </a:r>
          </a:p>
        </p:txBody>
      </p:sp>
      <p:sp>
        <p:nvSpPr>
          <p:cNvPr id="39" name="Oval 38"/>
          <p:cNvSpPr/>
          <p:nvPr/>
        </p:nvSpPr>
        <p:spPr>
          <a:xfrm>
            <a:off x="3154679" y="213055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2112264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Floreiras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vegetação pendente nas bordas</a:t>
            </a:r>
          </a:p>
        </p:txBody>
      </p:sp>
      <p:sp>
        <p:nvSpPr>
          <p:cNvPr id="41" name="Oval 40"/>
          <p:cNvSpPr/>
          <p:nvPr/>
        </p:nvSpPr>
        <p:spPr>
          <a:xfrm>
            <a:off x="3154679" y="245516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2436876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Brises centrais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painéis de madeira móveis</a:t>
            </a:r>
          </a:p>
        </p:txBody>
      </p:sp>
      <p:sp>
        <p:nvSpPr>
          <p:cNvPr id="43" name="Oval 42"/>
          <p:cNvSpPr/>
          <p:nvPr/>
        </p:nvSpPr>
        <p:spPr>
          <a:xfrm>
            <a:off x="3154679" y="277977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761488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Paredes com esquadrias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cimento queimado Dia de Chuva</a:t>
            </a:r>
          </a:p>
        </p:txBody>
      </p:sp>
      <p:sp>
        <p:nvSpPr>
          <p:cNvPr id="45" name="Oval 44"/>
          <p:cNvSpPr/>
          <p:nvPr/>
        </p:nvSpPr>
        <p:spPr>
          <a:xfrm>
            <a:off x="3154679" y="310438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3086100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Esquadrias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marrom</a:t>
            </a:r>
          </a:p>
        </p:txBody>
      </p:sp>
      <p:sp>
        <p:nvSpPr>
          <p:cNvPr id="47" name="Oval 46"/>
          <p:cNvSpPr/>
          <p:nvPr/>
        </p:nvSpPr>
        <p:spPr>
          <a:xfrm>
            <a:off x="3154679" y="342900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3410712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Ripado do térreo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PVC Amêndoa</a:t>
            </a:r>
          </a:p>
        </p:txBody>
      </p:sp>
      <p:sp>
        <p:nvSpPr>
          <p:cNvPr id="49" name="Oval 48"/>
          <p:cNvSpPr/>
          <p:nvPr/>
        </p:nvSpPr>
        <p:spPr>
          <a:xfrm>
            <a:off x="3154679" y="3753611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29000" y="3735324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Logo casinha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fixada no ripado</a:t>
            </a:r>
          </a:p>
        </p:txBody>
      </p:sp>
      <p:sp>
        <p:nvSpPr>
          <p:cNvPr id="51" name="Oval 50"/>
          <p:cNvSpPr/>
          <p:nvPr/>
        </p:nvSpPr>
        <p:spPr>
          <a:xfrm>
            <a:off x="3154679" y="4078223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29000" y="4059935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Acesso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porta de vidro com caixilho marrom</a:t>
            </a:r>
          </a:p>
        </p:txBody>
      </p:sp>
      <p:sp>
        <p:nvSpPr>
          <p:cNvPr id="53" name="Oval 52"/>
          <p:cNvSpPr/>
          <p:nvPr/>
        </p:nvSpPr>
        <p:spPr>
          <a:xfrm>
            <a:off x="3154679" y="440283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29000" y="4384548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Nome Seazone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no volume do reservatório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9320" y="1170432"/>
            <a:ext cx="2651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A fachada vendida (V02) é um volume de </a:t>
            </a:r>
            <a:r>
              <a:rPr sz="750" b="1">
                <a:solidFill>
                  <a:srgbClr val="333333"/>
                </a:solidFill>
                <a:latin typeface="Arial"/>
              </a:rPr>
              <a:t>cimento queimado</a:t>
            </a:r>
            <a:r>
              <a:rPr sz="750" b="0">
                <a:solidFill>
                  <a:srgbClr val="333333"/>
                </a:solidFill>
                <a:latin typeface="Arial"/>
              </a:rPr>
              <a:t> com lajes de borda off-white, </a:t>
            </a:r>
            <a:r>
              <a:rPr sz="750" b="1">
                <a:solidFill>
                  <a:srgbClr val="333333"/>
                </a:solidFill>
                <a:latin typeface="Arial"/>
              </a:rPr>
              <a:t>floreiras pendentes</a:t>
            </a:r>
            <a:r>
              <a:rPr sz="750" b="0">
                <a:solidFill>
                  <a:srgbClr val="333333"/>
                </a:solidFill>
                <a:latin typeface="Arial"/>
              </a:rPr>
              <a:t> em todas as bordas e esquadrias marrons.</a:t>
            </a:r>
          </a:p>
          <a:p>
            <a:pPr algn="l">
              <a:spcAft>
                <a:spcPts val="60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O centro da frente é marcado por </a:t>
            </a:r>
            <a:r>
              <a:rPr sz="750" b="1">
                <a:solidFill>
                  <a:srgbClr val="333333"/>
                </a:solidFill>
                <a:latin typeface="Arial"/>
              </a:rPr>
              <a:t>brises de madeira</a:t>
            </a:r>
            <a:r>
              <a:rPr sz="750" b="0">
                <a:solidFill>
                  <a:srgbClr val="333333"/>
                </a:solidFill>
                <a:latin typeface="Arial"/>
              </a:rPr>
              <a:t> em dois pavimentos; no térreo, o ripado amadeirado recebe a casinha Seazone.</a:t>
            </a:r>
          </a:p>
          <a:p>
            <a:pPr algn="l">
              <a:spcAft>
                <a:spcPts val="60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No rooftop, pergolado de madeira e o nome Seazone no reservatório.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3611880"/>
            <a:ext cx="2651760" cy="11612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44768" y="37216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FONTE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03136" y="371246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IMAGEM DE REFERÊNCIA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3941064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Imagens finais: "05 - Imagens 3D / V02" (SZ01 a SZ09). A análise da Seazone sobre as imagens (mar/2025) só pediu ajustes de enquadramento e retirada de carros.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LOG de considerações de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032503" cy="2752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ind04.jpg"/>
          <p:cNvPicPr>
            <a:picLocks noChangeAspect="1"/>
          </p:cNvPicPr>
          <p:nvPr/>
        </p:nvPicPr>
        <p:blipFill>
          <a:blip r:embed="rId4"/>
          <a:srcRect l="338" r="338"/>
          <a:stretch>
            <a:fillRect/>
          </a:stretch>
        </p:blipFill>
        <p:spPr>
          <a:xfrm>
            <a:off x="502920" y="1170432"/>
            <a:ext cx="3977639" cy="26974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" y="1234440"/>
            <a:ext cx="10058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04 · BORDAS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77639"/>
            <a:ext cx="3977639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Aba "LOG CONSIDERAÇÕES FACHADA" do LOG de considerações (00 - Premissas de Projeto): 7 indicações com validação da diretoria, marcadas sobre as imagens de lançamento, com referência dos produtos Suvinil.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663440" y="1170432"/>
          <a:ext cx="3977640" cy="307238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411480"/>
                <a:gridCol w="356616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IND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O que foi validado (LOG de fachada)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Pórtico de acesso com telhado verde (plantas)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Medidor e lixo: painel ripado PVC Amêndoa com portas camufladas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Paredes do pórtico: cimento queimado Dia de Chuva Suvinil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Lajes de borda, beiral e enquadramento dos brises: cimento queimado off-white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Paredes externas com esquadrias: cimento queimado Dia de Chuva Suvinil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Esquadrias na textura marrom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Entrada: parede em painel ripado PVC Amêndoa com o "a" da Seazone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(1/3)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das imagens de lançamento: referência visual, não substitui amostra física. Especificação: LOG de fachada validado pela diretoria.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dchuva.jpg"/>
          <p:cNvPicPr>
            <a:picLocks noChangeAspect="1"/>
          </p:cNvPicPr>
          <p:nvPr/>
        </p:nvPicPr>
        <p:blipFill>
          <a:blip r:embed="rId4"/>
          <a:srcRect t="28273" b="28273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Cimento queimado Dia de Chuva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com esquadrias e paredes do pórtico.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03 e 05: cimento queimado Suvinil, cor Dia de Chuva · imagem: cinza texturizado.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painel-teste antes da aplicação. DEFINIDO.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offwhite.jpg"/>
          <p:cNvPicPr>
            <a:picLocks noChangeAspect="1"/>
          </p:cNvPicPr>
          <p:nvPr/>
        </p:nvPicPr>
        <p:blipFill>
          <a:blip r:embed="rId5"/>
          <a:srcRect l="41383" r="41383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Cimento queimado off-white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lajes de borda, beiral e moldura dos brises.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04: cimento queimado texturizado, tom off-white · imagem: bordas claras.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brise.jpg"/>
          <p:cNvPicPr>
            <a:picLocks noChangeAspect="1"/>
          </p:cNvPicPr>
          <p:nvPr/>
        </p:nvPicPr>
        <p:blipFill>
          <a:blip r:embed="rId6"/>
          <a:srcRect l="2032" r="2032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Brises de madeira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centro da fachada frontal e posterior.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painéis de madeira · pré-executivo: "brise" · briefing: brises em PVC na condensadora · memorial: madeira ou móveis.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material em disputa.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esq.jpg"/>
          <p:cNvPicPr>
            <a:picLocks noChangeAspect="1"/>
          </p:cNvPicPr>
          <p:nvPr/>
        </p:nvPicPr>
        <p:blipFill>
          <a:blip r:embed="rId7"/>
          <a:srcRect t="4656" b="4656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Esquadrias marrons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unidades e áreas comuns.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06 e LOG geral: esquadrias marrons · briefing: linha 32 gold, tom marrom.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ripado.jpg"/>
          <p:cNvPicPr>
            <a:picLocks noChangeAspect="1"/>
          </p:cNvPicPr>
          <p:nvPr/>
        </p:nvPicPr>
        <p:blipFill>
          <a:blip r:embed="rId8"/>
          <a:srcRect t="8310" b="8310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Ripado PVC Amêndoa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da entrada e fechamento do medidor/lixo.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02 e 07: painel ripado PVC Amêndoa · pré-executivo: "ripado de madeira".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LOG × pré-executivo.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floreira.jpg"/>
          <p:cNvPicPr>
            <a:picLocks noChangeAspect="1"/>
          </p:cNvPicPr>
          <p:nvPr/>
        </p:nvPicPr>
        <p:blipFill>
          <a:blip r:embed="rId9"/>
          <a:srcRect l="26674" r="26674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Floreiras pendentes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bordas de todas as lajes.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vegetação pendente contínua · pré-executivo: floreiras desenhadas · paisagismo vazio.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impermeabilização e irrigação. PENDENTE.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(2/3)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das imagens de lançamento: referência visual, não substitui amostra física. Especificação: LOG de fachada, briefing e pré-executivo.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verde.jpg"/>
          <p:cNvPicPr>
            <a:picLocks noChangeAspect="1"/>
          </p:cNvPicPr>
          <p:nvPr/>
        </p:nvPicPr>
        <p:blipFill>
          <a:blip r:embed="rId4"/>
          <a:srcRect l="19949" r="19949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Pórtico com telhado verde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pórtico de acesso na rua.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01: telhado verde com plantas · imagem: vegetação sobre o pórtico.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impermeabilização e drenagem. DEFINIDO.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letreiro.jpg"/>
          <p:cNvPicPr>
            <a:picLocks noChangeAspect="1"/>
          </p:cNvPicPr>
          <p:nvPr/>
        </p:nvPicPr>
        <p:blipFill>
          <a:blip r:embed="rId5"/>
          <a:srcRect l="35714" r="35714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Letreiro BONITO SPOT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face do pórtico.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letras brancas em relevo · pré-executivo: letreiro na fachada frontal · memorial: nome na fachada.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detalhe nem ponto elétrico. PENDENTE.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ripado2.jpg"/>
          <p:cNvPicPr>
            <a:picLocks noChangeAspect="1"/>
          </p:cNvPicPr>
          <p:nvPr/>
        </p:nvPicPr>
        <p:blipFill>
          <a:blip r:embed="rId6"/>
          <a:srcRect t="10855" b="10855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Ripado do pórtico (medidor e lixo)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volume lateral do pórtico.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02: ripado PVC Amêndoa com portas camufladas · imagem: ripado vertical amadeirado.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a imagem. DEFINIDO.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logo.jpg"/>
          <p:cNvPicPr>
            <a:picLocks noChangeAspect="1"/>
          </p:cNvPicPr>
          <p:nvPr/>
        </p:nvPicPr>
        <p:blipFill>
          <a:blip r:embed="rId7"/>
          <a:srcRect t="24415" b="24415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Logo casinha no ripado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da entrada, junto ao acesso.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07: "a" da Seazone fixado no painel ripado · imagem: casinha branca em destaque.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material, fixação e luz. PENDENTE.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portao.jpg"/>
          <p:cNvPicPr>
            <a:picLocks noChangeAspect="1"/>
          </p:cNvPicPr>
          <p:nvPr/>
        </p:nvPicPr>
        <p:blipFill>
          <a:blip r:embed="rId8"/>
          <a:srcRect l="19156" r="19156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Portão metálico preto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acesso de veículos.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portão de barras horizontais pretas · sem especificação no LOG.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cor e modelo. PENDENTE.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nome.jpg"/>
          <p:cNvPicPr>
            <a:picLocks noChangeAspect="1"/>
          </p:cNvPicPr>
          <p:nvPr/>
        </p:nvPicPr>
        <p:blipFill>
          <a:blip r:embed="rId9"/>
          <a:srcRect l="32488" r="32488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Nome Seazone no reservatório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volume do reservatório.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nome Seazone na face do reservatório · memorial de interiores: nome do Spot com LED no "O" (rooftop).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material e luz. PENDENTE.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(3/3)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das imagens de lançamento do rooftop: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pergolado.jpg"/>
          <p:cNvPicPr>
            <a:picLocks noChangeAspect="1"/>
          </p:cNvPicPr>
          <p:nvPr/>
        </p:nvPicPr>
        <p:blipFill>
          <a:blip r:embed="rId4"/>
          <a:srcRect l="6019" r="6019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Pergolado de madeira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área externa do rooftop.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pergolado de madeira · pré-executivo: "pergolado de madeira" · memorial: aço corten ou ripas de madeira.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o pré-executivo. DEFINIDO.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piscina.jpg"/>
          <p:cNvPicPr>
            <a:picLocks noChangeAspect="1"/>
          </p:cNvPicPr>
          <p:nvPr/>
        </p:nvPicPr>
        <p:blipFill>
          <a:blip r:embed="rId5"/>
          <a:srcRect l="9840" r="9840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Piscina esverdeada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piscina do rooftop.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revestimento verde · briefing: esverdeado 20×20, referência Portobello Barlavento Blanc.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deck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Deck amadeirado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entorno da piscina.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deck de madeira · briefing: rooftop externo com porcelanato + deck · LOG: rampa ao lado do pergolado.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gc.jpg"/>
          <p:cNvPicPr>
            <a:picLocks noChangeAspect="1"/>
          </p:cNvPicPr>
          <p:nvPr/>
        </p:nvPicPr>
        <p:blipFill>
          <a:blip r:embed="rId7"/>
          <a:srcRect l="29643" r="29643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Guarda-corpo de vidro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borda do rooftop.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vidro com corrimão amadeirado · briefing (comum): vidro incolor com perfil "U" inox.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perfil.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5394960" cy="1627632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01568" y="324612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LEMBRAR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59935" y="3236976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ROOFTOP: O QUE CONFERIR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01568" y="3465576"/>
            <a:ext cx="5084064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Pergolado · </a:t>
            </a:r>
            <a:r>
              <a:rPr sz="700" b="0">
                <a:solidFill>
                  <a:srgbClr val="FFFFFF"/>
                </a:solidFill>
                <a:latin typeface="Arial"/>
              </a:rPr>
              <a:t>madeira na imagem e no pré-executivo; memorial admite corten.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Deck · </a:t>
            </a:r>
            <a:r>
              <a:rPr sz="700" b="0">
                <a:solidFill>
                  <a:srgbClr val="FFFFFF"/>
                </a:solidFill>
                <a:latin typeface="Arial"/>
              </a:rPr>
              <a:t>rampa ao lado do pergolado, como no lançamento (LOG geral IND 06).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Jardineira · </a:t>
            </a:r>
            <a:r>
              <a:rPr sz="700" b="0">
                <a:solidFill>
                  <a:srgbClr val="FFFFFF"/>
                </a:solidFill>
                <a:latin typeface="Arial"/>
              </a:rPr>
              <a:t>jardineira em deck entre os estofados da piscina (LOG geral IND 08).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Aquecimento · </a:t>
            </a:r>
            <a:r>
              <a:rPr sz="700" b="0">
                <a:solidFill>
                  <a:srgbClr val="FFFFFF"/>
                </a:solidFill>
                <a:latin typeface="Arial"/>
              </a:rPr>
              <a:t>solar para a piscina (briefing e memorial).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Frente e pórtico de acesso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907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02__SZ04.jpg"/>
          <p:cNvPicPr>
            <a:picLocks noChangeAspect="1"/>
          </p:cNvPicPr>
          <p:nvPr/>
        </p:nvPicPr>
        <p:blipFill>
          <a:blip r:embed="rId4"/>
          <a:srcRect t="10" b="10"/>
          <a:stretch>
            <a:fillRect/>
          </a:stretch>
        </p:blipFill>
        <p:spPr>
          <a:xfrm>
            <a:off x="502920" y="1170432"/>
            <a:ext cx="5074920" cy="2852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2801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FRENTE</a:t>
            </a:r>
          </a:p>
        </p:txBody>
      </p:sp>
      <p:sp>
        <p:nvSpPr>
          <p:cNvPr id="13" name="Oval 12"/>
          <p:cNvSpPr/>
          <p:nvPr/>
        </p:nvSpPr>
        <p:spPr>
          <a:xfrm>
            <a:off x="979322" y="223593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2182" y="225879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349550" y="260704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72410" y="262990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791309" y="309232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14169" y="311518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603296" y="31779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26156" y="32008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755544" y="229302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78404" y="231588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958541" y="252140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81401" y="254426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3364534" y="312087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87394" y="314373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3719779" y="326360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42639" y="328646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4531766" y="280686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54626" y="282972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2958541" y="200756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81401" y="203042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760720" y="1170432"/>
          <a:ext cx="2880360" cy="310896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960120"/>
                <a:gridCol w="16916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Pórtico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Telhado verde (LOG IND 01)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BONITO SPOT em relevo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Pórtico · 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Dia de Chuva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Medidor e lixo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PVC Amêndoa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Bordas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off-white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Barras pretas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Logo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Casinha no ripado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claro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Nome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Seazone no reservatório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502920" y="411480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Na rua, o pórtico de concreto com telhado verde e o letreiro BONITO SPOT abre para o volume ripado do medidor e lixo, com portas camufladas. Ao fundo, a torre com brises de madeira, floreiras pendentes e o nome Seazone no reservatório.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Pórtico, ripado e acesso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907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02__SZ05.jpg"/>
          <p:cNvPicPr>
            <a:picLocks noChangeAspect="1"/>
          </p:cNvPicPr>
          <p:nvPr/>
        </p:nvPicPr>
        <p:blipFill>
          <a:blip r:embed="rId4"/>
          <a:srcRect t="10" b="10"/>
          <a:stretch>
            <a:fillRect/>
          </a:stretch>
        </p:blipFill>
        <p:spPr>
          <a:xfrm>
            <a:off x="502920" y="1170432"/>
            <a:ext cx="5074920" cy="2852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2801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PÓRTICO</a:t>
            </a:r>
          </a:p>
        </p:txBody>
      </p:sp>
      <p:sp>
        <p:nvSpPr>
          <p:cNvPr id="13" name="Oval 12"/>
          <p:cNvSpPr/>
          <p:nvPr/>
        </p:nvSpPr>
        <p:spPr>
          <a:xfrm>
            <a:off x="1131569" y="149372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4429" y="151658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146553" y="189337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9413" y="191623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725576" y="260704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8436" y="262990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588312" y="292105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11172" y="294391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755544" y="269267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78404" y="271553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3618280" y="280686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41140" y="282972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4633264" y="292105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56124" y="294391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4734763" y="117971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57623" y="120257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4836261" y="195047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9121" y="197333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760720" y="1170432"/>
          <a:ext cx="2880360" cy="307238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960120"/>
                <a:gridCol w="16916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Telhado verde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Plantas sobre o pórtico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Letras brancas em relevo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Dia de Chuva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Vidro, caixilho marrom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Ripado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Amêndoa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 camufladas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 painel ripado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Barras horizontais pretas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Nome Seazone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Reservatório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na torre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02920" y="411480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O pórtico reúne quatro indicações do LOG: telhado verde (IND 01), ripado PVC Amêndoa com portas camufladas no medidor e lixo (IND 02) e paredes em cimento queimado Dia de Chuva (IND 03).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Rooftop: piscina, deck e pergolado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907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02__SZ08.jpg"/>
          <p:cNvPicPr>
            <a:picLocks noChangeAspect="1"/>
          </p:cNvPicPr>
          <p:nvPr/>
        </p:nvPicPr>
        <p:blipFill>
          <a:blip r:embed="rId4"/>
          <a:srcRect t="10" b="10"/>
          <a:stretch>
            <a:fillRect/>
          </a:stretch>
        </p:blipFill>
        <p:spPr>
          <a:xfrm>
            <a:off x="502920" y="1170432"/>
            <a:ext cx="5074920" cy="2852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2801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ROOFTOP</a:t>
            </a:r>
          </a:p>
        </p:txBody>
      </p:sp>
      <p:sp>
        <p:nvSpPr>
          <p:cNvPr id="13" name="Oval 12"/>
          <p:cNvSpPr/>
          <p:nvPr/>
        </p:nvSpPr>
        <p:spPr>
          <a:xfrm>
            <a:off x="2907792" y="183628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0652" y="185914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131569" y="297814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4429" y="300100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486814" y="346343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09674" y="348629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877824" y="23786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0684" y="24015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501798" y="31779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24658" y="32008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3415284" y="309232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38144" y="311518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4430268" y="183628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53128" y="185914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4836261" y="232157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9121" y="234443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760720" y="1170432"/>
          <a:ext cx="2880360" cy="276148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960120"/>
                <a:gridCol w="16916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esverdeado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Deck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Estofados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Banco com jardineira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claro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Beiral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com spots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02920" y="411480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O rooftop combina piscina com revestimento esverdeado, deck amadeirado, banco com jardineira entre os estofados (LOG geral IND 08) e pergolado de madeira, igual ao pré-executivo.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Fachadas do pré-executivo (Shiota · R04)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660904" cy="2752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pe_frontal.jpg"/>
          <p:cNvPicPr>
            <a:picLocks noChangeAspect="1"/>
          </p:cNvPicPr>
          <p:nvPr/>
        </p:nvPicPr>
        <p:blipFill>
          <a:blip r:embed="rId4"/>
          <a:srcRect l="10956" r="10956"/>
          <a:stretch>
            <a:fillRect/>
          </a:stretch>
        </p:blipFill>
        <p:spPr>
          <a:xfrm>
            <a:off x="502920" y="1170432"/>
            <a:ext cx="2606040" cy="26974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" y="1234440"/>
            <a:ext cx="11887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FACHADA FRONTAL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1143000"/>
            <a:ext cx="2660904" cy="2752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_BOOK_ASSETS__pe_posterior.jpg"/>
          <p:cNvPicPr>
            <a:picLocks noChangeAspect="1"/>
          </p:cNvPicPr>
          <p:nvPr/>
        </p:nvPicPr>
        <p:blipFill>
          <a:blip r:embed="rId5"/>
          <a:srcRect l="9513" r="9513"/>
          <a:stretch>
            <a:fillRect/>
          </a:stretch>
        </p:blipFill>
        <p:spPr>
          <a:xfrm>
            <a:off x="3246120" y="1170432"/>
            <a:ext cx="2606040" cy="26974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310128" y="1234440"/>
            <a:ext cx="11887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FACHADA POSTERIOR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77639"/>
            <a:ext cx="534924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Pré-executivo da Shiota Arquitetura (prancha 05/06, R04 de 14/07/2025, "em andamento"). Brises e ripado em madeira, floreiras pendentes, pergolado de madeira no rooftop e letreiro no pórtico. Indica "brise", "pergolado de madeira" e "ripado de madeira", sem cores nem texturas.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170432"/>
            <a:ext cx="2651760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127101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O QUE O PROJETO TRAZ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1499616"/>
            <a:ext cx="2340864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Fase · </a:t>
            </a:r>
            <a:r>
              <a:rPr sz="700" b="0">
                <a:solidFill>
                  <a:srgbClr val="FFFFFF"/>
                </a:solidFill>
                <a:latin typeface="Arial"/>
              </a:rPr>
              <a:t>pré-executivo R04 (em andamento), sem executivo final.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Materiais · </a:t>
            </a:r>
            <a:r>
              <a:rPr sz="700" b="0">
                <a:solidFill>
                  <a:srgbClr val="FFFFFF"/>
                </a:solidFill>
                <a:latin typeface="Arial"/>
              </a:rPr>
              <a:t>só "brise", "pergolado de madeira" e "ripado de madeira".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Cores · </a:t>
            </a:r>
            <a:r>
              <a:rPr sz="700" b="0">
                <a:solidFill>
                  <a:srgbClr val="FFFFFF"/>
                </a:solidFill>
                <a:latin typeface="Arial"/>
              </a:rPr>
              <a:t>texturas e cores vêm do LOG de fachada.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Legal · </a:t>
            </a:r>
            <a:r>
              <a:rPr sz="700" b="0">
                <a:solidFill>
                  <a:srgbClr val="FFFFFF"/>
                </a:solidFill>
                <a:latin typeface="Arial"/>
              </a:rPr>
              <a:t>Projeto Legal R00 a R02 na pasta.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Complementares · </a:t>
            </a:r>
            <a:r>
              <a:rPr sz="700" b="0">
                <a:solidFill>
                  <a:srgbClr val="FFFFFF"/>
                </a:solidFill>
                <a:latin typeface="Arial"/>
              </a:rPr>
              <a:t>luminotécnico e paisagismo vazios; sem conferência.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V02 × LOG de fachada, pré-executivo, Premissas e Memorial.  DEFINIDO = convergem  ·  A VALIDAR = divergem  ·  PENDENTE = sem definição.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103120"/>
                <a:gridCol w="38862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Lançamento (imagens)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LOG / Projeto / Premissas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com 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texturizado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Dia de Chuva (LOG IND 05)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Lajes de borda e beiral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off-white (LOG IND 04)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 centrais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"Brise" (pré-executivo) × PVC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Marrons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Marrom (LOG IND 06 e 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Ripado do térreo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Amêndoa (LOG) × madeira (pré-executivo)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Pórtico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Telhado verde e 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Telhado verde + Dia de Chuva (LOG IND 01 e 03)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Medidor e lixo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PVC Amêndoa com portas camufladas (IND 02)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Logo e letreiros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Casinha, BONITO SPOT, Seazone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detalhe · luminotécnico vazio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Pendentes nas bordas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Desenhadas no pré-executivo · paisagismo vazio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(pré-executivo) · corten ou madeira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 e deck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Verde · deck 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· porcelanato + deck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claro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 com logo e nome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Barras pretas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especificação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INDICAÇÕES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Indicações do LOG de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anexadas ao LOG de considerações de fachada (validação da diretoria). Marcações originais em vermelho.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2651760" cy="1664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ind01.jpg"/>
          <p:cNvPicPr>
            <a:picLocks noChangeAspect="1"/>
          </p:cNvPicPr>
          <p:nvPr/>
        </p:nvPicPr>
        <p:blipFill>
          <a:blip r:embed="rId4"/>
          <a:srcRect l="20657" r="20657"/>
          <a:stretch>
            <a:fillRect/>
          </a:stretch>
        </p:blipFill>
        <p:spPr>
          <a:xfrm>
            <a:off x="576072" y="1399032"/>
            <a:ext cx="1188720" cy="15179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856232" y="1417320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1655064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Telhado verde no pórtico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2" y="2020824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Arial"/>
              </a:rPr>
              <a:t>Pórtico de acesso com telhado verde e plantas.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325880"/>
            <a:ext cx="2651760" cy="1664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6_BOOK_ASSETS__ind02.jpg"/>
          <p:cNvPicPr>
            <a:picLocks noChangeAspect="1"/>
          </p:cNvPicPr>
          <p:nvPr/>
        </p:nvPicPr>
        <p:blipFill>
          <a:blip r:embed="rId5"/>
          <a:srcRect l="12437" r="12437"/>
          <a:stretch>
            <a:fillRect/>
          </a:stretch>
        </p:blipFill>
        <p:spPr>
          <a:xfrm>
            <a:off x="3319272" y="1399032"/>
            <a:ext cx="1188720" cy="151790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599431" y="1417320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1655064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Medidor e lixo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1" y="2020824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Arial"/>
              </a:rPr>
              <a:t>Painel ripado PVC Amêndoa com as portas de acesso camufladas.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325880"/>
            <a:ext cx="2651760" cy="1664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6_BOOK_ASSETS__ind03.jpg"/>
          <p:cNvPicPr>
            <a:picLocks noChangeAspect="1"/>
          </p:cNvPicPr>
          <p:nvPr/>
        </p:nvPicPr>
        <p:blipFill>
          <a:blip r:embed="rId6"/>
          <a:srcRect l="23421" r="23421"/>
          <a:stretch>
            <a:fillRect/>
          </a:stretch>
        </p:blipFill>
        <p:spPr>
          <a:xfrm>
            <a:off x="6062472" y="1399032"/>
            <a:ext cx="1188720" cy="151790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342631" y="1417320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1" y="1655064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Paredes do pórtico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1" y="2020824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Arial"/>
              </a:rPr>
              <a:t>Cimento queimado Dia de Chuva Suvinil.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063239"/>
            <a:ext cx="2651760" cy="1664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6_BOOK_ASSETS__ind05.jpg"/>
          <p:cNvPicPr>
            <a:picLocks noChangeAspect="1"/>
          </p:cNvPicPr>
          <p:nvPr/>
        </p:nvPicPr>
        <p:blipFill>
          <a:blip r:embed="rId7"/>
          <a:srcRect l="19288" r="19288"/>
          <a:stretch>
            <a:fillRect/>
          </a:stretch>
        </p:blipFill>
        <p:spPr>
          <a:xfrm>
            <a:off x="576072" y="3136391"/>
            <a:ext cx="1188720" cy="1517904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856232" y="3154679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56232" y="3392423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Paredes com esquadrias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56232" y="3758183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Arial"/>
              </a:rPr>
              <a:t>Cimento queimado Dia de Chuva Suvinil em toda a fachada.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3063239"/>
            <a:ext cx="2651760" cy="1664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06_BOOK_ASSETS__ind06.jpg"/>
          <p:cNvPicPr>
            <a:picLocks noChangeAspect="1"/>
          </p:cNvPicPr>
          <p:nvPr/>
        </p:nvPicPr>
        <p:blipFill>
          <a:blip r:embed="rId8"/>
          <a:srcRect t="11692" b="11692"/>
          <a:stretch>
            <a:fillRect/>
          </a:stretch>
        </p:blipFill>
        <p:spPr>
          <a:xfrm>
            <a:off x="3319272" y="3136391"/>
            <a:ext cx="1188720" cy="1517904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4599431" y="3154679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1" y="3392423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Esquadrias marrons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1" y="3758183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Arial"/>
              </a:rPr>
              <a:t>Esquadrias na textura marrom.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3063239"/>
            <a:ext cx="2651760" cy="1664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06_BOOK_ASSETS__ind07.jpg"/>
          <p:cNvPicPr>
            <a:picLocks noChangeAspect="1"/>
          </p:cNvPicPr>
          <p:nvPr/>
        </p:nvPicPr>
        <p:blipFill>
          <a:blip r:embed="rId9"/>
          <a:srcRect l="22075" r="22075"/>
          <a:stretch>
            <a:fillRect/>
          </a:stretch>
        </p:blipFill>
        <p:spPr>
          <a:xfrm>
            <a:off x="6062472" y="3136391"/>
            <a:ext cx="1188720" cy="1517904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7342631" y="3154679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2631" y="3392423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Entrada com logo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42631" y="3758183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Arial"/>
              </a:rPr>
              <a:t>Parede em ripado PVC Amêndoa com o "a" da Seazone fixado.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de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Recepção  ·  rooftop, piscina e mini market  ·  unidades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BONITO SPOT  ·  BOOK DE PREMISSAS DE FACHADA E INTERIORES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Conceito Seazone × situação do projeto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Seazone (10 - Projeto de Interiores / 02 - Imagens) × briefing, LOG, memorial de interiores (xlsx) e moodboard rev01.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252374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417320"/>
                <a:gridCol w="2651760"/>
                <a:gridCol w="2423160"/>
                <a:gridCol w="164592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Ambiente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Conceito Seazone (seguir)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Situação registrada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Ripado amadeirado, jardineira orgânica com plantas, logo Bonito Spot, pendentes de fibra, poltronas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Papel Picado + painel PVC ripado + floreira + velvet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 interno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Copa com bancada clara, mini market, ripado com logo, balanço, parede de pedra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PVC ripado + velvet + pedra canjiquinha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 externo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Pergolado de madeira, piscina, deck, estofados com jardineira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porcelanato + deck; LOG: jardineira em deck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Savana e Areia, palhinha, granito Pitaya, tinta Lenço de Bolso, cimento queimado claro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paredes branco gelo; portas e rodapés brancos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Só imagens, memorial (xlsx) e moodboard na pasta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4133087"/>
            <a:ext cx="8138160" cy="64008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242816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233672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REGRA PARA A OBRA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62272"/>
            <a:ext cx="7827264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Não há executivo de interiores. Vale o conceito das imagens, o moodboard rev01 e o memorial de interiores (acabamentos por ambiente). Logos, jardineiras, balanço, mini market e carpete de alumínio precisam entrar no elétrico, no hidráulico e no estrutural antes do fechamento.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Recepção e circulação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-_Recepção_e_corredor__Imagem_01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RIPADO + JARDINEIRA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2_-_Recepção_e_corredor__Imagem_04.jpg"/>
          <p:cNvPicPr>
            <a:picLocks noChangeAspect="1"/>
          </p:cNvPicPr>
          <p:nvPr/>
        </p:nvPicPr>
        <p:blipFill>
          <a:blip r:embed="rId5"/>
          <a:srcRect l="2842" r="2842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CORREDOR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Ripado amadeirado, jardineira orgânica com plantas, logo Bonito Spot e pendentes de fibra.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memorial de interiores · LOG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acrílica acetinada Papel Picado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Destaque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Painel PVC ripado + floreira + textura velvet (briefing) · ripado PVC 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Jardineira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Jardineira orgânica em drywall/gesso (LOG geral IND 07 e 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 em toda a área comum (LOG geral e 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natural/acetinado, rodapé branco de poliestireno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Entrada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Carpete de alumínio embutido no piso (LOG geral)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Sinalização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Nome do Spot em marrom · números amadeirados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Pendentes + iluminação geral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Papel Picado · arandela sobre os números e rasgo de LED no 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Rooftop: área de integração, mini market e piscina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-_Roooftop__Imagem_04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COPA + MINI MARKET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_-_Roooftop__Imagem_12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PISCINA + PERGOLADO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Copa com bancada clara, mini market, parede de pedra, pergolado de madeira e piscina com deck.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memorial de interiores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Papel Picado + painel PVC ripado + velvet + pedra canjiquinha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Revestimento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 de ripado PVC amadeirado · revestimento branco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Balcão da copa e prateleiras do mini market em MDF Savana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Pitaya polido na copa (memorial e LOG geral)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interno · externo porcelanato + deck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Esverdeado 20×20, referência Barlavento Blanc · aquecimento solar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Estofados com futon cinza, cadeira de balanço, cadeiras trançadas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Destaques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Balanço preso na laje (briefing) · nome do Spot com LED no "O"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Unidades: acabamentos e escopo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_-_Tipologia_D__Imagem_02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TIPOLOGIA 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197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7_-_Tipologia_D__Imagem_01.jpg"/>
          <p:cNvPicPr>
            <a:picLocks noChangeAspect="1"/>
          </p:cNvPicPr>
          <p:nvPr/>
        </p:nvPicPr>
        <p:blipFill>
          <a:blip r:embed="rId5"/>
          <a:srcRect t="7265" b="7265"/>
          <a:stretch>
            <a:fillRect/>
          </a:stretch>
        </p:blipFill>
        <p:spPr>
          <a:xfrm>
            <a:off x="502920" y="2697480"/>
            <a:ext cx="2377440" cy="114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COPA · TIPOLOGIA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Imagens das tipologias A a F; memorial de interiores com acabamentos por tipologia.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moodboard · memorial)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natural/acetinado; antiderrapante nas sacadas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 (briefing) × tinta Lenço de Bolso e cimento queimado claro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Banheiro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nas paredes e no piso (briefing) · box alumínio escovado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Savana e Areia com palhinha (moodboard e 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Pitaya polido na copa e no banheiro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Metais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Metal bege claro (moodboard) · torneiras e kit de metais cromados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Garden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Deck nas unidades com ponto de jacuzzi (LOG geral)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Portas e rodapés brancos (briefing e LOG)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Marrons (LOG e 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áreas comuns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das imagens de interiores e especificação do memorial de interiores.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int_ripado.jpg"/>
          <p:cNvPicPr>
            <a:picLocks noChangeAspect="1"/>
          </p:cNvPicPr>
          <p:nvPr/>
        </p:nvPicPr>
        <p:blipFill>
          <a:blip r:embed="rId4"/>
          <a:srcRect t="42915" b="42915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Ripado PVC amadeirado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 e rooftop.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memorial de interiores: parede de ripado PVC amadeirado · briefing: painel PVC ripado.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jard.jpg"/>
          <p:cNvPicPr>
            <a:picLocks noChangeAspect="1"/>
          </p:cNvPicPr>
          <p:nvPr/>
        </p:nvPicPr>
        <p:blipFill>
          <a:blip r:embed="rId5"/>
          <a:srcRect t="85" b="85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Jardineira orgânica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geral IND 07: jardineira em drywall · memorial: jardineira orgânica em gesso (confirmar material).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material. A VALIDAR.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canjiquinha.jpg"/>
          <p:cNvPicPr>
            <a:picLocks noChangeAspect="1"/>
          </p:cNvPicPr>
          <p:nvPr/>
        </p:nvPicPr>
        <p:blipFill>
          <a:blip r:embed="rId6"/>
          <a:srcRect l="14977" r="14977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Pedra canjiquinha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da copa do rooftop.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briefing: pedra canjiquinha · memorial de interiores: revestimento de parede branco.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material.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copa.jpg"/>
          <p:cNvPicPr>
            <a:picLocks noChangeAspect="1"/>
          </p:cNvPicPr>
          <p:nvPr/>
        </p:nvPicPr>
        <p:blipFill>
          <a:blip r:embed="rId7"/>
          <a:srcRect l="23519" r="23519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Granito Pitaya polido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 da copa do rooftop.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memorial de interiores: granito Pitaya polido · LOG geral: granito claro, ex. Pitaya.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pend.jpg"/>
          <p:cNvPicPr>
            <a:picLocks noChangeAspect="1"/>
          </p:cNvPicPr>
          <p:nvPr/>
        </p:nvPicPr>
        <p:blipFill>
          <a:blip r:embed="rId8"/>
          <a:srcRect l="992" r="992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Pendentes de fibra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briefing: pendentes + iluminação geral · imagem: pendentes de fibra natural.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separar circuitos.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balanco.jpg"/>
          <p:cNvPicPr>
            <a:picLocks noChangeAspect="1"/>
          </p:cNvPicPr>
          <p:nvPr/>
        </p:nvPicPr>
        <p:blipFill>
          <a:blip r:embed="rId9"/>
          <a:srcRect t="18240" b="18240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Balanço e ripado com logo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rooftop interno.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briefing: poltrona balanço presa na laje · imagem: balanço junto ao ripado com logo.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reforço na laje. A VALIDAR.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unidades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de "Moodboard - Bonito Spot rev01" (materiais usados na unidade).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savana.jpg"/>
          <p:cNvPicPr>
            <a:picLocks noChangeAspect="1"/>
          </p:cNvPicPr>
          <p:nvPr/>
        </p:nvPicPr>
        <p:blipFill>
          <a:blip r:embed="rId4"/>
          <a:srcRect t="13158" b="13158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Savana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cabeceira, gabinete superior e arara.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Savana (moodboard e memorial de interiores) · palhinha no gabinete e na arara.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padrão em todas as tipologias.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areia.jpg"/>
          <p:cNvPicPr>
            <a:picLocks noChangeAspect="1"/>
          </p:cNvPicPr>
          <p:nvPr/>
        </p:nvPicPr>
        <p:blipFill>
          <a:blip r:embed="rId5"/>
          <a:srcRect t="13158" b="13158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Areia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gabinete inferior e bancada.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Areia (moodboard e memorial de interiores).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combinar conforme as imagens.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granito.jpg"/>
          <p:cNvPicPr>
            <a:picLocks noChangeAspect="1"/>
          </p:cNvPicPr>
          <p:nvPr/>
        </p:nvPicPr>
        <p:blipFill>
          <a:blip r:embed="rId6"/>
          <a:srcRect t="13158" b="13158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Granito Pitaya polido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bancadas da copa e do banheiro.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granito Pitaya polido (moodboard, memorial e LOG geral).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deixar pontos conforme as vistas do briefing.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metal.jpg"/>
          <p:cNvPicPr>
            <a:picLocks noChangeAspect="1"/>
          </p:cNvPicPr>
          <p:nvPr/>
        </p:nvPicPr>
        <p:blipFill>
          <a:blip r:embed="rId7"/>
          <a:srcRect t="13158" b="13158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Metal bege claro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gabinete, arara e prateleiras.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metal bege claro (moodboard e memorial de interiores).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acabamento em todos os metais.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lenco.jpg"/>
          <p:cNvPicPr>
            <a:picLocks noChangeAspect="1"/>
          </p:cNvPicPr>
          <p:nvPr/>
        </p:nvPicPr>
        <p:blipFill>
          <a:blip r:embed="rId8"/>
          <a:srcRect t="13158" b="13158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Tinta Lenço de Bolso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das unidades.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tinta Lenço de Bolso Suvinil (moodboard) · briefing: branco gelo acetinado.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a cor das paredes.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cimclaro.jpg"/>
          <p:cNvPicPr>
            <a:picLocks noChangeAspect="1"/>
          </p:cNvPicPr>
          <p:nvPr/>
        </p:nvPicPr>
        <p:blipFill>
          <a:blip r:embed="rId9"/>
          <a:srcRect t="13158" b="13158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Cimento queimado claro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de destaque.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cimento queimado claro (moodboard) · briefing: branco gelo acetinado.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onde entra. A VALIDAR.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interiores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× premissas, moodboard, LOG e memorial de interiores.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Imagens de interiores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Premissas / moodboard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ripado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Painel PVC ripado (briefing e 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Papel Picado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Jardineira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Orgânica com plantas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Drywall (LOG) × gesso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Carpete de alumínio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Na entrada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Embutido no piso (LOG geral)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parede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clara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Canjiquinha (briefing) × branco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copa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Bancada clara, MDF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Granito Pitaya + MDF Savana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Reforço na laje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Deck e jardineira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Estofados com plantas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Jardineira em deck (LOG geral IND 08)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Estante com LED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Pontos elétricos a prever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clara + palhinha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MDF Savana e Areia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Claras / cimento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× Lenço de Bolso/cimento claro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portas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Portas e rodapés brancos (briefing e LOG)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há executivo na pasta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Briefing de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Acabamentos marcados em "[BONITO SPOT] Premissas de Projeto"  ·  cruzamento com 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BONITO SPOT  ·  BOOK DE PREMISSAS DE FACHADA E INTERIORES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Briefing × projeto: acabamentos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Opções marcadas em "[BONITO SPOT] Premissas de Projeto" (versão 00, 09/04/2025; coluna "Conferência" = True) × LOG de fachada, imagens e Memorial.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12723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788920"/>
                <a:gridCol w="32004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Briefing de Projeto (opção marcada)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LOG / imagens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PVC, brise na área da condensadora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 de madeira na frente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Fechamento do terreno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com pintura cor Seazone, logo e nome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em cimento claro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Área externa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seguindo o conceito da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Dia de Chuva e off-white (LOG)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gold · tom marrom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Marrom (LOG IND 06)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 comuns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Acabamento marrom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Marrom nas imagens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privativo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com montante aparente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sacadas visíveis na V02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comum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no rooftop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Papel Picado + PVC ripado + floreira + velvet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Papel Picado + PVC ripado + velvet + canjiquinha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branco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Papel Picado · forro em gesso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de gesso (LOG geral)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externo · 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+ deck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· Barlavento Blanc · solar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Verde nas imagens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 e rodapés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Brancos; portas de escada pintadas de branco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Brancos (LOG geral)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Lenço de Bolso e cimento claro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Poltrona balanço presa na laje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Balanço na imagem do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Pontos de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O que gera retrabalho se não for observado  ·  premissas travadas  ·  checklist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BONITO SPOT  ·  BOOK DE PREMISSAS DE FACHADA E INTERIORES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que Obras precisa observar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REVESTIMENTOS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Cimento queimado Dia de Chuva nas paredes.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Off-white nas lajes de borda e beirais.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Seguir o LOG: o projeto não traz cores.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BRISES E RIPADOS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79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Brises: madeira (imagem) × PVC (briefing).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Ripado: PVC Amêndoa (LOG) × madeira (PE).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Portas do medidor/lixo camufladas.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PÓRTICO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Telhado verde com plantas.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Letreiro BONITO SPOT sem detalhe.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Impermeabilização e drenagem.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ESQUADRIAS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Marrons em todo o empreendimento.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Linha 32 gold (briefing).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Portas e rodapés brancos.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79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IDENTIDADE E LUZ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95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Casinha no ripado da entrada.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Nome Seazone no reservatório.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95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Pasta de luminotécnico vazia.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PROJETO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Pré-executivo R04 em andamento.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Floreiras sem paisagismo.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Sem executivo de interiores.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Não alterar sem validação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3977639" cy="3602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PREMISSAS TRAVADAS (IMAGEM VENDIDA + LOG VALIDADO)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57276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Cimento queimado Dia de Chuva nas paredes externas.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Lajes de borda e beirais em cimento queimado off-white.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9572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34086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Brises de madeira no centro da fachada.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79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2491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Esquadrias marrons.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08960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Pórtico com telhado verde e letreiro.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4787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9300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Ripado PVC Amêndoa com a casinha Seazone.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87705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Floreiras pendentes em todas as bordas.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6110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Rooftop com pergolado de madeira, piscina e deck.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1271016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ANTES DE COMPRAR OU EXECUTAR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499616"/>
            <a:ext cx="3730752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1. </a:t>
            </a:r>
            <a:r>
              <a:rPr sz="700" b="0">
                <a:solidFill>
                  <a:srgbClr val="FFFFFF"/>
                </a:solidFill>
                <a:latin typeface="Arial"/>
              </a:rPr>
              <a:t>Troca de cor, material ou referência de fachada precisa de aprovação de Projetos: a fachada é a imagem vendida e o LOG foi validado pela diretoria.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2. </a:t>
            </a:r>
            <a:r>
              <a:rPr sz="700" b="0">
                <a:solidFill>
                  <a:srgbClr val="FFFFFF"/>
                </a:solidFill>
                <a:latin typeface="Arial"/>
              </a:rPr>
              <a:t>Itens A VALIDAR e PENDENTE não entram em pedido de compra até a definição registrada.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3. </a:t>
            </a:r>
            <a:r>
              <a:rPr sz="700" b="0">
                <a:solidFill>
                  <a:srgbClr val="FFFFFF"/>
                </a:solidFill>
                <a:latin typeface="Arial"/>
              </a:rPr>
              <a:t>O executivo da Shiota deve incorporar o LOG de fachada no quadro de materiais.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4. </a:t>
            </a:r>
            <a:r>
              <a:rPr sz="700" b="0">
                <a:solidFill>
                  <a:srgbClr val="FFFFFF"/>
                </a:solidFill>
                <a:latin typeface="Arial"/>
              </a:rPr>
              <a:t>Amostras físicas (cimento queimado Suvinil, ripado Amêndoa, brise) aprovadas no local.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5. </a:t>
            </a:r>
            <a:r>
              <a:rPr sz="700" b="0">
                <a:solidFill>
                  <a:srgbClr val="FFFFFF"/>
                </a:solidFill>
                <a:latin typeface="Arial"/>
              </a:rPr>
              <a:t>Onde LOG, briefing e memorial divergem, prevalece a definição registrada por Projetos.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246120"/>
            <a:ext cx="3730752" cy="9144"/>
          </a:xfrm>
          <a:prstGeom prst="rect">
            <a:avLst/>
          </a:prstGeom>
          <a:solidFill>
            <a:srgbClr val="8FA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346704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ONDE CONSULTAR (1.30 - [5316] BONITO SPOT / 02 - PROJETOS)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566160"/>
            <a:ext cx="373075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Fachada: </a:t>
            </a:r>
            <a:r>
              <a:rPr sz="650" b="0">
                <a:solidFill>
                  <a:srgbClr val="9FB0D4"/>
                </a:solidFill>
                <a:latin typeface="Arial"/>
              </a:rPr>
              <a:t>00 / LOG de considerações (aba fachada) · 08 / 05 - Imagens 3D / V02 · 08 / 07 - Pré-executivo R04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Interiores: </a:t>
            </a:r>
            <a:r>
              <a:rPr sz="650" b="0">
                <a:solidFill>
                  <a:srgbClr val="9FB0D4"/>
                </a:solidFill>
                <a:latin typeface="Arial"/>
              </a:rPr>
              <a:t>08 / 10 - Projeto de Interiores (imagens, memorial, moodboard)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Premissas: </a:t>
            </a:r>
            <a:r>
              <a:rPr sz="650" b="0">
                <a:solidFill>
                  <a:srgbClr val="9FB0D4"/>
                </a:solidFill>
                <a:latin typeface="Arial"/>
              </a:rPr>
              <a:t>00 - Premissas de Projeto (briefing)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Memorial: </a:t>
            </a:r>
            <a:r>
              <a:rPr sz="650" b="0">
                <a:solidFill>
                  <a:srgbClr val="9FB0D4"/>
                </a:solidFill>
                <a:latin typeface="Arial"/>
              </a:rPr>
              <a:t>09 - Memorial Descritivo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Pendências e checklist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BONITO SPOT  ·  BOOK DE PREMISSAS DE FACHADA E INTERIORES  ·  28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8138160" cy="351129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2103120"/>
                <a:gridCol w="4709160"/>
                <a:gridCol w="109728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 que definir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arquitetura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Concluir o pré-executivo com o LOG no quadro de materiais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(imagem) × PVC (briefing): material e acionamento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Ripado do térreo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Amêndoa (LOG) × madeira (pré-executivo)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Cor Seazone com logo e nome (briefing) × imagem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Texturas Suvinil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Painéis-teste: Dia de Chuva e off-white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Telhado verde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Impermeabilização, drenagem e espécies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 e logos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BONITO SPOT, casinha e nome Seazone: material e luz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Modelo e cor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Luminotécnico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Spots dos beirais, letreiros e áreas comuns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Paisagismo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Floreiras pendentes e jardineiras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Perfil "U" inox (briefing) × imagem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parede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canjiquinha (briefing) × revestimento branco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Jardineira da 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Drywall (LOG) × gesso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 do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Reforço na laje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× Lenço de Bolso/cimento claro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Carpete de alumínio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Embutido no piso da recepção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Pontos da estante e da copa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Contratar e detalhar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BONITO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Lançamento × Projeto  ·  Seazone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BONITO SPOT  ·  BOOK DE PREMISSAS DE FACHADA E INTERIORES  · 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4935</Words>
  <Application>Microsoft Office PowerPoint</Application>
  <PresentationFormat>Apresentação na tela (16:9)</PresentationFormat>
  <Paragraphs>580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Rachel Souto</cp:lastModifiedBy>
  <cp:revision>1</cp:revision>
  <dcterms:modified xsi:type="dcterms:W3CDTF">2026-09-23T13:37:10Z</dcterms:modified>
</cp:coreProperties>
</file>