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36.jpg"/><Relationship Id="rId8" Type="http://schemas.openxmlformats.org/officeDocument/2006/relationships/image" Target="../media/image37.jpg"/><Relationship Id="rId9" Type="http://schemas.openxmlformats.org/officeDocument/2006/relationships/image" Target="../media/image3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9.jpg"/><Relationship Id="rId5" Type="http://schemas.openxmlformats.org/officeDocument/2006/relationships/image" Target="../media/image34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-_Lançamento_Externa__01.jpg"/>
          <p:cNvPicPr>
            <a:picLocks noChangeAspect="1"/>
          </p:cNvPicPr>
          <p:nvPr/>
        </p:nvPicPr>
        <p:blipFill>
          <a:blip r:embed="rId2"/>
          <a:srcRect l="484" r="484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Marista 144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Pré-executivo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· Pré-executivo de Arquitetura Norden (fachadas 301 a 303, R03) · Conferência de Projetos Executivos · Memorial Descritivo · Premissas de Projeto · interiores Seazone e projeto básico ACÁ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Rua 144 · Setor Marista · Goiânia/GO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Marista 144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pré-executivo da Norden Arquitetura</a:t>
            </a:r>
            <a:r>
              <a:rPr sz="750" b="0">
                <a:solidFill>
                  <a:srgbClr val="333333"/>
                </a:solidFill>
                <a:latin typeface="Arial"/>
              </a:rPr>
              <a:t>, o briefing de premissas e os projetos de interiores (Seazone e ACÁ): o que a imagem vendeu, o que o projeto traz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elementos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esquina e térreo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Pré-executivo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elevações e quadro de materiais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projeto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o pré-executivo especifica e o que falta?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material do ripado e dos brises?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Como são o pórtico, as aletas e as floreiras?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(1.25 - [3352] Marista 144 Spot / 02 - Projetos): 08 - Projeto Arquitetônico (imagens 3D, pré-executivo, legal, interiores), 09 - Memorial Descritivo, 00 - Premissas de Projeto e Conferência de Projetos Executivos. O executivo final de arquitetura ainda não foi emitido.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 ·  lançamento × pré-executivo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MARISTA 144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9352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01.jpg"/>
          <p:cNvPicPr>
            <a:picLocks noChangeAspect="1"/>
          </p:cNvPicPr>
          <p:nvPr/>
        </p:nvPicPr>
        <p:blipFill>
          <a:blip r:embed="rId4"/>
          <a:srcRect t="41" b="41"/>
          <a:stretch>
            <a:fillRect/>
          </a:stretch>
        </p:blipFill>
        <p:spPr>
          <a:xfrm>
            <a:off x="502920" y="1170432"/>
            <a:ext cx="28803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01168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FRENTE</a:t>
            </a:r>
          </a:p>
        </p:txBody>
      </p:sp>
      <p:sp>
        <p:nvSpPr>
          <p:cNvPr id="13" name="Oval 12"/>
          <p:cNvSpPr/>
          <p:nvPr/>
        </p:nvSpPr>
        <p:spPr>
          <a:xfrm>
            <a:off x="1666494" y="127202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89354" y="129488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536877" y="21186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59737" y="21415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292047" y="301934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14907" y="304220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747144" y="254018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70004" y="256304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098548" y="15962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21408" y="16191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896922" y="301934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19782" y="304220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637690" y="283921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60550" y="286207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148029" y="269510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889" y="271796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2098548" y="411818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21408" y="414104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1464868" y="428030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87728" y="430316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1170432"/>
            <a:ext cx="502920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124358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374904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1463040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Pórtico e pergolado do rooftop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estrutura escura no topo, sobre o lazer</a:t>
            </a:r>
          </a:p>
        </p:txBody>
      </p:sp>
      <p:sp>
        <p:nvSpPr>
          <p:cNvPr id="37" name="Oval 36"/>
          <p:cNvSpPr/>
          <p:nvPr/>
        </p:nvSpPr>
        <p:spPr>
          <a:xfrm>
            <a:off x="374904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1792224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Aletas verticais grafite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duas faixas escuras do térreo ao pórtico</a:t>
            </a:r>
          </a:p>
        </p:txBody>
      </p:sp>
      <p:sp>
        <p:nvSpPr>
          <p:cNvPr id="39" name="Oval 38"/>
          <p:cNvSpPr/>
          <p:nvPr/>
        </p:nvSpPr>
        <p:spPr>
          <a:xfrm>
            <a:off x="374904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2121408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Ripado vertical amadeirado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painéis em "L" ao lado das janelas</a:t>
            </a:r>
          </a:p>
        </p:txBody>
      </p:sp>
      <p:sp>
        <p:nvSpPr>
          <p:cNvPr id="41" name="Oval 40"/>
          <p:cNvSpPr/>
          <p:nvPr/>
        </p:nvSpPr>
        <p:spPr>
          <a:xfrm>
            <a:off x="374904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45059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Paredes em textura cinza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fundo das sacadas e entre as janelas</a:t>
            </a:r>
          </a:p>
        </p:txBody>
      </p:sp>
      <p:sp>
        <p:nvSpPr>
          <p:cNvPr id="43" name="Oval 42"/>
          <p:cNvSpPr/>
          <p:nvPr/>
        </p:nvSpPr>
        <p:spPr>
          <a:xfrm>
            <a:off x="374904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2779776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Bordas brancas com spots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lajes em balanço com iluminação embutida</a:t>
            </a:r>
          </a:p>
        </p:txBody>
      </p:sp>
      <p:sp>
        <p:nvSpPr>
          <p:cNvPr id="45" name="Oval 44"/>
          <p:cNvSpPr/>
          <p:nvPr/>
        </p:nvSpPr>
        <p:spPr>
          <a:xfrm>
            <a:off x="374904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3108960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Esquadrias pretas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caixilho quadriculado, vidro incolor</a:t>
            </a:r>
          </a:p>
        </p:txBody>
      </p:sp>
      <p:sp>
        <p:nvSpPr>
          <p:cNvPr id="47" name="Oval 46"/>
          <p:cNvSpPr/>
          <p:nvPr/>
        </p:nvSpPr>
        <p:spPr>
          <a:xfrm>
            <a:off x="374904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3438144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 ripado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fechamento amadeirado das sacadas</a:t>
            </a:r>
          </a:p>
        </p:txBody>
      </p:sp>
      <p:sp>
        <p:nvSpPr>
          <p:cNvPr id="49" name="Oval 48"/>
          <p:cNvSpPr/>
          <p:nvPr/>
        </p:nvSpPr>
        <p:spPr>
          <a:xfrm>
            <a:off x="374904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3767328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Floreiras nas bordas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vegetação nas quinas do volume</a:t>
            </a:r>
          </a:p>
        </p:txBody>
      </p:sp>
      <p:sp>
        <p:nvSpPr>
          <p:cNvPr id="51" name="Oval 50"/>
          <p:cNvSpPr/>
          <p:nvPr/>
        </p:nvSpPr>
        <p:spPr>
          <a:xfrm>
            <a:off x="374904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23360" y="4096512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Marquise com letreiro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MARISTA 144 SPOT em letras brancas + jardineira</a:t>
            </a:r>
          </a:p>
        </p:txBody>
      </p:sp>
      <p:sp>
        <p:nvSpPr>
          <p:cNvPr id="53" name="Oval 52"/>
          <p:cNvSpPr/>
          <p:nvPr/>
        </p:nvSpPr>
        <p:spPr>
          <a:xfrm>
            <a:off x="374904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4425696"/>
            <a:ext cx="4526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Logo-casinha e seazone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escultura no acesso e letreiro iluminado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pré-executivo Norden (quadro de materiais das fachadas 301 a 303), Premissas, Memorial e Conferência.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munique.jpg"/>
          <p:cNvPicPr>
            <a:picLocks noChangeAspect="1"/>
          </p:cNvPicPr>
          <p:nvPr/>
        </p:nvPicPr>
        <p:blipFill>
          <a:blip r:embed="rId4"/>
          <a:srcRect t="32852" b="32852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cinza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das sacadas e entre janelas.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pré-executivo: pintura texturizada, revestimento acrílico Textucril Leinertex, cor Munique.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tom da cor Munique com a imagem em painel-teste.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borda.jpg"/>
          <p:cNvPicPr>
            <a:picLocks noChangeAspect="1"/>
          </p:cNvPicPr>
          <p:nvPr/>
        </p:nvPicPr>
        <p:blipFill>
          <a:blip r:embed="rId5"/>
          <a:srcRect l="36235" r="36235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branca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bordas das lajes e volumes laterais claros.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pré-executivo: Textucril Leinertex, cor Branco Gelo.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ipado.jpg"/>
          <p:cNvPicPr>
            <a:picLocks noChangeAspect="1"/>
          </p:cNvPicPr>
          <p:nvPr/>
        </p:nvPicPr>
        <p:blipFill>
          <a:blip r:embed="rId6"/>
          <a:srcRect t="39625" b="39625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vertical amadeirado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painéis em "L" ao lado das janelas.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ripas verticais em tom madeira · briefing: brises em PVC · memorial: madeira ou brises móveis.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pré-executivo desenha o ripado sem material; brises em contratação.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esq.jpg"/>
          <p:cNvPicPr>
            <a:picLocks noChangeAspect="1"/>
          </p:cNvPicPr>
          <p:nvPr/>
        </p:nvPicPr>
        <p:blipFill>
          <a:blip r:embed="rId7"/>
          <a:srcRect t="30368" b="3036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 pretas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 das unidades.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caixilho preto · briefing: linha 32 gold, PVC ou alumínio anodizado; comuns preto fosco.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projeto de esquadrias (Béni) fora do Drive; cor das unidades não travada.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aleta.jpg"/>
          <p:cNvPicPr>
            <a:picLocks noChangeAspect="1"/>
          </p:cNvPicPr>
          <p:nvPr/>
        </p:nvPicPr>
        <p:blipFill>
          <a:blip r:embed="rId8"/>
          <a:srcRect t="30411" b="30411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Aletas verticais grafite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duas faixas da fachada frontal.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faixas grafite escuro do térreo ao pórtico · pré-executivo: sem cor própria no quadro de materiais.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acabamento das aletas.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floreira.jpg"/>
          <p:cNvPicPr>
            <a:picLocks noChangeAspect="1"/>
          </p:cNvPicPr>
          <p:nvPr/>
        </p:nvPicPr>
        <p:blipFill>
          <a:blip r:embed="rId9"/>
          <a:srcRect l="11418" r="1141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Floreiras nas bordas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quinas das lajes do volume.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floreiras brancas com vegetação pendente · paisagismo PE R01 entregue.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conferir espécies, irrigação e impermeabilização.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pré-executivo Norden, Premissas, Memorial e Conferência.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ortico.jpg"/>
          <p:cNvPicPr>
            <a:picLocks noChangeAspect="1"/>
          </p:cNvPicPr>
          <p:nvPr/>
        </p:nvPicPr>
        <p:blipFill>
          <a:blip r:embed="rId4"/>
          <a:srcRect l="34684" r="3468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Pórtico e pergolado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topo do edifício, sobre o rooftop.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estrutura escura com vigas · memorial: pergolado em aço corten ou ripas de madeira · pórtico com projeto metálico próprio.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acabamento e cor da estrutura.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gcripado.jpg"/>
          <p:cNvPicPr>
            <a:picLocks noChangeAspect="1"/>
          </p:cNvPicPr>
          <p:nvPr/>
        </p:nvPicPr>
        <p:blipFill>
          <a:blip r:embed="rId5"/>
          <a:srcRect l="14617" r="14617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 ripado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sacadas das unidades.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fechamento ripado amadeirado · briefing: alumínio anodizado com montante aparente.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diverge da imagem.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spots.jpg"/>
          <p:cNvPicPr>
            <a:picLocks noChangeAspect="1"/>
          </p:cNvPicPr>
          <p:nvPr/>
        </p:nvPicPr>
        <p:blipFill>
          <a:blip r:embed="rId6"/>
          <a:srcRect l="34102" r="34102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Spots nas bordas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face inferior das lajes em balanço.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spots embutidos em todas as bordas · luminotécnico apenas em estudo preliminar.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iluminação de fachada no elétrico.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letreiro.jpg"/>
          <p:cNvPicPr>
            <a:picLocks noChangeAspect="1"/>
          </p:cNvPicPr>
          <p:nvPr/>
        </p:nvPicPr>
        <p:blipFill>
          <a:blip r:embed="rId7"/>
          <a:srcRect l="28189" r="28189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Marquise com letreiro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acesso principal.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marquise escura com jardineira e letras brancas MARISTA 144 SPOT · memorial: nome na fachada interna.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de material e iluminação.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casinha.jpg"/>
          <p:cNvPicPr>
            <a:picLocks noChangeAspect="1"/>
          </p:cNvPicPr>
          <p:nvPr/>
        </p:nvPicPr>
        <p:blipFill>
          <a:blip r:embed="rId8"/>
          <a:srcRect t="19801" b="19801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Logo-casinha escultórica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acesso de veículos.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casinha branca em grande escala junto ao cobogó do acesso.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estrutural nem de acabamento. PENDENTE.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seazone.jpg"/>
          <p:cNvPicPr>
            <a:picLocks noChangeAspect="1"/>
          </p:cNvPicPr>
          <p:nvPr/>
        </p:nvPicPr>
        <p:blipFill>
          <a:blip r:embed="rId9"/>
          <a:srcRect l="22760" r="22760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seazone iluminado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escura do térreo.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letras brancas iluminadas · briefing: muro com pintura cor Seazone, logo e nome.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letreiros constam como "verificar" no elétrico. PENDENTE.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Esquina e volume lateral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88950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02.jpg"/>
          <p:cNvPicPr>
            <a:picLocks noChangeAspect="1"/>
          </p:cNvPicPr>
          <p:nvPr/>
        </p:nvPicPr>
        <p:blipFill>
          <a:blip r:embed="rId4"/>
          <a:srcRect l="753" r="753"/>
          <a:stretch>
            <a:fillRect/>
          </a:stretch>
        </p:blipFill>
        <p:spPr>
          <a:xfrm>
            <a:off x="502920" y="1170432"/>
            <a:ext cx="283464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4526280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ESQUINA</a:t>
            </a:r>
          </a:p>
        </p:txBody>
      </p:sp>
      <p:sp>
        <p:nvSpPr>
          <p:cNvPr id="13" name="Oval 12"/>
          <p:cNvSpPr/>
          <p:nvPr/>
        </p:nvSpPr>
        <p:spPr>
          <a:xfrm>
            <a:off x="1589227" y="125400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12087" y="127686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62456" y="283921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85316" y="286207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192377" y="247893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15237" y="250179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815998" y="247893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38858" y="250179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532534" y="240688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55394" y="242974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702612" y="206462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25472" y="208748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156155" y="165030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79015" y="167316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467965" y="440640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90825" y="442926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520440" y="1170432"/>
          <a:ext cx="5120640" cy="2542032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051560"/>
                <a:gridCol w="2743200"/>
                <a:gridCol w="1097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(imagem × pré-executivo)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Pórtico claro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Moldura clara no topo · projeto metálico próprio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lateral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(Textucril Leinertex)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 × sem material no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 × sem cor própria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× linha 32 gold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nas quinas · paisagismo PE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Escuro, sobre o rooftop · aço corten/madeira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Térreo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Marquise, letreiros e casinha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3520440" y="3840480"/>
            <a:ext cx="512064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7588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394106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ESQUINA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416966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lateral é mais clara (Branco Gelo) e a frente combina textura cinza, ripado amadeirado e aletas grafite. O pré-executivo só traz duas cores no quadro de materiais: ripado, aletas, pórtico e guarda-corpos ainda não têm material definido.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Térreo e acesso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-_Lançamento_Externa__07.jpg"/>
          <p:cNvPicPr>
            <a:picLocks noChangeAspect="1"/>
          </p:cNvPicPr>
          <p:nvPr/>
        </p:nvPicPr>
        <p:blipFill>
          <a:blip r:embed="rId4"/>
          <a:srcRect t="10" b="10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ACESSO</a:t>
            </a:r>
          </a:p>
        </p:txBody>
      </p:sp>
      <p:sp>
        <p:nvSpPr>
          <p:cNvPr id="13" name="Oval 12"/>
          <p:cNvSpPr/>
          <p:nvPr/>
        </p:nvSpPr>
        <p:spPr>
          <a:xfrm>
            <a:off x="3516782" y="23387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9642" y="23616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400300" y="249283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23160" y="251569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045055" y="226460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7915" y="228746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842058" y="280665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64918" y="282951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146553" y="27496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69413" y="27724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4227271" y="272107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50131" y="274393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994306" y="172254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17166" y="174540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334566" y="155137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57426" y="157423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760720" y="1170432"/>
          <a:ext cx="2880360" cy="276148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MARISTA 144 SPOT, letras brancas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Marquise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escuro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Jardineira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sobre a marquise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Casinha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Escultura branca no 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Cobogó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vazado junto ao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iluminado na parede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Aletas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 até o 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 nos pavimentos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02920" y="4114800"/>
            <a:ext cx="8138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No térreo, a imagem vendida concentra a identidade: marquise com jardineira e letreiro, escultura da casinha, cobogó e o letreiro seazone iluminado. O briefing pede muro com pintura cor Seazone, logo e nome; o memorial prevê o nome do edifício na fachada interna. Nenhum desses elementos está detalhado no pré-executivo.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PRÉ-EXECUTIVO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 do pré-executivo (Norden · R03)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0208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pp_frontal.jpg"/>
          <p:cNvPicPr>
            <a:picLocks noChangeAspect="1"/>
          </p:cNvPicPr>
          <p:nvPr/>
        </p:nvPicPr>
        <p:blipFill>
          <a:blip r:embed="rId4"/>
          <a:srcRect t="6" b="6"/>
          <a:stretch>
            <a:fillRect/>
          </a:stretch>
        </p:blipFill>
        <p:spPr>
          <a:xfrm>
            <a:off x="502920" y="1170432"/>
            <a:ext cx="19659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234440"/>
            <a:ext cx="10058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FRONTAL · 301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1143000"/>
            <a:ext cx="197510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pp_lateral.jpg"/>
          <p:cNvPicPr>
            <a:picLocks noChangeAspect="1"/>
          </p:cNvPicPr>
          <p:nvPr/>
        </p:nvPicPr>
        <p:blipFill>
          <a:blip r:embed="rId5"/>
          <a:srcRect t="398" b="398"/>
          <a:stretch>
            <a:fillRect/>
          </a:stretch>
        </p:blipFill>
        <p:spPr>
          <a:xfrm>
            <a:off x="2606040" y="1170432"/>
            <a:ext cx="1920240" cy="36027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670048" y="1234440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LATERAL ESQ. · 301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170432"/>
            <a:ext cx="1325880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2618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6F7891"/>
                </a:solidFill>
                <a:latin typeface="Arial"/>
              </a:rPr>
              <a:t>QUADRO DE MATERIAIS</a:t>
            </a:r>
          </a:p>
        </p:txBody>
      </p:sp>
      <p:pic>
        <p:nvPicPr>
          <p:cNvPr id="18" name="Picture 17" descr="06_BOOK_ASSETS__pp_legenda.jpg"/>
          <p:cNvPicPr>
            <a:picLocks noChangeAspect="1"/>
          </p:cNvPicPr>
          <p:nvPr/>
        </p:nvPicPr>
        <p:blipFill>
          <a:blip r:embed="rId6"/>
          <a:srcRect l="7111" r="7111"/>
          <a:stretch>
            <a:fillRect/>
          </a:stretch>
        </p:blipFill>
        <p:spPr>
          <a:xfrm>
            <a:off x="4736592" y="1508760"/>
            <a:ext cx="1179576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54880" y="1965960"/>
            <a:ext cx="11430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30" b="1">
                <a:solidFill>
                  <a:srgbClr val="00143D"/>
                </a:solidFill>
                <a:latin typeface="Arial"/>
              </a:rPr>
              <a:t>Munique</a:t>
            </a:r>
          </a:p>
          <a:p>
            <a:pPr algn="l">
              <a:spcAft>
                <a:spcPts val="300"/>
              </a:spcAft>
            </a:pPr>
            <a:r>
              <a:rPr sz="630" b="0">
                <a:solidFill>
                  <a:srgbClr val="333333"/>
                </a:solidFill>
                <a:latin typeface="Arial"/>
              </a:rPr>
              <a:t>Textucril Leinertex, pintura texturizada</a:t>
            </a:r>
          </a:p>
          <a:p>
            <a:pPr algn="l">
              <a:spcAft>
                <a:spcPts val="300"/>
              </a:spcAft>
            </a:pPr>
            <a:r>
              <a:rPr sz="630" b="1">
                <a:solidFill>
                  <a:srgbClr val="00143D"/>
                </a:solidFill>
                <a:latin typeface="Arial"/>
              </a:rPr>
              <a:t>Branco Gelo</a:t>
            </a:r>
          </a:p>
          <a:p>
            <a:pPr algn="l">
              <a:spcAft>
                <a:spcPts val="300"/>
              </a:spcAft>
            </a:pPr>
            <a:r>
              <a:rPr sz="630" b="0">
                <a:solidFill>
                  <a:srgbClr val="333333"/>
                </a:solidFill>
                <a:latin typeface="Arial"/>
              </a:rPr>
              <a:t>Textucril Leinertex, pintura texturizada</a:t>
            </a:r>
          </a:p>
          <a:p>
            <a:pPr algn="l">
              <a:spcAft>
                <a:spcPts val="300"/>
              </a:spcAft>
            </a:pPr>
            <a:r>
              <a:rPr sz="630" b="1">
                <a:solidFill>
                  <a:srgbClr val="FC6058"/>
                </a:solidFill>
                <a:latin typeface="Arial"/>
              </a:rPr>
              <a:t>Sem legenda</a:t>
            </a:r>
          </a:p>
          <a:p>
            <a:pPr algn="l">
              <a:spcAft>
                <a:spcPts val="300"/>
              </a:spcAft>
            </a:pPr>
            <a:r>
              <a:rPr sz="630" b="0">
                <a:solidFill>
                  <a:srgbClr val="333333"/>
                </a:solidFill>
                <a:latin typeface="Arial"/>
              </a:rPr>
              <a:t>ripado, aletas, pórtico, guarda-corpos e esquadrias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170432"/>
            <a:ext cx="246888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127101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O PROJETO TRAZ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499616"/>
            <a:ext cx="215798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Fase · </a:t>
            </a:r>
            <a:r>
              <a:rPr sz="700" b="0">
                <a:solidFill>
                  <a:srgbClr val="FFFFFF"/>
                </a:solidFill>
                <a:latin typeface="Arial"/>
              </a:rPr>
              <a:t>pranchas "Pré Executivo" R03 na pasta de executivo; executivo final ainda não emitido.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Fachadas · </a:t>
            </a:r>
            <a:r>
              <a:rPr sz="700" b="0">
                <a:solidFill>
                  <a:srgbClr val="FFFFFF"/>
                </a:solidFill>
                <a:latin typeface="Arial"/>
              </a:rPr>
              <a:t>301, 302 e 303 no Drive; a prancha 304 da série não foi localizada.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Materiais · </a:t>
            </a:r>
            <a:r>
              <a:rPr sz="700" b="0">
                <a:solidFill>
                  <a:srgbClr val="FFFFFF"/>
                </a:solidFill>
                <a:latin typeface="Arial"/>
              </a:rPr>
              <a:t>só duas texturas no quadro de materiais.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Brises e gradis · </a:t>
            </a:r>
            <a:r>
              <a:rPr sz="700" b="0">
                <a:solidFill>
                  <a:srgbClr val="FFFFFF"/>
                </a:solidFill>
                <a:latin typeface="Arial"/>
              </a:rPr>
              <a:t>projeto em contratação; pórtico e pergolados com projeto metálico próprio.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Esquadrias · </a:t>
            </a:r>
            <a:r>
              <a:rPr sz="700" b="0">
                <a:solidFill>
                  <a:srgbClr val="FFFFFF"/>
                </a:solidFill>
                <a:latin typeface="Arial"/>
              </a:rPr>
              <a:t>projetista dedicado, arquivos fora do Drive.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lançamento × pré-executivo Norden R03, Premissas, Memorial e Conferência.  DEFINIDO = convergem  ·  A VALIDAR = divergem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Pré-executivo / Premissas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sacadas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Textucril Leinertex cor Munique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Bordas e volumes claros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Textucril Leinertex cor Branco Gelo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material · PVC (briefing) · madeira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Aletas verticais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cor própria no quadro de materiais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 (briefing) · projeto Béni fora do Drive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sacadas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montante aparente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Pórtico / 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Estrutura escura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Aço corten ou madeira (memorial) · projeto metálico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nas quinas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Paisagismo PE R01 · espécies a conferir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Spots nas bordas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 todas as lajes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Luminotécnico só em estudo preliminar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MARISTA 144 SPOT e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na fachada interna (memorial)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Casinha e cobogó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 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detalhados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infinita esverdeada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 · projeto próprio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Claro, com vegetação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 ·  rooftop e piscina  ·  mini market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MARISTA 144 SPOT  ·  BOOK DE PREMISSAS DE FACHADA E INTERIORES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(versão atualizada após a alteração do projeto legal) × Conferência de Projetos Executivos (aba Interiores) e projeto básico ACÁ.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de madeira com frisos de LED, jardim vertical, cobogó, cimento queimado, letreiro Marista 144 SPOT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Projeto básico ACÁ com materiais; pré-executivo fora do Drive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interno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Mesa oval, painel ripado, tijolinho branco na copa, bancada de granito São Gabriel, 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Mini market segue a linha do arquitetônico (conferência)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Deck, piscina de borda infinita esverdeada, banco com floreira, logo-casinha na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Piscina com projeto próprio; detalhamento 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Cinza Puro e Savana, granito São Gabriel, tintas Calopsita e Cinza Urbano, porcelanato cinza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Piso no mesmo tom nas áreas comuns e privativas (conferência)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Executivo de interiores ACÁ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Projeto básico no Drive; executivo em andamento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Vale o conceito das imagens atualizadas (10 - Projeto de Interiores / Seazone / 02 - Imagens / ALTERAÇÃO 05-2026) e os materiais do projeto básico ACÁ e do moodboard Seazone. Letreiros, logo iluminado, frisos de LED e pontos do mini market precisam entrar no elétrico antes do fechamento.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sobre as imagens de venda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"MARISTA 144 - INDICAÇÕES" (00 - Premissas de Projeto): 9 indicações sem texto descritivo; abaixo, as marcadas sobre imagens, lidas junto ao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ind_4.jpg"/>
          <p:cNvPicPr>
            <a:picLocks noChangeAspect="1"/>
          </p:cNvPicPr>
          <p:nvPr/>
        </p:nvPicPr>
        <p:blipFill>
          <a:blip r:embed="rId4"/>
          <a:srcRect l="2113" r="2113"/>
          <a:stretch>
            <a:fillRect/>
          </a:stretch>
        </p:blipFill>
        <p:spPr>
          <a:xfrm>
            <a:off x="576072" y="1399032"/>
            <a:ext cx="2505456" cy="1417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60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10896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Porta na recepção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01568"/>
            <a:ext cx="2505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Porta marcada no painel de madeira da recepção. Briefing: portas brancas com bandeira até o forro; acabamento da porta dentro do painel a confirmar.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BOOK_ASSETS__ind_6.jpg"/>
          <p:cNvPicPr>
            <a:picLocks noChangeAspect="1"/>
          </p:cNvPicPr>
          <p:nvPr/>
        </p:nvPicPr>
        <p:blipFill>
          <a:blip r:embed="rId5"/>
          <a:srcRect l="528" r="528"/>
          <a:stretch>
            <a:fillRect/>
          </a:stretch>
        </p:blipFill>
        <p:spPr>
          <a:xfrm>
            <a:off x="3319272" y="1399032"/>
            <a:ext cx="2505456" cy="1417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192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10896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Portas do rooftop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3401568"/>
            <a:ext cx="2505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Porta de unidade marcada no rooftop. Briefing: portas do rooftop com acesso às unidades pintadas da mesma cor da parede.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6_BOOK_ASSETS__ind_8.jpg"/>
          <p:cNvPicPr>
            <a:picLocks noChangeAspect="1"/>
          </p:cNvPicPr>
          <p:nvPr/>
        </p:nvPicPr>
        <p:blipFill>
          <a:blip r:embed="rId6"/>
          <a:srcRect l="4113" r="4113"/>
          <a:stretch>
            <a:fillRect/>
          </a:stretch>
        </p:blipFill>
        <p:spPr>
          <a:xfrm>
            <a:off x="6062472" y="1399032"/>
            <a:ext cx="2505456" cy="14173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62472" y="288950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310896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Deck do rooftop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3401568"/>
            <a:ext cx="25054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Imagem do deck com floreira e logo-casinha na parede. Deck em porcelanato que imita madeira 120×20 (briefing).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IMAGEM_02.jpg"/>
          <p:cNvPicPr>
            <a:picLocks noChangeAspect="1"/>
          </p:cNvPicPr>
          <p:nvPr/>
        </p:nvPicPr>
        <p:blipFill>
          <a:blip r:embed="rId4"/>
          <a:srcRect l="2797" r="2797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_IMAGEM_03.jpg"/>
          <p:cNvPicPr>
            <a:picLocks noChangeAspect="1"/>
          </p:cNvPicPr>
          <p:nvPr/>
        </p:nvPicPr>
        <p:blipFill>
          <a:blip r:embed="rId5"/>
          <a:srcRect l="2797" r="2797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JARDIM VERTICAL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Painel de madeira com frisos de LED e letreiro, cobogó com vegetação, jardim vertical e espelho orgânico.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projeto básico ACÁ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cimento queimado Av. Expressa Suvinil + tinta Nuvem de Chuva Suvinil (ACÁ) · briefing: Cinza Urbano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Painel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Savana Guararapes com perfil metalon preto fosco (ACÁ) e frisos de LED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Jardim vertical preservado (ACÁ e briefing) · cobogó com vegetação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com pé-direito livre (briefing) · imagem: forro modular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natural/acetinado, rodapé branco de poliestireno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Identidade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Letreiro Marista 144 SPOT e logo seazone iluminado (briefing e 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2 pendentes + spots de sobrepor, luz neutra 4000 K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Sofá curvo, poltronas com estrutura preta, banco de madeira, tapetes redondos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Brancas com bandeira até o forro (briefing) · lavabo na mesma tinta da 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 interno: integração, copa e mini market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IMAGEM_03.jpg"/>
          <p:cNvPicPr>
            <a:picLocks noChangeAspect="1"/>
          </p:cNvPicPr>
          <p:nvPr/>
        </p:nvPicPr>
        <p:blipFill>
          <a:blip r:embed="rId4"/>
          <a:srcRect l="2804" r="2804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INTEGRAÇÃO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IMAGEM_01.jpg"/>
          <p:cNvPicPr>
            <a:picLocks noChangeAspect="1"/>
          </p:cNvPicPr>
          <p:nvPr/>
        </p:nvPicPr>
        <p:blipFill>
          <a:blip r:embed="rId5"/>
          <a:srcRect l="2797" r="2797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+ TIJOLINHO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Mesa oval, painel ripado com letreiro iluminado, tijolinho branco e bancada escura na copa.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projeto básico ACÁ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Tinta Nuvem de Chuva e Cinza Crômio Suvinil (ACÁ) · briefing: Cinza Urbano + Calopsita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Painel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ripado de PVC amadeirado (ACÁ)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Revestimento Brick Invecchiatto Bianco Polare 7×23 Lepri (ACÁ) · pedra branca canjiquinha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 com estrutura em metalon preto fosco (ACÁ)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Savana Guararapes e MDF Cinza Puro Arauco (ACÁ)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(briefing e ACÁ)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Forro modular (briefing e imagem) · cortineiro nas portas e janelas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Spots de embutir + pendentes sobre a mesa e a bancada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Marcenaria com fita de LED e logo iluminado; ponto para máquina de snacks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 externo: piscina e deck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IMAGEM_06.jpg"/>
          <p:cNvPicPr>
            <a:picLocks noChangeAspect="1"/>
          </p:cNvPicPr>
          <p:nvPr/>
        </p:nvPicPr>
        <p:blipFill>
          <a:blip r:embed="rId4"/>
          <a:srcRect l="2804" r="2804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PISCINA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IMAGEM_04.jpg"/>
          <p:cNvPicPr>
            <a:picLocks noChangeAspect="1"/>
          </p:cNvPicPr>
          <p:nvPr/>
        </p:nvPicPr>
        <p:blipFill>
          <a:blip r:embed="rId5"/>
          <a:srcRect l="2797" r="2797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DECK + CASINHA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Piscina de borda infinita com revestimento esverdeado, deck amadeirado, banco com floreira e logo-casinha.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que imita madeira 120×20, rodapé embutido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(briefing) · borda infinita (imagem e 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Borda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Cerâmica atérmica ou pedra São Tomé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Floreira em alvenaria + banco em concreto resinado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Identidade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Logo-casinha preto na parede do deck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Vigas escuras sobre o deck (imagem) · aço corten ou madeira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Ducha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Ducha + ralo e torneira próxima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Solar para a piscina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pologia_A__Imagem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TIPOLOGIA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pologia_C__Imagem_01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· TIPOLOGIA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das tipologias A a E (10 - Projeto de Interiores / Seazone / 02 - Imagens / LANÇAMENTO).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moodboard · memorial · conferência)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· porcelanato cinza (moodboard) · mesmo tom das áreas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 (briefing) · tintas Calopsita e Cinza Urbano Suvinil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nas paredes (briefing) · nicho no box não detalhado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Cinza Puro Arauco e MDF Savana Guararapes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Linha 32 gold, PVC ou alumínio anodizado (briefing) · pretas nas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branca, guarnição de 7 cm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Vidros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Incolor nas unidades (briefing) · mini boreal no banheiro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Luminárias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Sobrepostas 4000 K · arandelas na cabeceira da tipologia 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do projeto básico de interiores ACÁ (moodboard recepção e rooftop).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cimentoqueimado.jpg"/>
          <p:cNvPicPr>
            <a:picLocks noChangeAspect="1"/>
          </p:cNvPicPr>
          <p:nvPr/>
        </p:nvPicPr>
        <p:blipFill>
          <a:blip r:embed="rId4"/>
          <a:srcRect t="10579" b="10579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Av. Expressa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 recepção.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cimento queimado Av. Expressa Suvinil (ACÁ) · briefing: cimento queimado cinza.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painel-teste.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savana.jpg"/>
          <p:cNvPicPr>
            <a:picLocks noChangeAspect="1"/>
          </p:cNvPicPr>
          <p:nvPr/>
        </p:nvPicPr>
        <p:blipFill>
          <a:blip r:embed="rId5"/>
          <a:srcRect t="10969" b="10969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Savana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da recepção e marcenaria do rooftop.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Savana Guararapes com perfil metalon preto fosco (ACÁ).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recepção, copa e unidades.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jardim.jpg"/>
          <p:cNvPicPr>
            <a:picLocks noChangeAspect="1"/>
          </p:cNvPicPr>
          <p:nvPr/>
        </p:nvPicPr>
        <p:blipFill>
          <a:blip r:embed="rId6"/>
          <a:srcRect t="11352" b="11352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Jardim vertical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recepção.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placa de jardim vertical preservado (ACÁ) · briefing: jardim vertical.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imagens usam vegetação natural.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brick.jpg"/>
          <p:cNvPicPr>
            <a:picLocks noChangeAspect="1"/>
          </p:cNvPicPr>
          <p:nvPr/>
        </p:nvPicPr>
        <p:blipFill>
          <a:blip r:embed="rId7"/>
          <a:srcRect t="13542" b="13542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Tijolinho Brick Bianco Polare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copa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Brick Invecchiatto Bianco Polare 7×23 Lepri (ACÁ) · briefing: pedra branca canjiquinha.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entre tijolinho e canjiquinha.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ripapvc.jpg"/>
          <p:cNvPicPr>
            <a:picLocks noChangeAspect="1"/>
          </p:cNvPicPr>
          <p:nvPr/>
        </p:nvPicPr>
        <p:blipFill>
          <a:blip r:embed="rId8"/>
          <a:srcRect l="10578" r="1057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Painel ripado de PVC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do rooftop interno.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ripado de PVC amadeirado (ACÁ).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fixação e ponto do letreiro iluminado.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nuvem.jpg"/>
          <p:cNvPicPr>
            <a:picLocks noChangeAspect="1"/>
          </p:cNvPicPr>
          <p:nvPr/>
        </p:nvPicPr>
        <p:blipFill>
          <a:blip r:embed="rId9"/>
          <a:srcRect t="10969" b="10969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Tintas Nuvem de Chuva e Cinza Crômio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do rooftop e recepção.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Nuvem de Chuva e Cinza Crômio Suvinil (ACÁ) · briefing: Cinza Urbano + Calopsita.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alinhar cores do briefing e do projeto. A VALIDAR.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do "Moodboard - Marista 144 Spot - Versão final" (acabamentos das unidades) e do projeto básico ACÁ.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cinzapuro.jpg"/>
          <p:cNvPicPr>
            <a:picLocks noChangeAspect="1"/>
          </p:cNvPicPr>
          <p:nvPr/>
        </p:nvPicPr>
        <p:blipFill>
          <a:blip r:embed="rId4"/>
          <a:srcRect t="13158" b="13158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Cinza Puro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das unidades.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Cinza Puro Arauco (moodboard e ACÁ).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todas as tipologias.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savana.jpg"/>
          <p:cNvPicPr>
            <a:picLocks noChangeAspect="1"/>
          </p:cNvPicPr>
          <p:nvPr/>
        </p:nvPicPr>
        <p:blipFill>
          <a:blip r:embed="rId5"/>
          <a:srcRect t="10969" b="10969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Savana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cabeceira, aéreos e prateleiras.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Savana Guararapes (moodboard).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combinar com o cinza conforme imagens.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saogabriel.jpg"/>
          <p:cNvPicPr>
            <a:picLocks noChangeAspect="1"/>
          </p:cNvPicPr>
          <p:nvPr/>
        </p:nvPicPr>
        <p:blipFill>
          <a:blip r:embed="rId6"/>
          <a:srcRect t="13542" b="13542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São Gabriel polido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 da copa e do banheiro.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São Gabriel polido (moodboard e ACÁ).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conforme as vistas do briefing.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orccinza.jpg"/>
          <p:cNvPicPr>
            <a:picLocks noChangeAspect="1"/>
          </p:cNvPicPr>
          <p:nvPr/>
        </p:nvPicPr>
        <p:blipFill>
          <a:blip r:embed="rId7"/>
          <a:srcRect t="13526" b="13526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cinza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das unidades.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cinza (moodboard) · briefing: 90×90 natural/acetinado.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tom das áreas comuns (conferência).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cromio.jpg"/>
          <p:cNvPicPr>
            <a:picLocks noChangeAspect="1"/>
          </p:cNvPicPr>
          <p:nvPr/>
        </p:nvPicPr>
        <p:blipFill>
          <a:blip r:embed="rId8"/>
          <a:srcRect t="13542" b="13542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Tinta Cinza Crômio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destaque (referência ACÁ).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moodboard das unidades: tintas Calopsita e Cinza Urbano Suvinil · briefing: branco gelo acetinado.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 cor das paredes.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44768" y="324612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DECIDIR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03136" y="3236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UNIDADES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465576"/>
            <a:ext cx="234086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Nicho do box: </a:t>
            </a:r>
            <a:r>
              <a:rPr sz="700" b="0">
                <a:solidFill>
                  <a:srgbClr val="FFFFFF"/>
                </a:solidFill>
                <a:latin typeface="Arial"/>
              </a:rPr>
              <a:t>não detalhado.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Esquadrias: </a:t>
            </a:r>
            <a:r>
              <a:rPr sz="700" b="0">
                <a:solidFill>
                  <a:srgbClr val="FFFFFF"/>
                </a:solidFill>
                <a:latin typeface="Arial"/>
              </a:rPr>
              <a:t>pretas nas imagens, cor não travada.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Vidro do banheiro: </a:t>
            </a:r>
            <a:r>
              <a:rPr sz="700" b="0">
                <a:solidFill>
                  <a:srgbClr val="FFFFFF"/>
                </a:solidFill>
                <a:latin typeface="Arial"/>
              </a:rPr>
              <a:t>jateado (briefing) × mini boreal (memorial).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premissas, projeto básico ACÁ, moodboard, memorial e Conferência de Projetos Executivos.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Premissas / ACÁ / conferência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+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Av. Expressa + Nuvem de Chuva (ACÁ) · Cinza Urbano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painel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com frisos de LED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Savana + metalon preto (ACÁ)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natural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 preservada (ACÁ) · plantas artificiais (premissa)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Letreiros e logos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Luminotécnico em estudo preliminar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Tijolinho branco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Brick Lepri (ACÁ) × canjiquinha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painel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ripado de PVC (ACÁ)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Modular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modular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Esverdeada, borda infinita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 · detalhamento 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imitando madeira 120×20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Cinza, na cor da parede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Pintadas na cor da parede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+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Cinza Puro + Savana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 com destaque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(briefing) × Calopsita/Cinza Urbano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Nicho do box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aparece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detalhamento de 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 andamento (ACÁ)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em "[MARISTA 144 SPOT] Premissas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MARISTA 144 SPOT  ·  BOOK DE PREMISSAS DE FACHADA E INTERIORES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em "[MARISTA 144 SPOT] Premissas de Projeto" (coluna "Conferência" = True) × pré-executivo Norden, projeto básico ACÁ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Projeto / ACÁ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sem material · projeto de brises em contratação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Fechamento do terreno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com pintura cor Seazone,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detalhado no pré-executivo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 · PVC ou alumínio anodizado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Projeto Béni fora do Drive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preto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nas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 na imagem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na imagem 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Munique + Branco Gelo (pré-executivo)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cinza + painel MDF + jardim vertical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ACÁ confirma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branca canjiquinha na 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Tijolinho Brick Lepri (ACÁ)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Urbano + Calopsita (Suvinil)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Nuvem de Chuva + Cinza Crômio (ACÁ)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· madeira 120×20 no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paginação no pré-executivo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Imagem confirma · detalhamento 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Brancas, bandeira até o forro; rooftop na cor da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Calopsita / Cinza Urbano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 · banco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 em alvenaria + banco em concreto resinado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Paisagismo PE R01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MARISTA 144 SPOT  ·  BOOK DE PREMISSAS DE FACHADA E INTERIORES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TEXTURAS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Munique nas paredes e Branco Gelo nas bordas.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Confirmar o tom da Munique com a imagem.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Painel-teste antes da compra.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RIPADO E BRISES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Ripado amadeirado sem material no projeto.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Briefing: PVC · memorial: madeira.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Projeto de brises ainda em contratação.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ESQUADRIAS E GUARDA-CORPOS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Pretas nas imagens: travar linha e cor.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 ripado × alumínio (briefing).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Projeto de esquadrias fora do Drive.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PÓRTICO E ALETAS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Aletas grafite sem cor no projeto.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Pórtico e pergolado: projeto metálico.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Aço corten ou madeira (memorial).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E LUZ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Marquise, letreiro, casinha e seazone sem detalhe.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Spots em todas as bordas das lajes.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Luminotécnico só em estudo preliminar.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INTERIORES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Tijolinho × canjiquinha na copa.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Cores de parede: briefing × ACÁ.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Executivo de interiores em andamento.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(IMAGEM VENDIDA + BRIEFING)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Composição cinza + branco com ripado amadeirado, conforme imagens.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Aletas grafite e pórtico com pergolado no rooftop.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pretas nas áreas comuns (preto fosco).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nas bordas das lajes.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 com pintura cor Seazone, logo e nome.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 das áreas comuns em vidro com perfil "U" inox.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Piscina de borda infinita esverdeada e deck imitando madeira.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Recepção: painel de madeira, jardim vertical e cimento queimado.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O executivo de arquitetura deve trazer material do ripado, aletas, pórtico e guarda-corpos.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(texturas Munique e Branco Gelo, ripado, esquadria, revestimento da piscina)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projeto e briefing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(1.25 - [3352] MARISTA 144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07 - Projeto Executivo / 03 - Pré-executivo · 08 / 05 - Imagens 3D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Interiores: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10 - Projeto de Interiores (Seazone e ACÁ)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· 09 - Memorial Descritivo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Conferência: </a:t>
            </a:r>
            <a:r>
              <a:rPr sz="650" b="0">
                <a:solidFill>
                  <a:srgbClr val="9FB0D4"/>
                </a:solidFill>
                <a:latin typeface="Arial"/>
              </a:rPr>
              <a:t>[MARISTA 144 SPOT] - Conferência de Projetos Executivos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MARISTA 144 SPOT  ·  BOOK DE PREMISSAS DE FACHADA E INTERIORES  ·  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arquitetura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Emitir com quadro de materiais completo e prancha 304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Textura Munique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Confirmar tom × imagem em painel-teste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e 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(PVC × madeira) e fixação · projeto de 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Aletas grafite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 e acabamento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e cor das unidades · cruzar projeto de 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das sacadas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 (imagem) × alumínio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Pórtico e 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e cor (aço corten ou madeira)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Espécies, irrigação e impermeabilização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Iluminação de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Spots nas bordas · luminotécnico 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Letreiros e casinha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Marquise, MARISTA 144 SPOT, casinha e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Detalhamento do revestimento esverdeado e borda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Copa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Tijolinho Brick Lepri × pedra canjiquinha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Cores de parede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Briefing (Cinza Urbano/Calopsita) × ACÁ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Preservado (ACÁ) × natural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Nicho do box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Detalhamento de banheiro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Paginações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Pisos internos e externos e paredes molhadas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Concluir o executivo ACÁ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MARISTA 144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Pré-executivo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MARISTA 144 SPOT  ·  BOOK DE PREMISSAS DE FACHADA E INTERIORES  ·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