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7"/>
    <p:sldId id="274" r:id="rId6"/>
    <p:sldId id="275" r:id="rId5"/>
    <p:sldId id="276" r:id="rId4"/>
    <p:sldId id="277" r:id="rId3"/>
    <p:sldId id="278" r:id="rId2"/>
    <p:sldId id="279" r:id="rId31"/>
    <p:sldId id="280" r:id="rId32"/>
    <p:sldId id="281" r:id="rId33"/>
    <p:sldId id="282" r:id="rId34"/>
    <p:sldId id="283" r:id="rId35"/>
    <p:sldId id="284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roline Vieira Montedo" initials="" lastIdx="3" clrIdx="0"/>
  <p:cmAuthor id="1" name="Rachel Souto Hudson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9DEEBB-5512-44E8-9C8E-75C5AFC50D94}">
  <a:tblStyle styleId="{D79DEEBB-5512-44E8-9C8E-75C5AFC50D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3.xml"/><Relationship Id="rId3" Type="http://schemas.openxmlformats.org/officeDocument/2006/relationships/slide" Target="slides/slide22.xml"/><Relationship Id="rId4" Type="http://schemas.openxmlformats.org/officeDocument/2006/relationships/slide" Target="slides/slide21.xml"/><Relationship Id="rId5" Type="http://schemas.openxmlformats.org/officeDocument/2006/relationships/slide" Target="slides/slide20.xml"/><Relationship Id="rId6" Type="http://schemas.openxmlformats.org/officeDocument/2006/relationships/slide" Target="slides/slide19.xml"/><Relationship Id="rId7" Type="http://schemas.openxmlformats.org/officeDocument/2006/relationships/slide" Target="slides/slide18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6.jpg"/><Relationship Id="rId5" Type="http://schemas.openxmlformats.org/officeDocument/2006/relationships/image" Target="../media/image2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6" Type="http://schemas.openxmlformats.org/officeDocument/2006/relationships/image" Target="../media/image32.jpg"/><Relationship Id="rId7" Type="http://schemas.openxmlformats.org/officeDocument/2006/relationships/image" Target="../media/image3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_RENDERS_LANCAMENTO__CAM002.jpg"/>
          <p:cNvPicPr>
            <a:picLocks noChangeAspect="1"/>
          </p:cNvPicPr>
          <p:nvPr/>
        </p:nvPicPr>
        <p:blipFill>
          <a:blip r:embed="rId2"/>
          <a:srcRect l="667" r="444"/>
          <a:stretch>
            <a:fillRect/>
          </a:stretch>
        </p:blipFill>
        <p:spPr>
          <a:xfrm>
            <a:off x="5074920" y="0"/>
            <a:ext cx="406908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74920" y="0"/>
            <a:ext cx="45720" cy="514350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6928"/>
            <a:ext cx="1783080" cy="29260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847088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2996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480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Campeche</a:t>
            </a:r>
          </a:p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Spot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448056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9FB0D4"/>
                </a:solidFill>
                <a:latin typeface="Arial"/>
              </a:rPr>
              <a:t>Lançamento  ×  Executivo  ·  Fachada  ·  Interiores</a:t>
            </a:r>
          </a:p>
          <a:p>
            <a:pPr algn="l">
              <a:spcAft>
                <a:spcPts val="400"/>
              </a:spcAft>
            </a:pPr>
            <a:r>
              <a:rPr sz="750" b="0">
                <a:solidFill>
                  <a:srgbClr val="8FA3CC"/>
                </a:solidFill>
                <a:latin typeface="Arial"/>
              </a:rPr>
              <a:t>Base: imagens de lançamento · executivo ROVE (CAMPECHESPOT-PE-ARQ, elevações 028–031) · Memorial Descritivo R01 · Conferência de Fachadas rev02 · Análise Comparativa · Memorial de Interiores Seazone · Premissas de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34256"/>
            <a:ext cx="4480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8FA3CC"/>
                </a:solidFill>
                <a:latin typeface="Arial"/>
              </a:rPr>
              <a:t>Campeche · Florianópolis/SC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448056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DOCUMENTO TÉCNICO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CONTEXTUALIZAÇÃO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objetivo deste material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Consolidar as premissas de </a:t>
            </a:r>
            <a:r>
              <a:rPr sz="750" b="1">
                <a:solidFill>
                  <a:srgbClr val="333333"/>
                </a:solidFill>
                <a:latin typeface="Arial"/>
              </a:rPr>
              <a:t>fachada e interiores</a:t>
            </a:r>
            <a:r>
              <a:rPr sz="750" b="0">
                <a:solidFill>
                  <a:srgbClr val="333333"/>
                </a:solidFill>
                <a:latin typeface="Arial"/>
              </a:rPr>
              <a:t> do Campeche Spot a partir da leitura cruzada entre as </a:t>
            </a:r>
            <a:r>
              <a:rPr sz="750" b="1">
                <a:solidFill>
                  <a:srgbClr val="333333"/>
                </a:solidFill>
                <a:latin typeface="Arial"/>
              </a:rPr>
              <a:t>imagens de lançamento</a:t>
            </a:r>
            <a:r>
              <a:rPr sz="750" b="0">
                <a:solidFill>
                  <a:srgbClr val="333333"/>
                </a:solidFill>
                <a:latin typeface="Arial"/>
              </a:rPr>
              <a:t>, o </a:t>
            </a:r>
            <a:r>
              <a:rPr sz="750" b="1">
                <a:solidFill>
                  <a:srgbClr val="333333"/>
                </a:solidFill>
                <a:latin typeface="Arial"/>
              </a:rPr>
              <a:t>projeto executivo da ROVE</a:t>
            </a:r>
            <a:r>
              <a:rPr sz="750" b="0">
                <a:solidFill>
                  <a:srgbClr val="333333"/>
                </a:solidFill>
                <a:latin typeface="Arial"/>
              </a:rPr>
              <a:t> e o projeto de interiores da Seazone: o que a imagem vendeu, o que o executivo especifica, onde divergem e o que validar antes da compra e da execução.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2139696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14883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Leitura da fachada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157984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 que compõe cada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32303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468879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47802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Mapa de texturas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87168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· 12 materiais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761487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" y="2798063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807207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Vistas especificadas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816351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frontal, lateral e acesso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090672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3504" y="3127248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1363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Conferência de fachadas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executivo × venda · 7 itens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19856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504" y="3456432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465575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Lançamento ×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474720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fachada e interiores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749039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3504" y="3785615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79475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Interiores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3803903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recepção, rooftop, unidades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078224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3504" y="4114800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41239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Briefing de projeto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133087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opções marcadas × executivo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07408"/>
            <a:ext cx="3840480" cy="283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3504" y="4443984"/>
            <a:ext cx="210312" cy="210312"/>
          </a:xfrm>
          <a:prstGeom prst="ellipse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4531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Pontos de atenção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4462272"/>
            <a:ext cx="1783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travadas · checklist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128016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AO ABRIR ESTE BOOK, OBRAS DEVE CONSEGUIR RESPONDER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1636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19472" y="1572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as imagens de lançamento mostram na fachada?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0" y="196596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9472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cor e textura o executivo define para cada plano?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9514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19472" y="2231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Onde o executivo diverge da imagem vendida?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2624327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919472" y="25603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precisa de errata antes da compra da tinta?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295351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19472" y="28895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Qual é o conceito de interiores que deve ser seguido?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3282695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19472" y="3218687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O que não pode ser alterado sem validação?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54880" y="3611879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19472" y="354787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Arial"/>
              </a:rPr>
              <a:t>Quais pontos ainda precisam ser validados?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0" y="4023360"/>
            <a:ext cx="37490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0">
                <a:solidFill>
                  <a:srgbClr val="8FA3CC"/>
                </a:solidFill>
                <a:latin typeface="Arial"/>
              </a:rPr>
              <a:t>Regra do material: nenhuma informação foi inventada. Fontes (Campeche Spot / 02 - Projetos): imagens de lançamento, executivo de arquitetura ROVE, Memorial Descritivo R01, projeto de interiores Seazone e 00 - Premissas de Projeto (briefing, conferência de fachadas, análise comparativa). Foco: imagens externas, texturas e interiores. Índices urbanísticos, áreas e custos não fazem parte deste Book.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e especificações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Leitura geral  ·  mapa de texturas  ·  vistas com marcação e legenda técnica  ·  conferência executivo × venda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CAMPECHE SPOT  ·  BOOK DE PREMISSAS DE FACHADA E INTERIORES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Leitura geral: o que compõe a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129783" cy="2889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CAM_001.jpg"/>
          <p:cNvPicPr>
            <a:picLocks noChangeAspect="1"/>
          </p:cNvPicPr>
          <p:nvPr/>
        </p:nvPicPr>
        <p:blipFill>
          <a:blip r:embed="rId4"/>
          <a:srcRect t="330" b="330"/>
          <a:stretch>
            <a:fillRect/>
          </a:stretch>
        </p:blipFill>
        <p:spPr>
          <a:xfrm>
            <a:off x="502920" y="1170432"/>
            <a:ext cx="5074920" cy="28346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CAM 001 (ESQUINA)</a:t>
            </a:r>
          </a:p>
        </p:txBody>
      </p:sp>
      <p:sp>
        <p:nvSpPr>
          <p:cNvPr id="13" name="Oval 12"/>
          <p:cNvSpPr/>
          <p:nvPr/>
        </p:nvSpPr>
        <p:spPr>
          <a:xfrm>
            <a:off x="3415284" y="14913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38144" y="15142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4024274" y="171815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47134" y="174101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045055" y="18882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7915" y="19110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628671" y="188823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51531" y="191109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588312" y="197327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11172" y="199613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364534" y="222839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7394" y="225125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4430268" y="26677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53128" y="26906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400300" y="310713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423160" y="312999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2349550" y="344728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72410" y="347014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4227271" y="32488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250131" y="32717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70432"/>
            <a:ext cx="2880360" cy="3584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12435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LEGENDA</a:t>
            </a:r>
          </a:p>
        </p:txBody>
      </p:sp>
      <p:sp>
        <p:nvSpPr>
          <p:cNvPr id="35" name="Oval 34"/>
          <p:cNvSpPr/>
          <p:nvPr/>
        </p:nvSpPr>
        <p:spPr>
          <a:xfrm>
            <a:off x="5897880" y="148132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46304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Pergolado da cobertura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estrutura escura com forro amadeirado</a:t>
            </a:r>
          </a:p>
        </p:txBody>
      </p:sp>
      <p:sp>
        <p:nvSpPr>
          <p:cNvPr id="37" name="Oval 36"/>
          <p:cNvSpPr/>
          <p:nvPr/>
        </p:nvSpPr>
        <p:spPr>
          <a:xfrm>
            <a:off x="5897880" y="181051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79222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Guarda-corpo da cobertura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vidro · GC-01 alumínio/vidro h=1,10 m</a:t>
            </a:r>
          </a:p>
        </p:txBody>
      </p:sp>
      <p:sp>
        <p:nvSpPr>
          <p:cNvPr id="39" name="Oval 38"/>
          <p:cNvSpPr/>
          <p:nvPr/>
        </p:nvSpPr>
        <p:spPr>
          <a:xfrm>
            <a:off x="5897880" y="2139696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12140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Volume escuro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REV-06 pintura cinza escuro Rock'n Roll</a:t>
            </a:r>
          </a:p>
        </p:txBody>
      </p:sp>
      <p:sp>
        <p:nvSpPr>
          <p:cNvPr id="41" name="Oval 40"/>
          <p:cNvSpPr/>
          <p:nvPr/>
        </p:nvSpPr>
        <p:spPr>
          <a:xfrm>
            <a:off x="5897880" y="246888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245059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Brise ripado vertical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cor madeira na imagem · BR-01 no executivo</a:t>
            </a:r>
          </a:p>
        </p:txBody>
      </p:sp>
      <p:sp>
        <p:nvSpPr>
          <p:cNvPr id="43" name="Oval 42"/>
          <p:cNvSpPr/>
          <p:nvPr/>
        </p:nvSpPr>
        <p:spPr>
          <a:xfrm>
            <a:off x="5897880" y="2798064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277977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Vasos das varandas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PAI-08 Japi Floreira Flat · 36 un</a:t>
            </a:r>
          </a:p>
        </p:txBody>
      </p:sp>
      <p:sp>
        <p:nvSpPr>
          <p:cNvPr id="45" name="Oval 44"/>
          <p:cNvSpPr/>
          <p:nvPr/>
        </p:nvSpPr>
        <p:spPr>
          <a:xfrm>
            <a:off x="5897880" y="3127248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3108960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Grelha das varandas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REV-05 pintura cinza claro Nanquim</a:t>
            </a:r>
          </a:p>
        </p:txBody>
      </p:sp>
      <p:sp>
        <p:nvSpPr>
          <p:cNvPr id="47" name="Oval 46"/>
          <p:cNvSpPr/>
          <p:nvPr/>
        </p:nvSpPr>
        <p:spPr>
          <a:xfrm>
            <a:off x="5897880" y="3456432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438144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Frentes de laje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REV-07 pintura Branco Puro</a:t>
            </a:r>
          </a:p>
        </p:txBody>
      </p:sp>
      <p:sp>
        <p:nvSpPr>
          <p:cNvPr id="49" name="Oval 48"/>
          <p:cNvSpPr/>
          <p:nvPr/>
        </p:nvSpPr>
        <p:spPr>
          <a:xfrm>
            <a:off x="5897880" y="3785615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3767328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Fita de LED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marquises e floreiras · luz âmbar</a:t>
            </a:r>
          </a:p>
        </p:txBody>
      </p:sp>
      <p:sp>
        <p:nvSpPr>
          <p:cNvPr id="51" name="Oval 50"/>
          <p:cNvSpPr/>
          <p:nvPr/>
        </p:nvSpPr>
        <p:spPr>
          <a:xfrm>
            <a:off x="5897880" y="4114800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096512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Logo-casinha iluminada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pilastra escura do acesso</a:t>
            </a:r>
          </a:p>
        </p:txBody>
      </p:sp>
      <p:sp>
        <p:nvSpPr>
          <p:cNvPr id="53" name="Oval 52"/>
          <p:cNvSpPr/>
          <p:nvPr/>
        </p:nvSpPr>
        <p:spPr>
          <a:xfrm>
            <a:off x="5897880" y="4443983"/>
            <a:ext cx="201168" cy="201168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4425696"/>
            <a:ext cx="23774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00143D"/>
                </a:solidFill>
                <a:latin typeface="Arial"/>
              </a:rPr>
              <a:t>Pano escuro sobre as lojas</a:t>
            </a:r>
          </a:p>
          <a:p>
            <a:pPr algn="l"/>
            <a:r>
              <a:rPr sz="630" b="0">
                <a:solidFill>
                  <a:srgbClr val="6F7891"/>
                </a:solidFill>
                <a:latin typeface="Arial"/>
              </a:rPr>
              <a:t>faixa única REV-06 até o vidro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096512"/>
            <a:ext cx="5074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333333"/>
                </a:solidFill>
                <a:latin typeface="Arial"/>
              </a:rPr>
              <a:t>A fachada combina uma grelha clara (REV-05) de pilares e lajes brancas (REV-07) com volumes escuros (REV-06) nas empenas e na base. Nas varandas, brises ripados verticais amadeirados e vasos com vegetação; na base, pano escuro contínuo sobre as vitrines, fita de LED nas marquises e o logo-casinha iluminado no acesso.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legenda das elevações 028 a 031 e Memorial Descritivo R01.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rev05.jpg"/>
          <p:cNvPicPr>
            <a:picLocks noChangeAspect="1"/>
          </p:cNvPicPr>
          <p:nvPr/>
        </p:nvPicPr>
        <p:blipFill>
          <a:blip r:embed="rId4"/>
          <a:srcRect t="42086" b="42086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REV-05 · Cinza claro Nanquim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grelha das varandas, torre do duto e paredes entre vitrines do térreo.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cinza claro, ref. cor Nanquim Suvinil, sobre textura Texturatto Efeito Suave (legenda 028).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no térreo o executivo trocou REV-05 e REV-06 (conferência itens 2 e 3). Errata R02.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rev06.jpg"/>
          <p:cNvPicPr>
            <a:picLocks noChangeAspect="1"/>
          </p:cNvPicPr>
          <p:nvPr/>
        </p:nvPicPr>
        <p:blipFill>
          <a:blip r:embed="rId5"/>
          <a:srcRect t="30336" b="3033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REV-06 · Cinza escuro Rock'n 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empenas escuras, bandas das floreiras e pano sobre as lojas.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cinza escuro, ref. cor Rock'n Roll Suvinil (legenda 028).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faixa do letreiro sobre as lojas deve ser REV-06 (pano único escuro). A VALIDAR na errata.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rev07.jpg"/>
          <p:cNvPicPr>
            <a:picLocks noChangeAspect="1"/>
          </p:cNvPicPr>
          <p:nvPr/>
        </p:nvPicPr>
        <p:blipFill>
          <a:blip r:embed="rId6"/>
          <a:srcRect t="30382" b="30382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REV-07 · Branco Puro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frentes de laje, empenas claras, reservatório e mureta.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pintura branca, ref. cor Branco Puro Suvinil (legenda 028).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conforme a imagem de venda (conferência). Aprovar painel-teste antes da compra.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br01.jpg"/>
          <p:cNvPicPr>
            <a:picLocks noChangeAspect="1"/>
          </p:cNvPicPr>
          <p:nvPr/>
        </p:nvPicPr>
        <p:blipFill>
          <a:blip r:embed="rId7"/>
          <a:srcRect t="28986" b="28986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BR-01 · Brise das varandas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frente das janelas e varandas dos pavimentos tipo.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executivo: brise de correr em alumínio, lâminas horizontais · memorial: "horizontais em alumínio na cor XXX".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imagem vendeu ripado vertical cor madeira. ROVE: troca inviável. CRÍTICO ·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esq.jpg"/>
          <p:cNvPicPr>
            <a:picLocks noChangeAspect="1"/>
          </p:cNvPicPr>
          <p:nvPr/>
        </p:nvPicPr>
        <p:blipFill>
          <a:blip r:embed="rId8"/>
          <a:srcRect t="28986" b="28986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Esquadrias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janelas e porta-janelas de todas as fachadas.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linha 32 (gold) nas fachadas frontais e linha 25 nos fundos, alumínio preto fosco (memorial R01).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confirmar linha por fachada no caderno de esquadrias (pranchas 032 e 033).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gc.jpg"/>
          <p:cNvPicPr>
            <a:picLocks noChangeAspect="1"/>
          </p:cNvPicPr>
          <p:nvPr/>
        </p:nvPicPr>
        <p:blipFill>
          <a:blip r:embed="rId9"/>
          <a:srcRect l="22405" r="2240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GC-01 · Guarda-corpo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cobertura, rooftop e varandas.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guarda-corpo em alumínio e vidro, h=1,10 m (legenda executivo).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briefing: privativo alumínio anodizado com montante; comum vidro perfil U inox. A VALIDAR.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MAPA DE TEXTURAS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Texturas e acabamentos da fachada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das imagens de lançamento: referência visual, não substitui amostra física. Especificação: executivo, Memorial Descritivo R01 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vaso.jpg"/>
          <p:cNvPicPr>
            <a:picLocks noChangeAspect="1"/>
          </p:cNvPicPr>
          <p:nvPr/>
        </p:nvPicPr>
        <p:blipFill>
          <a:blip r:embed="rId4"/>
          <a:srcRect l="21378" r="21378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Vasos de fachada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varandas e floreiras dos pavimentos.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PAI-08 Japi Floreira Flat 29×77 h=29, cimento queimado, 36 un · PAI-11 Gardeno M 50×100 h=60, chumbo fosco, 12 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constam na legenda, mas não estão desenhados nas elevações (conferência item 7).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ed.jpg"/>
          <p:cNvPicPr>
            <a:picLocks noChangeAspect="1"/>
          </p:cNvPicPr>
          <p:nvPr/>
        </p:nvPicPr>
        <p:blipFill>
          <a:blip r:embed="rId5"/>
          <a:srcRect l="30915" r="3091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Fita de 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marquises, floreiras e coroamento.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memorial R01: fita de LED na marquise e no coroamento · imagens: luz âmbar contínua.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ausente nas elevações (conferência item 6): prever pontos antes do revestimento. A VALIDAR.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logo.jpg"/>
          <p:cNvPicPr>
            <a:picLocks noChangeAspect="1"/>
          </p:cNvPicPr>
          <p:nvPr/>
        </p:nvPicPr>
        <p:blipFill>
          <a:blip r:embed="rId6"/>
          <a:srcRect t="11661" b="11661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Logo-casinha + letreiro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pilastra do acesso principal.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imagem: pilastra escura REV-06 com logo-casinha iluminado e "Campeche SPOT" · executivo: CV-01 letreiro PVC/aço inox com LED.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executivo mostra pilastra clara e só texto (conferência item 4).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perg.jpg"/>
          <p:cNvPicPr>
            <a:picLocks noChangeAspect="1"/>
          </p:cNvPicPr>
          <p:nvPr/>
        </p:nvPicPr>
        <p:blipFill>
          <a:blip r:embed="rId7"/>
          <a:srcRect l="23762" r="23762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Pergolado da cobertura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terraço do rooftop.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 metálica escura com réguas amadeiradas (imagem) · memorial: aço corten + madeira · FR-03 madeira "a definir".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madeira do forro ainda "a definir" no executivo: fechar referência. PENDENTE.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pisc.jpg"/>
          <p:cNvPicPr>
            <a:picLocks noChangeAspect="1"/>
          </p:cNvPicPr>
          <p:nvPr/>
        </p:nvPicPr>
        <p:blipFill>
          <a:blip r:embed="rId8"/>
          <a:srcRect l="36278" r="36278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Piscina com borda infinita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rooftop, voltada para o mar.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pastilha Eliane Noronha Mar Mesh 10×10 (memorial R01) · aquecimento solar.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briefing: esverdeado 20×20 · borda não especificada no executivo. A VALIDAR.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lojas.jpg"/>
          <p:cNvPicPr>
            <a:picLocks noChangeAspect="1"/>
          </p:cNvPicPr>
          <p:nvPr/>
        </p:nvPicPr>
        <p:blipFill>
          <a:blip r:embed="rId9"/>
          <a:srcRect l="27155" r="27155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Lojas e vitrines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térreo, fachada sudeste.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vitrines com esquadria preta sob pano escuro contínuo; paredes entre vitrines claras (imagem).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excluir o letreiro "seazone café" da prancha 028 (conferência item 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frontal: lojas e varandas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CAM_0003.jpg"/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9202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CAM 0003 (FRONTAL)</a:t>
            </a:r>
          </a:p>
        </p:txBody>
      </p:sp>
      <p:sp>
        <p:nvSpPr>
          <p:cNvPr id="13" name="Oval 12"/>
          <p:cNvSpPr/>
          <p:nvPr/>
        </p:nvSpPr>
        <p:spPr>
          <a:xfrm>
            <a:off x="2519171" y="129479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42031" y="1317650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793492" y="142326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16352" y="144612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650492" y="173159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73352" y="175445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2382012" y="1680210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04872" y="170306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976371" y="206562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99231" y="208848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3342132" y="278507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64991" y="280793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3707892" y="29649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30752" y="29878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4027932" y="327327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50791" y="329613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1376172" y="31961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99032" y="32190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57800" y="1170432"/>
          <a:ext cx="338328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+ madeira (memorial) · FR-03 madeira "a definir"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 e vidro, h=1,10 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PAI-08 (36 un) e PAI-11 (12 un) · não desenhados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BR-01 alumínio horizontal × ripado vertical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Grelha das 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REV-05 cinza claro Nanquim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Frentes de laje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Branco Puro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Pano sobre as lojas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Deve ser REV-06 único · executivo marca REV-05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Vitrines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entre vitrines REV-05 · executivo marca REV-06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na empena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 "C" Seazone na empena (imagem) · sem detalhe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LEITURA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LEITURA DA FACHADA FRONTAL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A imagem vendida mostra a base com um pano escuro contínuo até o vidro e paredes claras entre as vitrines. O executivo inverteu as cores (REV-05 × REV-06): corrigir na errata R02 antes da compra da tinta.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Fachada lateral e base comercial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CAM002.jpg"/>
          <p:cNvPicPr>
            <a:picLocks noChangeAspect="1"/>
          </p:cNvPicPr>
          <p:nvPr/>
        </p:nvPicPr>
        <p:blipFill>
          <a:blip r:embed="rId4"/>
          <a:srcRect l="8756" r="8756"/>
          <a:stretch>
            <a:fillRect/>
          </a:stretch>
        </p:blipFill>
        <p:spPr>
          <a:xfrm>
            <a:off x="502920" y="1170432"/>
            <a:ext cx="237744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0020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CAM 002</a:t>
            </a:r>
          </a:p>
        </p:txBody>
      </p:sp>
      <p:sp>
        <p:nvSpPr>
          <p:cNvPr id="13" name="Oval 12"/>
          <p:cNvSpPr/>
          <p:nvPr/>
        </p:nvSpPr>
        <p:spPr>
          <a:xfrm>
            <a:off x="2135489" y="132606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58349" y="134892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703161" y="179441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6021" y="181727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2135489" y="188448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58349" y="190734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890503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13363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270833" y="296530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93693" y="298816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904914" y="310941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27774" y="313227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308421" y="352373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31281" y="354659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711927" y="247893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34787" y="250179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838504" y="3523731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1364" y="3546591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063240" y="1170432"/>
          <a:ext cx="5577840" cy="323697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43000"/>
                <a:gridCol w="3474720"/>
                <a:gridCol w="7315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 (executivo / memorial)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cobertura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 e vidro h=1,10 m · briefing: áreas comuns vidro perfil U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BR-01 brise de correr em alumínio, lâminas horizontais × ripado vertical madeira (imagem)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das 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PAI-08 Japi Floreira Flat, cimento queimado · incluir nas elevações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Pilares da grelha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REV-05 pintura cinza claro Nanquim Suvinil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Frentes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pintura Branco Puro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Pano sobre as lojas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REV-06 cinza escuro Rock'n Roll, faixa única até o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Vitrines das lojas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 preta · paredes entre vitrines REV-05 (errata R02)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Empena clara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Branco Puro (empenas claras, reservatório e mureta)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Base e 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Floreira com vegetação e LED na base · paisagismo conforme projeto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063240" y="4526280"/>
            <a:ext cx="5577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As quatro elevações (028 Sudeste, 029 Sul, 030 Oeste, 031 Norte) repetem os códigos REV-05, REV-06 e REV-07. A errata R02 das pranchas 28 a 30 foi solicitada em 28/07/2026.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VISTA + ESPECIFICAÇÃO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Térreo: acesso e identidade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4626864" cy="2624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ENDERS_LANCAMENTO__002.jpg"/>
          <p:cNvPicPr>
            <a:picLocks noChangeAspect="1"/>
          </p:cNvPicPr>
          <p:nvPr/>
        </p:nvPicPr>
        <p:blipFill>
          <a:blip r:embed="rId4"/>
          <a:srcRect t="44" b="44"/>
          <a:stretch>
            <a:fillRect/>
          </a:stretch>
        </p:blipFill>
        <p:spPr>
          <a:xfrm>
            <a:off x="502920" y="1170432"/>
            <a:ext cx="4572000" cy="25694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7373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LANÇAMENTO · 002 (ACESSO)</a:t>
            </a:r>
          </a:p>
        </p:txBody>
      </p:sp>
      <p:sp>
        <p:nvSpPr>
          <p:cNvPr id="13" name="Oval 12"/>
          <p:cNvSpPr/>
          <p:nvPr/>
        </p:nvSpPr>
        <p:spPr>
          <a:xfrm>
            <a:off x="1787652" y="24510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810512" y="24739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290572" y="265660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13432" y="267946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513332" y="1603126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536192" y="1625986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6132" y="1757293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1780153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107692" y="309341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0552" y="311627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918971" y="2887858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1831" y="2910718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930652" y="1885767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53512" y="1908627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3662172" y="2373965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85031" y="2396825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9" name="Oval 28"/>
          <p:cNvSpPr/>
          <p:nvPr/>
        </p:nvSpPr>
        <p:spPr>
          <a:xfrm>
            <a:off x="3570732" y="2964942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93591" y="2987802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Oval 30"/>
          <p:cNvSpPr/>
          <p:nvPr/>
        </p:nvSpPr>
        <p:spPr>
          <a:xfrm>
            <a:off x="3204972" y="2451049"/>
            <a:ext cx="265176" cy="26517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227832" y="2473909"/>
            <a:ext cx="219456" cy="219456"/>
          </a:xfrm>
          <a:prstGeom prst="ellipse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257800" y="1170432"/>
          <a:ext cx="3383280" cy="329184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01168"/>
                <a:gridCol w="731520"/>
                <a:gridCol w="1883664"/>
                <a:gridCol w="56692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Logo-casinha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Iluminado na pilastra escura · executivo sem o logo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"Campeche SPOT" · CV-01 PVC/aço inox com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LED da marquise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Fita de LED âmbar · ausente nas elevações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da marquise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FR-03 forro de madeira / teto vinílico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de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Degraus com LED embutido (imagem)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rampa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Metálico preto (imagem) · NBR 9050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(imagem) × BR-01 horizontal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Vitrines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Esquadria preta, vidro incolor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Paisagismo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Vegetação tropical com iluminação de 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Pilastra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REV-06 escura · executivo mostra clara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02920" y="3840480"/>
            <a:ext cx="4572000" cy="93268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950208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94106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IDENTIDADE DO ACESSO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169664"/>
            <a:ext cx="42611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Pilastra escura com o logo-casinha iluminado, letreiro Campeche SPOT e LED na marquise são a "cara" do empreendimento no lançamento. O executivo mostra pilastra clara e só o texto CV-01: corrigir na errata e detalhar elétrica e fixação.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 ×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Conferência de fachadas (rev02)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Conferência "Executivo × Venda" rev02, 28/07/2026 (00 - Premissas de Projeto). Errata R02 das pranchas 28 a 30 solicitada antes da compra da tinta.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196596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234440"/>
                <a:gridCol w="3017520"/>
                <a:gridCol w="2697480"/>
                <a:gridCol w="9601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Imagem de venda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Executivo R01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Criticidade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Brise BR-01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Ripado vertical em cor amadeirada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Lâminas horizontais de alumínio (brise de correr)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CRÍTICA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Faixa do letreiro (lojas)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Pano único escuro até o 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Marcada REV-05 · deve ser REV-06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CRÍTICA · TINTA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 entre vitrines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Marcadas REV-06 · devem ser REV-05 Nanquim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CRÍTICA · TINTA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Pilastra do acesso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Escura REV-06 com logo-casinha iluminado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Pilastra clara, CV-01 só texto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Letreiro "seazone café"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Não existe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Desenhado na prancha 28: excluir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Fita de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Âmbar em marquises e 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Ausente nas elevações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6F7891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Vasos de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Vegetação em todas as 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PAI-08 (36) e PAI-11 (12) na legenda, sem desenho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6F7891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3401568"/>
            <a:ext cx="81381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1E7F5C"/>
                </a:solidFill>
                <a:latin typeface="Arial"/>
              </a:rPr>
              <a:t>CONFORME A IMAGEM DE VENDA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58183"/>
            <a:ext cx="64008" cy="64008"/>
          </a:xfrm>
          <a:prstGeom prst="rect">
            <a:avLst/>
          </a:prstGeom>
          <a:solidFill>
            <a:srgbClr val="1E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3703320"/>
            <a:ext cx="3694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Grelha das varandas REV-05 · frentes de laje REV-07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87368"/>
            <a:ext cx="64008" cy="64008"/>
          </a:xfrm>
          <a:prstGeom prst="rect">
            <a:avLst/>
          </a:prstGeom>
          <a:solidFill>
            <a:srgbClr val="1E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032504"/>
            <a:ext cx="3694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Empenas claras, reservatório e mureta REV-07 · empenas escuras REV-06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16551"/>
            <a:ext cx="64008" cy="64008"/>
          </a:xfrm>
          <a:prstGeom prst="rect">
            <a:avLst/>
          </a:prstGeom>
          <a:solidFill>
            <a:srgbClr val="1E7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361688"/>
            <a:ext cx="36941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Bandas das floreiras e venezianas do A/C REV-06 / BR-02 · torre do duto REV-05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74720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FC6058"/>
                </a:solidFill>
                <a:latin typeface="Arial"/>
              </a:rPr>
              <a:t>RESPOSTA DA ROVE (29/07/2026)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03320"/>
            <a:ext cx="3840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>
                <a:solidFill>
                  <a:srgbClr val="333333"/>
                </a:solidFill>
                <a:latin typeface="Arial"/>
              </a:rPr>
              <a:t>A troca do brise para ripado vertical foi considerada inviável pela ROVE: o fornecedor já está fechado. Posicionamento da Seazone sobre o brise ainda pendente. Os itens de tinta (2 e 3) seguem para a errata R02.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 × VENDA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Conferência: imagem de venda × executivo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5632703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conf_evid2.jpg"/>
          <p:cNvPicPr>
            <a:picLocks noChangeAspect="1"/>
          </p:cNvPicPr>
          <p:nvPr/>
        </p:nvPicPr>
        <p:blipFill>
          <a:blip r:embed="rId4"/>
          <a:srcRect t="81" b="81"/>
          <a:stretch>
            <a:fillRect/>
          </a:stretch>
        </p:blipFill>
        <p:spPr>
          <a:xfrm>
            <a:off x="502920" y="1170432"/>
            <a:ext cx="5577840" cy="2551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84048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>
                <a:solidFill>
                  <a:srgbClr val="00143D"/>
                </a:solidFill>
                <a:latin typeface="Arial"/>
              </a:rPr>
              <a:t>Leitura: </a:t>
            </a:r>
            <a:r>
              <a:rPr sz="700" b="0">
                <a:solidFill>
                  <a:srgbClr val="333333"/>
                </a:solidFill>
                <a:latin typeface="Arial"/>
              </a:rPr>
              <a:t>cada par compara a imagem de venda (esquerda) com o executivo R01 (direita). Acima, o térreo das lojas na elevação Sudeste; abaixo, à esquerda, o acesso com a pilastra; à direita, o brise das varandas.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261872"/>
            <a:ext cx="23774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CONFERÊNCIA REV02 · PRANCHAS DE EVIDÊNCIA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70432"/>
            <a:ext cx="2377440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19088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5" y="12710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O QUE CORRIGIR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499616"/>
            <a:ext cx="2066544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Itens 2, 3 e 5 · </a:t>
            </a:r>
            <a:r>
              <a:rPr sz="700" b="0">
                <a:solidFill>
                  <a:srgbClr val="FFFFFF"/>
                </a:solidFill>
                <a:latin typeface="Arial"/>
              </a:rPr>
              <a:t>térreo das lojas: pano superior único escuro e paredes claras entre as vitrines. Excluir "seazone café".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Item 4 · </a:t>
            </a:r>
            <a:r>
              <a:rPr sz="700" b="0">
                <a:solidFill>
                  <a:srgbClr val="FFFFFF"/>
                </a:solidFill>
                <a:latin typeface="Arial"/>
              </a:rPr>
              <a:t>acesso: pilastra escura com logo-casinha iluminado, não pilastra clara com texto.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Item 1 · </a:t>
            </a:r>
            <a:r>
              <a:rPr sz="700" b="0">
                <a:solidFill>
                  <a:srgbClr val="FFFFFF"/>
                </a:solidFill>
                <a:latin typeface="Arial"/>
              </a:rPr>
              <a:t>brise: imagem com ripado vertical amadeirado × lâminas horizontais no executivo.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Regra · </a:t>
            </a:r>
            <a:r>
              <a:rPr sz="700" b="0">
                <a:solidFill>
                  <a:srgbClr val="FFFFFF"/>
                </a:solidFill>
                <a:latin typeface="Arial"/>
              </a:rPr>
              <a:t>não comprar tinta da fachada antes da errata R02 aprovada.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Elevações: códigos de acabamento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3621024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BOOK_ASSETS__exec_elev28.jpg"/>
          <p:cNvPicPr>
            <a:picLocks noChangeAspect="1"/>
          </p:cNvPicPr>
          <p:nvPr/>
        </p:nvPicPr>
        <p:blipFill>
          <a:blip r:embed="rId4"/>
          <a:srcRect l="11228" r="13723"/>
          <a:stretch>
            <a:fillRect/>
          </a:stretch>
        </p:blipFill>
        <p:spPr>
          <a:xfrm>
            <a:off x="502920" y="1170432"/>
            <a:ext cx="3566160" cy="36027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21031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EXECUTIVO · ELEVAÇÃO SUDESTE (028)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0" y="1170432"/>
          <a:ext cx="4434840" cy="3364980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548640"/>
                <a:gridCol w="3108960"/>
                <a:gridCol w="7772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Código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Especificação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Ref.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cinza claro · ref. cor Nanquim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028–031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cinza escuro · ref. cor Rock'n Roll Suvinil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028–031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branca · ref. cor Branco Puro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028–031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Textura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Suvinil Texturatto Efeito Suave sob a pintura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REV-08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20×120 Boreal Natural Portobello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correr em alumínio (lâminas horizontais)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BR-02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Brise de A/C tipo veneziana, alumínio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GC-01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Guarda-corpo alumínio e vidro, h=1,10 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CV-01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Letreiro em PVC / aço inox com iluminação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FR-03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Forro de madeira / teto vinílico (marquise e pergolado)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PAI-08/11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Vasos Japi Floreira Flat (36 un) · Gardeno M chumbo (12 un)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SOL-01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Soleira em granito · PL-01 plataforma A/C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Legenda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01 · FACHADA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fachada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Imagem de lançamento × executivo, memorial e Análise Comparativa.  DEFINIDO = convergem  ·  A VALIDAR = divergem ou sem detalhe  ·  PENDENTE = sem definição.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514600"/>
                <a:gridCol w="347472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Lançamento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ROVE / Memorial R01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Acabamento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em três tons (claro, escuro, branco)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REV-05/06/07 (definida em 25/02/2025, padrão Jurerê Spot)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Grelha das varandas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REV-05 Nanquim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Frentes de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Brancas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REV-07 Branco Puro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Empenas escuras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Cinza escuro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REV-06 Rock'n Roll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cor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BR-01 alumínio horizontal · memorial "cor XXX" · briefing PVC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Base das lojas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Pano escuro + paredes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Cores invertidas (REV-05 × REV-06) · errata R02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Pilastra do acesso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Escura com logo-casinha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Clara, CV-01 só texto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Letreiro seazone café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existe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Desenhado na prancha 28: excluir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Fita de LED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Marquises e floreiras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Memorial prevê · elevações não mostram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Vasos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Em todas as varandas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PAI-08/PAI-11 na legenda, sem desenho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Pretas, vidro incolor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frontais / linha 25 fundos, preto fosco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alumínio/vidro × briefing (anodizado / perfil U inox)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Estrutura escura + réguas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+ madeira (MD) · FR-03 madeira "a definir"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Borda infinita, pastilha azul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Noronha Mar Mesh 10×10 · borda não especificada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Premissas de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Recepção e corredores  ·  rooftop interno  ·  rooftop externo e piscina  · 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CAMPECHE SPOT  ·  BOOK DE PREMISSAS DE FACHADA E INTERIORES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Conceito Seazone × situação do projeto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Renders Seazone (Enscape, nov/2023) × Memorial R01, Relatório de Pendências e Comunicações e Análise Comparativa (00 - Premissas de Projeto).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52374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417320"/>
                <a:gridCol w="2651760"/>
                <a:gridCol w="2423160"/>
                <a:gridCol w="164592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Ambiente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Conceito Seazone (seguir)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Situação registrada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Recepção / hall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Pé-direito duplo, painel cimento queimado com quadros em metalon preto, biombos de palhinha, poltronas de corda náutica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Parede: Crômio (memorial) × velvet cinza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claras, portas escuras com números pretos e arandelas, piso claro 90×90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Decisão 16/06: portas e rodapés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interno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com ripas pretas, bancada em cimento, parede Canjiquinha com "Seu lugar fora de casa", mini market ripado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Forro modular × gesso não confirmado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Rooftop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Piscina de borda infinita, lounge amadeirado, balanço suspenso, 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Balanço suspenso não executável · briefing: fixar na laje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Projeto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Interiores a partir dos renders Seazone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Executivo de interiores nunca contratado (ACA indicada)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133087"/>
            <a:ext cx="8138160" cy="64008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242816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4233672"/>
            <a:ext cx="7223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REGRA PARA A OBRA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62272"/>
            <a:ext cx="7827264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0">
                <a:solidFill>
                  <a:srgbClr val="FFFFFF"/>
                </a:solidFill>
                <a:latin typeface="Arial"/>
              </a:rPr>
              <a:t>Vale o conceito Seazone (04 INTERIORES / 02 - Imagens e memoriais de Unidades e Áreas comuns). Sem executivo de interiores contratado, qualquer troca de material ou mobiliário precisa de validação registrada.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Recepção, hall e corredores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cepção_e_corredor__RECEPÇÃO_9.jpg"/>
          <p:cNvPicPr>
            <a:picLocks noChangeAspect="1"/>
          </p:cNvPicPr>
          <p:nvPr/>
        </p:nvPicPr>
        <p:blipFill>
          <a:blip r:embed="rId4"/>
          <a:srcRect l="2842" r="2842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50876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RECEPÇÃO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cepção_e_corredor__CORREDOR_2.jpg"/>
          <p:cNvPicPr>
            <a:picLocks noChangeAspect="1"/>
          </p:cNvPicPr>
          <p:nvPr/>
        </p:nvPicPr>
        <p:blipFill>
          <a:blip r:embed="rId5"/>
          <a:srcRect l="2842" r="2842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173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CORREDOR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Recepção com pé-direito duplo: painel de cimento queimado com quadros em metalon, biombos de palhinha e poltronas de corda náutica.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Parede-destaque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Suvinil Cimento Queimado "Túnel de Concreto" com quadros em MDF/metalon preto (memorial R01)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Memorial: Crômio · briefing: textura velvet cinza na recepção · corredores Outono Gelado (Coral)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Biombos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Estrutura metálica preta com palhinha: privacidade em relação à rua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Khali Off White 90×90 Eliane (memorial R01)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Teto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Recepção: gesso com pé-direito duplo · corredores: forro mineral 60×60 (memorial) / modular 2,60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preto · decisão 16/06: TODOS os rodapés brancos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Poltronas de corda náutica, puffs Aurora/Sampa, luminária Slide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 e números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Porta lisa · briefing: pretas com bandeira × decisão 16/06: brancas · números pretos com arandela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Iluminação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Pendente de palha no pé-direito duplo · arandelas nos corredores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interno: copa, bar e mini market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nscape_2023-11-22-17-49-03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SEAZONE · ROOFTOP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nscape_2023-11-22-18-04-34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64592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PAREDE CANJIQUINHA + FRASE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Frase "Seu lugar fora de casa" sobre a parede da pia em Pedra Canjiquinha Cinza (memorial R01).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Gesso com ripas pretas em grelha (memorial) × briefing: modular 2,60 m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Decorativas em Suvinil Cimento Queimado "Dias de chuva" · demais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 da pia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Pedra Canjiquinha Cinza com a frase "Seu lugar fora de casa"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Mini market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Painel ripado em PVC amadeirado com geladeiras e prateleiras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Bancada / bar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Bancada em cimento queimado com banquetas pretas (Clarice)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Painéis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Painéis de palha sintética (memorial R01)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Khali Off White 90×90 Eliane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Mesa glass, cadeiras em couro caramelo, poltrona Disk, pendentes de palha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Rodapé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Briefing: preto × decisão 16/06: brancos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Rooftop externo e piscina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oftop__Enscape_2023-11-22-18-09-35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6916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PISCINA BORDA INFINITA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oftop__Enscape_2023-11-22-18-08-18.jpg"/>
          <p:cNvPicPr>
            <a:picLocks noChangeAspect="1"/>
          </p:cNvPicPr>
          <p:nvPr/>
        </p:nvPicPr>
        <p:blipFill>
          <a:blip r:embed="rId5"/>
          <a:srcRect l="2823" r="2823"/>
          <a:stretch>
            <a:fillRect/>
          </a:stretch>
        </p:blipFill>
        <p:spPr>
          <a:xfrm>
            <a:off x="502920" y="2697480"/>
            <a:ext cx="2377440" cy="1417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55448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LOUNGE E BALANÇO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Lounge com floreira, parede texturizada "Baú de Madeira" e balanço Acapulco (conceito Seazone).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briefing · análise comparativa)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Pastilha Eliane Noronha Mar Mesh 10×10 (memorial) × briefing: esverdeado 20×20 · 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Borda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Borda infinita voltada para o mar (conceito) · acabamento da borda sem especificação no executivo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Aquecimento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Solar (memorial R01) · pendente de definição no executivo (análise comparativa)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 externo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Khali Off White 90×90 EXT (antiderrapante)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Lounge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Portinari Carvalho Arbo 20×120 aplicado na horizontal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 do 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Suvinil Granulado "Baú de Madeira" com floreira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Acapulco suspenso (conceito) · briefing: fixar na laje · 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Ducha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Ducha junto à piscina (conceito e briefing) · 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Espreguiçadeiras Rivage, poltronas Acapulco, mesinha Vulcan, poltrona Stack (PAI-12 a 15)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Unidades: acabamentos e escopo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143000"/>
            <a:ext cx="2432304" cy="14721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nidades_simples_com_23_m²__Enscape_2023-11-24-09-56-56.jpg"/>
          <p:cNvPicPr>
            <a:picLocks noChangeAspect="1"/>
          </p:cNvPicPr>
          <p:nvPr/>
        </p:nvPicPr>
        <p:blipFill>
          <a:blip r:embed="rId4"/>
          <a:srcRect l="2823" r="2823"/>
          <a:stretch>
            <a:fillRect/>
          </a:stretch>
        </p:blipFill>
        <p:spPr>
          <a:xfrm>
            <a:off x="502920" y="1170432"/>
            <a:ext cx="2377440" cy="14173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261872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UNIDADE SIMPLES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670048"/>
            <a:ext cx="2432304" cy="1197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nidades_mezanino_com_38_m²__Enscape_2023-11-22-08-43-29.jpg"/>
          <p:cNvPicPr>
            <a:picLocks noChangeAspect="1"/>
          </p:cNvPicPr>
          <p:nvPr/>
        </p:nvPicPr>
        <p:blipFill>
          <a:blip r:embed="rId5"/>
          <a:srcRect t="7265" b="7265"/>
          <a:stretch>
            <a:fillRect/>
          </a:stretch>
        </p:blipFill>
        <p:spPr>
          <a:xfrm>
            <a:off x="502920" y="2697480"/>
            <a:ext cx="2377440" cy="1143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" y="2788920"/>
            <a:ext cx="1463040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CONCEITO · UNIDADE MEZANINO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377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>
                <a:solidFill>
                  <a:srgbClr val="6F7891"/>
                </a:solidFill>
                <a:latin typeface="Arial"/>
              </a:rPr>
              <a:t>Tipologias com imagens e panoramas: unidade simples, vista mar, mezanino, PCD, com terraço e cobertura (04 INTERIORES / 02 - Imagens).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063240" y="1170432"/>
          <a:ext cx="5577840" cy="3483864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1051560"/>
                <a:gridCol w="4526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FFFFFF"/>
                          </a:solidFill>
                          <a:latin typeface="Arial"/>
                        </a:rPr>
                        <a:t>Premissa (memorial R01 · memorial de interiores · briefing)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Piso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Khali Off White 90×90 Eliane em toda a unidade (memorial R01)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Banheiro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Paredes Elizabeth Off White 30×60 sobre drywall RU (memorial) × briefing 90×90 · 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Varandas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Porcelanato Portobello Araucária Clara 20×120 EXT nas varandas e terraços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MDF Jequitibá e Beton Matt Arauco · bancada em granito Preto São Gabriel polido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Textura velvet cinza na parede da cama · demais claras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Decisão 16/06: TODAS as portas e rodapés brancos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Cortinas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Cortina do piso ao forro, embutida em rasgo no gesso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Escada metálica preta · guarda-corpo em serralheria com painel de alumínio cor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356616">
                <a:tc>
                  <a:txBody>
                    <a:bodyPr wrap="square"/>
                    <a:lstStyle/>
                    <a:p>
                      <a:pPr algn="l"/>
                      <a:r>
                        <a:rPr sz="600" b="1">
                          <a:solidFill>
                            <a:srgbClr val="00143D"/>
                          </a:solidFill>
                          <a:latin typeface="Arial"/>
                        </a:rPr>
                        <a:t>Mobiliário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>
                          <a:solidFill>
                            <a:srgbClr val="333333"/>
                          </a:solidFill>
                          <a:latin typeface="Arial"/>
                        </a:rPr>
                        <a:t>Sofá-cama, cadeira Mara cinza, puff velvet, luminária de parede preta · ofurô em algumas unidades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(1/2)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velvet.jpg"/>
          <p:cNvPicPr>
            <a:picLocks noChangeAspect="1"/>
          </p:cNvPicPr>
          <p:nvPr/>
        </p:nvPicPr>
        <p:blipFill>
          <a:blip r:embed="rId4"/>
          <a:srcRect t="877" b="877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Textura velvet cinza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 e parede da cama das unidades.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textura velvet cinza (briefing e memorial de interiores).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memorial R01 indica Crômio na recepção: fechar a referência antes da compra. A VALIDAR.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palha.jpg"/>
          <p:cNvPicPr>
            <a:picLocks noChangeAspect="1"/>
          </p:cNvPicPr>
          <p:nvPr/>
        </p:nvPicPr>
        <p:blipFill>
          <a:blip r:embed="rId5"/>
          <a:srcRect t="39346" b="39346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Biombo de palhinha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recepção, voltado para a rua.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estrutura metálica preta com palhinha (memorial de interiores) · painéis de palha sintética no rooftop.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garantir a privacidade da recepção em relação à rua; detalhar fixação.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cimento.jpg"/>
          <p:cNvPicPr>
            <a:picLocks noChangeAspect="1"/>
          </p:cNvPicPr>
          <p:nvPr/>
        </p:nvPicPr>
        <p:blipFill>
          <a:blip r:embed="rId6"/>
          <a:srcRect t="877" b="877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Cimento queimado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parede-destaque da recepção e paredes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Suvinil Cimento Queimado "Túnel de Concreto" (recepção) e "Dias de chuva" (rooftop).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aplicação por equipe única; aprovar painel-teste no local.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forro.jpg"/>
          <p:cNvPicPr>
            <a:picLocks noChangeAspect="1"/>
          </p:cNvPicPr>
          <p:nvPr/>
        </p:nvPicPr>
        <p:blipFill>
          <a:blip r:embed="rId7"/>
          <a:srcRect l="38615" r="38615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Forro com ripas pretas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interno.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forro de gesso com ripas pretas em grelha (memorial R01).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marca forro modular 2,60 m: confirmar solução. A VALIDAR.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khali.jpg"/>
          <p:cNvPicPr>
            <a:picLocks noChangeAspect="1"/>
          </p:cNvPicPr>
          <p:nvPr/>
        </p:nvPicPr>
        <p:blipFill>
          <a:blip r:embed="rId8"/>
          <a:srcRect l="26175" r="26175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Khali Off White 90×90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recepção, corredores, rooftop e unidades.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Eliane Khali Off White 90×90 · versão EXT nas áreas externas (memorial R01).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conferir lote e tonalidade antes do assentamento.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canjiquinha.jpg"/>
          <p:cNvPicPr>
            <a:picLocks noChangeAspect="1"/>
          </p:cNvPicPr>
          <p:nvPr/>
        </p:nvPicPr>
        <p:blipFill>
          <a:blip r:embed="rId9"/>
          <a:srcRect l="16602" r="16602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Pedra Canjiquinha Cinza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parede da pia do rooftop.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Pedra Canjiquinha Cinza com a frase "Seu lugar fora de casa" (memorial R01).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prever fixação e iluminação da frase antes do revestimento.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MAPA DE MATERIALIDADE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Materiais de interiores (2/2)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F7891"/>
                </a:solidFill>
                <a:latin typeface="Arial"/>
              </a:rPr>
              <a:t>Amostras extraídas dos renders de interiores Seazone. Referência visual, não substitui amostra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6_BOOK_ASSETS__sw_minimarket.jpg"/>
          <p:cNvPicPr>
            <a:picLocks noChangeAspect="1"/>
          </p:cNvPicPr>
          <p:nvPr/>
        </p:nvPicPr>
        <p:blipFill>
          <a:blip r:embed="rId4"/>
          <a:srcRect t="30351" b="30351"/>
          <a:stretch>
            <a:fillRect/>
          </a:stretch>
        </p:blipFill>
        <p:spPr>
          <a:xfrm>
            <a:off x="594360" y="1536192"/>
            <a:ext cx="868680" cy="6400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943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Mini market ripado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rooftop interno.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painel ripado em PVC amadeirado (memorial R01).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conferir pontos elétricos das geladeiras antes do painel.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6_BOOK_ASSETS__sw_lounge.jpg"/>
          <p:cNvPicPr>
            <a:picLocks noChangeAspect="1"/>
          </p:cNvPicPr>
          <p:nvPr/>
        </p:nvPicPr>
        <p:blipFill>
          <a:blip r:embed="rId5"/>
          <a:srcRect l="21425" r="21425"/>
          <a:stretch>
            <a:fillRect/>
          </a:stretch>
        </p:blipFill>
        <p:spPr>
          <a:xfrm>
            <a:off x="3337560" y="1536192"/>
            <a:ext cx="868680" cy="6400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337560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Carvalho Arbo 20×120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lounge do rooftop externo.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porcelanato Portinari Carvalho Arbo 20×120, paginação horizontal (memorial R01).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peça externa antiderrapante; conferir caimento para ralos.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44475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6_BOOK_ASSETS__sw_pastilha.jpg"/>
          <p:cNvPicPr>
            <a:picLocks noChangeAspect="1"/>
          </p:cNvPicPr>
          <p:nvPr/>
        </p:nvPicPr>
        <p:blipFill>
          <a:blip r:embed="rId6"/>
          <a:srcRect l="30925" r="30925"/>
          <a:stretch>
            <a:fillRect/>
          </a:stretch>
        </p:blipFill>
        <p:spPr>
          <a:xfrm>
            <a:off x="6080759" y="1536192"/>
            <a:ext cx="868680" cy="64008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080759" y="153619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151790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Pastilha da piscina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18288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piscina do rooftop.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223113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Eliane Noronha Mar Mesh 10×10 (memorial R01).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2651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briefing marca esverdeado 20×20: fechar referência antes do pedido. A VALIDAR.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06_BOOK_ASSETS__sw_jequitiba.jpg"/>
          <p:cNvPicPr>
            <a:picLocks noChangeAspect="1"/>
          </p:cNvPicPr>
          <p:nvPr/>
        </p:nvPicPr>
        <p:blipFill>
          <a:blip r:embed="rId7"/>
          <a:srcRect t="40643" b="40643"/>
          <a:stretch>
            <a:fillRect/>
          </a:stretch>
        </p:blipFill>
        <p:spPr>
          <a:xfrm>
            <a:off x="594360" y="3227832"/>
            <a:ext cx="868680" cy="64008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943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MDF Jequitibá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marcenaria das unidades (cabeceira, bancada, painéis).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MDF Jequitibá Arauco com MDF Beton Matt e metal preto (memorial de interiores).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escopo de marcenaria conforme memorial de unidades.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06_BOOK_ASSETS__sw_saogabriel.jpg"/>
          <p:cNvPicPr>
            <a:picLocks noChangeAspect="1"/>
          </p:cNvPicPr>
          <p:nvPr/>
        </p:nvPicPr>
        <p:blipFill>
          <a:blip r:embed="rId8"/>
          <a:srcRect l="28560" r="28560"/>
          <a:stretch>
            <a:fillRect/>
          </a:stretch>
        </p:blipFill>
        <p:spPr>
          <a:xfrm>
            <a:off x="3337560" y="3227832"/>
            <a:ext cx="868680" cy="64008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337560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Granito Preto São Gabriel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702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bancadas das unidades e dos banheiros.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granito Preto São Gabriel polido (memorial de interiores).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37560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cubas de apoio brancas sobre tampo preto (renders).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3136392"/>
            <a:ext cx="2651760" cy="1627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06_BOOK_ASSETS__sw_mezanino.jpg"/>
          <p:cNvPicPr>
            <a:picLocks noChangeAspect="1"/>
          </p:cNvPicPr>
          <p:nvPr/>
        </p:nvPicPr>
        <p:blipFill>
          <a:blip r:embed="rId9"/>
          <a:srcRect l="11830" r="11830"/>
          <a:stretch>
            <a:fillRect/>
          </a:stretch>
        </p:blipFill>
        <p:spPr>
          <a:xfrm>
            <a:off x="6080759" y="3227832"/>
            <a:ext cx="868680" cy="64008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080759" y="3227832"/>
            <a:ext cx="347472" cy="15544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T24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320954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143D"/>
                </a:solidFill>
                <a:latin typeface="Arial"/>
              </a:rPr>
              <a:t>Guarda-corpo cor madeira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13448" y="3520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Aplicação: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mezanino das unidades.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59" y="3922776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6F7891"/>
                </a:solidFill>
                <a:latin typeface="Arial"/>
              </a:rPr>
              <a:t>Especificação: </a:t>
            </a:r>
            <a:r>
              <a:rPr sz="630" b="0">
                <a:solidFill>
                  <a:srgbClr val="6F7891"/>
                </a:solidFill>
                <a:latin typeface="Arial"/>
              </a:rPr>
              <a:t>serralheria com painel de alumínio cor madeira · escada metálica preta.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0759" y="434340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30" b="1">
                <a:solidFill>
                  <a:srgbClr val="FC6058"/>
                </a:solidFill>
                <a:latin typeface="Arial"/>
              </a:rPr>
              <a:t>Obra: </a:t>
            </a:r>
            <a:r>
              <a:rPr sz="630" b="0">
                <a:solidFill>
                  <a:srgbClr val="FC6058"/>
                </a:solidFill>
                <a:latin typeface="Arial"/>
              </a:rPr>
              <a:t>aprovar amostra da cor madeira do painel antes da fabricação.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02 · INTERIORES · LANÇAMENTO ×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Comparativo: interiores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Renders de interiores Seazone × Memorial R01, briefing, análise comparativa e relatório de pendências.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3355848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331720"/>
                <a:gridCol w="36576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Conceito Seazone (imagens)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Memorial R01 / briefing / interiores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Piso geral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Claro, grandes formatos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Khali Off White 90×90 Eliane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biombos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Palhinha com estrutura preta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Metal preto + palhinha (memorial de interiores)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 · paredes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Cimento queimado + velvet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Túnel de Concreto + Crômio (memorial) × velvet cinza (briefing)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Paredes claras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(memorial) × Outono Gelado Coral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Portas escuras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pretas × decisão 16/06: todas brancas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rooftop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Grelha de ripas pretas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com ripas (memorial) × modular 2,60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Pastilha azul, borda infinita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Noronha Mar Mesh 10×10 × esverdeado 20×20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Suspenso no pergolado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Briefing: fixado na laje · sem detalhe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Rooftop · lounge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Piso amadeirado + parede texturizada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Carvalho Arbo 20×120 + Granulado Baú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 BWC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Porcelanato claro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Elizabeth Off White 30×60 (memorial) × 90×90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Cortinas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Cortina até o forro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Rasgo no gesso (sem cortineiro aparente)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Mezanino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e guarda-corpo pretos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Escada preta + painel de alumínio cor madeira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Madeira clara + preto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Jequitibá, Beton Matt, São Gabriel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Nunca contratado (ACA indicada)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Briefing de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Acabamentos marcados no Briefing de Projeto  ·  cruzamento com o executivo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CAMPECHE SPOT  ·  BOOK DE PREMISSAS DE FACHADA E INTERIORES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03 ·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Briefing × executivo: acabamentos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8138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F7891"/>
                </a:solidFill>
                <a:latin typeface="Arial"/>
              </a:rPr>
              <a:t>Opções de acabamento marcadas em "[Campeche SPOT] Premissas de Projeto" (coluna "Conferência") × executivo ROVE e Memorial R01.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298448"/>
          <a:ext cx="8138160" cy="2929735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1188720"/>
                <a:gridCol w="2788920"/>
                <a:gridCol w="3200400"/>
                <a:gridCol w="73152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Elemento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Briefing de Projeto (opção marcada)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Executivo / memoriais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PVC (metálico não marcado)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BR-01 alumínio horizontal · memorial "cor XXX"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privativo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Alumínio anodizado com montante aparente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 e vidro h=1,10 m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 comum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Vidro com perfil U inox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alumínio e vidro h=1,10 m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 não especificada nas elevações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Textura velvet cinza + biombos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+ Túnel de Concreto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Outono Gelado (Coral)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(memorial)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Rodapés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Pretos em recepção, corredores e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Decisão 16/06: todos brancos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comuns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Pretas com bandeira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Decisão 16/06: todas brancas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Recepção gesso pé-direito duplo · rooftop, corredores e mini market modular 2,60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Mineral 60×60 corredores · gesso com ripas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Esverdeado 20×20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Noronha Mar Mesh 10×10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Fixado na laje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Não detalhado no executivo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Esquadrias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Linha 32 frontais / linha 25 fundos, preto fosco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208483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Acabamento fachada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(25/02/2025, padrão Jurerê Spot)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REV-05/06/07 pintura Suvinil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Pontos de atenção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101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O que gera retrabalho se não for observado  ·  premissas travadas  ·  checklist de validação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CAMPECHE SPOT  ·  BOOK DE PREMISSAS DE FACHADA E INTERIORES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O que Obras precisa observar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CORES DA FACHADA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Não comprar tinta antes da errata R02 das pranchas 28 a 30.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Térreo: pano escuro REV-06 e paredes entre vitrines REV-05.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Pintura sobre Texturatto Efeito Suave: painel-teste aprovado.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BRISES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79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95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Imagem vendeu ripado vertical cor madeira; executivo tem alumínio horizontal.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95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ROVE considera a troca inviável; Seazone ainda não se posicionou.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79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Cor do alumínio "XXX" no memorial: definir antes de fabricar.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17043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25272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IDENTIDADE DO ACESSO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5544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72784" y="14996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Pilastra escura com logo-casinha iluminado e "Campeche SPOT".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0116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19568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Excluir o letreiro "seazone café" da prancha 28.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2468880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4" y="2414016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Prever pontos de LED nas marquises e floreiras.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VASOS E PAISAGISMO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PAI-08 (36 un) e PAI-11 (12 un) precisam aparecer nas elevações.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Vegetação em todas as varandas (imagens de venda).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Paisagismo e iluminação de piso conforme projeto específico.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79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INTERIORES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95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Seguir os renders Seazone: não há executivo de interiores contratado.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Portas e rodapés brancos (decisão 16/06).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Recepção: painel cimento queimado, biombos de palhinha e mobiliário do conceito.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980944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06323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FC6058"/>
                </a:solidFill>
                <a:latin typeface="Arial"/>
              </a:rPr>
              <a:t>ROOFTOP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33649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33101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Balanço: definir solução fixada na laje.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38221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37673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Lounge: Carvalho Arbo 20×120 e parede Baú de Madeira.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4279391"/>
            <a:ext cx="64008" cy="64008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4224527"/>
            <a:ext cx="22311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Pastilha, borda e aquecimento da piscina a definir.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Não alterar sem validação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70432"/>
            <a:ext cx="3977639" cy="3602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52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6F7891"/>
                </a:solidFill>
                <a:latin typeface="Arial"/>
              </a:rPr>
              <a:t>PREMISSAS TRAVADAS (CONVERGEM LANÇAMENTO E EXECUTIVO)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2763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57276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Grelha das varandas em REV-05 Nanquim e frentes de laje em REV-07 Branco Puro.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195681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Empenas escuras em REV-06 Rock'n Roll; empenas claras e reservatório em REV-07.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39572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34086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Esquadrias pretas: linha 32 nas frontais e linha 25 nos fundos.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79776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24912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Vegetação nas varandas (vasos PAI-08 e PAI-11).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63824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108960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Piso Khali Off White 90×90 nas áreas comuns e unidades.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547872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93008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Parede Canjiquinha com "Seu lugar fora de casa" no rooftop.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31920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877056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Marcenaria em MDF Jequitibá e Beton Matt, bancadas São Gabriel.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64008" cy="6400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61104"/>
            <a:ext cx="36027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  <a:latin typeface="Arial"/>
              </a:rPr>
              <a:t>Piscina de borda infinita voltada para o mar.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1170432"/>
            <a:ext cx="4041648" cy="3602736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54880" y="1280160"/>
            <a:ext cx="566928" cy="155448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25" rIns="27425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Arial"/>
              </a:rPr>
              <a:t>ATENÇÃO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3248" y="1271016"/>
            <a:ext cx="31272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8FA3CC"/>
                </a:solidFill>
                <a:latin typeface="Arial"/>
              </a:rPr>
              <a:t>ANTES DE COMPRAR OU EXECUTAR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499616"/>
            <a:ext cx="3730752" cy="3218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1. </a:t>
            </a:r>
            <a:r>
              <a:rPr sz="700" b="0">
                <a:solidFill>
                  <a:srgbClr val="FFFFFF"/>
                </a:solidFill>
                <a:latin typeface="Arial"/>
              </a:rPr>
              <a:t>Troca de cor, material ou referência de fachada precisa de aprovação de Projetos: a fachada é a imagem vendida no lançamento.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2. </a:t>
            </a:r>
            <a:r>
              <a:rPr sz="700" b="0">
                <a:solidFill>
                  <a:srgbClr val="FFFFFF"/>
                </a:solidFill>
                <a:latin typeface="Arial"/>
              </a:rPr>
              <a:t>Itens A VALIDAR não entram em pedido de compra até a definição registrada.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3. </a:t>
            </a:r>
            <a:r>
              <a:rPr sz="700" b="0">
                <a:solidFill>
                  <a:srgbClr val="FFFFFF"/>
                </a:solidFill>
                <a:latin typeface="Arial"/>
              </a:rPr>
              <a:t>Tinta da fachada só após a errata R02 (itens 2 e 3 da conferência).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4. </a:t>
            </a:r>
            <a:r>
              <a:rPr sz="700" b="0">
                <a:solidFill>
                  <a:srgbClr val="FFFFFF"/>
                </a:solidFill>
                <a:latin typeface="Arial"/>
              </a:rPr>
              <a:t>Amostras físicas (REV-05/06/07, brise, pastilha, texturas) aprovadas no local, com registro fotográfico.</a:t>
            </a:r>
          </a:p>
          <a:p>
            <a:pPr algn="l">
              <a:spcAft>
                <a:spcPts val="200"/>
              </a:spcAft>
            </a:pPr>
            <a:r>
              <a:rPr sz="700" b="1">
                <a:solidFill>
                  <a:srgbClr val="FC6058"/>
                </a:solidFill>
                <a:latin typeface="Arial"/>
              </a:rPr>
              <a:t>5. </a:t>
            </a:r>
            <a:r>
              <a:rPr sz="700" b="0">
                <a:solidFill>
                  <a:srgbClr val="FFFFFF"/>
                </a:solidFill>
                <a:latin typeface="Arial"/>
              </a:rPr>
              <a:t>Onde memorial, prancha e briefing divergem, prevalece a definição registrada por Projetos.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3246120"/>
            <a:ext cx="3730752" cy="9144"/>
          </a:xfrm>
          <a:prstGeom prst="rect">
            <a:avLst/>
          </a:prstGeom>
          <a:solidFill>
            <a:srgbClr val="8FA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3346704"/>
            <a:ext cx="37307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>
                <a:solidFill>
                  <a:srgbClr val="8FA3CC"/>
                </a:solidFill>
                <a:latin typeface="Arial"/>
              </a:rPr>
              <a:t>ONDE CONSULTAR (CAMPECHE SPOT / 02 - PROJETOS)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566160"/>
            <a:ext cx="373075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Fachada: </a:t>
            </a:r>
            <a:r>
              <a:rPr sz="650" b="0">
                <a:solidFill>
                  <a:srgbClr val="9FB0D4"/>
                </a:solidFill>
                <a:latin typeface="Arial"/>
              </a:rPr>
              <a:t>executivo ROVE CAMPECHESPOT-PE-ARQ (elevações 028–031, esquadrias 032–033)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Imagens: </a:t>
            </a:r>
            <a:r>
              <a:rPr sz="650" b="0">
                <a:solidFill>
                  <a:srgbClr val="9FB0D4"/>
                </a:solidFill>
                <a:latin typeface="Arial"/>
              </a:rPr>
              <a:t>imagens de lançamento externas · projeto de interiores / 02 - Imagens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Memoriais: </a:t>
            </a:r>
            <a:r>
              <a:rPr sz="650" b="0">
                <a:solidFill>
                  <a:srgbClr val="9FB0D4"/>
                </a:solidFill>
                <a:latin typeface="Arial"/>
              </a:rPr>
              <a:t>Memorial Descritivo R01 · memoriais de Unidades e Áreas comuns</a:t>
            </a:r>
          </a:p>
          <a:p>
            <a:pPr algn="l">
              <a:spcAft>
                <a:spcPts val="300"/>
              </a:spcAft>
            </a:pPr>
            <a:r>
              <a:rPr sz="650" b="1">
                <a:solidFill>
                  <a:srgbClr val="FFFFFF"/>
                </a:solidFill>
                <a:latin typeface="Arial"/>
              </a:rPr>
              <a:t>Premissas: </a:t>
            </a:r>
            <a:r>
              <a:rPr sz="650" b="0">
                <a:solidFill>
                  <a:srgbClr val="9FB0D4"/>
                </a:solidFill>
                <a:latin typeface="Arial"/>
              </a:rPr>
              <a:t>00 - Premissas de Projeto · conferência rev02, briefing, análise comparativa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1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"/>
            <a:ext cx="6492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FC6058"/>
                </a:solidFill>
                <a:latin typeface="Arial"/>
              </a:rPr>
              <a:t>04 · PONTOS DE ATENÇÃO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6675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Pendências e checklist</a:t>
            </a:r>
          </a:p>
        </p:txBody>
      </p:sp>
      <p:pic>
        <p:nvPicPr>
          <p:cNvPr id="7" name="Picture 6" descr="tpl_log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pic>
        <p:nvPicPr>
          <p:cNvPr id="8" name="Picture 7" descr="tpl_icon_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846320"/>
            <a:ext cx="182880" cy="192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6F7891"/>
                </a:solidFill>
                <a:latin typeface="Arial"/>
              </a:rPr>
              <a:t>CAMPECHE SPOT  ·  BOOK DE PREMISSAS DE FACHADA E INTERIORES  ·  28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170432"/>
          <a:ext cx="8138160" cy="3511296"/>
        </p:xfrm>
        <a:graphic>
          <a:graphicData uri="http://schemas.openxmlformats.org/drawingml/2006/table">
            <a:tbl>
              <a:tblPr>
                <a:noFill/>
                <a:tableStyleId>{D79DEEBB-5512-44E8-9C8E-75C5AFC50D94}</a:tableStyleId>
              </a:tblPr>
              <a:tblGrid>
                <a:gridCol w="228600"/>
                <a:gridCol w="2103120"/>
                <a:gridCol w="4709160"/>
                <a:gridCol w="1097280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O que definir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75" marR="54875" marT="27425" marB="27425" anchor="ctr">
                    <a:solidFill>
                      <a:srgbClr val="00143D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Errata R02 (pranchas 28–30)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Corrigir REV-05/06 do térreo, pilastra do acesso e excluir "seazone café"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Brise BR-01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Ripado vertical madeira (venda) × alumínio horizontal (ROVE) · cor "XXX"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Logo-casinha e letreiro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Detalhe, material, iluminação e fixação na pilastra escura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Fita de LED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Incluir nas elevações e prever pontos nas marquises e floreiras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Vasos PAI-08 / PAI-11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Desenhar nas elevações e confirmar quantidades (36 + 12)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Guarda-corpos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GC-01 × briefing (anodizado privativo / perfil U inox comum)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Pergolado e forro de madeira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Aço corten + madeira × FR-03 madeira "a definir"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Muro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Pintura cor Seazone (briefing) · cor da PCF do térreo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Recepção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Parede velvet cinza (briefing) × Crômio (memorial)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Corredores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Crômio (memorial) × Outono Gelado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Forro do rooftop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Gesso com ripas pretas × modular 2,60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Piscina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Noronha Mar Mesh × esverdeado 20×20 · borda · aquecimento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Balanço e ducha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Balanço fixado na laje · ducha junto à piscina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Paredes dos banheiros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Elizabeth 30×60 (memorial) × 90×90 (briefing)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Cortinas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Acabamento do rasgo no gesso para a cortina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Marcenaria das unidades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MDF Jequitibá / Beton Matt e granito São Gabriel: aprovar amostras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B28F36"/>
                          </a:solidFill>
                          <a:latin typeface="Arial"/>
                        </a:rPr>
                        <a:t>A VALIDAR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Executivo de interiores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Contratar (ACA indicada) ou registrar responsável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FC6058"/>
                          </a:solidFill>
                          <a:latin typeface="Arial"/>
                        </a:rPr>
                        <a:t>PENDENTE</a:t>
                      </a:r>
                    </a:p>
                  </a:txBody>
                  <a:tcPr marL="54875" marR="54875" marT="27425" marB="27425" anchor="ctr"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00143D"/>
                          </a:solidFill>
                          <a:latin typeface="Arial"/>
                        </a:rPr>
                        <a:t>Portas e rodapés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333333"/>
                          </a:solidFill>
                          <a:latin typeface="Arial"/>
                        </a:rPr>
                        <a:t>Aplicar decisão 16/06 (brancos) em todas as áreas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1">
                          <a:solidFill>
                            <a:srgbClr val="1E7F5C"/>
                          </a:solidFill>
                          <a:latin typeface="Arial"/>
                        </a:rPr>
                        <a:t>DEFINIDO</a:t>
                      </a:r>
                    </a:p>
                  </a:txBody>
                  <a:tcPr marL="54875" marR="54875" marT="27425" marB="27425" anchor="ctr"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pl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685800"/>
            <a:ext cx="3749039" cy="3858768"/>
          </a:xfrm>
          <a:prstGeom prst="rect">
            <a:avLst/>
          </a:prstGeom>
        </p:spPr>
      </p:pic>
      <p:pic>
        <p:nvPicPr>
          <p:cNvPr id="4" name="Picture 3" descr="tpl_logo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631" y="365760"/>
            <a:ext cx="1298448" cy="210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2103120"/>
            <a:ext cx="1463040" cy="45720"/>
          </a:xfrm>
          <a:prstGeom prst="rect">
            <a:avLst/>
          </a:prstGeom>
          <a:solidFill>
            <a:srgbClr val="FC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2860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C6058"/>
                </a:solidFill>
                <a:latin typeface="Arial"/>
              </a:rPr>
              <a:t>CAMPECHE SPOT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Book de Premissas de Fachada e Interiores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1188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9FB0D4"/>
                </a:solidFill>
                <a:latin typeface="Arial"/>
              </a:rPr>
              <a:t>Lançamento × Executivo  ·  Seazone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4864608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0">
                <a:solidFill>
                  <a:srgbClr val="8FA3CC"/>
                </a:solidFill>
                <a:latin typeface="Arial"/>
              </a:rPr>
              <a:t>CAMPECHE SPOT  ·  BOOK DE PREMISSAS DE FACHADA E INTERIORES  · 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4935</Words>
  <Application>Microsoft Office PowerPoint</Application>
  <PresentationFormat>Apresentação na tela (16:9)</PresentationFormat>
  <Paragraphs>580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Rachel Souto</cp:lastModifiedBy>
  <cp:revision>1</cp:revision>
  <dcterms:modified xsi:type="dcterms:W3CDTF">2026-09-23T13:37:10Z</dcterms:modified>
</cp:coreProperties>
</file>