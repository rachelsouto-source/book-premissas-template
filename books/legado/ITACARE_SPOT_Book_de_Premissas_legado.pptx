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16.jpg"/><Relationship Id="rId8" Type="http://schemas.openxmlformats.org/officeDocument/2006/relationships/image" Target="../media/image34.jpg"/><Relationship Id="rId9" Type="http://schemas.openxmlformats.org/officeDocument/2006/relationships/image" Target="../media/image3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_-_Imagens_3D__ITACARÉ_SPOT_(11).jpg"/>
          <p:cNvPicPr>
            <a:picLocks noChangeAspect="1"/>
          </p:cNvPicPr>
          <p:nvPr/>
        </p:nvPicPr>
        <p:blipFill>
          <a:blip r:embed="rId2"/>
          <a:srcRect l="30396" r="24870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Itacaré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Projeto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(jul/2026) · Projeto Legal V01 CMC Arquitetura (elevações 1 a 4) · LOG de considerações de fachada · Conferência de Projetos Executivos (01/09/2026) · Memorial Descritivo · interiores Seazone · Premissas de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Rua Praia da Concha / Rua Hibisco · Conchas do Mar · Itacaré/BA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Itacaré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projeto legal da CMC Arquitetura</a:t>
            </a:r>
            <a:r>
              <a:rPr sz="750" b="0">
                <a:solidFill>
                  <a:srgbClr val="333333"/>
                </a:solidFill>
                <a:latin typeface="Arial"/>
              </a:rPr>
              <a:t>, as indicações de fachada validadas pela diretoria e o projeto de interiores da Seazone: o que a imagem vendeu, o que o projeto traz e o que validar antes da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materiais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frontal, esquina e rua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Indicações de fachada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LOG validado pela diretoria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de projeto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× projeto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indicações de fachada a diretoria validou?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Onde o projeto diverge da imagem vendida?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Como são os brises, o biribá e o pergolado?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(1.35 - [5624] Itacaré Spot / 02 - Projetos): 08 - Projeto Arquitetônico (imagens 3D, projeto legal, interiores), 09 - Memorial Descritivo, 00 - Premissas de Projeto e Conferência de Projetos Executivos. O executivo ainda não foi emitido.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 ·  indicações de fachada validadas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ITACARÉ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889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-_Imagens_3D__ITACARÉ_SPOT_(11).jpg"/>
          <p:cNvPicPr>
            <a:picLocks noChangeAspect="1"/>
          </p:cNvPicPr>
          <p:nvPr/>
        </p:nvPicPr>
        <p:blipFill>
          <a:blip r:embed="rId4"/>
          <a:srcRect t="610" b="610"/>
          <a:stretch>
            <a:fillRect/>
          </a:stretch>
        </p:blipFill>
        <p:spPr>
          <a:xfrm>
            <a:off x="502920" y="1170432"/>
            <a:ext cx="5074920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945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FACHADA FRONTAL</a:t>
            </a:r>
          </a:p>
        </p:txBody>
      </p:sp>
      <p:sp>
        <p:nvSpPr>
          <p:cNvPr id="13" name="Oval 12"/>
          <p:cNvSpPr/>
          <p:nvPr/>
        </p:nvSpPr>
        <p:spPr>
          <a:xfrm>
            <a:off x="1892807" y="129296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15667" y="131582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806293" y="157642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29153" y="159928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131569" y="166146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4429" y="168432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197303" y="21717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20163" y="21945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501798" y="21717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24658" y="21945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639062" y="261106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61922" y="263392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3466033" y="261106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88893" y="263392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689811" y="30220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12671" y="30449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3161538" y="324886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84398" y="327172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4836261" y="288036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9121" y="290322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170432"/>
            <a:ext cx="28803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2435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46304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Pergolado do rooftop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madeira sobre toda a extensão (indicação 11)</a:t>
            </a:r>
          </a:p>
        </p:txBody>
      </p:sp>
      <p:sp>
        <p:nvSpPr>
          <p:cNvPr id="37" name="Oval 36"/>
          <p:cNvSpPr/>
          <p:nvPr/>
        </p:nvSpPr>
        <p:spPr>
          <a:xfrm>
            <a:off x="589788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9222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 seazone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volume de concreto do rooftop</a:t>
            </a:r>
          </a:p>
        </p:txBody>
      </p:sp>
      <p:sp>
        <p:nvSpPr>
          <p:cNvPr id="39" name="Oval 38"/>
          <p:cNvSpPr/>
          <p:nvPr/>
        </p:nvSpPr>
        <p:spPr>
          <a:xfrm>
            <a:off x="589788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12140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 do rooftop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vidro h=1,50 m com floreira (indicações 08/09)</a:t>
            </a:r>
          </a:p>
        </p:txBody>
      </p:sp>
      <p:sp>
        <p:nvSpPr>
          <p:cNvPr id="41" name="Oval 40"/>
          <p:cNvSpPr/>
          <p:nvPr/>
        </p:nvSpPr>
        <p:spPr>
          <a:xfrm>
            <a:off x="589788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45059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 ripado vertical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madeira em frente às janelas</a:t>
            </a:r>
          </a:p>
        </p:txBody>
      </p:sp>
      <p:sp>
        <p:nvSpPr>
          <p:cNvPr id="43" name="Oval 42"/>
          <p:cNvSpPr/>
          <p:nvPr/>
        </p:nvSpPr>
        <p:spPr>
          <a:xfrm>
            <a:off x="589788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77977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Pilares e bordas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cimento queimado off white texturizado</a:t>
            </a:r>
          </a:p>
        </p:txBody>
      </p:sp>
      <p:sp>
        <p:nvSpPr>
          <p:cNvPr id="45" name="Oval 44"/>
          <p:cNvSpPr/>
          <p:nvPr/>
        </p:nvSpPr>
        <p:spPr>
          <a:xfrm>
            <a:off x="589788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10896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Faixa amadeirada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viga de 30 cm para o nome (indicação 10)</a:t>
            </a:r>
          </a:p>
        </p:txBody>
      </p:sp>
      <p:sp>
        <p:nvSpPr>
          <p:cNvPr id="47" name="Oval 46"/>
          <p:cNvSpPr/>
          <p:nvPr/>
        </p:nvSpPr>
        <p:spPr>
          <a:xfrm>
            <a:off x="589788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43814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 ITACARÉ SPOT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letras brancas sobre a viga</a:t>
            </a:r>
          </a:p>
        </p:txBody>
      </p:sp>
      <p:sp>
        <p:nvSpPr>
          <p:cNvPr id="49" name="Oval 48"/>
          <p:cNvSpPr/>
          <p:nvPr/>
        </p:nvSpPr>
        <p:spPr>
          <a:xfrm>
            <a:off x="589788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76732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Logo-casinha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branca no acesso</a:t>
            </a:r>
          </a:p>
        </p:txBody>
      </p:sp>
      <p:sp>
        <p:nvSpPr>
          <p:cNvPr id="51" name="Oval 50"/>
          <p:cNvSpPr/>
          <p:nvPr/>
        </p:nvSpPr>
        <p:spPr>
          <a:xfrm>
            <a:off x="589788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09651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Fechamento dos gardens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ripado em madeira biribá (indicação 12)</a:t>
            </a:r>
          </a:p>
        </p:txBody>
      </p:sp>
      <p:sp>
        <p:nvSpPr>
          <p:cNvPr id="53" name="Oval 52"/>
          <p:cNvSpPr/>
          <p:nvPr/>
        </p:nvSpPr>
        <p:spPr>
          <a:xfrm>
            <a:off x="589788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42569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Medidores e lixo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painel PVC ripado carvalho (indicação 02)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096512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fachada vendida tem dois pavimentos de studios com brises ripados verticais de madeira, pilares e bordas em cimento queimado claro, esquadrias marrons e gardens fechados por ripado biribá. No topo, rooftop com guarda-corpo de vidro, floreira, pergolado de madeira e letreiro seazone; na base, faixa amadeirada com o letreiro ITACARÉ SPOT.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(jul/2026): referência visual, não substitui amostra física. Especificação: LOG de considerações de fachada (validado pela diretoria), Premissas e Memorial.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borda.jpg"/>
          <p:cNvPicPr>
            <a:picLocks noChangeAspect="1"/>
          </p:cNvPicPr>
          <p:nvPr/>
        </p:nvPicPr>
        <p:blipFill>
          <a:blip r:embed="rId4"/>
          <a:srcRect l="30793" r="30793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off white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lajes de borda e pilares.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cimento queimado off white, texturizada (LOG fachada · indicação 05).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validado pela diretoria · projeto legal sem legenda de material.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parede.jpg"/>
          <p:cNvPicPr>
            <a:picLocks noChangeAspect="1"/>
          </p:cNvPicPr>
          <p:nvPr/>
        </p:nvPicPr>
        <p:blipFill>
          <a:blip r:embed="rId5"/>
          <a:srcRect l="30828" r="3082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Dia de Chuva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das unidades e divisas.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cimento queimado Dia de Chuva Suvinil, texturizada (LOG fachada · indicação 06).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validado pela diretoria: painel-teste antes da compra.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brise.jpg"/>
          <p:cNvPicPr>
            <a:picLocks noChangeAspect="1"/>
          </p:cNvPicPr>
          <p:nvPr/>
        </p:nvPicPr>
        <p:blipFill>
          <a:blip r:embed="rId6"/>
          <a:srcRect t="33004" b="33004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 ripado vertical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 das janelas das unidades.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ripas verticais de madeira · briefing: PVC, brise na área da condensadora · memorial: madeira ou móveis.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diverge (conferência D6). CRÍTICO ·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esq.jpg"/>
          <p:cNvPicPr>
            <a:picLocks noChangeAspect="1"/>
          </p:cNvPicPr>
          <p:nvPr/>
        </p:nvPicPr>
        <p:blipFill>
          <a:blip r:embed="rId7"/>
          <a:srcRect t="15708" b="1570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 e metais marrons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janelas, portas e guarda-corpos.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esquadrias e metais na textura marrom (LOG · indicação 13) · briefing: linha 32 cor bronze/marrom.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tabela de esquadrias só diz "alumínio": completar linha e cor.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bordamadeira.jpg"/>
          <p:cNvPicPr>
            <a:picLocks noChangeAspect="1"/>
          </p:cNvPicPr>
          <p:nvPr/>
        </p:nvPicPr>
        <p:blipFill>
          <a:blip r:embed="rId8"/>
          <a:srcRect l="34009" r="34009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Faixa amadeirada + nome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acesso ao empreendimento.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pergolado no acesso com viga de 30 cm para fixar o nome (LOG · indicação 10).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não detalhado no projeto legal.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gcvidro.jpg"/>
          <p:cNvPicPr>
            <a:picLocks noChangeAspect="1"/>
          </p:cNvPicPr>
          <p:nvPr/>
        </p:nvPicPr>
        <p:blipFill>
          <a:blip r:embed="rId9"/>
          <a:srcRect l="24343" r="24343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 do rooftop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 do pavimento de lazer.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guarda-corpo de vidro h=1,50 m (LOG · indicação 08) · briefing: vidro com perfil "U" inox.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altura e perfil no executivo.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(jul/2026): referência visual, não substitui amostra física. Especificação: LOG de considerações de fachada, Premissas e Memorial.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biriba.jpg"/>
          <p:cNvPicPr>
            <a:picLocks noChangeAspect="1"/>
          </p:cNvPicPr>
          <p:nvPr/>
        </p:nvPicPr>
        <p:blipFill>
          <a:blip r:embed="rId4"/>
          <a:srcRect l="24483" r="24483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Fechamento em biribá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fechamento de todos os gardens.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fechamento em "biribá" (LOG · indicação 12).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tratamento e fixação da madeira.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ripadomedidor.jpg"/>
          <p:cNvPicPr>
            <a:picLocks noChangeAspect="1"/>
          </p:cNvPicPr>
          <p:nvPr/>
        </p:nvPicPr>
        <p:blipFill>
          <a:blip r:embed="rId5"/>
          <a:srcRect t="12048" b="1204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Painel PVC ripado carvalho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fechamento dos medidores e do lixo.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PVC ripado amadeirado cor carvalho (LOG · indicação 02).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validado pela diretoria.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pergolado.jpg"/>
          <p:cNvPicPr>
            <a:picLocks noChangeAspect="1"/>
          </p:cNvPicPr>
          <p:nvPr/>
        </p:nvPicPr>
        <p:blipFill>
          <a:blip r:embed="rId6"/>
          <a:srcRect l="32431" r="32431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do rooftop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extensão do rooftop.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pergolado em toda a extensão do rooftop (LOG · indicação 11) · memorial: aço corten ou ripas de madeira.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não está na cobertura aprovada (conferência D11).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logo.jpg"/>
          <p:cNvPicPr>
            <a:picLocks noChangeAspect="1"/>
          </p:cNvPicPr>
          <p:nvPr/>
        </p:nvPicPr>
        <p:blipFill>
          <a:blip r:embed="rId7"/>
          <a:srcRect l="25055" r="25055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seazone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letras escuras iluminadas no volume do rooftop (imagem).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ponto elétrico e sem detalhe (conferência, elétrico 22).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letreiro.jpg"/>
          <p:cNvPicPr>
            <a:picLocks noChangeAspect="1"/>
          </p:cNvPicPr>
          <p:nvPr/>
        </p:nvPicPr>
        <p:blipFill>
          <a:blip r:embed="rId8"/>
          <a:srcRect l="38848" r="38848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ITACARÉ SPOT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faixa amadeirada do acesso.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letras brancas iluminadas (imagem) · memorial: nome na fachada INTERNA.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hierarquia a confirmar com a Seazone e sem ponto elétrico.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edrarooftop.jpg"/>
          <p:cNvPicPr>
            <a:picLocks noChangeAspect="1"/>
          </p:cNvPicPr>
          <p:nvPr/>
        </p:nvPicPr>
        <p:blipFill>
          <a:blip r:embed="rId9"/>
          <a:srcRect l="8079" r="8079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Pedra moledo laguna branca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indicadas na fachada e parede do rooftop.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pedra moledo laguna branca (LOG · indicação 14) · rooftop: parede de pedra rústica (imagem).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paginação e locação das paredes em pedra. A VALIDAR.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Esquina e acesso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-_Imagens_3D__ITACARÉ_SPOT_(9).jpg"/>
          <p:cNvPicPr>
            <a:picLocks noChangeAspect="1"/>
          </p:cNvPicPr>
          <p:nvPr/>
        </p:nvPicPr>
        <p:blipFill>
          <a:blip r:embed="rId4"/>
          <a:srcRect t="305" b="305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8288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ESQUINA</a:t>
            </a:r>
          </a:p>
        </p:txBody>
      </p:sp>
      <p:sp>
        <p:nvSpPr>
          <p:cNvPr id="13" name="Oval 12"/>
          <p:cNvSpPr/>
          <p:nvPr/>
        </p:nvSpPr>
        <p:spPr>
          <a:xfrm>
            <a:off x="2656332" y="198854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79191" y="201140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204972" y="239965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27832" y="242251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741931" y="232257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64791" y="234543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290572" y="252813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13432" y="255099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284732" y="28364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07592" y="28593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741931" y="291355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64791" y="293641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930652" y="28364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53512" y="28593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4027932" y="28364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50791" y="28593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3662172" y="322188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85031" y="324474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57800" y="1170432"/>
          <a:ext cx="3383280" cy="323697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Platibanda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off white (indicação 05)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vertical madeira × PVC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Dia de Chuva (indicação 06)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ITACARÉ SPOT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ripado carvalho (indicação 02)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Logo-casinha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 no acesso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madeira + porta de 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Gradil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Gradil com portão de correr (indicação 15)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Vagas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Bloquete + grama (indicação 03)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ESQUINA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esquina marca o acesso com o volume ripado amadeirado, a logo-casinha e o letreiro ITACARÉ SPOT. O estacionamento recebe gradil com portão de correr e as vagas na via pública são em bloquete de concreto com grama.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da rua e gardens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-_Imagens_3D__ITACARÉ_SPOT_(6).jpg"/>
          <p:cNvPicPr>
            <a:picLocks noChangeAspect="1"/>
          </p:cNvPicPr>
          <p:nvPr/>
        </p:nvPicPr>
        <p:blipFill>
          <a:blip r:embed="rId4"/>
          <a:srcRect t="305" b="305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8288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RUA</a:t>
            </a:r>
          </a:p>
        </p:txBody>
      </p:sp>
      <p:sp>
        <p:nvSpPr>
          <p:cNvPr id="13" name="Oval 12"/>
          <p:cNvSpPr/>
          <p:nvPr/>
        </p:nvSpPr>
        <p:spPr>
          <a:xfrm>
            <a:off x="3753612" y="170590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76472" y="172876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4576572" y="188576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99432" y="190862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4302252" y="20656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25112" y="20884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4210812" y="227118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33672" y="229404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4027932" y="26823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50791" y="27051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4485132" y="288785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07992" y="291071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3250692" y="288785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73552" y="291071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3662172" y="242535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85031" y="244821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257800" y="1170432"/>
          <a:ext cx="3383280" cy="32004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Rooftop em toda a extensão (indicação 11)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vertical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Metal marrom nas sacadas (indicação 13)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off white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Fechamento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Biribá nos gardens (indicação 12)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 em cada módulo · sem ponto no elétrico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Pisantes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Placas de concreto sobre grama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Marrom · porta de correr + muxarabi (P01)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FACHADA DA RUA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Cada módulo de sacada tem spot sobre a janela, brise ripado e guarda-corpo marrom; os gardens do térreo ficam atrás do fechamento em biribá. A conferência aponta que nenhum ponto de iluminação de fachada está previsto no elétrico.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Indicações de fachada validadas pela diretoria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"[Log Considerações Projeto] - Itacaré Spot", aba LOG CONSIDERAÇÕES FACHADA: 15 indicações marcadas com validação da diretoria.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log__image10.jpg"/>
          <p:cNvPicPr>
            <a:picLocks noChangeAspect="1"/>
          </p:cNvPicPr>
          <p:nvPr/>
        </p:nvPicPr>
        <p:blipFill>
          <a:blip r:embed="rId4"/>
          <a:srcRect t="2100" b="2100"/>
          <a:stretch>
            <a:fillRect/>
          </a:stretch>
        </p:blipFill>
        <p:spPr>
          <a:xfrm>
            <a:off x="576072" y="1399032"/>
            <a:ext cx="1819656" cy="14173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60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Medidores e lixo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56432"/>
            <a:ext cx="18196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Fechamento em painel PVC ripado amadeirado cor carvalho.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_log__image15.jpg"/>
          <p:cNvPicPr>
            <a:picLocks noChangeAspect="1"/>
          </p:cNvPicPr>
          <p:nvPr/>
        </p:nvPicPr>
        <p:blipFill>
          <a:blip r:embed="rId5"/>
          <a:srcRect l="11102" r="11102"/>
          <a:stretch>
            <a:fillRect/>
          </a:stretch>
        </p:blipFill>
        <p:spPr>
          <a:xfrm>
            <a:off x="2633472" y="1399032"/>
            <a:ext cx="1819656" cy="14173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6334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Paredes das unidades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456432"/>
            <a:ext cx="18196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Textura cimento queimado Dia de Chuva Suvinil; lajes de borda em cimento queimado off white (IND 05).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_log__image9.jpg"/>
          <p:cNvPicPr>
            <a:picLocks noChangeAspect="1"/>
          </p:cNvPicPr>
          <p:nvPr/>
        </p:nvPicPr>
        <p:blipFill>
          <a:blip r:embed="rId6"/>
          <a:srcRect l="10014" r="10014"/>
          <a:stretch>
            <a:fillRect/>
          </a:stretch>
        </p:blipFill>
        <p:spPr>
          <a:xfrm>
            <a:off x="4690872" y="1399032"/>
            <a:ext cx="1819656" cy="14173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6908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Nome no acesso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3456432"/>
            <a:ext cx="18196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Pergolado no acesso com viga de 30 cm para fixar o nome do empreendimento.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_log__image19.jpg"/>
          <p:cNvPicPr>
            <a:picLocks noChangeAspect="1"/>
          </p:cNvPicPr>
          <p:nvPr/>
        </p:nvPicPr>
        <p:blipFill>
          <a:blip r:embed="rId7"/>
          <a:srcRect l="32638" r="32638"/>
          <a:stretch>
            <a:fillRect/>
          </a:stretch>
        </p:blipFill>
        <p:spPr>
          <a:xfrm>
            <a:off x="6748272" y="1399032"/>
            <a:ext cx="1819656" cy="14173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7482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Pedra moledo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456432"/>
            <a:ext cx="18196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Paredes indicadas revestidas em pedra moledo laguna branca; esquadrias e metais marrons (IND 13).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LOG de fachada: as 15 indicações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02152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502920"/>
                <a:gridCol w="6263640"/>
                <a:gridCol w="137160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Ind.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Descrição (LOG de considerações de fachada)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Compatibilizar a fachada externa conforme as imagens de lançamento (R02 interno)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Medidores e lixo com painel PVC ripado amadeirado cor carvalho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03/04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Vagas na via pública em bloquete de concreto + grama · estacionamento interno em paver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Lajes de borda em textura cimento queimado off white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Paredes das unidades e divisas em cimento queimado Dia de Chuva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Banheiro e DML do rooftop em textura Branco Gatinho Coral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Guarda-corpo de vidro no rooftop, altura 1,50 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Espaço de floreira no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Pergolado no acesso com viga de 30 cm para o nome do empreendimento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Pergolado em toda a extensão do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Fechamento de todos os gardens em biribá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Esquadrias e metais (guarda-corpo) na textura marrom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Paredes indicadas em pedra moledo laguna branca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Gradil na área do estacionamento com portão de correr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VALIDADO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Elevações do projeto legal (PL 05 · V01)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266944" cy="1746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exec_elev1.jpg"/>
          <p:cNvPicPr>
            <a:picLocks noChangeAspect="1"/>
          </p:cNvPicPr>
          <p:nvPr/>
        </p:nvPicPr>
        <p:blipFill>
          <a:blip r:embed="rId4"/>
          <a:srcRect l="15338" r="15338"/>
          <a:stretch>
            <a:fillRect/>
          </a:stretch>
        </p:blipFill>
        <p:spPr>
          <a:xfrm>
            <a:off x="502920" y="1170432"/>
            <a:ext cx="5212080" cy="1691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9202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PROJETO LEGAL · ELEVAÇÃO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944368"/>
            <a:ext cx="5266944" cy="1856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exec_elev2.jpg"/>
          <p:cNvPicPr>
            <a:picLocks noChangeAspect="1"/>
          </p:cNvPicPr>
          <p:nvPr/>
        </p:nvPicPr>
        <p:blipFill>
          <a:blip r:embed="rId5"/>
          <a:srcRect l="16712" r="16712"/>
          <a:stretch>
            <a:fillRect/>
          </a:stretch>
        </p:blipFill>
        <p:spPr>
          <a:xfrm>
            <a:off x="502920" y="2971800"/>
            <a:ext cx="5212080" cy="1801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3063240"/>
            <a:ext cx="19202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PROJETO LEGAL · ELEVAÇÃO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170432"/>
            <a:ext cx="2743200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53328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127101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O QUE O PROJETO TRAZ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1499616"/>
            <a:ext cx="2432304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Elevações 1 a 4 · </a:t>
            </a:r>
            <a:r>
              <a:rPr sz="700" b="0">
                <a:solidFill>
                  <a:srgbClr val="FFFFFF"/>
                </a:solidFill>
                <a:latin typeface="Arial"/>
              </a:rPr>
              <a:t>CMC Arquitetura, set/2025, 1:100, sem legenda de material.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Esquadrias · </a:t>
            </a:r>
            <a:r>
              <a:rPr sz="700" b="0">
                <a:solidFill>
                  <a:srgbClr val="FFFFFF"/>
                </a:solidFill>
                <a:latin typeface="Arial"/>
              </a:rPr>
              <a:t>tabela V05 só com "alumínio": sem linha, cor ou vidro. P01 = porta de correr 2 folhas + 1 muxarabi.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Sem executivo · </a:t>
            </a:r>
            <a:r>
              <a:rPr sz="700" b="0">
                <a:solidFill>
                  <a:srgbClr val="FFFFFF"/>
                </a:solidFill>
                <a:latin typeface="Arial"/>
              </a:rPr>
              <a:t>pasta 07 vazia; executivo previsto para out/2026.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Rooftop · </a:t>
            </a:r>
            <a:r>
              <a:rPr sz="700" b="0">
                <a:solidFill>
                  <a:srgbClr val="FFFFFF"/>
                </a:solidFill>
                <a:latin typeface="Arial"/>
              </a:rPr>
              <a:t>cobertura, pergolado e volume vendidos não estão na cobertura aprovada; ata 31/08/2026: seguir 100% o 3D (D11).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Imagem × LOG de fachada, Projeto Legal V01, Memorial e Conferência.  DEFINIDO = convergem  ·  A VALIDAR = divergem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514600"/>
                <a:gridCol w="347472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 jul/2026)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LOG de fachada / Projeto legal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claro texturizado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Dia de Chuva Suvinil (IND 06)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Bordas e pilares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off white (IND 05)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vertical de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(briefing) · madeira ou móveis (memorial) · D6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Marrons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Marrom (IND 13) · linha 32 bronze (briefing) · tabela só "alumínio"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h=1,50 m (IND 08) ·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em toda a extensão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IND 11 · fora da cobertura aprovada (D11)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 do 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Faixa amadeirada com nome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 de 30 cm (IND 10)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Gardens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Biribá (IND 12)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Medidores e lixo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ripado carvalho (IND 02)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Pedra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 de pedra no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moledo laguna branca (IND 14)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ITACARÉ SPOT e seazone iluminados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na fachada interna (memorial) · sem ponto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 em cada módulo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Nenhum ponto externo no elétrico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azul escuro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Barlavento Sea (premissa) · D9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Estacionamento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Pisantes e grama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Bloquete + grama e paver (IND 03/04) · gradil (IND 15)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Recepção  ·  rooftop e piscina  ·  mini market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ITACARÉ SPOT  ·  BOOK DE PREMISSAS DE FACHADA E INTERIORES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situação do projeto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Seazone × Conferência de Projetos Executivos (aba Interiores, 01/09/2026) e LOG de considerações.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237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651760"/>
                <a:gridCol w="242316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 registrada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de madeira com fitas de LED, treliça de bambu com vegetação e logo neon, poltronas creme, pendentes de fibra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Poltrona balanço na premissa × poltronas de piso na imagem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Pergolado de madeira, parede de pedra com logo seazone, piscina, mini market, banco com floreira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Volume e pergolado fora da cobertura aprovada (D11)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Letreiro, vending machine, adega embutida com LED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Sem pontos elétricos; forro da premissa desatualizado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carvalho Treviso e Desert, palhinha, cimento queimado claro, granito pitaya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Tipologias B e I atualizadas em jul/2026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Contratar escritório especializado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Ata 31/08/2026: arquiteta não faz interiores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Não há executivo de interiores. Vale o conceito das imagens de venda (10 - Projeto de Interiores / 02 - Imagens) e do moodboard V02; logos iluminados, fitas de LED e pontos do mini market precisam entrar no elétrico antes do fechamento.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 e corredores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_Imagem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_Imagem_04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PAINEL COM 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Logo neon "Itacaré SPOT" sobre a treliça de bambu com vegetação; corredor com rasgo de LED no forro.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LOG · conferência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PVC amadeirado liso + painel quadriculado em bambu + textura velvet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2,60 m revestido no mesmo painel amadeirado da parede (briefing e LOG, indicação 10)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· rodapé 7 cm branco · carpete de alumínio embutido na entrada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Destaques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Treliça de bambu com vegetação e logo neon · quadros de marketing com arandelas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Poltronas creme com estrutura metálica, tapete de fibra (imagem) · poltrona balanço na premissa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Pendentes de fibra, spots e 3 fitas de LED verticais no painel (4000 K)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Papel picado ou similar · arandela sobre os números e rasgo de LED no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Brancas, bandeira até o forro · rodapés brancos (LOG)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Corrimão metálico bronze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piscina, mini market e lazer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IMAGEM_03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459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ROOFTOP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IMAGEM_07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459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PEDRA + LOGO + BANCO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Parede de pedra com logo seazone iluminado, banco com almofadas e floreira, pergolado de madeira.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LOG · memorial · conferência)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Textura velvet + cimento queimado + pedra (briefing) · copa toda em pedra (LOG, indicação 09)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 / 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2,60 m com ripas revestidas em esteira de bambu (briefing) · pergolado com bambu ou palha (LOG) · imagem: madeira ripada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Esverdeado 20×20, ref. Portobello Barlavento Sea (premissa e LOG) × azul escuro nas imagens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Borda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Cerâmica atérmica ou pedra São Tomé (memorial) · deck na tabela do projeto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· externo antiderrapante · porcelanato imitando madeira 120×20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Letreiro iluminado, vending machine, adega/frigobar com fita de LED (imagens)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Banco com floreira atrás (LOG, indicação 07)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BWC e DML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Textura Branco Gatinho Coral (LOG fachada, indicação 07)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Pendências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Aquecimento solar, ducha de parede e casa de máquinas sem projeto (conferência)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pologia_B__IMAGEM_01.jpg"/>
          <p:cNvPicPr>
            <a:picLocks noChangeAspect="1"/>
          </p:cNvPicPr>
          <p:nvPr/>
        </p:nvPicPr>
        <p:blipFill>
          <a:blip r:embed="rId4"/>
          <a:srcRect l="3072" r="307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TIPOLOGIA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pologia_I__TIPOLOGIA_I_IMAGEM_01.jpg"/>
          <p:cNvPicPr>
            <a:picLocks noChangeAspect="1"/>
          </p:cNvPicPr>
          <p:nvPr/>
        </p:nvPicPr>
        <p:blipFill>
          <a:blip r:embed="rId5"/>
          <a:srcRect t="7248" b="7248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TIPOLOGIA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das tipologias A a P e plantas cotadas das tipologias B e I (jul/2026). Moodboard V02 com os materiais da unidade.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moodboard · memorial · conferência)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· rodapé branco 7 cm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 (briefing) · tinta Lenço de Bolso Suvinil e cimento queimado claro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nas paredes e no piso · nicho no box sem cota (conferência)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carvalho Treviso e MDF Desert · painel de palhinha e cabideiro aberto (imagens)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pitaya polido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Metais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Metal bege claro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Linha 32 cor bronze/marrom (briefing e 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Kit porta pronta lisa branca, guarnição 7 cm · fechadura eletrônica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Jacuzzi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Ponto nas unidades 112 a 132 do térreo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interiores Seazone.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trelica.jpg"/>
          <p:cNvPicPr>
            <a:picLocks noChangeAspect="1"/>
          </p:cNvPicPr>
          <p:nvPr/>
        </p:nvPicPr>
        <p:blipFill>
          <a:blip r:embed="rId4"/>
          <a:srcRect t="14264" b="14264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Treliça de bambu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do logo na recepção.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quadriculado em bambu com vegetação e logo neon (briefing e imagem).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ponto do logo iluminado (sem ponto no elétrico). PENDENTE.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painelled.jpg"/>
          <p:cNvPicPr>
            <a:picLocks noChangeAspect="1"/>
          </p:cNvPicPr>
          <p:nvPr/>
        </p:nvPicPr>
        <p:blipFill>
          <a:blip r:embed="rId5"/>
          <a:srcRect t="13117" b="13117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Painel amadeirado com 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recepção, parede e forro.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PVC amadeirado liso com 3 fitas de LED verticais (briefing e imagem).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painel no forro (LOG, indicação 10).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poltrona.jpg"/>
          <p:cNvPicPr>
            <a:picLocks noChangeAspect="1"/>
          </p:cNvPicPr>
          <p:nvPr/>
        </p:nvPicPr>
        <p:blipFill>
          <a:blip r:embed="rId6"/>
          <a:srcRect l="15619" r="15619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Poltronas e tapete de fibra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poltronas creme com estrutura metálica e tapete redondo de fibra (imagem).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premissa marca poltrona balanço: definir (conferência).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pedrarooftop.jpg"/>
          <p:cNvPicPr>
            <a:picLocks noChangeAspect="1"/>
          </p:cNvPicPr>
          <p:nvPr/>
        </p:nvPicPr>
        <p:blipFill>
          <a:blip r:embed="rId7"/>
          <a:srcRect l="8079" r="8079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Parede de pedra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rooftop, parede do logo seazone.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pedra rústica (imagem) · pedra moledo laguna branca (LOG, indicação 14).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pedra e fixação do logo iluminado.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forroripado.jpg"/>
          <p:cNvPicPr>
            <a:picLocks noChangeAspect="1"/>
          </p:cNvPicPr>
          <p:nvPr/>
        </p:nvPicPr>
        <p:blipFill>
          <a:blip r:embed="rId8"/>
          <a:srcRect l="35750" r="35750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Forro ripado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madeira ripada (imagem) · ripas com esteira de bambu (briefing) · bambu ou palha (LOG).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alinhar as três referências (conferência, interiores 21).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astilha.jpg"/>
          <p:cNvPicPr>
            <a:picLocks noChangeAspect="1"/>
          </p:cNvPicPr>
          <p:nvPr/>
        </p:nvPicPr>
        <p:blipFill>
          <a:blip r:embed="rId9"/>
          <a:srcRect l="30925" r="30925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Revestimento da piscina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piscina do rooftop.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esverdeado 20×20 ref. Portobello Barlavento Sea (premissa e LOG).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imagens mostram azul escuro (conferência D9). A VALIDAR.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do Moodboard Itacaré Spot V02 ("Materiais usados na unidade").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carvalho.jpg"/>
          <p:cNvPicPr>
            <a:picLocks noChangeAspect="1"/>
          </p:cNvPicPr>
          <p:nvPr/>
        </p:nvPicPr>
        <p:blipFill>
          <a:blip r:embed="rId4"/>
          <a:srcRect l="9286" r="9286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carvalho Treviso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das unidades.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carvalho Treviso (moodboard V02).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padrão em todas as tipologias.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desert.jpg"/>
          <p:cNvPicPr>
            <a:picLocks noChangeAspect="1"/>
          </p:cNvPicPr>
          <p:nvPr/>
        </p:nvPicPr>
        <p:blipFill>
          <a:blip r:embed="rId5"/>
          <a:srcRect l="9286" r="9286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Desert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clara das unidades.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Desert (moodboard V02).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combinar com o carvalho conforme imagens.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metalbege.jpg"/>
          <p:cNvPicPr>
            <a:picLocks noChangeAspect="1"/>
          </p:cNvPicPr>
          <p:nvPr/>
        </p:nvPicPr>
        <p:blipFill>
          <a:blip r:embed="rId6"/>
          <a:srcRect l="9286" r="9286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Metal bege claro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estruturas e metais.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metal bege claro (moodboard V02).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acabamento nas peças metálicas.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cimentoclaro.jpg"/>
          <p:cNvPicPr>
            <a:picLocks noChangeAspect="1"/>
          </p:cNvPicPr>
          <p:nvPr/>
        </p:nvPicPr>
        <p:blipFill>
          <a:blip r:embed="rId7"/>
          <a:srcRect l="9286" r="9286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claro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destaque da unidade.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cimento queimado claro (moodboard V02).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painel-teste.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itaya.jpg"/>
          <p:cNvPicPr>
            <a:picLocks noChangeAspect="1"/>
          </p:cNvPicPr>
          <p:nvPr/>
        </p:nvPicPr>
        <p:blipFill>
          <a:blip r:embed="rId8"/>
          <a:srcRect l="9286" r="9286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pitaya polido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 da copa.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pitaya polido (moodboard V02).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deixar pontos conforme as Vistas 01 a 04 (briefing).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lenco.jpg"/>
          <p:cNvPicPr>
            <a:picLocks noChangeAspect="1"/>
          </p:cNvPicPr>
          <p:nvPr/>
        </p:nvPicPr>
        <p:blipFill>
          <a:blip r:embed="rId9"/>
          <a:srcRect l="9286" r="9286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Tinta Lenço de Bolso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das unidades.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tinta Lenço de Bolso Suvinil (moodboard) · briefing: branco gelo acetinado.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 cor das paredes. A VALIDAR.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× premissas, LOG, moodboard, memorial e Conferência de Projetos Executivos.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de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Premissas / LOG / conferência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madeira + treliça bambu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amadeirado + bambu + velvet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Mesmo painel da parede (LOG)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Poltronas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 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Poltrona balanço (premissa)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Logos iluminados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Neon e seazone na pedra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ponto elétrico (conferência)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ripada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Esteira de bambu (briefing) × bambu/palha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volume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 e volume fechado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Fora da cobertura aprovada (D11)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Azul escuro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Barlavento Sea (D9)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Letreiro, vending, adega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pontos elétricos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Copa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e 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Toda em pedra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(briefing e 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(briefing) × Lenço de Bolso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clara + palhinha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Carvalho Treviso, Desert, pitaya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Nicho do box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Recorte no box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cota nem detalhe (conferência)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 contratar (ata 31/08/2026)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em "[ITACARÉ] Premissas de Projeto"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ITACARÉ SPOT  ·  BOOK DE PREMISSAS DE FACHADA E INTERIORES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em "[ITACARÉ] Premissas de Projeto" (coluna "Conferência") × Projeto Legal V01, LOG de fachada e Memorial.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Projeto / LOG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· brise na área da condensadora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de madeira (imagem) · madeira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Biribá nos gardens (LOG) · sem muro na imagem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· cor bronze/marrom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Marrom (LOG) · tabela só "alumínio"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Metal marrom (LOG)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"U" inox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h=1,50 m no rooftop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amadeirado + bambu + velvet · forro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da 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Velvet + cimento queimado + pedra · ripas com bambu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(LOG) · madeira ripada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Papel picado · arandela + LED no 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seguindo o conceito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(LOG 05/06)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· madeira 120×20 nas externas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Barlavento Sea · aquecimento solar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Azul escuro (imagem) · sem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e rodapés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Brancos · bandeira até o 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Kit pronto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Lenço de Bolso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Ducha externa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Ducha de parede + ralo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Ausente no hidrossanitário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Poltrona 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na laje da 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Poltronas de piso na imagem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ITACARÉ SPOT  ·  BOOK DE PREMISSAS DE FACHADA E INTERIORES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FACHADA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Seguir as imagens de lançamento (LOG, indicação 01).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Projeto legal sem legenda de material: usar o LOG validado.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Executivo de arquitetura ainda não emitido.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MADEIRA E BRISES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Brises: madeira ripada (imagem) × PVC (briefing).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Biribá nos gardens e PVC carvalho nos medidores.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Definir tratamento e fixação (ambiente de praia).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TEXTURAS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Bordas em cimento queimado off white.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Paredes em cimento queimado Dia de Chuva Suvinil.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Painel-teste antes da compra.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 E LUZ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Letreiros ITACARÉ SPOT e seazone sem ponto elétrico.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Spot em cada módulo de sacada: nada no elétrico.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Luminotécnico ainda não entregue.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ROOFTOP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Pergolado e volume vendidos fora da cobertura aprovada.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Ata 31/08/2026: seguir 100% o 3D.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 de vidro h=1,50 m e floreira.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PISCINA E INTERIORES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Revestimento esverdeado 20×20 × azul escuro da imagem.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Aquecimento, ducha e casa de máquinas sem projeto.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Executivo de interiores a contratar.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(VALIDADAS PELA DIRETORIA)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Paredes em cimento queimado Dia de Chuva Suvinil.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Lajes de borda em cimento queimado off white.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e metais na cor marrom.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Fechamento dos gardens em biribá.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Medidores e lixo em PVC ripado cor carvalho.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 de vidro h=1,50 m e floreira no rooftop.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Pergolado no acesso (viga de 30 cm com o nome) e no rooftop.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Pedra moledo laguna branca nas paredes indicadas.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As 15 indicações do LOG de fachada devem aparecer no executivo.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(texturas, biribá, PVC carvalho, pedra, revestimento da piscina)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projeto e briefing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(1.35 - [5624] ITACARÉ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06 - Projeto Legal / V01 · 00 - Premissas / LOG Considerações (aba fachada)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Imagens: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05 - Imagens 3D · 08 / 10 - Projeto de Interiores / 02 - Imagens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Memoriais: </a:t>
            </a:r>
            <a:r>
              <a:rPr sz="650" b="0">
                <a:solidFill>
                  <a:srgbClr val="9FB0D4"/>
                </a:solidFill>
                <a:latin typeface="Arial"/>
              </a:rPr>
              <a:t>09 - Memorial Descritivo · 10 / 03 - Memorial Descritivo (moodboard V02)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Conferência: </a:t>
            </a:r>
            <a:r>
              <a:rPr sz="650" b="0">
                <a:solidFill>
                  <a:srgbClr val="9FB0D4"/>
                </a:solidFill>
                <a:latin typeface="Arial"/>
              </a:rPr>
              <a:t>[ITACARÉ SPOT] - Conferência de Projetos Executivos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ITACARÉ SPOT  ·  BOOK DE PREMISSAS DE FACHADA E INTERIORES  ·  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arquitetura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Emitir com as 15 indicações do LOG de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ripada (imagem) × PVC (briefing) · D6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marrom/bronze na tabela de 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 e volume fora da cobertura aprovada · D11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 do 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 de 30 cm com o nome: detalhe e material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ITACARÉ SPOT e seazone: material, iluminação e ponto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Iluminação de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Spots nos módulos · luminotécnico a entregar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Pedra moledo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Locação e paginação das paredes em pedra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Biribá e PVC carvalho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Tratamento, fixação e fornecedor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 Seazone com logo (briefing) × biribá (LOG)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× azul escuro · aquecimento solar · D9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ripada × esteira de bambu × palha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da vending, adega e LED da 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Poltrona 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Manter (reforço na laje) ou atualizar a premissa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Lenço de Bolso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Nicho do box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Cota e detalhe nas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Ducha e casa de máquinas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Ducha de parede e casa de máquinas da 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 escritório especializado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ITACARÉ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Projeto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ITACARÉ SPOT  ·  BOOK DE PREMISSAS DE FACHADA E INTERIORES  ·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