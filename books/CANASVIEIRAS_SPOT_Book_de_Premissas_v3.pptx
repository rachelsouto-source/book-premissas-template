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ianca Carina Valent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6" Type="http://schemas.openxmlformats.org/officeDocument/2006/relationships/image" Target="../media/image1.png"/><Relationship Id="rId7" Type="http://schemas.openxmlformats.org/officeDocument/2006/relationships/image" Target="../media/image1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7" Type="http://schemas.openxmlformats.org/officeDocument/2006/relationships/image" Target="../media/image1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3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8" Type="http://schemas.openxmlformats.org/officeDocument/2006/relationships/image" Target="../media/image2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32.jpg"/><Relationship Id="rId5" Type="http://schemas.openxmlformats.org/officeDocument/2006/relationships/image" Target="../media/image35.jpg"/><Relationship Id="rId6" Type="http://schemas.openxmlformats.org/officeDocument/2006/relationships/image" Target="../media/image37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10" Type="http://schemas.openxmlformats.org/officeDocument/2006/relationships/image" Target="../media/image3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8.jpg"/><Relationship Id="rId10" Type="http://schemas.openxmlformats.org/officeDocument/2006/relationships/image" Target="../media/image4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5" Type="http://schemas.openxmlformats.org/officeDocument/2006/relationships/image" Target="../media/image4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20.jpg"/><Relationship Id="rId8" Type="http://schemas.openxmlformats.org/officeDocument/2006/relationships/image" Target="../media/image5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8" Type="http://schemas.openxmlformats.org/officeDocument/2006/relationships/image" Target="../media/image5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3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8" Type="http://schemas.openxmlformats.org/officeDocument/2006/relationships/image" Target="../media/image6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5" Type="http://schemas.openxmlformats.org/officeDocument/2006/relationships/image" Target="../media/image67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0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8" Type="http://schemas.openxmlformats.org/officeDocument/2006/relationships/image" Target="../media/image68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5" Type="http://schemas.openxmlformats.org/officeDocument/2006/relationships/image" Target="../media/image74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5" Type="http://schemas.openxmlformats.org/officeDocument/2006/relationships/image" Target="../media/image75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79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3.jpg"/><Relationship Id="rId5" Type="http://schemas.openxmlformats.org/officeDocument/2006/relationships/image" Target="../media/image84.jpg"/><Relationship Id="rId6" Type="http://schemas.openxmlformats.org/officeDocument/2006/relationships/image" Target="../media/image85.jpg"/><Relationship Id="rId7" Type="http://schemas.openxmlformats.org/officeDocument/2006/relationships/image" Target="../media/image86.jpg"/><Relationship Id="rId9" Type="http://schemas.openxmlformats.org/officeDocument/2006/relationships/image" Target="../media/image80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97.jpg"/><Relationship Id="rId5" Type="http://schemas.openxmlformats.org/officeDocument/2006/relationships/image" Target="../media/image99.jpg"/><Relationship Id="rId6" Type="http://schemas.openxmlformats.org/officeDocument/2006/relationships/image" Target="../media/image103.jpg"/><Relationship Id="rId7" Type="http://schemas.openxmlformats.org/officeDocument/2006/relationships/image" Target="../media/image104.jpg"/><Relationship Id="rId8" Type="http://schemas.openxmlformats.org/officeDocument/2006/relationships/image" Target="../media/image106.jpg"/><Relationship Id="rId9" Type="http://schemas.openxmlformats.org/officeDocument/2006/relationships/image" Target="../media/image107.jpg"/><Relationship Id="rId10" Type="http://schemas.openxmlformats.org/officeDocument/2006/relationships/image" Target="../media/image108.jpg"/><Relationship Id="rId11" Type="http://schemas.openxmlformats.org/officeDocument/2006/relationships/image" Target="../media/image110.jpg"/><Relationship Id="rId12" Type="http://schemas.openxmlformats.org/officeDocument/2006/relationships/image" Target="../media/image111.jpg"/><Relationship Id="rId13" Type="http://schemas.openxmlformats.org/officeDocument/2006/relationships/image" Target="../media/image112.jpg"/><Relationship Id="rId14" Type="http://schemas.openxmlformats.org/officeDocument/2006/relationships/image" Target="../media/image114.jpg"/><Relationship Id="rId15" Type="http://schemas.openxmlformats.org/officeDocument/2006/relationships/image" Target="../media/image116.jpg"/><Relationship Id="rId17" Type="http://schemas.openxmlformats.org/officeDocument/2006/relationships/image" Target="../media/image9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22.jpg"/><Relationship Id="rId6" Type="http://schemas.openxmlformats.org/officeDocument/2006/relationships/image" Target="../media/image118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25.jpg"/><Relationship Id="rId5" Type="http://schemas.openxmlformats.org/officeDocument/2006/relationships/image" Target="../media/image126.jpg"/><Relationship Id="rId6" Type="http://schemas.openxmlformats.org/officeDocument/2006/relationships/image" Target="../media/image127.jpg"/><Relationship Id="rId7" Type="http://schemas.openxmlformats.org/officeDocument/2006/relationships/image" Target="../media/image128.jpg"/><Relationship Id="rId8" Type="http://schemas.openxmlformats.org/officeDocument/2006/relationships/image" Target="../media/image130.jpg"/><Relationship Id="rId9" Type="http://schemas.openxmlformats.org/officeDocument/2006/relationships/image" Target="../media/image131.jpg"/><Relationship Id="rId10" Type="http://schemas.openxmlformats.org/officeDocument/2006/relationships/image" Target="../media/image132.jpg"/><Relationship Id="rId11" Type="http://schemas.openxmlformats.org/officeDocument/2006/relationships/image" Target="../media/image136.jpg"/><Relationship Id="rId12" Type="http://schemas.openxmlformats.org/officeDocument/2006/relationships/image" Target="../media/image137.jpg"/><Relationship Id="rId13" Type="http://schemas.openxmlformats.org/officeDocument/2006/relationships/image" Target="../media/image138.jpg"/><Relationship Id="rId14" Type="http://schemas.openxmlformats.org/officeDocument/2006/relationships/image" Target="../media/image140.jpg"/><Relationship Id="rId15" Type="http://schemas.openxmlformats.org/officeDocument/2006/relationships/image" Target="../media/image141.jpg"/><Relationship Id="rId17" Type="http://schemas.openxmlformats.org/officeDocument/2006/relationships/image" Target="../media/image123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45.jpg"/><Relationship Id="rId6" Type="http://schemas.openxmlformats.org/officeDocument/2006/relationships/image" Target="../media/image142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48.jpg"/><Relationship Id="rId6" Type="http://schemas.openxmlformats.org/officeDocument/2006/relationships/image" Target="../media/image147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5" Type="http://schemas.openxmlformats.org/officeDocument/2006/relationships/image" Target="../media/image14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57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61.jpg"/><Relationship Id="rId5" Type="http://schemas.openxmlformats.org/officeDocument/2006/relationships/image" Target="../media/image162.jpg"/><Relationship Id="rId6" Type="http://schemas.openxmlformats.org/officeDocument/2006/relationships/image" Target="../media/image163.jpg"/><Relationship Id="rId8" Type="http://schemas.openxmlformats.org/officeDocument/2006/relationships/image" Target="../media/image158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73.jpg"/><Relationship Id="rId5" Type="http://schemas.openxmlformats.org/officeDocument/2006/relationships/image" Target="../media/image174.jpg"/><Relationship Id="rId6" Type="http://schemas.openxmlformats.org/officeDocument/2006/relationships/image" Target="../media/image177.jpg"/><Relationship Id="rId8" Type="http://schemas.openxmlformats.org/officeDocument/2006/relationships/image" Target="../media/image165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85.jpg"/><Relationship Id="rId5" Type="http://schemas.openxmlformats.org/officeDocument/2006/relationships/image" Target="../media/image188.jpg"/><Relationship Id="rId6" Type="http://schemas.openxmlformats.org/officeDocument/2006/relationships/image" Target="../media/image189.jpg"/><Relationship Id="rId8" Type="http://schemas.openxmlformats.org/officeDocument/2006/relationships/image" Target="../media/image180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0.jpg"/></Relationships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3D"/>
        </a:solidFill>
      </p:bgPr>
    </p:bg>
    <p:spTree>
      <p:nvGrpSpPr>
        <p:cNvPr id="1" name=""/>
        <p:cNvGrpSpPr/>
        <p:nvPr/>
      </p:nvGrpSpPr>
      <p:grpSpPr/>
      <p:pic>
        <p:nvPicPr>
          <p:cNvPr descr="05 (2).jpg" id="16" name="Google Shape;16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20640" y="0"/>
            <a:ext cx="35661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2.png"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59952" y="0"/>
            <a:ext cx="3431743" cy="2249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2.png" id="18" name="Google Shape;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9952" y="2304288"/>
            <a:ext cx="3431743" cy="224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title="002.jpg" descr="04 (2)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9952" y="4608576"/>
            <a:ext cx="3431741" cy="2249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logo_cover.png" id="20" name="Google Shape;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548640"/>
            <a:ext cx="1828800" cy="30086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457200" y="21031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BOOK DE PREMISSAS DE FACHADA E INTERIORES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57200" y="242316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Canasvieiras Spot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57200" y="324612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Moodboard de premissas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57200" y="38404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Lançamento  ×  Executivo  ·  Fachada  ·  Interiores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457200" y="56692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Canasvieiras · Florianópolis/SC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FB0D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DOCUMENTO TÉCNICO INTERNO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1" name="Google Shape;31;p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CONTEXTUALIZAÇÃO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O objetivo deste material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457200" y="1325880"/>
            <a:ext cx="5577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Consolidar as premissas de fachada e de interiores das áreas comuns do Canasvieiras Spot a partir da leitura cruzada entre as imagens de lançamento, o projeto executivo de arquitetura e o projeto de interiores da Seazone: o que a imagem vendeu, o que o executivo especifica, onde o executivo precisa ser ajustado e o que a obra deve seguir na compra e na execução.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.jpg" id="37" name="Google Shape;37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2971800"/>
            <a:ext cx="1737360" cy="173736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1828800" y="3017520"/>
            <a:ext cx="347472" cy="34747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457200" y="48006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VEJA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imagem de lançamento ou o conceito Seazone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40" name="Google Shape;4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7440" y="2971800"/>
            <a:ext cx="1737360" cy="173736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3749040" y="3017520"/>
            <a:ext cx="347472" cy="34747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2377440" y="48006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ENTENDA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material e a especificação de cada parte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43" name="Google Shape;4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97680" y="2971800"/>
            <a:ext cx="1737360" cy="173736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669280" y="3017520"/>
            <a:ext cx="347472" cy="34747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4297680" y="48006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CONFIRA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a obra precisa observar e seguir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92240" y="1325880"/>
            <a:ext cx="5242255" cy="48463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766560" y="15087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AO ABRIR ESTE BOOK, OBRAS DEVE CONSEGUIR RESPONDER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766560" y="19202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7178040" y="18745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as imagens de lançamento mostram na fachada?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66560" y="23774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178040" y="23317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material e cor o executivo define para cada volume?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766560" y="28346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178040" y="27889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o executivo precisa ser ajustado à imagem vendida?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766560" y="32918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78040" y="32461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cores e texturas exigem amostra aprovada?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766560" y="37490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78040" y="37033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é o conceito de interiores das áreas comuns que deve ser seguido?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766560" y="42062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78040" y="41605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não pode ser alterado sem validação?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766560" y="46634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78040" y="46177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 obra precisa observar na execução?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766560" y="51663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Regra do material: premissas validadas pela Seazone. Prevalecem o Briefing de Projeto e a imagem de lançamento; o executivo deve replicar as cores e texturas do lançamento. Fontes: imagens de lançamento, executivo de arquitetura, Memorial Descritivo, Memorial de Texturas e de Interiores, Briefing e LOG de considerações. Interiores das unidades, índices urbanísticos, áreas e custos não fazem parte deste Book.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68" name="Google Shape;68;p5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COMO USAR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Como ler este book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70" name="Google Shape;7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143000" y="137160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Número na imagem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número na foto corresponde a um item da lista ao lado.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75" name="Google Shape;75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2920" y="2194560"/>
            <a:ext cx="384048" cy="384048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1143000" y="21488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Amostra circular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Recorte do material tirado da própria imagem: referência visual, não substitui amostra física.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411480" y="3035808"/>
            <a:ext cx="566928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143000" y="292608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Código do executivo/memorial (ex.: REV-08, BRI-01, T07) para achar o item no projeto.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457200" y="3840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STATUS DOS ITENS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206240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508760" y="416966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premissa validada pela Seazone: seguir na compra e na execução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309360" y="1325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 QUE VOCÊ VAI ENCONTRAR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87" name="Google Shape;8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1691640"/>
            <a:ext cx="155448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8001000" y="16916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8641080" y="1691640"/>
            <a:ext cx="30934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imagens de lançamento · paleta · leitura geral · texturas T01–T12 · vistas de esquina, posterior e térreo · pontos de atenção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3.png" id="90" name="Google Shape;9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360" y="2807208"/>
            <a:ext cx="155448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8001000" y="280720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641080" y="2807208"/>
            <a:ext cx="30934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143D"/>
                </a:solidFill>
              </a:rPr>
              <a:t>Interiores das áreas comuns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conceito × decisão · recepção e corredores · rooftop interno e externo · pontos de atenção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5.png" id="93" name="Google Shape;93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9360" y="3922776"/>
            <a:ext cx="155448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8001000" y="3922776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C6058"/>
                </a:solidFill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8641080" y="3922776"/>
            <a:ext cx="3093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de interiores das áreas comuns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texturas T13–T24 para compra e aprovação de amostras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3D"/>
        </a:solidFill>
      </p:bgPr>
    </p:bg>
    <p:spTree>
      <p:nvGrpSpPr>
        <p:cNvPr id="1" name=""/>
        <p:cNvGrpSpPr/>
        <p:nvPr/>
      </p:nvGrpSpPr>
      <p:grpSpPr/>
      <p:pic>
        <p:nvPicPr>
          <p:cNvPr descr="DRONE (1).jpg" id="101" name="Google Shape;101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logo_cover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0292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Fachada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57200" y="4526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Imagens de lançamento  ·  paleta  ·  leitura geral  ·  texturas  ·  vistas com marcação e especificação  ·  pontos de atenção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l_icon_footer.png" id="106" name="Google Shape;1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13" name="Google Shape;113;p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MOODBOARD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Imagens de lançamento da fachada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15" name="Google Shape;11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118" name="Google Shape;118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1280160"/>
            <a:ext cx="3895344" cy="290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 txBox="1"/>
          <p:nvPr/>
        </p:nvSpPr>
        <p:spPr>
          <a:xfrm>
            <a:off x="530352" y="1353312"/>
            <a:ext cx="1130198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· FRONTAL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.jpg" id="120" name="Google Shape;12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5696" y="1280160"/>
            <a:ext cx="3895344" cy="290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4498848" y="1353312"/>
            <a:ext cx="1130198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 · ESQUINA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 (2).jpg" id="122" name="Google Shape;12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4254604"/>
            <a:ext cx="1186198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530352" y="4327756"/>
            <a:ext cx="416966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 (2).jpg" id="124" name="Google Shape;12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6550" y="4254604"/>
            <a:ext cx="1186198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 txBox="1"/>
          <p:nvPr/>
        </p:nvSpPr>
        <p:spPr>
          <a:xfrm>
            <a:off x="1789702" y="4327756"/>
            <a:ext cx="416966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4 (2).jpg" id="126" name="Google Shape;12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75899" y="4254604"/>
            <a:ext cx="2635994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3049051" y="4327756"/>
            <a:ext cx="1058875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· TÉRREO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3.png" id="128" name="Google Shape;128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85046" y="4254604"/>
            <a:ext cx="2635994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5758198" y="4327756"/>
            <a:ext cx="773582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ROOFTOP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8595360" y="12801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COMPOSIÇÃO DA FACHADA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595360" y="1645920"/>
            <a:ext cx="3139135" cy="80467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8732520" y="16459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 central amadeirado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Boreal Natural (REV-08) com brises verticais de correr nas janelas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595360" y="2560320"/>
            <a:ext cx="3139135" cy="804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8732520" y="25603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Volumes laterais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cinza escuro (REV-06) e branco (REV-07) com floreiras nas bordas de laje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595360" y="3474720"/>
            <a:ext cx="3139135" cy="80467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732520" y="34747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e elementos vazados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brises pretos e Oak (BRI-01), painéis em grelha (EV3/EV4) e cobogó sobre as lojas (EV1)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595360" y="4389120"/>
            <a:ext cx="3139135" cy="804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8732520" y="43891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Base e acesso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lojas com vitrines, brises Oak no mezanino e totem iluminado CANASVIEIRAS SPOT no muro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595360" y="5303520"/>
            <a:ext cx="3139135" cy="80467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8732520" y="53035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Coroamento e rooftop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guarda-corpo de vidro, pergolado preto, piscina e letreiro SEAZONE no reservatório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46" name="Google Shape;146;p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PALETA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Paleta de materiais da fachada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48" name="Google Shape;14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151" name="Google Shape;151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457200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57200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Porcelanato Boreal Natural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 central e montantes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 (2).jpg" id="154" name="Google Shape;15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7229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2367229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2367229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Cinza escuro Rock'n Roll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volumes laterais e bases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 (2).jpg" id="157" name="Google Shape;15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7258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4277258" y="4343400"/>
            <a:ext cx="1727149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4277258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Branco Puro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volumes claros e reservatório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 (2).jpg" id="160" name="Google Shape;16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87288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6187288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187288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Cinza ref. Nanquim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faixas de laje e marquise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 (2).jpg" id="163" name="Google Shape;163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7317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8097317" y="4343400"/>
            <a:ext cx="1727149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BRI-01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8097317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preto e Oak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janelas, térreo e mezanino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166" name="Google Shape;166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7346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0007346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EV1–EV4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0007346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Elemento vazado 40×40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lojas e painéis laterais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5532120"/>
            <a:ext cx="11277295" cy="713232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640080" y="5623560"/>
            <a:ext cx="1091153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COMO LER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Fachada = volume central amadeirado (REV-08) + volumes laterais cinza escuro (REV-06) e branco (REV-07) + faixas cinza (REV-05) + brises pretos e Oak + elementos vazados + esquadria preta + floreiras. Detalhe de cada material nas páginas de texturas T01–T12.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76" name="Google Shape;176;p9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LEITURA GERAL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O que compõe a fachada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78" name="Google Shape;17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181" name="Google Shape;18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280160"/>
            <a:ext cx="7040880" cy="3959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566928" y="1389888"/>
            <a:ext cx="233172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01 (FRONTAL)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629253" y="1627470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248654" y="1804534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974646" y="204061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840479" y="213898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030778" y="247344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44568" y="312267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2573121" y="2965285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2045055" y="2748874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382822" y="396864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95086" y="396864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457200" y="5349240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fachada é lida em quatro camadas: volume central em porcelanato amadeirado (REV-08) com brises verticais de correr; volumes laterais em cinza escuro (REV-06) e branco (REV-07) com floreiras e painéis em elemento vazado; base do térreo e mezanino com brises Oak, elemento vazado sobre as lojas e totem de acesso; coroamento com guarda-corpo de vidro, pergolado e letreiro SEAZONE.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7863840" y="1280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LEGENDA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7863840" y="162763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8229600" y="1600200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 SEAZONE no coroamento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letras-caixa iluminadas · não detalhado no executivo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863840" y="209397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229600" y="2066544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Pergolado da cobertura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AC-02 pergolado em alumínio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863840" y="256032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8229600" y="2532888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 dos terraços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GC-01 alumínio / vidro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863840" y="30266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8229600" y="2999232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 central amadeirado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REV-08 porcelanato Boreal Natural 20×120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863840" y="349300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229600" y="3465576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verticais das janelas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BRI-01 brise de correr 75×25 · preto e Oak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863840" y="395935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8229600" y="3931920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horizontal nas janelas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só no render · não consta nas elevações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863840" y="442569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8229600" y="4398264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Painéis laterais em grelha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EV3 elemento vazado de concreto 40×40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863840" y="489204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8229600" y="4864608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Floreiras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AC-01 vaso · floreira Vasoflex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863840" y="53583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8229600" y="5330952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amadeirados do mezanino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Lesco Green Brise · Oak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863840" y="582472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8229600" y="5797296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Elemento vazado sobre as lojas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EV1 concreto 40×40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20" name="Google Shape;220;p1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MAPA DE TEXTURAS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Texturas da fachada · cores e revestimento (1/3)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222" name="Google Shape;2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lançamento: referência visual, não substitui amostra física. Especificação: executivo de arquitetura, Memorial Descritivo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2 (2).jpg" id="227" name="Google Shape;227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REV-06 · Cinza escuro Rock'n Roll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Volumes escuros laterais, bases e molduras nas quatro elevações.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acrílica sobre textura/massa acrílica, ref. cor Rock'n Roll (Suvinil).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Aprovar amostra em painel na própria fachada antes da compra; mesma cor e lote nas quatro faces.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 (2).jpg" id="231" name="Google Shape;23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2" name="Google Shape;232;p10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REV-05 · Cinza ref. Nanquim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Faixas de laje, marquise do térreo e fundo do elemento vazado das lojas.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acrílica descrita como "cinza claro", ref. cor Nanquim (Suvinil).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Seguir o tom cinza médio da imagem de lançamento; aprovar painel-teste na fachada antes da compra.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2 (2).jpg" id="235" name="Google Shape;23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REV-07 · Branco Puro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Volumes laterais claros, platibanda da cobertura e caixa do reservatório.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acrílica, ref. Branco Puro (Suvinil).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Reservatório com acabamento externo idem fachada (memorial 30.4.3).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39" name="Google Shape;239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REV-08 · Porcelanato amadeirado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 central das fachadas frontal e posterior e montantes entre janelas.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retificado 20×120, Boreal Natural (Portobello) · memorial 10.1 e 30.3.5.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Tom madeira clara e quente da imagem de lançamento: conferir a peça física contra a imagem antes do pedido.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20" name="Google Shape;220;p1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MAPA DE TEXTURAS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Texturas da fachada · brises e elementos vazados (2/3)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222" name="Google Shape;2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09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lançamento: referência visual, não substitui amostra física. Especificação: executivo de arquitetura, Memorial Descritivo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 (2).jpg" id="227" name="Google Shape;227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BRI-01 · Brise amadeirado Oak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Térreo, mezanino e parte dos pavimentos 2 a 4.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 de correr em PVC conforme detalhamento arquitetônico (briefing), cor Oak como na imagem de lançamento.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Executivo indica alumínio Lesco: compatibilizar para PVC antes da compra (prancha 28).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31" name="Google Shape;23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2" name="Google Shape;232;p10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BRI-01 · Brise alumínio preto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Janelas dos pavimentos 2, 3 e 4 e do mezanino.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 de correr em PVC preto (briefing) · trilho BRI-02 preto · BRI-03 veneziana preta nas condensadoras.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Tipos mudam por pavimento: seguir o quadro da prancha 28, com material compatibilizado para PVC.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35" name="Google Shape;23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EV1 · Elemento vazado das lojas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Fachada sobre as lojas e EV2 no térreo.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Elemento vazado de concreto 40×40, peças fixas, com a borda inferior "pixelada" da imagem de lançamento.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Executivo mostra borda reta: ajustar a paginação para replicar a borda da imagem.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39" name="Google Shape;239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EV3/EV4 · Painéis em grelha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Faixas verticais ao lado do volume central.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Elemento vazado de concreto 40×40 na cor preta, como na imagem de lançamento.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Peças pretas: especificar a cor no executivo antes da compra; garantir prumo com as faixas de laje.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20" name="Google Shape;220;p1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MAPA DE TEXTURAS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Texturas da fachada · esquadrias e cobertura (3/3)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222" name="Google Shape;2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lançamento: referência visual, não substitui amostra física. Especificação: executivo de arquitetura, Memorial Descritivo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27" name="Google Shape;227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Esquadrias de alumínio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Janelas e porta-janelas de todas as fachadas, lojas e áreas comuns.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Alumínio anodizado preto (padrão Alcoa) · vidro laminado transparente (memorial 16.1).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Peitoril e pingadeira em granito preto São Gabriel com frisos (memorial 20); quadro nas pranchas 26 e 27.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31" name="Google Shape;23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2" name="Google Shape;232;p10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GC-01/02/03 · Guarda-corpos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Terraços da cobertura e borda da piscina.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Vidro incolor com perfil "U" inox, sem perfis de alumínio (briefing).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Executivo indica alumínio + vidro: compatibilizar para perfil "U" inox antes da compra.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7.jpg" id="235" name="Google Shape;23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AC-01 · Floreiras de fachada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Bordas de laje dos volumes laterais nos pavimentos 2 a 4.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AC-01 vaso para plantas · floreira modelo estrutural Vasoflex (Ecotelhado).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Fixação mecânica com buchas e vasos independentes; paisagismo por empresa especializada.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 (1).jpg" id="239" name="Google Shape;239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AC-02 · Pergolado da cobertura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Áreas de integração e terraços do último pavimento.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Estrutura metálica preta, como na imagem de lançamento (AC-02 · memorial 30.3.5).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Perfis pretos aparentes como na imagem; balanço do rooftop fixado na laje (briefing), não no pergolado.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09" name="Google Shape;409;p15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VISTA + ESPECIFICAÇÃO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Esquina: fachada frontal e lateral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412" name="Google Shape;4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5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.jpg" id="414" name="Google Shape;41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280160"/>
            <a:ext cx="6766560" cy="38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5"/>
          <p:cNvSpPr txBox="1"/>
          <p:nvPr/>
        </p:nvSpPr>
        <p:spPr>
          <a:xfrm>
            <a:off x="566928" y="1389888"/>
            <a:ext cx="205740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07 (ESQUINA)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3635654" y="1713290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785969" y="2036694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282342" y="2284003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4379974" y="232204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2147011" y="304495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3364990" y="2607405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3838651" y="334933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4312310" y="399613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394958" y="399613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297326" y="4642942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57200" y="5230368"/>
            <a:ext cx="6766560" cy="100584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640080" y="5321808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DA ESQUINA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esquina concentra os três materiais de maior impacto visual: porcelanato amadeirado (REV-08), cinza escuro (REV-06) e brises. As floreiras marcam os volumes laterais e o elemento vazado com borda "pixelada" fecha o volume das lojas. O executivo deve replicar essas texturas e detalhar o totem iluminado.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7543800" y="1298448"/>
            <a:ext cx="201168" cy="201168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7818120" y="12801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Status do item: DEFINIDO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7543800" y="17007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7909560" y="1645920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 SEAZONE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Letras-caixa iluminadas no reservatório, como na imagem · detalhar no executivo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11496751" y="17007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7543800" y="216255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7909560" y="2107692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Pergolado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Estrutura metálica preta, como na imagem (AC-02)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1496751" y="2162556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7543800" y="262432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 txBox="1"/>
          <p:nvPr/>
        </p:nvSpPr>
        <p:spPr>
          <a:xfrm>
            <a:off x="7909560" y="2569464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Vidro incolor com perfil "U" inox (briefing)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1496751" y="2624328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7543800" y="308610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 txBox="1"/>
          <p:nvPr/>
        </p:nvSpPr>
        <p:spPr>
          <a:xfrm>
            <a:off x="7909560" y="3031236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 central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REV-08 porcelanato 20×120 Boreal Natural (Portobello)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1496751" y="3086100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7543800" y="354787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7909560" y="3493008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pretos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BRI-01 de correr em PVC preto (briefing) + trilho BRI-02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11496751" y="3547872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7543800" y="40096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7909560" y="3954780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Floreiras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AC-01 Vasoflex, fixação mecânica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11496751" y="40096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7543800" y="447141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7909560" y="4416552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Painel em grelha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EV3 elemento vazado de concreto 40×40 · peças pretas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11496751" y="4471416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7543800" y="493318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7909560" y="4878324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Oak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BRI-01 em PVC cor Oak · térreo e mezanino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11496751" y="4933188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7543800" y="539496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7909560" y="5340096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Elemento vazado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EV1 concreto 40×40 sobre REV-05 · borda "pixelada" da imagem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1496751" y="5394960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7543800" y="585673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7909560" y="5801868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Totem de acesso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Muro na cor Seazone com logo e nome (briefing) · letras iluminadas como na imagem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1496751" y="5856732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53" name="Google Shape;353;p1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VISTA + ESPECIFICAÇÃO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 posterior e lateral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355" name="Google Shape;35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356" name="Google Shape;3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 (2).jpg" id="358" name="Google Shape;358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1280160"/>
            <a:ext cx="3931920" cy="491032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 txBox="1"/>
          <p:nvPr/>
        </p:nvSpPr>
        <p:spPr>
          <a:xfrm>
            <a:off x="566928" y="1389888"/>
            <a:ext cx="2200046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05 (POSTERIOR)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2403952" y="263975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089399" y="369646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2128717" y="293465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521908" y="3819334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2010761" y="438454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342337" y="335241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033056" y="4089653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709160" y="1298448"/>
            <a:ext cx="201168" cy="201168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 txBox="1"/>
          <p:nvPr/>
        </p:nvSpPr>
        <p:spPr>
          <a:xfrm>
            <a:off x="4983480" y="12801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Status do item: DEFINIDO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709160" y="17007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5074920" y="164592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Piscina da cobertura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Revestimento esverdeado 20×20 (briefing) · guarda-corpo de vidro com perfil "U" inox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677656" y="17007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709160" y="22138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5074920" y="215900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 amadeirado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REV-08 Boreal Natural (Portobello) · mesma leitura da fachada frontal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8677656" y="221386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709160" y="27269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5074920" y="267208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das janelas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BRI-01 em PVC preto e Oak · trilho BRI-02 · BRI-03 veneziana preta nas condensadoras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8677656" y="27269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709160" y="324002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5074920" y="318516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horizontal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Executar no peitoril das janelas, como na imagem · incluir nas elevações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8677656" y="324002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709160" y="375310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5074920" y="369824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Oak do térreo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 3 e Brise 4 Oak no pavimento 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677656" y="375310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709160" y="42661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5074920" y="421132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 escuro lateral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REV-06 cinza escuro, ref. Rock'n Roll (Suvinil)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8677656" y="42661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709160" y="47792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5074920" y="472440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Montantes brancos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REV-07 Branco Puro (Suvinil)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8677656" y="477926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(1).jpg" id="398" name="Google Shape;39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1160" y="1325880"/>
            <a:ext cx="731520" cy="73152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02 (2).jpg" id="399" name="Google Shape;39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0" y="1325880"/>
            <a:ext cx="731520" cy="73152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02 (2).jpg" id="400" name="Google Shape;400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5640" y="1325880"/>
            <a:ext cx="731520" cy="7315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1" name="Google Shape;401;p14"/>
          <p:cNvSpPr txBox="1"/>
          <p:nvPr/>
        </p:nvSpPr>
        <p:spPr>
          <a:xfrm>
            <a:off x="9235440" y="212140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REV-08 · REV-06 · REV-07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9235440" y="2606040"/>
            <a:ext cx="2499055" cy="365760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 txBox="1"/>
          <p:nvPr/>
        </p:nvSpPr>
        <p:spPr>
          <a:xfrm>
            <a:off x="9418320" y="2697480"/>
            <a:ext cx="2133295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NAS QUATRO ELEVAÇÕES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fachadas laterais e posterior repetem a paleta da frontal: REV-05, REV-06, REV-07 e REV-08 + brises. Referências: elevações (pranchas 19 a 22) e detalhes de elevação (pranchas 23 a 25).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09" name="Google Shape;409;p15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VISTA + ESPECIFICAÇÃO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Térreo: acesso, lojas e totem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412" name="Google Shape;4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5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4 (2).jpg" id="414" name="Google Shape;41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280160"/>
            <a:ext cx="6766560" cy="38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5"/>
          <p:cNvSpPr txBox="1"/>
          <p:nvPr/>
        </p:nvSpPr>
        <p:spPr>
          <a:xfrm>
            <a:off x="566928" y="1389888"/>
            <a:ext cx="2770632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04 (TÉRREO E MEZANINO)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3149487" y="437631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2472583" y="403396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995697" y="395788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6534013" y="395788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6780161" y="3311225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4934056" y="323514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3826392" y="2170052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3087950" y="239828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3703319" y="367259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334098" y="2968872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57200" y="5230368"/>
            <a:ext cx="6766560" cy="100584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640080" y="5321808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 · IDENTIDADE DO ACESSO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totem iluminado CANASVIEIRAS SPOT no muro, o cobogó das lojas e os brises Oak do mezanino são a "cara" do térreo no lançamento. O muro recebe pintura na cor Seazone com logo e nome (briefing); o executivo deve detalhar letras, iluminação e fixação conforme a imagem.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7543800" y="1298448"/>
            <a:ext cx="201168" cy="201168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7818120" y="12801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Status do item: DEFINIDO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7543800" y="17007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7909560" y="1645920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Totem CANASVIEIRAS SPOT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Muro na cor Seazone com logo e nome · letras iluminadas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11496751" y="17007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7543800" y="216255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7909560" y="2107692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Rampa de acesso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Guarda-corpo e corrimão em perfil preto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1496751" y="2162556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7543800" y="262432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 txBox="1"/>
          <p:nvPr/>
        </p:nvSpPr>
        <p:spPr>
          <a:xfrm>
            <a:off x="7909560" y="2569464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Paisagismo do passeio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Vegetação alta em frente ao térreo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1496751" y="2624328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7543800" y="308610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 txBox="1"/>
          <p:nvPr/>
        </p:nvSpPr>
        <p:spPr>
          <a:xfrm>
            <a:off x="7909560" y="3031236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Lojas 01 e 02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Vitrines em vidro · esquadria de alumínio preto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1496751" y="3086100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7543800" y="354787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7909560" y="3493008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Elemento vazado EV1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Concreto 40×40 · borda "pixelada" como na imagem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11496751" y="3547872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7543800" y="40096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7909560" y="3954780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Oak do mezanino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 2 em PVC cor Oak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11496751" y="40096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7543800" y="447141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7909560" y="4416552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Painel em grelha EV3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Elemento vazado 40×40 · peças pretas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11496751" y="4471416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7543800" y="493318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7909560" y="4878324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Floreiras AC-01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Vaso · floreira Vasoflex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11496751" y="4933188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7543800" y="539496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7909560" y="5340096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Faixa de laje / marquise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REV-05 cinza médio da imagem (ref. Nanquim)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1496751" y="5394960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7543800" y="585673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7909560" y="5801868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Esquadrias do pavimento 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Alumínio anodizado preto · vidro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1496751" y="5856732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767" name="Google Shape;767;p2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PONTOS DE ATENÇÃO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Fachada: pontos de atenção na obra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769" name="Google Shape;76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770" name="Google Shape;7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 (2).jpg" id="772" name="Google Shape;77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280160"/>
            <a:ext cx="384048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26"/>
          <p:cNvSpPr txBox="1"/>
          <p:nvPr/>
        </p:nvSpPr>
        <p:spPr>
          <a:xfrm>
            <a:off x="530352" y="1353312"/>
            <a:ext cx="1344168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4572000" y="128016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6"/>
          <p:cNvSpPr txBox="1"/>
          <p:nvPr/>
        </p:nvSpPr>
        <p:spPr>
          <a:xfrm>
            <a:off x="4663440" y="1417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6"/>
          <p:cNvSpPr txBox="1"/>
          <p:nvPr/>
        </p:nvSpPr>
        <p:spPr>
          <a:xfrm>
            <a:off x="5074920" y="128016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 SEAZONE no coroamento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Letras-caixa iluminadas no reservatório, como na imagem: prever alimentação e fixação antes do acabamento.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4663440" y="22479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6"/>
          <p:cNvSpPr txBox="1"/>
          <p:nvPr/>
        </p:nvSpPr>
        <p:spPr>
          <a:xfrm>
            <a:off x="5074920" y="211074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horizontal das janelas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Executar o ripado do peitoril como na imagem de lançamento, junto com o brise de correr.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4572000" y="294132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6"/>
          <p:cNvSpPr txBox="1"/>
          <p:nvPr/>
        </p:nvSpPr>
        <p:spPr>
          <a:xfrm>
            <a:off x="4663440" y="3078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6"/>
          <p:cNvSpPr txBox="1"/>
          <p:nvPr/>
        </p:nvSpPr>
        <p:spPr>
          <a:xfrm>
            <a:off x="5074920" y="294132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Elemento vazado EV1–EV4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Peças pretas nos painéis laterais e borda "pixelada" do EV1 sobre as lojas, como na imagem.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6"/>
          <p:cNvSpPr txBox="1"/>
          <p:nvPr/>
        </p:nvSpPr>
        <p:spPr>
          <a:xfrm>
            <a:off x="4663440" y="39090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6"/>
          <p:cNvSpPr txBox="1"/>
          <p:nvPr/>
        </p:nvSpPr>
        <p:spPr>
          <a:xfrm>
            <a:off x="5074920" y="377190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e guarda-corpos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 em PVC preto e Oak e guarda-corpo de vidro com perfil "U" inox (briefing): compatibilizar o executivo.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4572000" y="460248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 txBox="1"/>
          <p:nvPr/>
        </p:nvSpPr>
        <p:spPr>
          <a:xfrm>
            <a:off x="4663440" y="47396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6"/>
          <p:cNvSpPr txBox="1"/>
          <p:nvPr/>
        </p:nvSpPr>
        <p:spPr>
          <a:xfrm>
            <a:off x="5074920" y="460248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Cores e porcelanato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REV-05 cinza médio e Boreal Natural (REV-08) no tom da imagem: painel-teste e peça física antes da compra.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6"/>
          <p:cNvSpPr txBox="1"/>
          <p:nvPr/>
        </p:nvSpPr>
        <p:spPr>
          <a:xfrm>
            <a:off x="4663440" y="55702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6"/>
          <p:cNvSpPr txBox="1"/>
          <p:nvPr/>
        </p:nvSpPr>
        <p:spPr>
          <a:xfrm>
            <a:off x="5074920" y="543306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Pergolado, totem e soleiras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Pergolado metálico preto; muro na cor Seazone com logo e nome iluminados; soleira em granito cinza (SOL-01).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1" name="Pill 5001"/>
          <p:cNvSpPr/>
          <p:nvPr/>
        </p:nvSpPr>
        <p:spPr>
          <a:xfrm>
            <a:off x="10799064" y="158572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2" name="Pill 5002"/>
          <p:cNvSpPr/>
          <p:nvPr/>
        </p:nvSpPr>
        <p:spPr>
          <a:xfrm>
            <a:off x="10799064" y="241630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3" name="Pill 5003"/>
          <p:cNvSpPr/>
          <p:nvPr/>
        </p:nvSpPr>
        <p:spPr>
          <a:xfrm>
            <a:off x="10799064" y="324688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4" name="Pill 5004"/>
          <p:cNvSpPr/>
          <p:nvPr/>
        </p:nvSpPr>
        <p:spPr>
          <a:xfrm>
            <a:off x="10799064" y="407746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5" name="Pill 5005"/>
          <p:cNvSpPr/>
          <p:nvPr/>
        </p:nvSpPr>
        <p:spPr>
          <a:xfrm>
            <a:off x="10799064" y="490804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6" name="Pill 5006"/>
          <p:cNvSpPr/>
          <p:nvPr/>
        </p:nvSpPr>
        <p:spPr>
          <a:xfrm>
            <a:off x="10799064" y="573862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3D"/>
        </a:solidFill>
      </p:bgPr>
    </p:bg>
    <p:spTree>
      <p:nvGrpSpPr>
        <p:cNvPr id="1" name=""/>
        <p:cNvGrpSpPr/>
        <p:nvPr/>
      </p:nvGrpSpPr>
      <p:grpSpPr/>
      <p:pic>
        <p:nvPicPr>
          <p:cNvPr descr="IMAGEM 01.png" id="465" name="Google Shape;46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logo_cover.png" id="466" name="Google Shape;4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0292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6"/>
          <p:cNvSpPr txBox="1"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6"/>
          <p:cNvSpPr txBox="1"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Interiores das áreas comuns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457200" y="4526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Conceito Seazone × decisão  ·  recepção e corredores  ·  rooftop interno  ·  rooftop externo e piscina  ·  pontos de atenção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l_icon_footer.png" id="470" name="Google Shape;4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6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77" name="Google Shape;477;p1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Conceito Seazone × decisão registrada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479" name="Google Shape;47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480" name="Google Shape;4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457200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2.png" id="483" name="Google Shape;483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7"/>
          <p:cNvSpPr txBox="1"/>
          <p:nvPr/>
        </p:nvSpPr>
        <p:spPr>
          <a:xfrm>
            <a:off x="566928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Recepção / hall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 txBox="1"/>
          <p:nvPr/>
        </p:nvSpPr>
        <p:spPr>
          <a:xfrm>
            <a:off x="566928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do logo em Velvet off-white com "Canasvieiras SPOT" e LED no "O", sarrafos e floreiras em MDF Savana, sofá em couro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DECISÃO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 do logo em efeito cimento queimado tom areia (briefing), aplicado em textura Velvet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2749235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RREDOR 01.png" id="488" name="Google Shape;48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9235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7"/>
          <p:cNvSpPr txBox="1"/>
          <p:nvPr/>
        </p:nvSpPr>
        <p:spPr>
          <a:xfrm>
            <a:off x="2858963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Corredores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2858963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claras, sarrafos verticais em MDF Savana, arandelas cilindro com haste de madeira, piso claro 90×90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DECISÃO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Paredes "Outono Gelado" (Coral, briefing) · portas e rodapés PRETOS, como na imagem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5041270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5.png" id="493" name="Google Shape;49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41270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7"/>
          <p:cNvSpPr txBox="1"/>
          <p:nvPr/>
        </p:nvSpPr>
        <p:spPr>
          <a:xfrm>
            <a:off x="5150998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 interno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5150998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Gourmet com pedra moledo, ripado de madeira, armários cinza, bancada Pitaya e pendente de rattan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DECISÃO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Marcenaria em MDF Savana e Cinza Sagrado (memorial de texturas) · pedra moledo na copa (briefing)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7333305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3.png" id="498" name="Google Shape;498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3305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7"/>
          <p:cNvSpPr txBox="1"/>
          <p:nvPr/>
        </p:nvSpPr>
        <p:spPr>
          <a:xfrm>
            <a:off x="7443033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 externo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7443033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Piscina com deck amadeirado, painel do logo em pedra, balanço e pergolado preto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DECISÃO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Piscina esverdeada 20×20 com aquecimento solar · balanço fixado na laje (briefing)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9625340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10.png" id="503" name="Google Shape;503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5340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7"/>
          <p:cNvSpPr txBox="1"/>
          <p:nvPr/>
        </p:nvSpPr>
        <p:spPr>
          <a:xfrm>
            <a:off x="9735068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Projeto de interiores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 txBox="1"/>
          <p:nvPr/>
        </p:nvSpPr>
        <p:spPr>
          <a:xfrm>
            <a:off x="9735068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Imagens Seazone + Memorial de Texturas + Memorial de Interiores (10 - Projeto de Interiores)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DECISÃO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Recepção entregue mobiliada (memorial 31) · marcenaria, bancadas e luminárias pela Decor (memorial 32.1)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457200" y="5230368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Imagens Seazone (10 - Projeto de Interiores / 02 - Imagens) × Memorial Descritivo, Memorial de Texturas, Memorial de Interiores, Briefing e LOG de considerações (00 - Premissas de Projeto).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457200" y="5532120"/>
            <a:ext cx="11277295" cy="7315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 · REGRA PARA A OBRA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Vale o conceito Seazone das áreas comuns. Onde a imagem mostra cimento queimado, aplicar textura Velvet (memorial de texturas). Qualquer troca de material ou mobiliário precisa de validação registrada.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1" name="Pill 5001"/>
          <p:cNvSpPr/>
          <p:nvPr/>
        </p:nvSpPr>
        <p:spPr>
          <a:xfrm>
            <a:off x="566928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2" name="Pill 5002"/>
          <p:cNvSpPr/>
          <p:nvPr/>
        </p:nvSpPr>
        <p:spPr>
          <a:xfrm>
            <a:off x="2858963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3" name="Pill 5003"/>
          <p:cNvSpPr/>
          <p:nvPr/>
        </p:nvSpPr>
        <p:spPr>
          <a:xfrm>
            <a:off x="5150998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4" name="Pill 5004"/>
          <p:cNvSpPr/>
          <p:nvPr/>
        </p:nvSpPr>
        <p:spPr>
          <a:xfrm>
            <a:off x="7443033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5" name="Pill 5005"/>
          <p:cNvSpPr/>
          <p:nvPr/>
        </p:nvSpPr>
        <p:spPr>
          <a:xfrm>
            <a:off x="9735068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00" name="Google Shape;800;p2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RECEPÇÃO E CORREDORES · MOODBOARD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Recepção e corredores: Velvet, Savana e couro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802" name="Google Shape;80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803" name="Google Shape;8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1.png" id="805" name="Google Shape;805;p2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794760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2.png" id="806" name="Google Shape;806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5722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3.png" id="807" name="Google Shape;80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36685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4.png" id="808" name="Google Shape;808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94760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5.png" id="809" name="Google Shape;809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5722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REDOR 01.png" id="810" name="Google Shape;810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36685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REDOR 02.png" id="811" name="Google Shape;811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94760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nta recepção.png" id="812" name="Google Shape;812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65722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REDOR 01.png" id="813" name="Google Shape;813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36685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27"/>
          <p:cNvSpPr/>
          <p:nvPr/>
        </p:nvSpPr>
        <p:spPr>
          <a:xfrm>
            <a:off x="457200" y="3977640"/>
            <a:ext cx="3108960" cy="9144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7"/>
          <p:cNvSpPr txBox="1"/>
          <p:nvPr/>
        </p:nvSpPr>
        <p:spPr>
          <a:xfrm>
            <a:off x="640080" y="406908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REGRA DO MEMORIAL DE TEXTURAS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a imagem mostra cimento queimado, aplicar textura Velvet. Portas e rodapés das áreas comuns: PRETOS, como na imagem.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7"/>
          <p:cNvSpPr txBox="1"/>
          <p:nvPr/>
        </p:nvSpPr>
        <p:spPr>
          <a:xfrm>
            <a:off x="457200" y="1280160"/>
            <a:ext cx="310896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 com painel do logo em efeito cimento queimado tom areia e letreiro "Canasvieiras SPOT" com LED no "O", sarrafos verticais e floreiras em MDF Savana e muita vegetação.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CORREDORES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"Outono Gelado" acetinadas com sarrafos em MDF Savana, arandelas cilindro com haste de madeira e piso claro 90×90.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Sofá em couro, puffs Aurora e Saturno cinza, puff Seat Garden e tapete Debrum Chevron cinza (memorial de interiores).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2.png" id="817" name="Google Shape;817;p2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18" name="Google Shape;818;p27"/>
          <p:cNvSpPr txBox="1"/>
          <p:nvPr/>
        </p:nvSpPr>
        <p:spPr>
          <a:xfrm>
            <a:off x="402336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Parede do logo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2.png" id="819" name="Google Shape;819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61872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0" name="Google Shape;820;p27"/>
          <p:cNvSpPr txBox="1"/>
          <p:nvPr/>
        </p:nvSpPr>
        <p:spPr>
          <a:xfrm>
            <a:off x="1207008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Superquadra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RREDOR 01.png" id="821" name="Google Shape;821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66544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2" name="Google Shape;822;p27"/>
          <p:cNvSpPr txBox="1"/>
          <p:nvPr/>
        </p:nvSpPr>
        <p:spPr>
          <a:xfrm>
            <a:off x="2011680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MDF Savana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2.png" id="823" name="Google Shape;823;p2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871216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4" name="Google Shape;824;p27"/>
          <p:cNvSpPr txBox="1"/>
          <p:nvPr/>
        </p:nvSpPr>
        <p:spPr>
          <a:xfrm>
            <a:off x="2816352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Couro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48" name="Google Shape;848;p29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RECEPÇÃO E CORREDORES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Ficha: recepção, hall e corredores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850" name="Google Shape;85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851" name="Google Shape;8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29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2.png" id="853" name="Google Shape;853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280160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29"/>
          <p:cNvSpPr txBox="1"/>
          <p:nvPr/>
        </p:nvSpPr>
        <p:spPr>
          <a:xfrm>
            <a:off x="548640" y="1371600"/>
            <a:ext cx="16294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RECEPÇÃO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RREDOR 01.png" id="855" name="Google Shape;85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511296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29"/>
          <p:cNvSpPr txBox="1"/>
          <p:nvPr/>
        </p:nvSpPr>
        <p:spPr>
          <a:xfrm>
            <a:off x="548640" y="3602736"/>
            <a:ext cx="16294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CORREDOR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9"/>
          <p:cNvSpPr txBox="1"/>
          <p:nvPr/>
        </p:nvSpPr>
        <p:spPr>
          <a:xfrm>
            <a:off x="457200" y="5760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Recepção entregue mobiliada e equipada (memorial 31). Imagens em 10 - Projeto de Interiores / 02 - Imagens / RECEPÇÃO.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9"/>
          <p:cNvSpPr/>
          <p:nvPr/>
        </p:nvSpPr>
        <p:spPr>
          <a:xfrm>
            <a:off x="4572000" y="128016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 txBox="1"/>
          <p:nvPr/>
        </p:nvSpPr>
        <p:spPr>
          <a:xfrm>
            <a:off x="4681728" y="12801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Painel do logo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9"/>
          <p:cNvSpPr txBox="1"/>
          <p:nvPr/>
        </p:nvSpPr>
        <p:spPr>
          <a:xfrm>
            <a:off x="6126480" y="128016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Efeito cimento queimado tom areia (briefing) em textura Velvet + "Canasvieiras SPOT" preto com LED no "O"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9"/>
          <p:cNvSpPr txBox="1"/>
          <p:nvPr/>
        </p:nvSpPr>
        <p:spPr>
          <a:xfrm>
            <a:off x="4681728" y="18338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9"/>
          <p:cNvSpPr txBox="1"/>
          <p:nvPr/>
        </p:nvSpPr>
        <p:spPr>
          <a:xfrm>
            <a:off x="6126480" y="183388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Recepção: efeito cimento queimado tom areia (briefing) · corredores: "Outono Gelado" (Coral, briefing), acabamento acetinado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9"/>
          <p:cNvSpPr/>
          <p:nvPr/>
        </p:nvSpPr>
        <p:spPr>
          <a:xfrm>
            <a:off x="4572000" y="238760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9"/>
          <p:cNvSpPr txBox="1"/>
          <p:nvPr/>
        </p:nvSpPr>
        <p:spPr>
          <a:xfrm>
            <a:off x="4681728" y="23876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e floreiras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9"/>
          <p:cNvSpPr txBox="1"/>
          <p:nvPr/>
        </p:nvSpPr>
        <p:spPr>
          <a:xfrm>
            <a:off x="6126480" y="238760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Sarrafos verticais em MDF Savana com verniz fosco · floreiras em MDF Savana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9"/>
          <p:cNvSpPr txBox="1"/>
          <p:nvPr/>
        </p:nvSpPr>
        <p:spPr>
          <a:xfrm>
            <a:off x="4681728" y="29413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9"/>
          <p:cNvSpPr txBox="1"/>
          <p:nvPr/>
        </p:nvSpPr>
        <p:spPr>
          <a:xfrm>
            <a:off x="6126480" y="294132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Superquadra Concreto Natural 90×90 retificado (Portobello) · lobby e corredores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9"/>
          <p:cNvSpPr/>
          <p:nvPr/>
        </p:nvSpPr>
        <p:spPr>
          <a:xfrm>
            <a:off x="4572000" y="349504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9"/>
          <p:cNvSpPr txBox="1"/>
          <p:nvPr/>
        </p:nvSpPr>
        <p:spPr>
          <a:xfrm>
            <a:off x="4681728" y="349504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9"/>
          <p:cNvSpPr txBox="1"/>
          <p:nvPr/>
        </p:nvSpPr>
        <p:spPr>
          <a:xfrm>
            <a:off x="6126480" y="349504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Recepção: gesso acartonado com pé-direito duplo (briefing) · corredores: forro modular mineral (memorial 15.2)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9"/>
          <p:cNvSpPr txBox="1"/>
          <p:nvPr/>
        </p:nvSpPr>
        <p:spPr>
          <a:xfrm>
            <a:off x="4681728" y="40487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9"/>
          <p:cNvSpPr txBox="1"/>
          <p:nvPr/>
        </p:nvSpPr>
        <p:spPr>
          <a:xfrm>
            <a:off x="6126480" y="404876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PRETO, em esmalte (memorial de texturas), como na imagem de lançamento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4572000" y="460248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9"/>
          <p:cNvSpPr txBox="1"/>
          <p:nvPr/>
        </p:nvSpPr>
        <p:spPr>
          <a:xfrm>
            <a:off x="4681728" y="46024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9"/>
          <p:cNvSpPr txBox="1"/>
          <p:nvPr/>
        </p:nvSpPr>
        <p:spPr>
          <a:xfrm>
            <a:off x="6126480" y="460248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Sofá em couro · puffs Aurora e Saturno cinza · puff Seat Garden · tapete Debrum Chevron cinza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9"/>
          <p:cNvSpPr txBox="1"/>
          <p:nvPr/>
        </p:nvSpPr>
        <p:spPr>
          <a:xfrm>
            <a:off x="4681728" y="51562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9"/>
          <p:cNvSpPr txBox="1"/>
          <p:nvPr/>
        </p:nvSpPr>
        <p:spPr>
          <a:xfrm>
            <a:off x="6126480" y="515620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Portas de acesso às unidades nos corredores: PRETAS, como na imagem · bandeira até o forro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4572000" y="570992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9"/>
          <p:cNvSpPr txBox="1"/>
          <p:nvPr/>
        </p:nvSpPr>
        <p:spPr>
          <a:xfrm>
            <a:off x="4681728" y="57099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9"/>
          <p:cNvSpPr txBox="1"/>
          <p:nvPr/>
        </p:nvSpPr>
        <p:spPr>
          <a:xfrm>
            <a:off x="6126480" y="570992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Trilho com spots direcionáveis em alumínio preto · arandelas de corredor: cilindro off-white + haste Savana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88" name="Google Shape;888;p3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· MOODBOARD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Rooftop: integração, gourmet e piscina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890" name="Google Shape;89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891" name="Google Shape;8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19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5.png" id="893" name="Google Shape;893;p3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794760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6.png" id="894" name="Google Shape;89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5722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7.png" id="895" name="Google Shape;89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36685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8.png" id="896" name="Google Shape;896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94760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9.png" id="897" name="Google Shape;897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5722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0.png" id="898" name="Google Shape;898;p3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36685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1.png" id="899" name="Google Shape;899;p3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94760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2.png" id="900" name="Google Shape;900;p3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65722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03.png" id="901" name="Google Shape;901;p3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36685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0"/>
          <p:cNvSpPr txBox="1"/>
          <p:nvPr/>
        </p:nvSpPr>
        <p:spPr>
          <a:xfrm>
            <a:off x="457200" y="1280160"/>
            <a:ext cx="310896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Gourmet e copa com pedra moledo, ripados de madeira, armários cinza e pendente de rattan; deck amadeirado com piscina e painel do logo em pedra.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REGRA DE TEXTURA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Onde a imagem mostra cimento queimado: textura Velvet cinza concreto (memorial de texturas).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Cadeira Mara bouclé cinza, poltrona em alumínio preto, banqueta Clarice, balanço Acapulco e espreguiçadeira em aço preto.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5.png" id="903" name="Google Shape;903;p3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4" name="Google Shape;904;p30"/>
          <p:cNvSpPr txBox="1"/>
          <p:nvPr/>
        </p:nvSpPr>
        <p:spPr>
          <a:xfrm>
            <a:off x="402336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Pedra moledo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4.png" id="905" name="Google Shape;905;p3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61872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6" name="Google Shape;906;p30"/>
          <p:cNvSpPr txBox="1"/>
          <p:nvPr/>
        </p:nvSpPr>
        <p:spPr>
          <a:xfrm>
            <a:off x="1207008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Velvet cinza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5.png" id="907" name="Google Shape;907;p3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66544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8" name="Google Shape;908;p30"/>
          <p:cNvSpPr txBox="1"/>
          <p:nvPr/>
        </p:nvSpPr>
        <p:spPr>
          <a:xfrm>
            <a:off x="2011680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Ripado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1.png" id="909" name="Google Shape;909;p3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871216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10" name="Google Shape;910;p30"/>
          <p:cNvSpPr txBox="1"/>
          <p:nvPr/>
        </p:nvSpPr>
        <p:spPr>
          <a:xfrm>
            <a:off x="2816352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Deck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938" name="Google Shape;938;p3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INTERNO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Ficha de premissas: gourmet, copa e mini market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940" name="Google Shape;94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941" name="Google Shape;9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32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5.png" id="943" name="Google Shape;943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280160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32"/>
          <p:cNvSpPr txBox="1"/>
          <p:nvPr/>
        </p:nvSpPr>
        <p:spPr>
          <a:xfrm>
            <a:off x="548640" y="1371600"/>
            <a:ext cx="2128723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SEAZONE · GOURMET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9.png" id="945" name="Google Shape;94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511296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32"/>
          <p:cNvSpPr txBox="1"/>
          <p:nvPr/>
        </p:nvSpPr>
        <p:spPr>
          <a:xfrm>
            <a:off x="548640" y="3602736"/>
            <a:ext cx="1058875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MARKET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2"/>
          <p:cNvSpPr txBox="1"/>
          <p:nvPr/>
        </p:nvSpPr>
        <p:spPr>
          <a:xfrm>
            <a:off x="457200" y="5760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Pedra branca estilo moledo na copa (briefing) e marcenaria em MDF Savana e Cinza Sagrado (memorial de texturas).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4572000" y="128016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2"/>
          <p:cNvSpPr txBox="1"/>
          <p:nvPr/>
        </p:nvSpPr>
        <p:spPr>
          <a:xfrm>
            <a:off x="4681728" y="12801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Painéis cinza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2"/>
          <p:cNvSpPr txBox="1"/>
          <p:nvPr/>
        </p:nvSpPr>
        <p:spPr>
          <a:xfrm>
            <a:off x="6126480" y="128016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cinza médio (briefing) em textura Velvet cinza concreto (memorial de texturas)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4681728" y="18338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Paredes internas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6126480" y="183388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fosco aveludado lavável cinza claro · Suvinil "Cromo" / Coral "Cinza Sublime"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4572000" y="238760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2"/>
          <p:cNvSpPr txBox="1"/>
          <p:nvPr/>
        </p:nvSpPr>
        <p:spPr>
          <a:xfrm>
            <a:off x="4681728" y="23876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Pedra da copa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2"/>
          <p:cNvSpPr txBox="1"/>
          <p:nvPr/>
        </p:nvSpPr>
        <p:spPr>
          <a:xfrm>
            <a:off x="6126480" y="238760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Pedra branca estilo moledo, irregular, junta seca (briefing e memorial de texturas)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2"/>
          <p:cNvSpPr txBox="1"/>
          <p:nvPr/>
        </p:nvSpPr>
        <p:spPr>
          <a:xfrm>
            <a:off x="4681728" y="29413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Piso interno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2"/>
          <p:cNvSpPr txBox="1"/>
          <p:nvPr/>
        </p:nvSpPr>
        <p:spPr>
          <a:xfrm>
            <a:off x="6126480" y="294132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90×90 natural/acetinado (briefing)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2"/>
          <p:cNvSpPr/>
          <p:nvPr/>
        </p:nvSpPr>
        <p:spPr>
          <a:xfrm>
            <a:off x="4572000" y="349504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2"/>
          <p:cNvSpPr txBox="1"/>
          <p:nvPr/>
        </p:nvSpPr>
        <p:spPr>
          <a:xfrm>
            <a:off x="4681728" y="349504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Marcenaria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2"/>
          <p:cNvSpPr txBox="1"/>
          <p:nvPr/>
        </p:nvSpPr>
        <p:spPr>
          <a:xfrm>
            <a:off x="6126480" y="349504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Ripados e prateleiras em MDF Savana · armários do gourmet e mini market em MDF Cinza Sagrado (memorial de texturas)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2"/>
          <p:cNvSpPr txBox="1"/>
          <p:nvPr/>
        </p:nvSpPr>
        <p:spPr>
          <a:xfrm>
            <a:off x="4681728" y="40487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Bancada da copa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2"/>
          <p:cNvSpPr txBox="1"/>
          <p:nvPr/>
        </p:nvSpPr>
        <p:spPr>
          <a:xfrm>
            <a:off x="6126480" y="404876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Granito Pitaya · cuba inox · torneira Gali bica alta (Docol)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2"/>
          <p:cNvSpPr/>
          <p:nvPr/>
        </p:nvSpPr>
        <p:spPr>
          <a:xfrm>
            <a:off x="4572000" y="460248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2"/>
          <p:cNvSpPr txBox="1"/>
          <p:nvPr/>
        </p:nvSpPr>
        <p:spPr>
          <a:xfrm>
            <a:off x="4681728" y="46024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2"/>
          <p:cNvSpPr txBox="1"/>
          <p:nvPr/>
        </p:nvSpPr>
        <p:spPr>
          <a:xfrm>
            <a:off x="6126480" y="460248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Forro modular no rooftop e no mini market (briefing)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2"/>
          <p:cNvSpPr txBox="1"/>
          <p:nvPr/>
        </p:nvSpPr>
        <p:spPr>
          <a:xfrm>
            <a:off x="4681728" y="51562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2"/>
          <p:cNvSpPr txBox="1"/>
          <p:nvPr/>
        </p:nvSpPr>
        <p:spPr>
          <a:xfrm>
            <a:off x="6126480" y="515620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Cadeira Mara bouclé cinza · banqueta Clarice · poltrona em alumínio preto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2"/>
          <p:cNvSpPr/>
          <p:nvPr/>
        </p:nvSpPr>
        <p:spPr>
          <a:xfrm>
            <a:off x="4572000" y="570992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2"/>
          <p:cNvSpPr txBox="1"/>
          <p:nvPr/>
        </p:nvSpPr>
        <p:spPr>
          <a:xfrm>
            <a:off x="4681728" y="57099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2"/>
          <p:cNvSpPr txBox="1"/>
          <p:nvPr/>
        </p:nvSpPr>
        <p:spPr>
          <a:xfrm>
            <a:off x="6126480" y="570992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Spots de sobrepor pretos · pendente Bulan em rattan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7" name="Google Shape;1007;p3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EXTERNO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Ficha de premissas: rooftop externo e piscina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009" name="Google Shape;100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010" name="Google Shape;10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3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3.png" id="1012" name="Google Shape;1012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280160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34"/>
          <p:cNvSpPr txBox="1"/>
          <p:nvPr/>
        </p:nvSpPr>
        <p:spPr>
          <a:xfrm>
            <a:off x="548640" y="1371600"/>
            <a:ext cx="1558137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PISCINA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2.png" id="1014" name="Google Shape;1014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511296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34"/>
          <p:cNvSpPr txBox="1"/>
          <p:nvPr/>
        </p:nvSpPr>
        <p:spPr>
          <a:xfrm>
            <a:off x="548640" y="3602736"/>
            <a:ext cx="205740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BALANÇO E LOGO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 txBox="1"/>
          <p:nvPr/>
        </p:nvSpPr>
        <p:spPr>
          <a:xfrm>
            <a:off x="457200" y="5760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Painel do logo em pedra moledo com "Canasvieiras SPOT"; floreira e banco em alvenaria com a mesma pedra (LOG Ind. 02).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4572000" y="128016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4"/>
          <p:cNvSpPr txBox="1"/>
          <p:nvPr/>
        </p:nvSpPr>
        <p:spPr>
          <a:xfrm>
            <a:off x="4681728" y="12801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Piscina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 txBox="1"/>
          <p:nvPr/>
        </p:nvSpPr>
        <p:spPr>
          <a:xfrm>
            <a:off x="6126480" y="128016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Revestimento em acabamento esverdeado 20×20 (briefing) · executivo indica Barlavento Blanc: compatibilizar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4"/>
          <p:cNvSpPr txBox="1"/>
          <p:nvPr/>
        </p:nvSpPr>
        <p:spPr>
          <a:xfrm>
            <a:off x="4681728" y="18338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Borda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4"/>
          <p:cNvSpPr txBox="1"/>
          <p:nvPr/>
        </p:nvSpPr>
        <p:spPr>
          <a:xfrm>
            <a:off x="6126480" y="183388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Acabamento da borda conforme a imagem de lançamento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4572000" y="238760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4"/>
          <p:cNvSpPr txBox="1"/>
          <p:nvPr/>
        </p:nvSpPr>
        <p:spPr>
          <a:xfrm>
            <a:off x="4681728" y="23876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Aquecimento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4"/>
          <p:cNvSpPr txBox="1"/>
          <p:nvPr/>
        </p:nvSpPr>
        <p:spPr>
          <a:xfrm>
            <a:off x="6126480" y="238760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Solar (briefing e memorial)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4"/>
          <p:cNvSpPr txBox="1"/>
          <p:nvPr/>
        </p:nvSpPr>
        <p:spPr>
          <a:xfrm>
            <a:off x="4681728" y="29413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Deck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4"/>
          <p:cNvSpPr txBox="1"/>
          <p:nvPr/>
        </p:nvSpPr>
        <p:spPr>
          <a:xfrm>
            <a:off x="6126480" y="294132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que imita madeira 120×20, antiderrapante (briefing), sobre piso elevado (prancha 44)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4"/>
          <p:cNvSpPr/>
          <p:nvPr/>
        </p:nvSpPr>
        <p:spPr>
          <a:xfrm>
            <a:off x="4572000" y="349504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4"/>
          <p:cNvSpPr txBox="1"/>
          <p:nvPr/>
        </p:nvSpPr>
        <p:spPr>
          <a:xfrm>
            <a:off x="4681728" y="349504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Pedra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4"/>
          <p:cNvSpPr txBox="1"/>
          <p:nvPr/>
        </p:nvSpPr>
        <p:spPr>
          <a:xfrm>
            <a:off x="6126480" y="349504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Pedra branca estilo moledo na parede do balanço e lateral · floreira e banco com a mesma pedra (LOG Ind. 02)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4"/>
          <p:cNvSpPr txBox="1"/>
          <p:nvPr/>
        </p:nvSpPr>
        <p:spPr>
          <a:xfrm>
            <a:off x="4681728" y="40487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Painel do logo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6126480" y="404876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"Canasvieiras SPOT" preto com LED no "O" sobre a pedra · ponto com interruptor no logo (briefing)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4572000" y="460248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4"/>
          <p:cNvSpPr txBox="1"/>
          <p:nvPr/>
        </p:nvSpPr>
        <p:spPr>
          <a:xfrm>
            <a:off x="4681728" y="46024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Balanço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6126480" y="460248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Instalado diretamente na laje (briefing)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4"/>
          <p:cNvSpPr txBox="1"/>
          <p:nvPr/>
        </p:nvSpPr>
        <p:spPr>
          <a:xfrm>
            <a:off x="4681728" y="51562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6126480" y="515620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Vidro incolor com perfil "U" inox, sem perfis de alumínio (briefing)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4572000" y="570992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4"/>
          <p:cNvSpPr txBox="1"/>
          <p:nvPr/>
        </p:nvSpPr>
        <p:spPr>
          <a:xfrm>
            <a:off x="4681728" y="57099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4"/>
          <p:cNvSpPr txBox="1"/>
          <p:nvPr/>
        </p:nvSpPr>
        <p:spPr>
          <a:xfrm>
            <a:off x="6126480" y="5709920"/>
            <a:ext cx="5468112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Balanço Acapulco · espreguiçadeira em aço preto · banqueta Clarice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767" name="Google Shape;767;p2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PONTOS DE ATENÇÃO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Áreas comuns: pontos de atenção na obra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769" name="Google Shape;76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770" name="Google Shape;7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M 01.png" id="772" name="Google Shape;77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280160"/>
            <a:ext cx="384048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26"/>
          <p:cNvSpPr txBox="1"/>
          <p:nvPr/>
        </p:nvSpPr>
        <p:spPr>
          <a:xfrm>
            <a:off x="530352" y="1353312"/>
            <a:ext cx="1486814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ROOFTOP · BALANÇO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4572000" y="128016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6"/>
          <p:cNvSpPr txBox="1"/>
          <p:nvPr/>
        </p:nvSpPr>
        <p:spPr>
          <a:xfrm>
            <a:off x="4663440" y="1417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6"/>
          <p:cNvSpPr txBox="1"/>
          <p:nvPr/>
        </p:nvSpPr>
        <p:spPr>
          <a:xfrm>
            <a:off x="5074920" y="128016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Paredes das áreas comuns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 em cimento queimado tom areia, rooftop cinza médio e corredores "Outono Gelado" (briefing).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4663440" y="22479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6"/>
          <p:cNvSpPr txBox="1"/>
          <p:nvPr/>
        </p:nvSpPr>
        <p:spPr>
          <a:xfrm>
            <a:off x="5074920" y="211074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 e rodapés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PRETOS nas áreas comuns, como na imagem de lançamento: ajustar o executivo (ROD-01) antes da compra.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4572000" y="294132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6"/>
          <p:cNvSpPr txBox="1"/>
          <p:nvPr/>
        </p:nvSpPr>
        <p:spPr>
          <a:xfrm>
            <a:off x="4663440" y="3078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6"/>
          <p:cNvSpPr txBox="1"/>
          <p:nvPr/>
        </p:nvSpPr>
        <p:spPr>
          <a:xfrm>
            <a:off x="5074920" y="294132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Revestimento da piscina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Acabamento esverdeado 20×20 (briefing), borda conforme a imagem: compatibilizar o executivo.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6"/>
          <p:cNvSpPr txBox="1"/>
          <p:nvPr/>
        </p:nvSpPr>
        <p:spPr>
          <a:xfrm>
            <a:off x="4663440" y="39090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6"/>
          <p:cNvSpPr txBox="1"/>
          <p:nvPr/>
        </p:nvSpPr>
        <p:spPr>
          <a:xfrm>
            <a:off x="5074920" y="377190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Balanço do rooftop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Fixação diretamente na laje (briefing): prever o reforço na laje antes do revestimento.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4572000" y="460248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 txBox="1"/>
          <p:nvPr/>
        </p:nvSpPr>
        <p:spPr>
          <a:xfrm>
            <a:off x="4663440" y="47396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6"/>
          <p:cNvSpPr txBox="1"/>
          <p:nvPr/>
        </p:nvSpPr>
        <p:spPr>
          <a:xfrm>
            <a:off x="5074920" y="460248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Deck do rooftop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que imita madeira 120×20, antiderrapante, sobre piso elevado (prancha 44).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6"/>
          <p:cNvSpPr txBox="1"/>
          <p:nvPr/>
        </p:nvSpPr>
        <p:spPr>
          <a:xfrm>
            <a:off x="4663440" y="55702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6"/>
          <p:cNvSpPr txBox="1"/>
          <p:nvPr/>
        </p:nvSpPr>
        <p:spPr>
          <a:xfrm>
            <a:off x="5074920" y="543306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Marcenaria do rooftop e da recepção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MDF Savana nos ripados e prateleiras e MDF Cinza Sagrado nos armários (memorial de texturas).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1" name="Pill 5001"/>
          <p:cNvSpPr/>
          <p:nvPr/>
        </p:nvSpPr>
        <p:spPr>
          <a:xfrm>
            <a:off x="10799064" y="158572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2" name="Pill 5002"/>
          <p:cNvSpPr/>
          <p:nvPr/>
        </p:nvSpPr>
        <p:spPr>
          <a:xfrm>
            <a:off x="10799064" y="241630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3" name="Pill 5003"/>
          <p:cNvSpPr/>
          <p:nvPr/>
        </p:nvSpPr>
        <p:spPr>
          <a:xfrm>
            <a:off x="10799064" y="324688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4" name="Pill 5004"/>
          <p:cNvSpPr/>
          <p:nvPr/>
        </p:nvSpPr>
        <p:spPr>
          <a:xfrm>
            <a:off x="10799064" y="407746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5" name="Pill 5005"/>
          <p:cNvSpPr/>
          <p:nvPr/>
        </p:nvSpPr>
        <p:spPr>
          <a:xfrm>
            <a:off x="10799064" y="490804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6" name="Pill 5006"/>
          <p:cNvSpPr/>
          <p:nvPr/>
        </p:nvSpPr>
        <p:spPr>
          <a:xfrm>
            <a:off x="10799064" y="573862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3D"/>
        </a:solidFill>
      </p:bgPr>
    </p:bg>
    <p:spTree>
      <p:nvGrpSpPr>
        <p:cNvPr id="1" name=""/>
        <p:cNvGrpSpPr/>
        <p:nvPr/>
      </p:nvGrpSpPr>
      <p:grpSpPr/>
      <p:pic>
        <p:nvPicPr>
          <p:cNvPr descr="IMAGEM 05.png" id="1048" name="Google Shape;1048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logo_cover.png" id="1049" name="Google Shape;10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0292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35"/>
          <p:cNvSpPr txBox="1"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FC6058"/>
                </a:solidFill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5"/>
          <p:cNvSpPr txBox="1"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Materiais de interiores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5"/>
          <p:cNvSpPr txBox="1"/>
          <p:nvPr/>
        </p:nvSpPr>
        <p:spPr>
          <a:xfrm>
            <a:off x="457200" y="4526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Áreas comuns · mapa de materialidade T13–T24: amostras tiradas das imagens Seazone para compra e aprovação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l_icon_footer.png" id="1053" name="Google Shape;105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35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60" name="Google Shape;1060;p3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DAS ÁREAS COMUNS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pisos e paredes (1/3)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062" name="Google Shape;106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063" name="Google Shape;10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3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6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interiores Seazone. Referência visual, não substitui amostra física. Especificação: Memorial Descritivo, Memorial de Texturas, Memorial de Interiores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6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2.png" id="1067" name="Google Shape;1067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68" name="Google Shape;1068;p36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6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Porcelanato Superquadra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Lobby, recepção, corredores, WC comuns e terraços da cobertura.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Superquadra Concreto Natural 90×90 retificado (Portobello) · memorial 12.4 e 30.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Peças grandes: argamassa também no tardoz; alinhar paginação hall × circulação.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6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4.png" id="1071" name="Google Shape;107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2" name="Google Shape;1072;p36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6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 Velvet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Onde a imagem mostra cimento queimado: painel do logo da recepção e painéis cinza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Suvinil Efeito Veludo / Coral Design Efeito Veludo · tom areia (recepção) e cinza concreto (rooftop).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Aprovar amostra contra o render antes de aplicar em área grande.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6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RREDOR 01.png" id="1075" name="Google Shape;1075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6" name="Google Shape;1076;p36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6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Pintura das paredes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Corredores, recepção e paredes internas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Corredores: "Outono Gelado" (Coral) acetinado · recepção: efeito cimento queimado tom areia · rooftop: cinza médio (briefing).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Corredores em "Outono Gelado" (Coral, briefing); recepção em efeito cimento queimado tom areia.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6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RREDOR 01.png" id="1079" name="Google Shape;1079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0" name="Google Shape;1080;p36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Recepção, corredores e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Rodapé em esmalte PRETO (memorial de texturas), como na imagem de lançamento.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PRETO, como na imagem de lançamento: ajustar o ROD-01 do executivo antes da compra.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60" name="Google Shape;1060;p3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DAS ÁREAS COMUNS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madeira e pedra (2/3)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062" name="Google Shape;106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063" name="Google Shape;10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3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6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interiores Seazone. Referência visual, não substitui amostra física. Especificação: Memorial Descritivo, Memorial de Texturas, Memorial de Interiores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6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RREDOR 01.png" id="1067" name="Google Shape;1067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68" name="Google Shape;1068;p36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6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MDF Savana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Sarrafos dos corredores, ripados e floreiras da recepção, ripados e prateleiras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MDF Savana (amadeirado claro) com verniz fosco (memorial de texturas).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Fixar após a pintura final; prever ponto das arandelas no eixo dos sarrafos.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6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5.png" id="1071" name="Google Shape;107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2" name="Google Shape;1072;p36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6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MDF Cinza Sagrado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Armários do gourmet e do mini market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MDF Cinza Sagrado (memorial de texturas).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Conferir o padrão com a amostra do fornecedor antes do pedido.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6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5.png" id="1075" name="Google Shape;1075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6" name="Google Shape;1076;p36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6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Pedra moledo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do logo e parede do balanço, backsplash da copa, floreira e banco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Pedra branca estilo moledo, irregular, junta seca (briefing e memorial de texturas).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LOG Ind. 02: floreira e banco em alvenaria revestidos com a mesma pedra.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6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5.png" id="1079" name="Google Shape;1079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0" name="Google Shape;1080;p36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Granito Pitaya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Bancada da copa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Granito Pitaya · cuba inox · torneira Gali bica alta (Docol).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Bancada não instalada pela construtora (memorial 32.1): deixar pontos na cota do projeto.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60" name="Google Shape;1060;p3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DAS ÁREAS COMUNS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rooftop externo e identidade (3/3)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vy_tpl_logo_cover.png" id="1062" name="Google Shape;106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icon_footer.png" id="1063" name="Google Shape;10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3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6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interiores Seazone. Referência visual, não substitui amostra física. Especificação: Memorial Descritivo, Memorial de Texturas, Memorial de Interiores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6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1.png" id="1067" name="Google Shape;1067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68" name="Google Shape;1068;p36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6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Deck do rooftop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Deck aberto da cobertura e entorno da piscina.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que imita madeira 120×20 (briefing) sobre piso elevado (prancha 44).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Peça antiderrapante, paginação longitudinal como na imagem; conferir caimento para os ralos.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6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1.png" id="1071" name="Google Shape;107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2" name="Google Shape;1072;p36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6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Revestimento da piscina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Piscina aquecida da cobertura.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Revestimento em acabamento esverdeado 20×20 (briefing).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Executivo indica Barlavento Blanc: compatibilizar para o esverdeado 20×20 antes do pedido.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6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2.png" id="1075" name="Google Shape;1075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6" name="Google Shape;1076;p36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6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Letreiros das áreas comuns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da recepção (sobre o cimento queimado tom areia) e painel em pedra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"Canasvieiras SPOT" em letras pretas com LED no "O" (memorial de texturas).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Briefing: ponto para logo iluminado com interruptor no logo; prever alimentação embutida antes do revestimento.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6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M 05.png" id="1079" name="Google Shape;1079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0" name="Google Shape;1080;p36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Luminárias decorativas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Corredores (arandelas) e gourmet do rooftop (pendentes).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Arandela cilindro off-white com haste em Savana · pendente Bulan em rattan · spots de sobrepor pretos.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Escopo Decor (memorial 32.1): deixar pontos elétricos no eixo dos sarrafos e sobre a mesa.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3D"/>
        </a:solidFill>
      </p:bgPr>
    </p:bg>
    <p:spTree>
      <p:nvGrpSpPr>
        <p:cNvPr id="1" name=""/>
        <p:cNvGrpSpPr/>
        <p:nvPr/>
      </p:nvGrpSpPr>
      <p:grpSpPr/>
      <p:pic>
        <p:nvPicPr>
          <p:cNvPr descr="03 (2).jpg" id="1168" name="Google Shape;1168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logo_cover.png" id="1169" name="Google Shape;11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4864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40"/>
          <p:cNvSpPr txBox="1"/>
          <p:nvPr/>
        </p:nvSpPr>
        <p:spPr>
          <a:xfrm>
            <a:off x="457200" y="27432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CANASVIEIRAS SPOT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0"/>
          <p:cNvSpPr txBox="1"/>
          <p:nvPr/>
        </p:nvSpPr>
        <p:spPr>
          <a:xfrm>
            <a:off x="457200" y="306324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 de Premissas de Fachada e Interiores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0"/>
          <p:cNvSpPr txBox="1"/>
          <p:nvPr/>
        </p:nvSpPr>
        <p:spPr>
          <a:xfrm>
            <a:off x="457200" y="43434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Lançamento × Executivo  ·  Seazone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l_icon_footer.png" id="1173" name="Google Shape;117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40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CANASVIEIRAS SPOT  ·  BOOK DE PREMISSAS DE FACHADA E INTERIORES  ·  27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