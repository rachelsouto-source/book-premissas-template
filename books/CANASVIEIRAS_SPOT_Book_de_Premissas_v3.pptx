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Bianca Carina Valente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6" Type="http://schemas.openxmlformats.org/officeDocument/2006/relationships/image" Target="../media/image1.png"/><Relationship Id="rId7" Type="http://schemas.openxmlformats.org/officeDocument/2006/relationships/image" Target="../media/image10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7" Type="http://schemas.openxmlformats.org/officeDocument/2006/relationships/image" Target="../media/image19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23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Relationship Id="rId8" Type="http://schemas.openxmlformats.org/officeDocument/2006/relationships/image" Target="../media/image22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30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32.jpg"/><Relationship Id="rId5" Type="http://schemas.openxmlformats.org/officeDocument/2006/relationships/image" Target="../media/image35.jpg"/><Relationship Id="rId6" Type="http://schemas.openxmlformats.org/officeDocument/2006/relationships/image" Target="../media/image37.jpg"/><Relationship Id="rId7" Type="http://schemas.openxmlformats.org/officeDocument/2006/relationships/image" Target="../media/image40.jpg"/><Relationship Id="rId8" Type="http://schemas.openxmlformats.org/officeDocument/2006/relationships/image" Target="../media/image41.jpg"/><Relationship Id="rId10" Type="http://schemas.openxmlformats.org/officeDocument/2006/relationships/image" Target="../media/image3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43.jpg"/><Relationship Id="rId5" Type="http://schemas.openxmlformats.org/officeDocument/2006/relationships/image" Target="../media/image44.jpg"/><Relationship Id="rId6" Type="http://schemas.openxmlformats.org/officeDocument/2006/relationships/image" Target="../media/image45.jpg"/><Relationship Id="rId7" Type="http://schemas.openxmlformats.org/officeDocument/2006/relationships/image" Target="../media/image46.jpg"/><Relationship Id="rId8" Type="http://schemas.openxmlformats.org/officeDocument/2006/relationships/image" Target="../media/image48.jpg"/><Relationship Id="rId10" Type="http://schemas.openxmlformats.org/officeDocument/2006/relationships/image" Target="../media/image42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5" Type="http://schemas.openxmlformats.org/officeDocument/2006/relationships/image" Target="../media/image49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20.jpg"/><Relationship Id="rId8" Type="http://schemas.openxmlformats.org/officeDocument/2006/relationships/image" Target="../media/image50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59.jpg"/><Relationship Id="rId5" Type="http://schemas.openxmlformats.org/officeDocument/2006/relationships/image" Target="../media/image60.jpg"/><Relationship Id="rId6" Type="http://schemas.openxmlformats.org/officeDocument/2006/relationships/image" Target="../media/image61.jpg"/><Relationship Id="rId8" Type="http://schemas.openxmlformats.org/officeDocument/2006/relationships/image" Target="../media/image56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63.jpg"/><Relationship Id="rId5" Type="http://schemas.openxmlformats.org/officeDocument/2006/relationships/image" Target="../media/image65.jpg"/><Relationship Id="rId6" Type="http://schemas.openxmlformats.org/officeDocument/2006/relationships/image" Target="../media/image66.jpg"/><Relationship Id="rId8" Type="http://schemas.openxmlformats.org/officeDocument/2006/relationships/image" Target="../media/image62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5" Type="http://schemas.openxmlformats.org/officeDocument/2006/relationships/image" Target="../media/image67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20.jpg"/><Relationship Id="rId5" Type="http://schemas.openxmlformats.org/officeDocument/2006/relationships/image" Target="../media/image69.jpg"/><Relationship Id="rId6" Type="http://schemas.openxmlformats.org/officeDocument/2006/relationships/image" Target="../media/image70.jpg"/><Relationship Id="rId8" Type="http://schemas.openxmlformats.org/officeDocument/2006/relationships/image" Target="../media/image68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5" Type="http://schemas.openxmlformats.org/officeDocument/2006/relationships/image" Target="../media/image74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5" Type="http://schemas.openxmlformats.org/officeDocument/2006/relationships/image" Target="../media/image75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79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83.jpg"/><Relationship Id="rId5" Type="http://schemas.openxmlformats.org/officeDocument/2006/relationships/image" Target="../media/image84.jpg"/><Relationship Id="rId6" Type="http://schemas.openxmlformats.org/officeDocument/2006/relationships/image" Target="../media/image85.jpg"/><Relationship Id="rId7" Type="http://schemas.openxmlformats.org/officeDocument/2006/relationships/image" Target="../media/image86.jpg"/><Relationship Id="rId9" Type="http://schemas.openxmlformats.org/officeDocument/2006/relationships/image" Target="../media/image80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97.jpg"/><Relationship Id="rId5" Type="http://schemas.openxmlformats.org/officeDocument/2006/relationships/image" Target="../media/image99.jpg"/><Relationship Id="rId6" Type="http://schemas.openxmlformats.org/officeDocument/2006/relationships/image" Target="../media/image103.jpg"/><Relationship Id="rId7" Type="http://schemas.openxmlformats.org/officeDocument/2006/relationships/image" Target="../media/image104.jpg"/><Relationship Id="rId8" Type="http://schemas.openxmlformats.org/officeDocument/2006/relationships/image" Target="../media/image106.jpg"/><Relationship Id="rId9" Type="http://schemas.openxmlformats.org/officeDocument/2006/relationships/image" Target="../media/image107.jpg"/><Relationship Id="rId10" Type="http://schemas.openxmlformats.org/officeDocument/2006/relationships/image" Target="../media/image108.jpg"/><Relationship Id="rId11" Type="http://schemas.openxmlformats.org/officeDocument/2006/relationships/image" Target="../media/image110.jpg"/><Relationship Id="rId12" Type="http://schemas.openxmlformats.org/officeDocument/2006/relationships/image" Target="../media/image111.jpg"/><Relationship Id="rId13" Type="http://schemas.openxmlformats.org/officeDocument/2006/relationships/image" Target="../media/image112.jpg"/><Relationship Id="rId14" Type="http://schemas.openxmlformats.org/officeDocument/2006/relationships/image" Target="../media/image114.jpg"/><Relationship Id="rId15" Type="http://schemas.openxmlformats.org/officeDocument/2006/relationships/image" Target="../media/image116.jpg"/><Relationship Id="rId17" Type="http://schemas.openxmlformats.org/officeDocument/2006/relationships/image" Target="../media/image96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122.jpg"/><Relationship Id="rId6" Type="http://schemas.openxmlformats.org/officeDocument/2006/relationships/image" Target="../media/image118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125.jpg"/><Relationship Id="rId5" Type="http://schemas.openxmlformats.org/officeDocument/2006/relationships/image" Target="../media/image126.jpg"/><Relationship Id="rId6" Type="http://schemas.openxmlformats.org/officeDocument/2006/relationships/image" Target="../media/image127.jpg"/><Relationship Id="rId7" Type="http://schemas.openxmlformats.org/officeDocument/2006/relationships/image" Target="../media/image128.jpg"/><Relationship Id="rId8" Type="http://schemas.openxmlformats.org/officeDocument/2006/relationships/image" Target="../media/image130.jpg"/><Relationship Id="rId9" Type="http://schemas.openxmlformats.org/officeDocument/2006/relationships/image" Target="../media/image131.jpg"/><Relationship Id="rId10" Type="http://schemas.openxmlformats.org/officeDocument/2006/relationships/image" Target="../media/image132.jpg"/><Relationship Id="rId11" Type="http://schemas.openxmlformats.org/officeDocument/2006/relationships/image" Target="../media/image136.jpg"/><Relationship Id="rId12" Type="http://schemas.openxmlformats.org/officeDocument/2006/relationships/image" Target="../media/image137.jpg"/><Relationship Id="rId13" Type="http://schemas.openxmlformats.org/officeDocument/2006/relationships/image" Target="../media/image138.jpg"/><Relationship Id="rId14" Type="http://schemas.openxmlformats.org/officeDocument/2006/relationships/image" Target="../media/image140.jpg"/><Relationship Id="rId15" Type="http://schemas.openxmlformats.org/officeDocument/2006/relationships/image" Target="../media/image141.jpg"/><Relationship Id="rId17" Type="http://schemas.openxmlformats.org/officeDocument/2006/relationships/image" Target="../media/image123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145.jpg"/><Relationship Id="rId6" Type="http://schemas.openxmlformats.org/officeDocument/2006/relationships/image" Target="../media/image142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148.jpg"/><Relationship Id="rId6" Type="http://schemas.openxmlformats.org/officeDocument/2006/relationships/image" Target="../media/image147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5" Type="http://schemas.openxmlformats.org/officeDocument/2006/relationships/image" Target="../media/image149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157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161.jpg"/><Relationship Id="rId5" Type="http://schemas.openxmlformats.org/officeDocument/2006/relationships/image" Target="../media/image162.jpg"/><Relationship Id="rId6" Type="http://schemas.openxmlformats.org/officeDocument/2006/relationships/image" Target="../media/image163.jpg"/><Relationship Id="rId8" Type="http://schemas.openxmlformats.org/officeDocument/2006/relationships/image" Target="../media/image158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173.jpg"/><Relationship Id="rId5" Type="http://schemas.openxmlformats.org/officeDocument/2006/relationships/image" Target="../media/image174.jpg"/><Relationship Id="rId6" Type="http://schemas.openxmlformats.org/officeDocument/2006/relationships/image" Target="../media/image177.jpg"/><Relationship Id="rId8" Type="http://schemas.openxmlformats.org/officeDocument/2006/relationships/image" Target="../media/image165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185.jpg"/><Relationship Id="rId5" Type="http://schemas.openxmlformats.org/officeDocument/2006/relationships/image" Target="../media/image188.jpg"/><Relationship Id="rId6" Type="http://schemas.openxmlformats.org/officeDocument/2006/relationships/image" Target="../media/image189.jpg"/><Relationship Id="rId8" Type="http://schemas.openxmlformats.org/officeDocument/2006/relationships/image" Target="../media/image180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190.jpg"/></Relationships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43D"/>
        </a:solidFill>
      </p:bgPr>
    </p:bg>
    <p:spTree>
      <p:nvGrpSpPr>
        <p:cNvPr id="1" name=""/>
        <p:cNvGrpSpPr/>
        <p:nvPr/>
      </p:nvGrpSpPr>
      <p:grpSpPr/>
      <p:pic>
        <p:nvPicPr>
          <p:cNvPr descr="05 (2).jpg" id="16" name="Google Shape;16;p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120640" y="0"/>
            <a:ext cx="356616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2.png" id="17" name="Google Shape;17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59952" y="0"/>
            <a:ext cx="3431743" cy="224942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2.png" id="18" name="Google Shape;18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59952" y="2304288"/>
            <a:ext cx="3431743" cy="22494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3" title="002.jpg" descr="04 (2).jp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59952" y="4608576"/>
            <a:ext cx="3431741" cy="224942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logo_cover.png" id="20" name="Google Shape;20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7200" y="548640"/>
            <a:ext cx="1828800" cy="300867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 txBox="1"/>
          <p:nvPr/>
        </p:nvSpPr>
        <p:spPr>
          <a:xfrm>
            <a:off x="457200" y="2103120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BOOK DE PREMISSAS DE FACHADA E INTERIORES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457200" y="2423160"/>
            <a:ext cx="44805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Canasvieiras Spot</a:t>
            </a:r>
            <a:endParaRPr b="0" i="0" sz="4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457200" y="3246120"/>
            <a:ext cx="4480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3EA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C9D3EA"/>
                </a:solidFill>
                <a:latin typeface="Arial"/>
                <a:ea typeface="Arial"/>
                <a:cs typeface="Arial"/>
                <a:sym typeface="Arial"/>
              </a:rPr>
              <a:t>Moodboard de premissas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457200" y="3840480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Lançamento  ×  Executivo  ·  Fachada  ·  Interiores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 txBox="1"/>
          <p:nvPr/>
        </p:nvSpPr>
        <p:spPr>
          <a:xfrm>
            <a:off x="457200" y="5669280"/>
            <a:ext cx="4480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Canasvieiras · Florianópolis/SC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9FB0D4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DOCUMENTO TÉCNICO INTERNO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1" name="Google Shape;31;p4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CONTEXTUALIZAÇÃO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O objetivo deste material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33" name="Google Shape;33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34" name="Google Shape;3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4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02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"/>
          <p:cNvSpPr txBox="1"/>
          <p:nvPr/>
        </p:nvSpPr>
        <p:spPr>
          <a:xfrm>
            <a:off x="457200" y="1325880"/>
            <a:ext cx="55778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Consolidar as premissas de fachada e de interiores das áreas comuns do Canasvieiras Spot a partir da leitura cruzada entre as imagens de lançamento, o projeto executivo de arquitetura e o projeto de interiores da Seazone: o que a imagem vendeu, o que o executivo especifica, onde divergem e o que validar antes da compra e da execução.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7.jpg" id="37" name="Google Shape;37;p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7200" y="2971800"/>
            <a:ext cx="1737360" cy="173736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8" name="Google Shape;38;p4"/>
          <p:cNvSpPr/>
          <p:nvPr/>
        </p:nvSpPr>
        <p:spPr>
          <a:xfrm>
            <a:off x="1828800" y="3017520"/>
            <a:ext cx="347472" cy="34747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"/>
          <p:cNvSpPr txBox="1"/>
          <p:nvPr/>
        </p:nvSpPr>
        <p:spPr>
          <a:xfrm>
            <a:off x="457200" y="4800600"/>
            <a:ext cx="1783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VEJA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 imagem de lançamento ou o conceito Seazone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40" name="Google Shape;40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77440" y="2971800"/>
            <a:ext cx="1737360" cy="1737360"/>
          </a:xfrm>
          <a:prstGeom prst="ellipse">
            <a:avLst/>
          </a:prstGeom>
          <a:noFill/>
          <a:ln>
            <a:noFill/>
          </a:ln>
        </p:spPr>
      </p:pic>
      <p:sp>
        <p:nvSpPr>
          <p:cNvPr id="41" name="Google Shape;41;p4"/>
          <p:cNvSpPr/>
          <p:nvPr/>
        </p:nvSpPr>
        <p:spPr>
          <a:xfrm>
            <a:off x="3749040" y="3017520"/>
            <a:ext cx="347472" cy="34747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2377440" y="4800600"/>
            <a:ext cx="1783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ENTENDA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material e a especificação de cada parte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43" name="Google Shape;43;p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97680" y="2971800"/>
            <a:ext cx="1737360" cy="1737360"/>
          </a:xfrm>
          <a:prstGeom prst="ellipse">
            <a:avLst/>
          </a:prstGeom>
          <a:noFill/>
          <a:ln>
            <a:noFill/>
          </a:ln>
        </p:spPr>
      </p:pic>
      <p:sp>
        <p:nvSpPr>
          <p:cNvPr id="44" name="Google Shape;44;p4"/>
          <p:cNvSpPr/>
          <p:nvPr/>
        </p:nvSpPr>
        <p:spPr>
          <a:xfrm>
            <a:off x="5669280" y="3017520"/>
            <a:ext cx="347472" cy="34747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4297680" y="4800600"/>
            <a:ext cx="1783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CONFIRA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que a obra precisa observar ou validar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6492240" y="1325880"/>
            <a:ext cx="5242255" cy="4846320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 txBox="1"/>
          <p:nvPr/>
        </p:nvSpPr>
        <p:spPr>
          <a:xfrm>
            <a:off x="6766560" y="1508760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AO ABRIR ESTE BOOK, OBRAS DEVE CONSEGUIR RESPONDER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6766560" y="19202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7178040" y="18745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 que as imagens de lançamento mostram na fachada?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6766560" y="23774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4"/>
          <p:cNvSpPr txBox="1"/>
          <p:nvPr/>
        </p:nvSpPr>
        <p:spPr>
          <a:xfrm>
            <a:off x="7178040" y="23317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Qual material e cor o executivo define para cada volume?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6766560" y="28346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7178040" y="27889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Onde o executivo diverge da imagem vendida?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6766560" y="32918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78040" y="32461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Quais cores e texturas exigem amostra aprovada?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6766560" y="37490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78040" y="37033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Qual é o conceito de interiores das áreas comuns que deve ser seguido?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6766560" y="42062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78040" y="41605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 que não pode ser alterado sem validação?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6766560" y="46634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78040" y="46177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Quais pontos ainda precisam ser validados?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6766560" y="5166360"/>
            <a:ext cx="47548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Regra do material: nenhuma informação foi inventada. Fontes (Canasvieiras Spot / 02 - Projetos): imagens de lançamento, executivo de arquitetura (elevações, detalhes, esquadrias e brises), Memorial Descritivo, projeto de interiores Seazone (Memorial de Texturas e Memorial de Interiores) e 00 - Premissas de Projeto (Briefing e LOG de considerações). Foco: imagens externas, texturas e interiores das áreas comuns. Interiores das unidades, índices urbanísticos, áreas e custos não fazem parte deste Book.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68" name="Google Shape;68;p5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COMO USAR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5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Como ler este book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70" name="Google Shape;70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71" name="Google Shape;7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5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03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502920" y="1417320"/>
            <a:ext cx="365760" cy="36576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5"/>
          <p:cNvSpPr txBox="1"/>
          <p:nvPr/>
        </p:nvSpPr>
        <p:spPr>
          <a:xfrm>
            <a:off x="1143000" y="1371600"/>
            <a:ext cx="44805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Número na imagem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Cada número na foto corresponde a um item da lista ao lado.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75" name="Google Shape;75;p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02920" y="2194560"/>
            <a:ext cx="384048" cy="384048"/>
          </a:xfrm>
          <a:prstGeom prst="ellipse">
            <a:avLst/>
          </a:prstGeom>
          <a:noFill/>
          <a:ln>
            <a:noFill/>
          </a:ln>
        </p:spPr>
      </p:pic>
      <p:sp>
        <p:nvSpPr>
          <p:cNvPr id="76" name="Google Shape;76;p5"/>
          <p:cNvSpPr txBox="1"/>
          <p:nvPr/>
        </p:nvSpPr>
        <p:spPr>
          <a:xfrm>
            <a:off x="1143000" y="2148840"/>
            <a:ext cx="44805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Amostra circular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Recorte do material tirado da própria imagem: referência visual, não substitui amostra física.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5"/>
          <p:cNvSpPr txBox="1"/>
          <p:nvPr/>
        </p:nvSpPr>
        <p:spPr>
          <a:xfrm>
            <a:off x="411480" y="3035808"/>
            <a:ext cx="566928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REV-08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5"/>
          <p:cNvSpPr txBox="1"/>
          <p:nvPr/>
        </p:nvSpPr>
        <p:spPr>
          <a:xfrm>
            <a:off x="1143000" y="2926080"/>
            <a:ext cx="44805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Código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Código do executivo/memorial (ex.: REV-08, BRI-01, T07) para achar o item no projeto.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5"/>
          <p:cNvSpPr txBox="1"/>
          <p:nvPr/>
        </p:nvSpPr>
        <p:spPr>
          <a:xfrm>
            <a:off x="457200" y="384048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STATUS DOS ITENS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457200" y="4206240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5"/>
          <p:cNvSpPr txBox="1"/>
          <p:nvPr/>
        </p:nvSpPr>
        <p:spPr>
          <a:xfrm>
            <a:off x="1508760" y="4169664"/>
            <a:ext cx="4114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premissa fechada: seguir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457200" y="4663440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5"/>
          <p:cNvSpPr txBox="1"/>
          <p:nvPr/>
        </p:nvSpPr>
        <p:spPr>
          <a:xfrm>
            <a:off x="1508760" y="4626864"/>
            <a:ext cx="4114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há divergência entre fontes: confirmar antes de comprar/executar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457200" y="5120640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5"/>
          <p:cNvSpPr txBox="1"/>
          <p:nvPr/>
        </p:nvSpPr>
        <p:spPr>
          <a:xfrm>
            <a:off x="1508760" y="5084064"/>
            <a:ext cx="4114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solução ainda não definida no projeto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6309360" y="132588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 QUE VOCÊ VAI ENCONTRAR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87" name="Google Shape;87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09360" y="1691640"/>
            <a:ext cx="1554480" cy="96012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"/>
          <p:cNvSpPr txBox="1"/>
          <p:nvPr/>
        </p:nvSpPr>
        <p:spPr>
          <a:xfrm>
            <a:off x="8001000" y="1691640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5"/>
          <p:cNvSpPr txBox="1"/>
          <p:nvPr/>
        </p:nvSpPr>
        <p:spPr>
          <a:xfrm>
            <a:off x="8641080" y="1691640"/>
            <a:ext cx="3093415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Fachada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imagens de lançamento · paleta · leitura geral · texturas T01–T12 · vistas de esquina, posterior e térreo · pendências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3.png" id="90" name="Google Shape;90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09360" y="2807208"/>
            <a:ext cx="1554480" cy="96012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5"/>
          <p:cNvSpPr txBox="1"/>
          <p:nvPr/>
        </p:nvSpPr>
        <p:spPr>
          <a:xfrm>
            <a:off x="8001000" y="2807208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5"/>
          <p:cNvSpPr txBox="1"/>
          <p:nvPr/>
        </p:nvSpPr>
        <p:spPr>
          <a:xfrm>
            <a:off x="8641080" y="2807208"/>
            <a:ext cx="3093415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lang="en-US">
                <a:solidFill>
                  <a:srgbClr val="00143D"/>
                </a:solidFill>
              </a:rPr>
              <a:t>Interiores das áreas comuns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conceito × situação · recepção e corredores · rooftop interno e externo · pendências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5.png" id="93" name="Google Shape;93;p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09360" y="3922776"/>
            <a:ext cx="1554480" cy="96012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5"/>
          <p:cNvSpPr txBox="1"/>
          <p:nvPr/>
        </p:nvSpPr>
        <p:spPr>
          <a:xfrm>
            <a:off x="8001000" y="3922776"/>
            <a:ext cx="640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2400"/>
              <a:buFont typeface="Arial"/>
              <a:buNone/>
            </a:pPr>
            <a:r>
              <a:rPr b="1" lang="en-US" sz="2400">
                <a:solidFill>
                  <a:srgbClr val="FC6058"/>
                </a:solidFill>
              </a:rPr>
              <a:t>03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5"/>
          <p:cNvSpPr txBox="1"/>
          <p:nvPr/>
        </p:nvSpPr>
        <p:spPr>
          <a:xfrm>
            <a:off x="8641080" y="3922776"/>
            <a:ext cx="30933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Materiais de interiores das áreas comuns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texturas T13–T24 para compra e aprovação de amostras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43D"/>
        </a:solidFill>
      </p:bgPr>
    </p:bg>
    <p:spTree>
      <p:nvGrpSpPr>
        <p:cNvPr id="1" name=""/>
        <p:cNvGrpSpPr/>
        <p:nvPr/>
      </p:nvGrpSpPr>
      <p:grpSpPr/>
      <p:pic>
        <p:nvPicPr>
          <p:cNvPr descr="DRONE (1).jpg" id="101" name="Google Shape;101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54880" y="0"/>
            <a:ext cx="743681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logo_cover.png" id="102" name="Google Shape;10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502920"/>
            <a:ext cx="1645920" cy="27078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6"/>
          <p:cNvSpPr txBox="1"/>
          <p:nvPr/>
        </p:nvSpPr>
        <p:spPr>
          <a:xfrm>
            <a:off x="457200" y="2377440"/>
            <a:ext cx="393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7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6"/>
          <p:cNvSpPr txBox="1"/>
          <p:nvPr/>
        </p:nvSpPr>
        <p:spPr>
          <a:xfrm>
            <a:off x="457200" y="3383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Fachada</a:t>
            </a:r>
            <a:endParaRPr b="0" i="0" sz="3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6"/>
          <p:cNvSpPr txBox="1"/>
          <p:nvPr/>
        </p:nvSpPr>
        <p:spPr>
          <a:xfrm>
            <a:off x="457200" y="4526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3EA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9D3EA"/>
                </a:solidFill>
                <a:latin typeface="Arial"/>
                <a:ea typeface="Arial"/>
                <a:cs typeface="Arial"/>
                <a:sym typeface="Arial"/>
              </a:rPr>
              <a:t>Imagens de lançamento  ·  paleta  ·  leitura geral  ·  texturas  ·  vistas com marcação e especificação  ·  pendências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pl_icon_footer.png" id="106" name="Google Shape;106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6"/>
          <p:cNvSpPr txBox="1"/>
          <p:nvPr/>
        </p:nvSpPr>
        <p:spPr>
          <a:xfrm>
            <a:off x="731520" y="6382512"/>
            <a:ext cx="4023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04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13" name="Google Shape;113;p7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MOODBOARD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7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Imagens de lançamento da fachada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115" name="Google Shape;115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116" name="Google Shape;11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7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05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118" name="Google Shape;118;p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57200" y="1280160"/>
            <a:ext cx="3895344" cy="2901292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7"/>
          <p:cNvSpPr txBox="1"/>
          <p:nvPr/>
        </p:nvSpPr>
        <p:spPr>
          <a:xfrm>
            <a:off x="530352" y="1353312"/>
            <a:ext cx="1130198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 · FRONTAL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7.jpg" id="120" name="Google Shape;120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25696" y="1280160"/>
            <a:ext cx="3895344" cy="2901292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7"/>
          <p:cNvSpPr txBox="1"/>
          <p:nvPr/>
        </p:nvSpPr>
        <p:spPr>
          <a:xfrm>
            <a:off x="4498848" y="1353312"/>
            <a:ext cx="1130198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07 · ESQUINA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2 (2).jpg" id="122" name="Google Shape;122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00" y="4254604"/>
            <a:ext cx="1186198" cy="196331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7"/>
          <p:cNvSpPr txBox="1"/>
          <p:nvPr/>
        </p:nvSpPr>
        <p:spPr>
          <a:xfrm>
            <a:off x="530352" y="4327756"/>
            <a:ext cx="416966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5 (2).jpg" id="124" name="Google Shape;124;p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16550" y="4254604"/>
            <a:ext cx="1186198" cy="1963316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7"/>
          <p:cNvSpPr txBox="1"/>
          <p:nvPr/>
        </p:nvSpPr>
        <p:spPr>
          <a:xfrm>
            <a:off x="1789702" y="4327756"/>
            <a:ext cx="416966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4 (2).jpg" id="126" name="Google Shape;126;p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975899" y="4254604"/>
            <a:ext cx="2635994" cy="1963316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7"/>
          <p:cNvSpPr txBox="1"/>
          <p:nvPr/>
        </p:nvSpPr>
        <p:spPr>
          <a:xfrm>
            <a:off x="3049051" y="4327756"/>
            <a:ext cx="1058875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 · TÉRREO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3.png" id="128" name="Google Shape;128;p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685046" y="4254604"/>
            <a:ext cx="2635994" cy="1963316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7"/>
          <p:cNvSpPr txBox="1"/>
          <p:nvPr/>
        </p:nvSpPr>
        <p:spPr>
          <a:xfrm>
            <a:off x="5758198" y="4327756"/>
            <a:ext cx="773582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ROOFTOP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7"/>
          <p:cNvSpPr txBox="1"/>
          <p:nvPr/>
        </p:nvSpPr>
        <p:spPr>
          <a:xfrm>
            <a:off x="8595360" y="128016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COMPOSIÇÃO DA FACHADA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7"/>
          <p:cNvSpPr/>
          <p:nvPr/>
        </p:nvSpPr>
        <p:spPr>
          <a:xfrm>
            <a:off x="8595360" y="1645920"/>
            <a:ext cx="3139135" cy="804672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7"/>
          <p:cNvSpPr txBox="1"/>
          <p:nvPr/>
        </p:nvSpPr>
        <p:spPr>
          <a:xfrm>
            <a:off x="8732520" y="1645920"/>
            <a:ext cx="2864815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Volume central amadeirado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Boreal Natural (REV-08) com brises verticais de correr nas janelas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7"/>
          <p:cNvSpPr/>
          <p:nvPr/>
        </p:nvSpPr>
        <p:spPr>
          <a:xfrm>
            <a:off x="8595360" y="2560320"/>
            <a:ext cx="3139135" cy="8046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7"/>
          <p:cNvSpPr txBox="1"/>
          <p:nvPr/>
        </p:nvSpPr>
        <p:spPr>
          <a:xfrm>
            <a:off x="8732520" y="2560320"/>
            <a:ext cx="2864815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Volumes laterais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cinza escuro (REV-06) e branco (REV-07) com floreiras nas bordas de laje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7"/>
          <p:cNvSpPr/>
          <p:nvPr/>
        </p:nvSpPr>
        <p:spPr>
          <a:xfrm>
            <a:off x="8595360" y="3474720"/>
            <a:ext cx="3139135" cy="804672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7"/>
          <p:cNvSpPr txBox="1"/>
          <p:nvPr/>
        </p:nvSpPr>
        <p:spPr>
          <a:xfrm>
            <a:off x="8732520" y="3474720"/>
            <a:ext cx="2864815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e elementos vazados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brises pretos e Oak (BRI-01), painéis em grelha (EV3/EV4) e cobogó sobre as lojas (EV1)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8595360" y="4389120"/>
            <a:ext cx="3139135" cy="8046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"/>
          <p:cNvSpPr txBox="1"/>
          <p:nvPr/>
        </p:nvSpPr>
        <p:spPr>
          <a:xfrm>
            <a:off x="8732520" y="4389120"/>
            <a:ext cx="2864815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Base e acesso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lojas com vitrines, brises Oak no mezanino e totem iluminado CANASVIEIRAS SPOT no muro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8595360" y="5303520"/>
            <a:ext cx="3139135" cy="804672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7"/>
          <p:cNvSpPr txBox="1"/>
          <p:nvPr/>
        </p:nvSpPr>
        <p:spPr>
          <a:xfrm>
            <a:off x="8732520" y="5303520"/>
            <a:ext cx="2864815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Coroamento e rooftop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guarda-corpo de vidro, pergolado preto, piscina e letreiro SEAZONE no reservatório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46" name="Google Shape;146;p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PALETA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8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Paleta de materiais da fachada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148" name="Google Shape;148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149" name="Google Shape;14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8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06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151" name="Google Shape;151;p8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57200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8"/>
          <p:cNvSpPr txBox="1"/>
          <p:nvPr/>
        </p:nvSpPr>
        <p:spPr>
          <a:xfrm>
            <a:off x="457200" y="4343400"/>
            <a:ext cx="1727149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REV-08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8"/>
          <p:cNvSpPr txBox="1"/>
          <p:nvPr/>
        </p:nvSpPr>
        <p:spPr>
          <a:xfrm>
            <a:off x="457200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Porcelanato Boreal Natural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volume central e montantes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2 (2).jpg" id="154" name="Google Shape;154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67229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8"/>
          <p:cNvSpPr txBox="1"/>
          <p:nvPr/>
        </p:nvSpPr>
        <p:spPr>
          <a:xfrm>
            <a:off x="2367229" y="4343400"/>
            <a:ext cx="1727149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REV-06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8"/>
          <p:cNvSpPr txBox="1"/>
          <p:nvPr/>
        </p:nvSpPr>
        <p:spPr>
          <a:xfrm>
            <a:off x="2367229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Cinza escuro Rock'n Roll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volumes laterais e bases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2 (2).jpg" id="157" name="Google Shape;157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77258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8"/>
          <p:cNvSpPr txBox="1"/>
          <p:nvPr/>
        </p:nvSpPr>
        <p:spPr>
          <a:xfrm>
            <a:off x="4277258" y="4343400"/>
            <a:ext cx="1727149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REV-07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8"/>
          <p:cNvSpPr txBox="1"/>
          <p:nvPr/>
        </p:nvSpPr>
        <p:spPr>
          <a:xfrm>
            <a:off x="4277258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Branco Puro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volumes claros e reservatório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5 (2).jpg" id="160" name="Google Shape;160;p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187288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8"/>
          <p:cNvSpPr txBox="1"/>
          <p:nvPr/>
        </p:nvSpPr>
        <p:spPr>
          <a:xfrm>
            <a:off x="6187288" y="4343400"/>
            <a:ext cx="1727149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REV-05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8"/>
          <p:cNvSpPr txBox="1"/>
          <p:nvPr/>
        </p:nvSpPr>
        <p:spPr>
          <a:xfrm>
            <a:off x="6187288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Cinza ref. Nanquim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faixas de laje e marquise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5 (2).jpg" id="163" name="Google Shape;163;p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7317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8"/>
          <p:cNvSpPr txBox="1"/>
          <p:nvPr/>
        </p:nvSpPr>
        <p:spPr>
          <a:xfrm>
            <a:off x="8097317" y="4343400"/>
            <a:ext cx="1727149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BRI-01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8"/>
          <p:cNvSpPr txBox="1"/>
          <p:nvPr/>
        </p:nvSpPr>
        <p:spPr>
          <a:xfrm>
            <a:off x="8097317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preto e Oak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janelas, térreo e mezanino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166" name="Google Shape;166;p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007346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8"/>
          <p:cNvSpPr txBox="1"/>
          <p:nvPr/>
        </p:nvSpPr>
        <p:spPr>
          <a:xfrm>
            <a:off x="10007346" y="4343400"/>
            <a:ext cx="1727149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EV1–EV4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8"/>
          <p:cNvSpPr txBox="1"/>
          <p:nvPr/>
        </p:nvSpPr>
        <p:spPr>
          <a:xfrm>
            <a:off x="10007346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Elemento vazado 40×40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lojas e painéis laterais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457200" y="5532120"/>
            <a:ext cx="11277295" cy="713232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8"/>
          <p:cNvSpPr txBox="1"/>
          <p:nvPr/>
        </p:nvSpPr>
        <p:spPr>
          <a:xfrm>
            <a:off x="640080" y="5623560"/>
            <a:ext cx="10911535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COMO LER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Fachada = volume central amadeirado (REV-08) + volumes laterais cinza escuro (REV-06) e branco (REV-07) + faixas cinza (REV-05) + brises pretos e Oak + elementos vazados + esquadria preta + floreiras. Detalhe de cada material nas páginas de texturas T01–T12.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76" name="Google Shape;176;p9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LEITURA GERAL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9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O que compõe a fachada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178" name="Google Shape;178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179" name="Google Shape;17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9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07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181" name="Google Shape;181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00" y="1280160"/>
            <a:ext cx="7040880" cy="3959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9"/>
          <p:cNvSpPr txBox="1"/>
          <p:nvPr/>
        </p:nvSpPr>
        <p:spPr>
          <a:xfrm>
            <a:off x="566928" y="1389888"/>
            <a:ext cx="233172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LANÇAMENTO · 01 (FRONTAL)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3629253" y="1627470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9"/>
          <p:cNvSpPr/>
          <p:nvPr/>
        </p:nvSpPr>
        <p:spPr>
          <a:xfrm>
            <a:off x="5248654" y="1804534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1974646" y="2040619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3840479" y="2138988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3030778" y="2473441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9"/>
          <p:cNvSpPr/>
          <p:nvPr/>
        </p:nvSpPr>
        <p:spPr>
          <a:xfrm>
            <a:off x="4544568" y="312267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2573121" y="2965285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9"/>
          <p:cNvSpPr/>
          <p:nvPr/>
        </p:nvSpPr>
        <p:spPr>
          <a:xfrm>
            <a:off x="2045055" y="2748874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9"/>
          <p:cNvSpPr/>
          <p:nvPr/>
        </p:nvSpPr>
        <p:spPr>
          <a:xfrm>
            <a:off x="3382822" y="396864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5495086" y="396864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9"/>
          <p:cNvSpPr txBox="1"/>
          <p:nvPr/>
        </p:nvSpPr>
        <p:spPr>
          <a:xfrm>
            <a:off x="457200" y="5349240"/>
            <a:ext cx="7040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 fachada é lida em quatro camadas: volume central em porcelanato amadeirado (REV-08) com brises verticais de correr; volumes laterais em cinza escuro (REV-06) e branco (REV-07) com floreiras e painéis em elemento vazado; base do térreo e mezanino com brises Oak, elemento vazado sobre as lojas e totem de acesso; coroamento com guarda-corpo de vidro, pergolado e letreiro SEAZONE.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9"/>
          <p:cNvSpPr txBox="1"/>
          <p:nvPr/>
        </p:nvSpPr>
        <p:spPr>
          <a:xfrm>
            <a:off x="7863840" y="12801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LEGENDA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9"/>
          <p:cNvSpPr/>
          <p:nvPr/>
        </p:nvSpPr>
        <p:spPr>
          <a:xfrm>
            <a:off x="7863840" y="1627632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9"/>
          <p:cNvSpPr txBox="1"/>
          <p:nvPr/>
        </p:nvSpPr>
        <p:spPr>
          <a:xfrm>
            <a:off x="8229600" y="1600200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Letreiro SEAZONE no coroamento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letras-caixa iluminadas · não detalhado no executivo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7863840" y="2093976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9"/>
          <p:cNvSpPr txBox="1"/>
          <p:nvPr/>
        </p:nvSpPr>
        <p:spPr>
          <a:xfrm>
            <a:off x="8229600" y="2066544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Pergolado da cobertura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AC-02 pergolado em alumínio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9"/>
          <p:cNvSpPr/>
          <p:nvPr/>
        </p:nvSpPr>
        <p:spPr>
          <a:xfrm>
            <a:off x="7863840" y="2560320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9"/>
          <p:cNvSpPr txBox="1"/>
          <p:nvPr/>
        </p:nvSpPr>
        <p:spPr>
          <a:xfrm>
            <a:off x="8229600" y="2532888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Guarda-corpo dos terraços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GC-01 alumínio / vidro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7863840" y="302666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9"/>
          <p:cNvSpPr txBox="1"/>
          <p:nvPr/>
        </p:nvSpPr>
        <p:spPr>
          <a:xfrm>
            <a:off x="8229600" y="2999232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Volume central amadeirado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REV-08 porcelanato Boreal Natural 20×120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7863840" y="3493008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9"/>
          <p:cNvSpPr txBox="1"/>
          <p:nvPr/>
        </p:nvSpPr>
        <p:spPr>
          <a:xfrm>
            <a:off x="8229600" y="3465576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verticais das janelas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BRI-01 brise de correr 75×25 · preto e Oak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7863840" y="3959352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9"/>
          <p:cNvSpPr txBox="1"/>
          <p:nvPr/>
        </p:nvSpPr>
        <p:spPr>
          <a:xfrm>
            <a:off x="8229600" y="3931920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Ripado horizontal nas janelas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só no render · não consta nas elevações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7863840" y="4425696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8229600" y="4398264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Painéis laterais em grelha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EV3 elemento vazado de concreto 40×40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7863840" y="4892040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9"/>
          <p:cNvSpPr txBox="1"/>
          <p:nvPr/>
        </p:nvSpPr>
        <p:spPr>
          <a:xfrm>
            <a:off x="8229600" y="4864608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Floreiras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AC-01 vaso · floreira Vasoflex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7863840" y="535838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9"/>
          <p:cNvSpPr txBox="1"/>
          <p:nvPr/>
        </p:nvSpPr>
        <p:spPr>
          <a:xfrm>
            <a:off x="8229600" y="5330952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amadeirados do mezanino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Lesco Green Brise · Oak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7863840" y="5824728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9"/>
          <p:cNvSpPr txBox="1"/>
          <p:nvPr/>
        </p:nvSpPr>
        <p:spPr>
          <a:xfrm>
            <a:off x="8229600" y="5797296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Elemento vazado sobre as lojas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EV1 concreto 40×40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20" name="Google Shape;220;p1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MAPA DE TEXTURAS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0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Texturas da fachada · cores e revestimento (1/3)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222" name="Google Shape;222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223" name="Google Shape;22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0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08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0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das imagens de lançamento: referência visual, não substitui amostra física. Especificação: executivo de arquitetura, Memorial Descritivo e Briefing.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2 (2).jpg" id="227" name="Google Shape;227;p1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28" name="Google Shape;228;p10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0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REV-06 · Cinza escuro Rock'n Roll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Volumes escuros laterais, bases e molduras nas quatro elevações.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Pintura acrílica sobre textura/massa acrílica, ref. cor Rock'n Roll (Suvinil).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Aprovar amostra em painel na própria fachada antes da compra; mesma cor e lote nas quatro faces.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5 (2).jpg" id="231" name="Google Shape;231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2" name="Google Shape;232;p10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0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REV-05 · Cinza ref. Nanquim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Faixas de laje, marquise do térreo e fundo do elemento vazado das lojas.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Pintura acrílica descrita como "cinza claro", ref. cor Nanquim (Suvinil).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Nome da cor e descrição não conferem entre si: validar amostra contra o render.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2 (2).jpg" id="235" name="Google Shape;235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6" name="Google Shape;236;p10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T03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0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REV-07 · Branco Puro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Volumes laterais claros, platibanda da cobertura e caixa do reservatório.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Pintura acrílica, ref. Branco Puro (Suvinil).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Reservatório com acabamento externo idem fachada (memorial 30.4.3).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1 (1).jpg" id="239" name="Google Shape;239;p1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40" name="Google Shape;240;p10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T04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0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REV-08 · Porcelanato amadeirado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Volume central das fachadas frontal e posterior e montantes entre janelas.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retificado 20×120, Boreal Natural (Portobello) · memorial 10.1 e 30.3.5.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O render mostra tom mais quente e claro: aprovar peça física contra a imagem e definir paginação.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20" name="Google Shape;220;p1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MAPA DE TEXTURAS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0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Texturas da fachada · brises e elementos vazados (2/3)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222" name="Google Shape;222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223" name="Google Shape;22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0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09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0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das imagens de lançamento: referência visual, não substitui amostra física. Especificação: executivo de arquitetura, Memorial Descritivo e Briefing.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5 (2).jpg" id="227" name="Google Shape;227;p1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28" name="Google Shape;228;p10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T05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0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BRI-01 · Brise amadeirado Oak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Térreo, mezanino e parte dos pavimentos 2 a 4.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Brise de correr em alumínio, ref. Lesco Green Brise 75×25 mm, cor Oak (prancha 28).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Briefing (gerais) marca brise em PVC e desmarca metálico: confirmar material antes de comprar.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1 (1).jpg" id="231" name="Google Shape;231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2" name="Google Shape;232;p10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T06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0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BRI-01 · Brise alumínio preto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Janelas dos pavimentos 2, 3 e 4 e do mezanino.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Brise de correr em alumínio preto 75×25 mm · trilho BRI-02 preto · BRI-03 veneziana preta nas condensadoras.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Tipos mudam por pavimento: conferir o quadro da prancha 28 antes de fabricar. Material × briefing (PVC):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1 (1).jpg" id="235" name="Google Shape;235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6" name="Google Shape;236;p10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T07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0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EV1 · Elemento vazado das lojas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Fachada sobre as lojas e EV2 no térreo.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Elemento vazado de concreto 40×40, peças fixas (quadro de esquadrias, prancha 27).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O render mostra borda inferior "pixelada" (peças omitidas); o executivo mostra borda reta.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1 (1).jpg" id="239" name="Google Shape;239;p1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40" name="Google Shape;240;p10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T08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0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EV3/EV4 · Painéis em grelha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Faixas verticais ao lado do volume central.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Elemento vazado de concreto 40×40; cor da peça não especificada.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No render as peças são pretas: definir se recebem REV-06 ou ficam aparentes.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20" name="Google Shape;220;p1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MAPA DE TEXTURAS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0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Texturas da fachada · esquadrias e cobertura (3/3)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222" name="Google Shape;222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223" name="Google Shape;22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0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0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das imagens de lançamento: referência visual, não substitui amostra física. Especificação: executivo de arquitetura, Memorial Descritivo e Briefing.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1 (1).jpg" id="227" name="Google Shape;227;p1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28" name="Google Shape;228;p10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T09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0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Esquadrias de alumínio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Janelas e porta-janelas de todas as fachadas, lojas e áreas comuns.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Alumínio anodizado preto (padrão Alcoa) · vidro laminado transparente (memorial 16.1).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Peitoril e pingadeira em granito preto São Gabriel com frisos (memorial 20); quadro nas pranchas 26 e 27.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1 (1).jpg" id="231" name="Google Shape;231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2" name="Google Shape;232;p10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T10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0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GC-01/02/03 · Guarda-corpos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Terraços da cobertura e borda da piscina.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Alumínio anodizado preto + vidro (executivo).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Briefing: vidro incolor com perfil "U" inox, sem perfis de alumínio × executivo: alumínio + vidro.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7.jpg" id="235" name="Google Shape;235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6" name="Google Shape;236;p10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0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AC-01 · Floreiras de fachada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Bordas de laje dos volumes laterais nos pavimentos 2 a 4.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AC-01 vaso para plantas · floreira modelo estrutural Vasoflex (Ecotelhado).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Fixação mecânica com buchas e vasos independentes; paisagismo por empresa especializada.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01 (1).jpg" id="239" name="Google Shape;239;p1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40" name="Google Shape;240;p10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0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AC-02 · Pergolado da cobertura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Áreas de integração e terraços do último pavimento.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AC-02 pergolado em alumínio (elevações) · memorial 30.3.5: "estrutura metálica com madeira".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LOG Ind. 06: reforço na estrutura para o balanço. Alumínio × metálico com madeira: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409" name="Google Shape;409;p15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VISTA + ESPECIFICAÇÃO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5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Esquina: fachada frontal e lateral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411" name="Google Shape;411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412" name="Google Shape;4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15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11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7.jpg" id="414" name="Google Shape;414;p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00" y="1280160"/>
            <a:ext cx="6766560" cy="3803904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15"/>
          <p:cNvSpPr txBox="1"/>
          <p:nvPr/>
        </p:nvSpPr>
        <p:spPr>
          <a:xfrm>
            <a:off x="566928" y="1389888"/>
            <a:ext cx="205740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LANÇAMENTO · 07 (ESQUINA)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5"/>
          <p:cNvSpPr/>
          <p:nvPr/>
        </p:nvSpPr>
        <p:spPr>
          <a:xfrm>
            <a:off x="3635654" y="1713290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5"/>
          <p:cNvSpPr/>
          <p:nvPr/>
        </p:nvSpPr>
        <p:spPr>
          <a:xfrm>
            <a:off x="4785969" y="2036694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5"/>
          <p:cNvSpPr/>
          <p:nvPr/>
        </p:nvSpPr>
        <p:spPr>
          <a:xfrm>
            <a:off x="2282342" y="2284003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5"/>
          <p:cNvSpPr/>
          <p:nvPr/>
        </p:nvSpPr>
        <p:spPr>
          <a:xfrm>
            <a:off x="4379974" y="2322049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15"/>
          <p:cNvSpPr/>
          <p:nvPr/>
        </p:nvSpPr>
        <p:spPr>
          <a:xfrm>
            <a:off x="2147011" y="3044951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5"/>
          <p:cNvSpPr/>
          <p:nvPr/>
        </p:nvSpPr>
        <p:spPr>
          <a:xfrm>
            <a:off x="3364990" y="2607405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15"/>
          <p:cNvSpPr/>
          <p:nvPr/>
        </p:nvSpPr>
        <p:spPr>
          <a:xfrm>
            <a:off x="3838651" y="3349331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5"/>
          <p:cNvSpPr/>
          <p:nvPr/>
        </p:nvSpPr>
        <p:spPr>
          <a:xfrm>
            <a:off x="4312310" y="3996137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5"/>
          <p:cNvSpPr/>
          <p:nvPr/>
        </p:nvSpPr>
        <p:spPr>
          <a:xfrm>
            <a:off x="5394958" y="3996137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5"/>
          <p:cNvSpPr/>
          <p:nvPr/>
        </p:nvSpPr>
        <p:spPr>
          <a:xfrm>
            <a:off x="3297326" y="4642942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5"/>
          <p:cNvSpPr/>
          <p:nvPr/>
        </p:nvSpPr>
        <p:spPr>
          <a:xfrm>
            <a:off x="457200" y="5230368"/>
            <a:ext cx="6766560" cy="1005840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5"/>
          <p:cNvSpPr txBox="1"/>
          <p:nvPr/>
        </p:nvSpPr>
        <p:spPr>
          <a:xfrm>
            <a:off x="640080" y="5321808"/>
            <a:ext cx="6400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LEITURA DA ESQUINA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esquina concentra os três materiais de maior impacto visual: porcelanato amadeirado (REV-08), cinza escuro (REV-06) e brises. As floreiras marcam os volumes laterais e o elemento vazado com borda "pixelada" fecha o volume das lojas. O totem iluminado não tem detalhe no executivo.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5"/>
          <p:cNvSpPr/>
          <p:nvPr/>
        </p:nvSpPr>
        <p:spPr>
          <a:xfrm>
            <a:off x="7543800" y="1298448"/>
            <a:ext cx="201168" cy="201168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5"/>
          <p:cNvSpPr txBox="1"/>
          <p:nvPr/>
        </p:nvSpPr>
        <p:spPr>
          <a:xfrm>
            <a:off x="7818120" y="1280160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7F5C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E7F5C"/>
                </a:solidFill>
                <a:latin typeface="Arial"/>
                <a:ea typeface="Arial"/>
                <a:cs typeface="Arial"/>
                <a:sym typeface="Arial"/>
              </a:rPr>
              <a:t>✓ definido  ·  ! a validar  ·  ? pendente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5"/>
          <p:cNvSpPr/>
          <p:nvPr/>
        </p:nvSpPr>
        <p:spPr>
          <a:xfrm>
            <a:off x="7543800" y="170078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15"/>
          <p:cNvSpPr txBox="1"/>
          <p:nvPr/>
        </p:nvSpPr>
        <p:spPr>
          <a:xfrm>
            <a:off x="7909560" y="1645920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Letreiro SEAZONE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Letras-caixa iluminadas no reservatório (render) · sem detalhe no executivo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5"/>
          <p:cNvSpPr/>
          <p:nvPr/>
        </p:nvSpPr>
        <p:spPr>
          <a:xfrm>
            <a:off x="11496751" y="1700784"/>
            <a:ext cx="219456" cy="219456"/>
          </a:xfrm>
          <a:prstGeom prst="ellipse">
            <a:avLst/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5"/>
          <p:cNvSpPr/>
          <p:nvPr/>
        </p:nvSpPr>
        <p:spPr>
          <a:xfrm>
            <a:off x="7543800" y="2162556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15"/>
          <p:cNvSpPr txBox="1"/>
          <p:nvPr/>
        </p:nvSpPr>
        <p:spPr>
          <a:xfrm>
            <a:off x="7909560" y="2107692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Pergolado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AC-02 em alumínio · perfis pretos no render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5"/>
          <p:cNvSpPr/>
          <p:nvPr/>
        </p:nvSpPr>
        <p:spPr>
          <a:xfrm>
            <a:off x="11496751" y="2162556"/>
            <a:ext cx="219456" cy="219456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5"/>
          <p:cNvSpPr/>
          <p:nvPr/>
        </p:nvSpPr>
        <p:spPr>
          <a:xfrm>
            <a:off x="7543800" y="2624328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15"/>
          <p:cNvSpPr txBox="1"/>
          <p:nvPr/>
        </p:nvSpPr>
        <p:spPr>
          <a:xfrm>
            <a:off x="7909560" y="2569464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Guarda-corpo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GC-01 alumínio anodizado preto e vidro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5"/>
          <p:cNvSpPr/>
          <p:nvPr/>
        </p:nvSpPr>
        <p:spPr>
          <a:xfrm>
            <a:off x="11496751" y="2624328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5"/>
          <p:cNvSpPr/>
          <p:nvPr/>
        </p:nvSpPr>
        <p:spPr>
          <a:xfrm>
            <a:off x="7543800" y="3086100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15"/>
          <p:cNvSpPr txBox="1"/>
          <p:nvPr/>
        </p:nvSpPr>
        <p:spPr>
          <a:xfrm>
            <a:off x="7909560" y="3031236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Volume central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REV-08 porcelanato 20×120 Boreal Natural (Portobello)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5"/>
          <p:cNvSpPr/>
          <p:nvPr/>
        </p:nvSpPr>
        <p:spPr>
          <a:xfrm>
            <a:off x="11496751" y="3086100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5"/>
          <p:cNvSpPr/>
          <p:nvPr/>
        </p:nvSpPr>
        <p:spPr>
          <a:xfrm>
            <a:off x="7543800" y="3547872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15"/>
          <p:cNvSpPr txBox="1"/>
          <p:nvPr/>
        </p:nvSpPr>
        <p:spPr>
          <a:xfrm>
            <a:off x="7909560" y="3493008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pretos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BRI-01 de correr, alumínio preto 75×25 + trilho BRI-02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15"/>
          <p:cNvSpPr/>
          <p:nvPr/>
        </p:nvSpPr>
        <p:spPr>
          <a:xfrm>
            <a:off x="11496751" y="3547872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15"/>
          <p:cNvSpPr/>
          <p:nvPr/>
        </p:nvSpPr>
        <p:spPr>
          <a:xfrm>
            <a:off x="7543800" y="400964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15"/>
          <p:cNvSpPr txBox="1"/>
          <p:nvPr/>
        </p:nvSpPr>
        <p:spPr>
          <a:xfrm>
            <a:off x="7909560" y="3954780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Floreiras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AC-01 Vasoflex, fixação mecânica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15"/>
          <p:cNvSpPr/>
          <p:nvPr/>
        </p:nvSpPr>
        <p:spPr>
          <a:xfrm>
            <a:off x="11496751" y="400964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15"/>
          <p:cNvSpPr/>
          <p:nvPr/>
        </p:nvSpPr>
        <p:spPr>
          <a:xfrm>
            <a:off x="7543800" y="4471416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15"/>
          <p:cNvSpPr txBox="1"/>
          <p:nvPr/>
        </p:nvSpPr>
        <p:spPr>
          <a:xfrm>
            <a:off x="7909560" y="4416552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Painel em grelha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EV3 elemento vazado de concreto 40×40 · cor a definir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15"/>
          <p:cNvSpPr/>
          <p:nvPr/>
        </p:nvSpPr>
        <p:spPr>
          <a:xfrm>
            <a:off x="11496751" y="4471416"/>
            <a:ext cx="219456" cy="219456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15"/>
          <p:cNvSpPr/>
          <p:nvPr/>
        </p:nvSpPr>
        <p:spPr>
          <a:xfrm>
            <a:off x="7543800" y="4933188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15"/>
          <p:cNvSpPr txBox="1"/>
          <p:nvPr/>
        </p:nvSpPr>
        <p:spPr>
          <a:xfrm>
            <a:off x="7909560" y="4878324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Oak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BRI-01 Lesco Green Brise Oak · térreo e mezanino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15"/>
          <p:cNvSpPr/>
          <p:nvPr/>
        </p:nvSpPr>
        <p:spPr>
          <a:xfrm>
            <a:off x="11496751" y="4933188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5"/>
          <p:cNvSpPr/>
          <p:nvPr/>
        </p:nvSpPr>
        <p:spPr>
          <a:xfrm>
            <a:off x="7543800" y="5394960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15"/>
          <p:cNvSpPr txBox="1"/>
          <p:nvPr/>
        </p:nvSpPr>
        <p:spPr>
          <a:xfrm>
            <a:off x="7909560" y="5340096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Elemento vazado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EV1 concreto 40×40 sobre REV-05 · borda a confirmar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15"/>
          <p:cNvSpPr/>
          <p:nvPr/>
        </p:nvSpPr>
        <p:spPr>
          <a:xfrm>
            <a:off x="11496751" y="5394960"/>
            <a:ext cx="219456" cy="219456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15"/>
          <p:cNvSpPr/>
          <p:nvPr/>
        </p:nvSpPr>
        <p:spPr>
          <a:xfrm>
            <a:off x="7543800" y="5856732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15"/>
          <p:cNvSpPr txBox="1"/>
          <p:nvPr/>
        </p:nvSpPr>
        <p:spPr>
          <a:xfrm>
            <a:off x="7909560" y="5801868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Totem de acesso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"CANASVIEIRAS SPOT" em letras iluminadas no muro (render)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15"/>
          <p:cNvSpPr/>
          <p:nvPr/>
        </p:nvSpPr>
        <p:spPr>
          <a:xfrm>
            <a:off x="11496751" y="5856732"/>
            <a:ext cx="219456" cy="219456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53" name="Google Shape;353;p14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VISTA + ESPECIFICAÇÃO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4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Fachada posterior e lateral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355" name="Google Shape;35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356" name="Google Shape;35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14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5 (2).jpg" id="358" name="Google Shape;358;p14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7200" y="1280160"/>
            <a:ext cx="3931920" cy="4910328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14"/>
          <p:cNvSpPr txBox="1"/>
          <p:nvPr/>
        </p:nvSpPr>
        <p:spPr>
          <a:xfrm>
            <a:off x="566928" y="1389888"/>
            <a:ext cx="2200046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LANÇAMENTO · 05 (POSTERIOR)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4"/>
          <p:cNvSpPr/>
          <p:nvPr/>
        </p:nvSpPr>
        <p:spPr>
          <a:xfrm>
            <a:off x="2403952" y="2639757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4"/>
          <p:cNvSpPr/>
          <p:nvPr/>
        </p:nvSpPr>
        <p:spPr>
          <a:xfrm>
            <a:off x="2089399" y="3696461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4"/>
          <p:cNvSpPr/>
          <p:nvPr/>
        </p:nvSpPr>
        <p:spPr>
          <a:xfrm>
            <a:off x="2128717" y="2934651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4"/>
          <p:cNvSpPr/>
          <p:nvPr/>
        </p:nvSpPr>
        <p:spPr>
          <a:xfrm>
            <a:off x="2521908" y="3819334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4"/>
          <p:cNvSpPr/>
          <p:nvPr/>
        </p:nvSpPr>
        <p:spPr>
          <a:xfrm>
            <a:off x="2010761" y="438454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4"/>
          <p:cNvSpPr/>
          <p:nvPr/>
        </p:nvSpPr>
        <p:spPr>
          <a:xfrm>
            <a:off x="1342337" y="3352418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4"/>
          <p:cNvSpPr/>
          <p:nvPr/>
        </p:nvSpPr>
        <p:spPr>
          <a:xfrm>
            <a:off x="3033056" y="4089653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4"/>
          <p:cNvSpPr/>
          <p:nvPr/>
        </p:nvSpPr>
        <p:spPr>
          <a:xfrm>
            <a:off x="4709160" y="1298448"/>
            <a:ext cx="201168" cy="201168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4"/>
          <p:cNvSpPr txBox="1"/>
          <p:nvPr/>
        </p:nvSpPr>
        <p:spPr>
          <a:xfrm>
            <a:off x="4983480" y="1280160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7F5C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E7F5C"/>
                </a:solidFill>
                <a:latin typeface="Arial"/>
                <a:ea typeface="Arial"/>
                <a:cs typeface="Arial"/>
                <a:sym typeface="Arial"/>
              </a:rPr>
              <a:t>✓ definido  ·  ! a validar  ·  ? pendente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4"/>
          <p:cNvSpPr/>
          <p:nvPr/>
        </p:nvSpPr>
        <p:spPr>
          <a:xfrm>
            <a:off x="4709160" y="170078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14"/>
          <p:cNvSpPr txBox="1"/>
          <p:nvPr/>
        </p:nvSpPr>
        <p:spPr>
          <a:xfrm>
            <a:off x="5074920" y="164592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Piscina da cobertura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Borda com guarda-corpo GC-03 · Barlavento Blanc 14,5×14,5 (REV-09) × briefing: esverdeado 20×20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4"/>
          <p:cNvSpPr/>
          <p:nvPr/>
        </p:nvSpPr>
        <p:spPr>
          <a:xfrm>
            <a:off x="8677656" y="1700784"/>
            <a:ext cx="219456" cy="219456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4"/>
          <p:cNvSpPr/>
          <p:nvPr/>
        </p:nvSpPr>
        <p:spPr>
          <a:xfrm>
            <a:off x="4709160" y="221386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4"/>
          <p:cNvSpPr txBox="1"/>
          <p:nvPr/>
        </p:nvSpPr>
        <p:spPr>
          <a:xfrm>
            <a:off x="5074920" y="215900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Volume amadeirado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REV-08 Boreal Natural (Portobello) · mesma leitura da fachada frontal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4"/>
          <p:cNvSpPr/>
          <p:nvPr/>
        </p:nvSpPr>
        <p:spPr>
          <a:xfrm>
            <a:off x="8677656" y="221386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4"/>
          <p:cNvSpPr/>
          <p:nvPr/>
        </p:nvSpPr>
        <p:spPr>
          <a:xfrm>
            <a:off x="4709160" y="272694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14"/>
          <p:cNvSpPr txBox="1"/>
          <p:nvPr/>
        </p:nvSpPr>
        <p:spPr>
          <a:xfrm>
            <a:off x="5074920" y="267208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das janelas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BRI-01 preto e Oak · trilho BRI-02 · BRI-03 veneziana preta nas condensadoras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4"/>
          <p:cNvSpPr/>
          <p:nvPr/>
        </p:nvSpPr>
        <p:spPr>
          <a:xfrm>
            <a:off x="8677656" y="272694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14"/>
          <p:cNvSpPr/>
          <p:nvPr/>
        </p:nvSpPr>
        <p:spPr>
          <a:xfrm>
            <a:off x="4709160" y="324002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14"/>
          <p:cNvSpPr txBox="1"/>
          <p:nvPr/>
        </p:nvSpPr>
        <p:spPr>
          <a:xfrm>
            <a:off x="5074920" y="318516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Ripado horizontal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No peitoril das janelas (render) · não consta nas elevações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4"/>
          <p:cNvSpPr/>
          <p:nvPr/>
        </p:nvSpPr>
        <p:spPr>
          <a:xfrm>
            <a:off x="8677656" y="3240024"/>
            <a:ext cx="219456" cy="219456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4"/>
          <p:cNvSpPr/>
          <p:nvPr/>
        </p:nvSpPr>
        <p:spPr>
          <a:xfrm>
            <a:off x="4709160" y="375310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4"/>
          <p:cNvSpPr txBox="1"/>
          <p:nvPr/>
        </p:nvSpPr>
        <p:spPr>
          <a:xfrm>
            <a:off x="5074920" y="369824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Oak do térreo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Brise 3 e Brise 4 Oak no pavimento 1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4"/>
          <p:cNvSpPr/>
          <p:nvPr/>
        </p:nvSpPr>
        <p:spPr>
          <a:xfrm>
            <a:off x="8677656" y="375310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4"/>
          <p:cNvSpPr/>
          <p:nvPr/>
        </p:nvSpPr>
        <p:spPr>
          <a:xfrm>
            <a:off x="4709160" y="426618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14"/>
          <p:cNvSpPr txBox="1"/>
          <p:nvPr/>
        </p:nvSpPr>
        <p:spPr>
          <a:xfrm>
            <a:off x="5074920" y="421132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Volume escuro lateral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REV-06 cinza escuro, ref. Rock'n Roll (Suvinil)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14"/>
          <p:cNvSpPr/>
          <p:nvPr/>
        </p:nvSpPr>
        <p:spPr>
          <a:xfrm>
            <a:off x="8677656" y="426618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14"/>
          <p:cNvSpPr/>
          <p:nvPr/>
        </p:nvSpPr>
        <p:spPr>
          <a:xfrm>
            <a:off x="4709160" y="477926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14"/>
          <p:cNvSpPr txBox="1"/>
          <p:nvPr/>
        </p:nvSpPr>
        <p:spPr>
          <a:xfrm>
            <a:off x="5074920" y="472440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Montantes brancos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REV-07 Branco Puro (Suvinil)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4"/>
          <p:cNvSpPr/>
          <p:nvPr/>
        </p:nvSpPr>
        <p:spPr>
          <a:xfrm>
            <a:off x="8677656" y="477926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1 (1).jpg" id="398" name="Google Shape;398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81160" y="1325880"/>
            <a:ext cx="731520" cy="731520"/>
          </a:xfrm>
          <a:prstGeom prst="ellipse">
            <a:avLst/>
          </a:prstGeom>
          <a:noFill/>
          <a:ln>
            <a:noFill/>
          </a:ln>
        </p:spPr>
      </p:pic>
      <p:pic>
        <p:nvPicPr>
          <p:cNvPr descr="02 (2).jpg" id="399" name="Google Shape;399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058400" y="1325880"/>
            <a:ext cx="731520" cy="731520"/>
          </a:xfrm>
          <a:prstGeom prst="ellipse">
            <a:avLst/>
          </a:prstGeom>
          <a:noFill/>
          <a:ln>
            <a:noFill/>
          </a:ln>
        </p:spPr>
      </p:pic>
      <p:pic>
        <p:nvPicPr>
          <p:cNvPr descr="02 (2).jpg" id="400" name="Google Shape;400;p1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835640" y="1325880"/>
            <a:ext cx="731520" cy="731520"/>
          </a:xfrm>
          <a:prstGeom prst="ellipse">
            <a:avLst/>
          </a:prstGeom>
          <a:noFill/>
          <a:ln>
            <a:noFill/>
          </a:ln>
        </p:spPr>
      </p:pic>
      <p:sp>
        <p:nvSpPr>
          <p:cNvPr id="401" name="Google Shape;401;p14"/>
          <p:cNvSpPr txBox="1"/>
          <p:nvPr/>
        </p:nvSpPr>
        <p:spPr>
          <a:xfrm>
            <a:off x="9235440" y="212140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REV-08 · REV-06 · REV-07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4"/>
          <p:cNvSpPr/>
          <p:nvPr/>
        </p:nvSpPr>
        <p:spPr>
          <a:xfrm>
            <a:off x="9235440" y="2606040"/>
            <a:ext cx="2499055" cy="3657600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4"/>
          <p:cNvSpPr txBox="1"/>
          <p:nvPr/>
        </p:nvSpPr>
        <p:spPr>
          <a:xfrm>
            <a:off x="9418320" y="2697480"/>
            <a:ext cx="2133295" cy="3474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NAS QUATRO ELEVAÇÕES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As fachadas laterais e posterior repetem a paleta da frontal: REV-05, REV-06, REV-07 e REV-08 + brises. Referências: elevações (pranchas 19 a 22) e detalhes de elevação (pranchas 23 a 25).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409" name="Google Shape;409;p15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VISTA + ESPECIFICAÇÃO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5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Térreo: acesso, lojas e totem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411" name="Google Shape;411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412" name="Google Shape;4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15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13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4 (2).jpg" id="414" name="Google Shape;414;p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00" y="1280160"/>
            <a:ext cx="6766560" cy="3803904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15"/>
          <p:cNvSpPr txBox="1"/>
          <p:nvPr/>
        </p:nvSpPr>
        <p:spPr>
          <a:xfrm>
            <a:off x="566928" y="1389888"/>
            <a:ext cx="2770632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LANÇAMENTO · 04 (TÉRREO E MEZANINO)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5"/>
          <p:cNvSpPr/>
          <p:nvPr/>
        </p:nvSpPr>
        <p:spPr>
          <a:xfrm>
            <a:off x="3149487" y="437631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5"/>
          <p:cNvSpPr/>
          <p:nvPr/>
        </p:nvSpPr>
        <p:spPr>
          <a:xfrm>
            <a:off x="2472583" y="4033967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5"/>
          <p:cNvSpPr/>
          <p:nvPr/>
        </p:nvSpPr>
        <p:spPr>
          <a:xfrm>
            <a:off x="995697" y="3957888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5"/>
          <p:cNvSpPr/>
          <p:nvPr/>
        </p:nvSpPr>
        <p:spPr>
          <a:xfrm>
            <a:off x="6534013" y="3957888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15"/>
          <p:cNvSpPr/>
          <p:nvPr/>
        </p:nvSpPr>
        <p:spPr>
          <a:xfrm>
            <a:off x="6780161" y="3311225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5"/>
          <p:cNvSpPr/>
          <p:nvPr/>
        </p:nvSpPr>
        <p:spPr>
          <a:xfrm>
            <a:off x="4934056" y="3235147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15"/>
          <p:cNvSpPr/>
          <p:nvPr/>
        </p:nvSpPr>
        <p:spPr>
          <a:xfrm>
            <a:off x="3826392" y="2170052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5"/>
          <p:cNvSpPr/>
          <p:nvPr/>
        </p:nvSpPr>
        <p:spPr>
          <a:xfrm>
            <a:off x="3087950" y="2398288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5"/>
          <p:cNvSpPr/>
          <p:nvPr/>
        </p:nvSpPr>
        <p:spPr>
          <a:xfrm>
            <a:off x="3703319" y="367259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5"/>
          <p:cNvSpPr/>
          <p:nvPr/>
        </p:nvSpPr>
        <p:spPr>
          <a:xfrm>
            <a:off x="3334098" y="2968872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5"/>
          <p:cNvSpPr/>
          <p:nvPr/>
        </p:nvSpPr>
        <p:spPr>
          <a:xfrm>
            <a:off x="457200" y="5230368"/>
            <a:ext cx="6766560" cy="1005840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5"/>
          <p:cNvSpPr txBox="1"/>
          <p:nvPr/>
        </p:nvSpPr>
        <p:spPr>
          <a:xfrm>
            <a:off x="640080" y="5321808"/>
            <a:ext cx="6400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ATENÇÃO · IDENTIDADE DO ACESSO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 totem iluminado CANASVIEIRAS SPOT no muro, o cobogó das lojas e os brises Oak do mezanino são a "cara" do térreo no lançamento. O executivo traz o nome no muro sem detalhe de letra, iluminação e acabamento: detalhar antes da execução.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5"/>
          <p:cNvSpPr/>
          <p:nvPr/>
        </p:nvSpPr>
        <p:spPr>
          <a:xfrm>
            <a:off x="7543800" y="1298448"/>
            <a:ext cx="201168" cy="201168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5"/>
          <p:cNvSpPr txBox="1"/>
          <p:nvPr/>
        </p:nvSpPr>
        <p:spPr>
          <a:xfrm>
            <a:off x="7818120" y="1280160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7F5C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E7F5C"/>
                </a:solidFill>
                <a:latin typeface="Arial"/>
                <a:ea typeface="Arial"/>
                <a:cs typeface="Arial"/>
                <a:sym typeface="Arial"/>
              </a:rPr>
              <a:t>✓ definido  ·  ! a validar  ·  ? pendente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5"/>
          <p:cNvSpPr/>
          <p:nvPr/>
        </p:nvSpPr>
        <p:spPr>
          <a:xfrm>
            <a:off x="7543800" y="170078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15"/>
          <p:cNvSpPr txBox="1"/>
          <p:nvPr/>
        </p:nvSpPr>
        <p:spPr>
          <a:xfrm>
            <a:off x="7909560" y="1645920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Totem CANASVIEIRAS SPOT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Letras iluminadas no muro · sem detalhe no executivo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5"/>
          <p:cNvSpPr/>
          <p:nvPr/>
        </p:nvSpPr>
        <p:spPr>
          <a:xfrm>
            <a:off x="11496751" y="1700784"/>
            <a:ext cx="219456" cy="219456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5"/>
          <p:cNvSpPr/>
          <p:nvPr/>
        </p:nvSpPr>
        <p:spPr>
          <a:xfrm>
            <a:off x="7543800" y="2162556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15"/>
          <p:cNvSpPr txBox="1"/>
          <p:nvPr/>
        </p:nvSpPr>
        <p:spPr>
          <a:xfrm>
            <a:off x="7909560" y="2107692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Rampa de acesso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Guarda-corpo e corrimão em perfil preto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5"/>
          <p:cNvSpPr/>
          <p:nvPr/>
        </p:nvSpPr>
        <p:spPr>
          <a:xfrm>
            <a:off x="11496751" y="2162556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5"/>
          <p:cNvSpPr/>
          <p:nvPr/>
        </p:nvSpPr>
        <p:spPr>
          <a:xfrm>
            <a:off x="7543800" y="2624328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15"/>
          <p:cNvSpPr txBox="1"/>
          <p:nvPr/>
        </p:nvSpPr>
        <p:spPr>
          <a:xfrm>
            <a:off x="7909560" y="2569464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Paisagismo do passeio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Vegetação alta em frente ao térreo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5"/>
          <p:cNvSpPr/>
          <p:nvPr/>
        </p:nvSpPr>
        <p:spPr>
          <a:xfrm>
            <a:off x="11496751" y="2624328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5"/>
          <p:cNvSpPr/>
          <p:nvPr/>
        </p:nvSpPr>
        <p:spPr>
          <a:xfrm>
            <a:off x="7543800" y="3086100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15"/>
          <p:cNvSpPr txBox="1"/>
          <p:nvPr/>
        </p:nvSpPr>
        <p:spPr>
          <a:xfrm>
            <a:off x="7909560" y="3031236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Lojas 01 e 02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Vitrines em vidro · esquadria de alumínio preto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5"/>
          <p:cNvSpPr/>
          <p:nvPr/>
        </p:nvSpPr>
        <p:spPr>
          <a:xfrm>
            <a:off x="11496751" y="3086100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5"/>
          <p:cNvSpPr/>
          <p:nvPr/>
        </p:nvSpPr>
        <p:spPr>
          <a:xfrm>
            <a:off x="7543800" y="3547872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15"/>
          <p:cNvSpPr txBox="1"/>
          <p:nvPr/>
        </p:nvSpPr>
        <p:spPr>
          <a:xfrm>
            <a:off x="7909560" y="3493008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Elemento vazado EV1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Concreto 40×40 · borda "pixelada" no render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15"/>
          <p:cNvSpPr/>
          <p:nvPr/>
        </p:nvSpPr>
        <p:spPr>
          <a:xfrm>
            <a:off x="11496751" y="3547872"/>
            <a:ext cx="219456" cy="219456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15"/>
          <p:cNvSpPr/>
          <p:nvPr/>
        </p:nvSpPr>
        <p:spPr>
          <a:xfrm>
            <a:off x="7543800" y="400964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15"/>
          <p:cNvSpPr txBox="1"/>
          <p:nvPr/>
        </p:nvSpPr>
        <p:spPr>
          <a:xfrm>
            <a:off x="7909560" y="3954780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Oak do mezanino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Brise 2 Oak (Lesco Green Brise)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15"/>
          <p:cNvSpPr/>
          <p:nvPr/>
        </p:nvSpPr>
        <p:spPr>
          <a:xfrm>
            <a:off x="11496751" y="400964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15"/>
          <p:cNvSpPr/>
          <p:nvPr/>
        </p:nvSpPr>
        <p:spPr>
          <a:xfrm>
            <a:off x="7543800" y="4471416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15"/>
          <p:cNvSpPr txBox="1"/>
          <p:nvPr/>
        </p:nvSpPr>
        <p:spPr>
          <a:xfrm>
            <a:off x="7909560" y="4416552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Painel em grelha EV3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Elemento vazado 40×40 · cor a definir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15"/>
          <p:cNvSpPr/>
          <p:nvPr/>
        </p:nvSpPr>
        <p:spPr>
          <a:xfrm>
            <a:off x="11496751" y="4471416"/>
            <a:ext cx="219456" cy="219456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15"/>
          <p:cNvSpPr/>
          <p:nvPr/>
        </p:nvSpPr>
        <p:spPr>
          <a:xfrm>
            <a:off x="7543800" y="4933188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15"/>
          <p:cNvSpPr txBox="1"/>
          <p:nvPr/>
        </p:nvSpPr>
        <p:spPr>
          <a:xfrm>
            <a:off x="7909560" y="4878324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Floreiras AC-01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Vaso · floreira Vasoflex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15"/>
          <p:cNvSpPr/>
          <p:nvPr/>
        </p:nvSpPr>
        <p:spPr>
          <a:xfrm>
            <a:off x="11496751" y="4933188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5"/>
          <p:cNvSpPr/>
          <p:nvPr/>
        </p:nvSpPr>
        <p:spPr>
          <a:xfrm>
            <a:off x="7543800" y="5394960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15"/>
          <p:cNvSpPr txBox="1"/>
          <p:nvPr/>
        </p:nvSpPr>
        <p:spPr>
          <a:xfrm>
            <a:off x="7909560" y="5340096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Faixa de laje / marquise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REV-05 pintura cinza (ref. Nanquim)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15"/>
          <p:cNvSpPr/>
          <p:nvPr/>
        </p:nvSpPr>
        <p:spPr>
          <a:xfrm>
            <a:off x="11496751" y="5394960"/>
            <a:ext cx="219456" cy="219456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15"/>
          <p:cNvSpPr/>
          <p:nvPr/>
        </p:nvSpPr>
        <p:spPr>
          <a:xfrm>
            <a:off x="7543800" y="5856732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15"/>
          <p:cNvSpPr txBox="1"/>
          <p:nvPr/>
        </p:nvSpPr>
        <p:spPr>
          <a:xfrm>
            <a:off x="7909560" y="5801868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Esquadrias do pavimento 1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Alumínio anodizado preto · vidro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15"/>
          <p:cNvSpPr/>
          <p:nvPr/>
        </p:nvSpPr>
        <p:spPr>
          <a:xfrm>
            <a:off x="11496751" y="5856732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767" name="Google Shape;767;p26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PENDÊNCIAS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26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Fachada: pendências e pontos a confirmar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769" name="Google Shape;769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770" name="Google Shape;77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771" name="Google Shape;771;p26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14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02 (2).jpg" id="772" name="Google Shape;772;p2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00" y="1280160"/>
            <a:ext cx="3840480" cy="498348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Google Shape;773;p26"/>
          <p:cNvSpPr txBox="1"/>
          <p:nvPr/>
        </p:nvSpPr>
        <p:spPr>
          <a:xfrm>
            <a:off x="530352" y="1353312"/>
            <a:ext cx="1344168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LANÇAMENTO · 02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26"/>
          <p:cNvSpPr/>
          <p:nvPr/>
        </p:nvSpPr>
        <p:spPr>
          <a:xfrm>
            <a:off x="4572000" y="1280160"/>
            <a:ext cx="7162495" cy="8305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5" name="Google Shape;775;p26"/>
          <p:cNvSpPr txBox="1"/>
          <p:nvPr/>
        </p:nvSpPr>
        <p:spPr>
          <a:xfrm>
            <a:off x="4663440" y="141732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26"/>
          <p:cNvSpPr txBox="1"/>
          <p:nvPr/>
        </p:nvSpPr>
        <p:spPr>
          <a:xfrm>
            <a:off x="5074920" y="128016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Letreiro SEAZONE no coroamento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Detalhe, material, iluminação e fixação no reservatório (memorial 28.2 sem detalhe).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26"/>
          <p:cNvSpPr txBox="1"/>
          <p:nvPr/>
        </p:nvSpPr>
        <p:spPr>
          <a:xfrm>
            <a:off x="4663440" y="224790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26"/>
          <p:cNvSpPr txBox="1"/>
          <p:nvPr/>
        </p:nvSpPr>
        <p:spPr>
          <a:xfrm>
            <a:off x="5074920" y="211074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Ripado horizontal das janelas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Confirmar se o ripado do render entra na obra ou se prevalece o brise de piso a teto do executivo.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26"/>
          <p:cNvSpPr/>
          <p:nvPr/>
        </p:nvSpPr>
        <p:spPr>
          <a:xfrm>
            <a:off x="4572000" y="2941320"/>
            <a:ext cx="7162495" cy="8305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2" name="Google Shape;782;p26"/>
          <p:cNvSpPr txBox="1"/>
          <p:nvPr/>
        </p:nvSpPr>
        <p:spPr>
          <a:xfrm>
            <a:off x="4663440" y="307848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26"/>
          <p:cNvSpPr txBox="1"/>
          <p:nvPr/>
        </p:nvSpPr>
        <p:spPr>
          <a:xfrm>
            <a:off x="5074920" y="294132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Elemento vazado EV1–EV4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Cor das peças (render preto × concreto aparente ou REV-06) e borda "pixelada" do EV1 sobre as lojas.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26"/>
          <p:cNvSpPr txBox="1"/>
          <p:nvPr/>
        </p:nvSpPr>
        <p:spPr>
          <a:xfrm>
            <a:off x="4663440" y="39090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26"/>
          <p:cNvSpPr txBox="1"/>
          <p:nvPr/>
        </p:nvSpPr>
        <p:spPr>
          <a:xfrm>
            <a:off x="5074920" y="377190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e guarda-corpos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Briefing: brise em PVC e vidro com perfil "U" inox × executivo: alumínio Lesco e alumínio + vidro.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26"/>
          <p:cNvSpPr/>
          <p:nvPr/>
        </p:nvSpPr>
        <p:spPr>
          <a:xfrm>
            <a:off x="4572000" y="4602480"/>
            <a:ext cx="7162495" cy="8305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9" name="Google Shape;789;p26"/>
          <p:cNvSpPr txBox="1"/>
          <p:nvPr/>
        </p:nvSpPr>
        <p:spPr>
          <a:xfrm>
            <a:off x="4663440" y="47396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0" name="Google Shape;790;p26"/>
          <p:cNvSpPr txBox="1"/>
          <p:nvPr/>
        </p:nvSpPr>
        <p:spPr>
          <a:xfrm>
            <a:off x="5074920" y="460248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Cores e porcelanato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REV-05 "cinza claro" × ref. Nanquim; tom do Boreal Natural (REV-08) contra o render: aprovar amostras.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2" name="Google Shape;792;p26"/>
          <p:cNvSpPr txBox="1"/>
          <p:nvPr/>
        </p:nvSpPr>
        <p:spPr>
          <a:xfrm>
            <a:off x="4663440" y="557022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26"/>
          <p:cNvSpPr txBox="1"/>
          <p:nvPr/>
        </p:nvSpPr>
        <p:spPr>
          <a:xfrm>
            <a:off x="5074920" y="543306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Pergolado, totem e soleiras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Pergolado alumínio × metálico com madeira; detalhe do totem; soleira granito cinza (pranchas) × porcelanato (memorial 20.1).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1" name="Pill 5001"/>
          <p:cNvSpPr/>
          <p:nvPr/>
        </p:nvSpPr>
        <p:spPr>
          <a:xfrm>
            <a:off x="10799064" y="158572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2" name="Pill 5002"/>
          <p:cNvSpPr/>
          <p:nvPr/>
        </p:nvSpPr>
        <p:spPr>
          <a:xfrm>
            <a:off x="10735056" y="241630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3" name="Pill 5003"/>
          <p:cNvSpPr/>
          <p:nvPr/>
        </p:nvSpPr>
        <p:spPr>
          <a:xfrm>
            <a:off x="10735056" y="324688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4" name="Pill 5004"/>
          <p:cNvSpPr/>
          <p:nvPr/>
        </p:nvSpPr>
        <p:spPr>
          <a:xfrm>
            <a:off x="10735056" y="407746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5" name="Pill 5005"/>
          <p:cNvSpPr/>
          <p:nvPr/>
        </p:nvSpPr>
        <p:spPr>
          <a:xfrm>
            <a:off x="10735056" y="490804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6" name="Pill 5006"/>
          <p:cNvSpPr/>
          <p:nvPr/>
        </p:nvSpPr>
        <p:spPr>
          <a:xfrm>
            <a:off x="10735056" y="573862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43D"/>
        </a:solidFill>
      </p:bgPr>
    </p:bg>
    <p:spTree>
      <p:nvGrpSpPr>
        <p:cNvPr id="1" name=""/>
        <p:cNvGrpSpPr/>
        <p:nvPr/>
      </p:nvGrpSpPr>
      <p:grpSpPr/>
      <p:pic>
        <p:nvPicPr>
          <p:cNvPr descr="IMAGEM 01.png" id="465" name="Google Shape;465;p1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54880" y="0"/>
            <a:ext cx="743681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logo_cover.png" id="466" name="Google Shape;46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502920"/>
            <a:ext cx="1645920" cy="270780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p16"/>
          <p:cNvSpPr txBox="1"/>
          <p:nvPr/>
        </p:nvSpPr>
        <p:spPr>
          <a:xfrm>
            <a:off x="457200" y="2377440"/>
            <a:ext cx="393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7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16"/>
          <p:cNvSpPr txBox="1"/>
          <p:nvPr/>
        </p:nvSpPr>
        <p:spPr>
          <a:xfrm>
            <a:off x="457200" y="3383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Interiores das áreas comuns</a:t>
            </a:r>
            <a:endParaRPr b="0" i="0" sz="3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16"/>
          <p:cNvSpPr txBox="1"/>
          <p:nvPr/>
        </p:nvSpPr>
        <p:spPr>
          <a:xfrm>
            <a:off x="457200" y="4526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3EA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9D3EA"/>
                </a:solidFill>
                <a:latin typeface="Arial"/>
                <a:ea typeface="Arial"/>
                <a:cs typeface="Arial"/>
                <a:sym typeface="Arial"/>
              </a:rPr>
              <a:t>Conceito Seazone × situação  ·  recepção e corredores  ·  rooftop interno  ·  rooftop externo e piscina  ·  pendências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pl_icon_footer.png" id="470" name="Google Shape;470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6"/>
          <p:cNvSpPr txBox="1"/>
          <p:nvPr/>
        </p:nvSpPr>
        <p:spPr>
          <a:xfrm>
            <a:off x="731520" y="6382512"/>
            <a:ext cx="4023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15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477" name="Google Shape;477;p17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17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Conceito Seazone × situação do projeto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479" name="Google Shape;479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480" name="Google Shape;48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17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16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7"/>
          <p:cNvSpPr/>
          <p:nvPr/>
        </p:nvSpPr>
        <p:spPr>
          <a:xfrm>
            <a:off x="457200" y="1280160"/>
            <a:ext cx="2109155" cy="38862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2.png" id="483" name="Google Shape;483;p17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57200" y="1280160"/>
            <a:ext cx="2109155" cy="1234440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17"/>
          <p:cNvSpPr txBox="1"/>
          <p:nvPr/>
        </p:nvSpPr>
        <p:spPr>
          <a:xfrm>
            <a:off x="566928" y="2606040"/>
            <a:ext cx="1889699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Recepção / hall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7"/>
          <p:cNvSpPr txBox="1"/>
          <p:nvPr/>
        </p:nvSpPr>
        <p:spPr>
          <a:xfrm>
            <a:off x="566928" y="2944368"/>
            <a:ext cx="1889699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 SEAZONE (SEGUIR)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Painel do logo em Velvet off-white com "Canasvieiras SPOT" e LED no "O", sarrafos e floreiras em MDF Savana, sofá em couro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SITUAÇÃO REGISTRADA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Paredes: Vela / Camurça Clara (texturas) × briefing "Outono Gelado" (Coral)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17"/>
          <p:cNvSpPr/>
          <p:nvPr/>
        </p:nvSpPr>
        <p:spPr>
          <a:xfrm>
            <a:off x="2749235" y="1280160"/>
            <a:ext cx="2109155" cy="38862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ORREDOR 01.png" id="488" name="Google Shape;488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749235" y="1280160"/>
            <a:ext cx="2109155" cy="1234440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17"/>
          <p:cNvSpPr txBox="1"/>
          <p:nvPr/>
        </p:nvSpPr>
        <p:spPr>
          <a:xfrm>
            <a:off x="2858963" y="2606040"/>
            <a:ext cx="1889699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Corredores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17"/>
          <p:cNvSpPr txBox="1"/>
          <p:nvPr/>
        </p:nvSpPr>
        <p:spPr>
          <a:xfrm>
            <a:off x="2858963" y="2944368"/>
            <a:ext cx="1889699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 SEAZONE (SEGUIR)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Paredes off-white, sarrafos verticais em MDF Savana, arandelas cilindro com haste de madeira, piso claro 90×90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SITUAÇÃO REGISTRADA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Portas das unidades brancas (briefing e memorial; imagem ilustrativa) · rodapé branco × preto (texturas)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17"/>
          <p:cNvSpPr/>
          <p:nvPr/>
        </p:nvSpPr>
        <p:spPr>
          <a:xfrm>
            <a:off x="5041270" y="1280160"/>
            <a:ext cx="2109155" cy="38862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5.png" id="493" name="Google Shape;493;p1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041270" y="1280160"/>
            <a:ext cx="2109155" cy="1234440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17"/>
          <p:cNvSpPr txBox="1"/>
          <p:nvPr/>
        </p:nvSpPr>
        <p:spPr>
          <a:xfrm>
            <a:off x="5150998" y="2606040"/>
            <a:ext cx="1889699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Rooftop interno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7"/>
          <p:cNvSpPr txBox="1"/>
          <p:nvPr/>
        </p:nvSpPr>
        <p:spPr>
          <a:xfrm>
            <a:off x="5150998" y="2944368"/>
            <a:ext cx="1889699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 SEAZONE (SEGUIR)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Gourmet com pedra moledo, ripado de madeira, armários cinza, bancada Pitaya e pendente de rattan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SITUAÇÃO REGISTRADA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Marcenaria do rooftop "a definir" no memorial de interiores × Savana e Cinza Sagrado (texturas)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17"/>
          <p:cNvSpPr/>
          <p:nvPr/>
        </p:nvSpPr>
        <p:spPr>
          <a:xfrm>
            <a:off x="7333305" y="1280160"/>
            <a:ext cx="2109155" cy="38862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3.png" id="498" name="Google Shape;498;p1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333305" y="1280160"/>
            <a:ext cx="2109155" cy="1234440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17"/>
          <p:cNvSpPr txBox="1"/>
          <p:nvPr/>
        </p:nvSpPr>
        <p:spPr>
          <a:xfrm>
            <a:off x="7443033" y="2606040"/>
            <a:ext cx="1889699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Rooftop externo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7"/>
          <p:cNvSpPr txBox="1"/>
          <p:nvPr/>
        </p:nvSpPr>
        <p:spPr>
          <a:xfrm>
            <a:off x="7443033" y="2944368"/>
            <a:ext cx="1889699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 SEAZONE (SEGUIR)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Piscina com deck amadeirado, painel do logo em pedra, balanço e pergolado preto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SITUAÇÃO REGISTRADA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Revestimento da piscina e fixação do balanço divergem entre memorial, briefing e LOG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7"/>
          <p:cNvSpPr/>
          <p:nvPr/>
        </p:nvSpPr>
        <p:spPr>
          <a:xfrm>
            <a:off x="9625340" y="1280160"/>
            <a:ext cx="2109155" cy="38862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10.png" id="503" name="Google Shape;503;p1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25340" y="1280160"/>
            <a:ext cx="2109155" cy="1234440"/>
          </a:xfrm>
          <a:prstGeom prst="rect">
            <a:avLst/>
          </a:prstGeom>
          <a:noFill/>
          <a:ln>
            <a:noFill/>
          </a:ln>
        </p:spPr>
      </p:pic>
      <p:sp>
        <p:nvSpPr>
          <p:cNvPr id="504" name="Google Shape;504;p17"/>
          <p:cNvSpPr txBox="1"/>
          <p:nvPr/>
        </p:nvSpPr>
        <p:spPr>
          <a:xfrm>
            <a:off x="9735068" y="2606040"/>
            <a:ext cx="1889699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Projeto de interiores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17"/>
          <p:cNvSpPr txBox="1"/>
          <p:nvPr/>
        </p:nvSpPr>
        <p:spPr>
          <a:xfrm>
            <a:off x="9735068" y="2944368"/>
            <a:ext cx="1889699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 SEAZONE (SEGUIR)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Imagens Seazone + Memorial de Texturas + Memorial de Interiores (10 - Projeto de Interiores)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SITUAÇÃO REGISTRADA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Recepção entregue mobiliada (memorial 31) · marcenaria, bancadas e luminárias pela Decor (memorial 32.1)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17"/>
          <p:cNvSpPr txBox="1"/>
          <p:nvPr/>
        </p:nvSpPr>
        <p:spPr>
          <a:xfrm>
            <a:off x="457200" y="5230368"/>
            <a:ext cx="1127729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Imagens Seazone (10 - Projeto de Interiores / 02 - Imagens) × Memorial Descritivo, Memorial de Texturas, Memorial de Interiores, Briefing e LOG de considerações (00 - Premissas de Projeto).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17"/>
          <p:cNvSpPr/>
          <p:nvPr/>
        </p:nvSpPr>
        <p:spPr>
          <a:xfrm>
            <a:off x="457200" y="5532120"/>
            <a:ext cx="11277295" cy="731520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1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ATENÇÃO · REGRA PARA A OBRA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Vale o conceito Seazone das áreas comuns. Onde a imagem mostra cimento queimado, aplicar textura Velvet (memorial de texturas). Qualquer troca de material ou mobiliário precisa de validação registrada.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1" name="Pill 5001"/>
          <p:cNvSpPr/>
          <p:nvPr/>
        </p:nvSpPr>
        <p:spPr>
          <a:xfrm>
            <a:off x="566928" y="482803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2" name="Pill 5002"/>
          <p:cNvSpPr/>
          <p:nvPr/>
        </p:nvSpPr>
        <p:spPr>
          <a:xfrm>
            <a:off x="2858963" y="482803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3" name="Pill 5003"/>
          <p:cNvSpPr/>
          <p:nvPr/>
        </p:nvSpPr>
        <p:spPr>
          <a:xfrm>
            <a:off x="5150998" y="482803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4" name="Pill 5004"/>
          <p:cNvSpPr/>
          <p:nvPr/>
        </p:nvSpPr>
        <p:spPr>
          <a:xfrm>
            <a:off x="7443033" y="482803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5" name="Pill 5005"/>
          <p:cNvSpPr/>
          <p:nvPr/>
        </p:nvSpPr>
        <p:spPr>
          <a:xfrm>
            <a:off x="9735068" y="482803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800" name="Google Shape;800;p27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RECEPÇÃO E CORREDORES · MOODBOARD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1" name="Google Shape;801;p27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Recepção e corredores: Velvet, Savana e couro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802" name="Google Shape;802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803" name="Google Shape;80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804" name="Google Shape;804;p27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17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1.png" id="805" name="Google Shape;805;p27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3794760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2.png" id="806" name="Google Shape;806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5722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3.png" id="807" name="Google Shape;807;p2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136685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4.png" id="808" name="Google Shape;808;p2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794760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5.png" id="809" name="Google Shape;809;p2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65722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ORREDOR 01.png" id="810" name="Google Shape;810;p2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136685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ORREDOR 02.png" id="811" name="Google Shape;811;p27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794760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lanta recepção.png" id="812" name="Google Shape;812;p2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65722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ORREDOR 01.png" id="813" name="Google Shape;813;p27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136685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sp>
        <p:nvSpPr>
          <p:cNvPr id="814" name="Google Shape;814;p27"/>
          <p:cNvSpPr/>
          <p:nvPr/>
        </p:nvSpPr>
        <p:spPr>
          <a:xfrm>
            <a:off x="457200" y="3977640"/>
            <a:ext cx="3108960" cy="914400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5" name="Google Shape;815;p27"/>
          <p:cNvSpPr txBox="1"/>
          <p:nvPr/>
        </p:nvSpPr>
        <p:spPr>
          <a:xfrm>
            <a:off x="640080" y="406908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REGRA DO MEMORIAL DE TEXTURAS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Onde a imagem mostra cimento queimado, aplicar textura Velvet. Portas das unidades nos corredores: brancas.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6" name="Google Shape;816;p27"/>
          <p:cNvSpPr txBox="1"/>
          <p:nvPr/>
        </p:nvSpPr>
        <p:spPr>
          <a:xfrm>
            <a:off x="457200" y="1280160"/>
            <a:ext cx="3108960" cy="4983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Recepção com painel do logo em textura Velvet off-white e letreiro "Canasvieiras SPOT" com LED no "O", sarrafos verticais e floreiras em MDF Savana e muita vegetação.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CORREDORES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Paredes off-white acetinadas com sarrafos em MDF Savana, arandelas cilindro com haste de madeira e piso claro 90×90.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Sofá em couro, puffs Aurora e Saturno cinza, puff Seat Garden e tapete Debrum Chevron cinza (memorial de interiores).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2.png" id="817" name="Google Shape;817;p27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457200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818" name="Google Shape;818;p27"/>
          <p:cNvSpPr txBox="1"/>
          <p:nvPr/>
        </p:nvSpPr>
        <p:spPr>
          <a:xfrm>
            <a:off x="402336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Velvet off-white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2.png" id="819" name="Google Shape;819;p27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261872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820" name="Google Shape;820;p27"/>
          <p:cNvSpPr txBox="1"/>
          <p:nvPr/>
        </p:nvSpPr>
        <p:spPr>
          <a:xfrm>
            <a:off x="1207008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Superquadra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ORREDOR 01.png" id="821" name="Google Shape;821;p27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066544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822" name="Google Shape;822;p27"/>
          <p:cNvSpPr txBox="1"/>
          <p:nvPr/>
        </p:nvSpPr>
        <p:spPr>
          <a:xfrm>
            <a:off x="2011680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MDF Savana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2.png" id="823" name="Google Shape;823;p27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2871216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824" name="Google Shape;824;p27"/>
          <p:cNvSpPr txBox="1"/>
          <p:nvPr/>
        </p:nvSpPr>
        <p:spPr>
          <a:xfrm>
            <a:off x="2816352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Couro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848" name="Google Shape;848;p29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RECEPÇÃO E CORREDORES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29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Ficha: recepção, hall e corredores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850" name="Google Shape;850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851" name="Google Shape;851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852" name="Google Shape;852;p29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18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2.png" id="853" name="Google Shape;853;p2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7200" y="1280160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854" name="Google Shape;854;p29"/>
          <p:cNvSpPr txBox="1"/>
          <p:nvPr/>
        </p:nvSpPr>
        <p:spPr>
          <a:xfrm>
            <a:off x="548640" y="1371600"/>
            <a:ext cx="162946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CONCEITO · RECEPÇÃO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ORREDOR 01.png" id="855" name="Google Shape;855;p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200" y="3511296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856" name="Google Shape;856;p29"/>
          <p:cNvSpPr txBox="1"/>
          <p:nvPr/>
        </p:nvSpPr>
        <p:spPr>
          <a:xfrm>
            <a:off x="548640" y="3602736"/>
            <a:ext cx="162946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CONCEITO · CORREDOR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29"/>
          <p:cNvSpPr txBox="1"/>
          <p:nvPr/>
        </p:nvSpPr>
        <p:spPr>
          <a:xfrm>
            <a:off x="457200" y="576072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950"/>
              <a:buFont typeface="Arial"/>
              <a:buNone/>
            </a:pPr>
            <a:r>
              <a:rPr b="0" i="1" lang="en-US" sz="9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Recepção entregue mobiliada e equipada (memorial 31). Imagens em 10 - Projeto de Interiores / 02 - Imagens / RECEPÇÃO.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29"/>
          <p:cNvSpPr/>
          <p:nvPr/>
        </p:nvSpPr>
        <p:spPr>
          <a:xfrm>
            <a:off x="4572000" y="128016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9" name="Google Shape;859;p29"/>
          <p:cNvSpPr txBox="1"/>
          <p:nvPr/>
        </p:nvSpPr>
        <p:spPr>
          <a:xfrm>
            <a:off x="4681728" y="12801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Painel do logo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29"/>
          <p:cNvSpPr txBox="1"/>
          <p:nvPr/>
        </p:nvSpPr>
        <p:spPr>
          <a:xfrm>
            <a:off x="6126480" y="128016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Textura Velvet off-white (Suvinil Efeito Veludo / Coral Design) + "Canasvieiras SPOT" preto com LED no "O"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1" name="Google Shape;861;p29"/>
          <p:cNvSpPr txBox="1"/>
          <p:nvPr/>
        </p:nvSpPr>
        <p:spPr>
          <a:xfrm>
            <a:off x="4681728" y="18338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Paredes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29"/>
          <p:cNvSpPr txBox="1"/>
          <p:nvPr/>
        </p:nvSpPr>
        <p:spPr>
          <a:xfrm>
            <a:off x="6126480" y="1833880"/>
            <a:ext cx="45537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Off-white acetinado · Suvinil "Vela" / Coral "Camurça Clara" (texturas) × briefing corredores: "Outono Gelado" (Coral)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29"/>
          <p:cNvSpPr/>
          <p:nvPr/>
        </p:nvSpPr>
        <p:spPr>
          <a:xfrm>
            <a:off x="4572000" y="238760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5" name="Google Shape;865;p29"/>
          <p:cNvSpPr txBox="1"/>
          <p:nvPr/>
        </p:nvSpPr>
        <p:spPr>
          <a:xfrm>
            <a:off x="4681728" y="23876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Ripado e floreiras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29"/>
          <p:cNvSpPr txBox="1"/>
          <p:nvPr/>
        </p:nvSpPr>
        <p:spPr>
          <a:xfrm>
            <a:off x="6126480" y="238760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Sarrafos verticais em MDF Savana com verniz fosco · floreiras em MDF Savana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29"/>
          <p:cNvSpPr txBox="1"/>
          <p:nvPr/>
        </p:nvSpPr>
        <p:spPr>
          <a:xfrm>
            <a:off x="4681728" y="29413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Piso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29"/>
          <p:cNvSpPr txBox="1"/>
          <p:nvPr/>
        </p:nvSpPr>
        <p:spPr>
          <a:xfrm>
            <a:off x="6126480" y="294132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Superquadra Concreto Natural 90×90 retificado (Portobello) · lobby e corredores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29"/>
          <p:cNvSpPr/>
          <p:nvPr/>
        </p:nvSpPr>
        <p:spPr>
          <a:xfrm>
            <a:off x="4572000" y="349504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0" name="Google Shape;870;p29"/>
          <p:cNvSpPr txBox="1"/>
          <p:nvPr/>
        </p:nvSpPr>
        <p:spPr>
          <a:xfrm>
            <a:off x="4681728" y="349504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Teto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29"/>
          <p:cNvSpPr txBox="1"/>
          <p:nvPr/>
        </p:nvSpPr>
        <p:spPr>
          <a:xfrm>
            <a:off x="6126480" y="349504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Recepção: gesso acartonado com pé-direito duplo (briefing) · corredores: forro modular mineral (memorial 15.2)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29"/>
          <p:cNvSpPr txBox="1"/>
          <p:nvPr/>
        </p:nvSpPr>
        <p:spPr>
          <a:xfrm>
            <a:off x="4681728" y="40487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Rodapé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29"/>
          <p:cNvSpPr txBox="1"/>
          <p:nvPr/>
        </p:nvSpPr>
        <p:spPr>
          <a:xfrm>
            <a:off x="6126480" y="4048760"/>
            <a:ext cx="45537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Briefing e prancha 24: poliestireno branco de sobrepor, quina viva × memorial de texturas: esmalte preto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5" name="Google Shape;875;p29"/>
          <p:cNvSpPr/>
          <p:nvPr/>
        </p:nvSpPr>
        <p:spPr>
          <a:xfrm>
            <a:off x="4572000" y="460248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6" name="Google Shape;876;p29"/>
          <p:cNvSpPr txBox="1"/>
          <p:nvPr/>
        </p:nvSpPr>
        <p:spPr>
          <a:xfrm>
            <a:off x="4681728" y="46024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7" name="Google Shape;877;p29"/>
          <p:cNvSpPr txBox="1"/>
          <p:nvPr/>
        </p:nvSpPr>
        <p:spPr>
          <a:xfrm>
            <a:off x="6126480" y="460248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Sofá em couro · puffs Aurora e Saturno cinza · puff Seat Garden · tapete Debrum Chevron cinza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29"/>
          <p:cNvSpPr txBox="1"/>
          <p:nvPr/>
        </p:nvSpPr>
        <p:spPr>
          <a:xfrm>
            <a:off x="4681728" y="51562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Portas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p29"/>
          <p:cNvSpPr txBox="1"/>
          <p:nvPr/>
        </p:nvSpPr>
        <p:spPr>
          <a:xfrm>
            <a:off x="6126480" y="515620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Portas das unidades brancas, bandeira até o forro (briefing) = laca PU branca (memorial 17.1)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29"/>
          <p:cNvSpPr/>
          <p:nvPr/>
        </p:nvSpPr>
        <p:spPr>
          <a:xfrm>
            <a:off x="4572000" y="570992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1" name="Google Shape;881;p29"/>
          <p:cNvSpPr txBox="1"/>
          <p:nvPr/>
        </p:nvSpPr>
        <p:spPr>
          <a:xfrm>
            <a:off x="4681728" y="57099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Iluminação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2" name="Google Shape;882;p29"/>
          <p:cNvSpPr txBox="1"/>
          <p:nvPr/>
        </p:nvSpPr>
        <p:spPr>
          <a:xfrm>
            <a:off x="6126480" y="570992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Trilho com spots direcionáveis em alumínio preto · arandelas de corredor: cilindro off-white + haste Savana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1" name="Pill 5001"/>
          <p:cNvSpPr/>
          <p:nvPr/>
        </p:nvSpPr>
        <p:spPr>
          <a:xfrm>
            <a:off x="10735056" y="2001011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2" name="Pill 5002"/>
          <p:cNvSpPr/>
          <p:nvPr/>
        </p:nvSpPr>
        <p:spPr>
          <a:xfrm>
            <a:off x="10735056" y="421589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888" name="Google Shape;888;p3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ROOFTOP · MOODBOARD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30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Rooftop: integração, gourmet e piscina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890" name="Google Shape;890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891" name="Google Shape;891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892" name="Google Shape;892;p30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19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5.png" id="893" name="Google Shape;893;p30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3794760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6.png" id="894" name="Google Shape;894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5722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7.png" id="895" name="Google Shape;895;p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136685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8.png" id="896" name="Google Shape;896;p3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794760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9.png" id="897" name="Google Shape;897;p3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65722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10.png" id="898" name="Google Shape;898;p3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136685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1.png" id="899" name="Google Shape;899;p30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794760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2.png" id="900" name="Google Shape;900;p30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65722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M 03.png" id="901" name="Google Shape;901;p30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136685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sp>
        <p:nvSpPr>
          <p:cNvPr id="902" name="Google Shape;902;p30"/>
          <p:cNvSpPr txBox="1"/>
          <p:nvPr/>
        </p:nvSpPr>
        <p:spPr>
          <a:xfrm>
            <a:off x="457200" y="1280160"/>
            <a:ext cx="3108960" cy="4983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Gourmet e copa com pedra moledo, ripados de madeira, armários cinza e pendente de rattan; deck amadeirado com piscina e painel do logo em pedra.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REGRA DE TEXTURA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Onde a imagem mostra cimento queimado: textura Velvet cinza concreto (memorial de texturas).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Cadeira Mara bouclé cinza, poltrona em alumínio preto, banqueta Clarice, balanço Acapulco e espreguiçadeira em aço preto.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5.png" id="903" name="Google Shape;903;p30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457200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904" name="Google Shape;904;p30"/>
          <p:cNvSpPr txBox="1"/>
          <p:nvPr/>
        </p:nvSpPr>
        <p:spPr>
          <a:xfrm>
            <a:off x="402336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Pedra moledo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2.png" id="905" name="Google Shape;905;p30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261872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906" name="Google Shape;906;p30"/>
          <p:cNvSpPr txBox="1"/>
          <p:nvPr/>
        </p:nvSpPr>
        <p:spPr>
          <a:xfrm>
            <a:off x="1207008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Velvet cinza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5.png" id="907" name="Google Shape;907;p30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066544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908" name="Google Shape;908;p30"/>
          <p:cNvSpPr txBox="1"/>
          <p:nvPr/>
        </p:nvSpPr>
        <p:spPr>
          <a:xfrm>
            <a:off x="2011680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Ripado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1.png" id="909" name="Google Shape;909;p30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2871216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910" name="Google Shape;910;p30"/>
          <p:cNvSpPr txBox="1"/>
          <p:nvPr/>
        </p:nvSpPr>
        <p:spPr>
          <a:xfrm>
            <a:off x="2816352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Deck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938" name="Google Shape;938;p32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ROOFTOP INTERNO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9" name="Google Shape;939;p32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Ficha de premissas: gourmet, copa e mini market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940" name="Google Shape;940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941" name="Google Shape;941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942" name="Google Shape;942;p32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20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5.png" id="943" name="Google Shape;943;p3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7200" y="1280160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944" name="Google Shape;944;p32"/>
          <p:cNvSpPr txBox="1"/>
          <p:nvPr/>
        </p:nvSpPr>
        <p:spPr>
          <a:xfrm>
            <a:off x="548640" y="1371600"/>
            <a:ext cx="2128723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CONCEITO SEAZONE · GOURMET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9.png" id="945" name="Google Shape;945;p3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200" y="3511296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946" name="Google Shape;946;p32"/>
          <p:cNvSpPr txBox="1"/>
          <p:nvPr/>
        </p:nvSpPr>
        <p:spPr>
          <a:xfrm>
            <a:off x="548640" y="3602736"/>
            <a:ext cx="1058875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MINI MARKET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32"/>
          <p:cNvSpPr txBox="1"/>
          <p:nvPr/>
        </p:nvSpPr>
        <p:spPr>
          <a:xfrm>
            <a:off x="457200" y="576072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950"/>
              <a:buFont typeface="Arial"/>
              <a:buNone/>
            </a:pPr>
            <a:r>
              <a:rPr b="0" i="1" lang="en-US" sz="9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Memorial de interiores lista a marcenaria do rooftop como "material a definir": fechar referência antes do pedido.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32"/>
          <p:cNvSpPr/>
          <p:nvPr/>
        </p:nvSpPr>
        <p:spPr>
          <a:xfrm>
            <a:off x="4572000" y="128016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9" name="Google Shape;949;p32"/>
          <p:cNvSpPr txBox="1"/>
          <p:nvPr/>
        </p:nvSpPr>
        <p:spPr>
          <a:xfrm>
            <a:off x="4681728" y="12801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Painéis cinza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32"/>
          <p:cNvSpPr txBox="1"/>
          <p:nvPr/>
        </p:nvSpPr>
        <p:spPr>
          <a:xfrm>
            <a:off x="6126480" y="128016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Textura Velvet cinza concreto médio (Suvinil "Cimento Queimado"/"Concreto") · aprovar amostra contra o render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2" name="Google Shape;952;p32"/>
          <p:cNvSpPr txBox="1"/>
          <p:nvPr/>
        </p:nvSpPr>
        <p:spPr>
          <a:xfrm>
            <a:off x="4681728" y="18338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Paredes internas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3" name="Google Shape;953;p32"/>
          <p:cNvSpPr txBox="1"/>
          <p:nvPr/>
        </p:nvSpPr>
        <p:spPr>
          <a:xfrm>
            <a:off x="6126480" y="183388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Pintura fosco aveludado lavável cinza claro · Suvinil "Cromo" / Coral "Cinza Sublime"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4" name="Google Shape;954;p32"/>
          <p:cNvSpPr/>
          <p:nvPr/>
        </p:nvSpPr>
        <p:spPr>
          <a:xfrm>
            <a:off x="4572000" y="238760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5" name="Google Shape;955;p32"/>
          <p:cNvSpPr txBox="1"/>
          <p:nvPr/>
        </p:nvSpPr>
        <p:spPr>
          <a:xfrm>
            <a:off x="4681728" y="23876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Pedra da copa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6" name="Google Shape;956;p32"/>
          <p:cNvSpPr txBox="1"/>
          <p:nvPr/>
        </p:nvSpPr>
        <p:spPr>
          <a:xfrm>
            <a:off x="6126480" y="238760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Pedra branca estilo moledo, irregular, junta seca (briefing e memorial de texturas)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7" name="Google Shape;957;p32"/>
          <p:cNvSpPr txBox="1"/>
          <p:nvPr/>
        </p:nvSpPr>
        <p:spPr>
          <a:xfrm>
            <a:off x="4681728" y="29413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Piso interno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8" name="Google Shape;958;p32"/>
          <p:cNvSpPr txBox="1"/>
          <p:nvPr/>
        </p:nvSpPr>
        <p:spPr>
          <a:xfrm>
            <a:off x="6126480" y="294132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90×90 natural/acetinado (briefing)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9" name="Google Shape;959;p32"/>
          <p:cNvSpPr/>
          <p:nvPr/>
        </p:nvSpPr>
        <p:spPr>
          <a:xfrm>
            <a:off x="4572000" y="349504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0" name="Google Shape;960;p32"/>
          <p:cNvSpPr txBox="1"/>
          <p:nvPr/>
        </p:nvSpPr>
        <p:spPr>
          <a:xfrm>
            <a:off x="4681728" y="349504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Marcenaria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1" name="Google Shape;961;p32"/>
          <p:cNvSpPr txBox="1"/>
          <p:nvPr/>
        </p:nvSpPr>
        <p:spPr>
          <a:xfrm>
            <a:off x="6126480" y="3495040"/>
            <a:ext cx="45537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Ripados e prateleiras em MDF Savana · armários do gourmet e mini market em MDF Cinza Sagrado × memorial de interiores "a definir"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2" name="Google Shape;962;p32"/>
          <p:cNvSpPr txBox="1"/>
          <p:nvPr/>
        </p:nvSpPr>
        <p:spPr>
          <a:xfrm>
            <a:off x="4681728" y="40487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Bancada da copa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3" name="Google Shape;963;p32"/>
          <p:cNvSpPr txBox="1"/>
          <p:nvPr/>
        </p:nvSpPr>
        <p:spPr>
          <a:xfrm>
            <a:off x="6126480" y="404876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Granito Pitaya · cuba inox · torneira Gali bica alta (Docol)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4" name="Google Shape;964;p32"/>
          <p:cNvSpPr/>
          <p:nvPr/>
        </p:nvSpPr>
        <p:spPr>
          <a:xfrm>
            <a:off x="4572000" y="460248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5" name="Google Shape;965;p32"/>
          <p:cNvSpPr txBox="1"/>
          <p:nvPr/>
        </p:nvSpPr>
        <p:spPr>
          <a:xfrm>
            <a:off x="4681728" y="46024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Forro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6" name="Google Shape;966;p32"/>
          <p:cNvSpPr txBox="1"/>
          <p:nvPr/>
        </p:nvSpPr>
        <p:spPr>
          <a:xfrm>
            <a:off x="6126480" y="460248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Forro modular no rooftop e no mini market (briefing)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7" name="Google Shape;967;p32"/>
          <p:cNvSpPr txBox="1"/>
          <p:nvPr/>
        </p:nvSpPr>
        <p:spPr>
          <a:xfrm>
            <a:off x="4681728" y="51562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8" name="Google Shape;968;p32"/>
          <p:cNvSpPr txBox="1"/>
          <p:nvPr/>
        </p:nvSpPr>
        <p:spPr>
          <a:xfrm>
            <a:off x="6126480" y="515620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Cadeira Mara bouclé cinza · banqueta Clarice · poltrona em alumínio preto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9" name="Google Shape;969;p32"/>
          <p:cNvSpPr/>
          <p:nvPr/>
        </p:nvSpPr>
        <p:spPr>
          <a:xfrm>
            <a:off x="4572000" y="570992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0" name="Google Shape;970;p32"/>
          <p:cNvSpPr txBox="1"/>
          <p:nvPr/>
        </p:nvSpPr>
        <p:spPr>
          <a:xfrm>
            <a:off x="4681728" y="57099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Iluminação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32"/>
          <p:cNvSpPr txBox="1"/>
          <p:nvPr/>
        </p:nvSpPr>
        <p:spPr>
          <a:xfrm>
            <a:off x="6126480" y="570992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Spots de sobrepor pretos · pendente Bulan em rattan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1" name="Pill 5001"/>
          <p:cNvSpPr/>
          <p:nvPr/>
        </p:nvSpPr>
        <p:spPr>
          <a:xfrm>
            <a:off x="10799064" y="366217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7" name="Google Shape;1007;p34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ROOFTOP EXTERNO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Google Shape;1008;p34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Ficha de premissas: rooftop externo e piscina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1009" name="Google Shape;1009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1010" name="Google Shape;1010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11" name="Google Shape;1011;p34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21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3.png" id="1012" name="Google Shape;1012;p3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7200" y="1280160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1013" name="Google Shape;1013;p34"/>
          <p:cNvSpPr txBox="1"/>
          <p:nvPr/>
        </p:nvSpPr>
        <p:spPr>
          <a:xfrm>
            <a:off x="548640" y="1371600"/>
            <a:ext cx="1558137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CONCEITO · PISCINA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2.png" id="1014" name="Google Shape;1014;p3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200" y="3511296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1015" name="Google Shape;1015;p34"/>
          <p:cNvSpPr txBox="1"/>
          <p:nvPr/>
        </p:nvSpPr>
        <p:spPr>
          <a:xfrm>
            <a:off x="548640" y="3602736"/>
            <a:ext cx="205740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CONCEITO · BALANÇO E LOGO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34"/>
          <p:cNvSpPr txBox="1"/>
          <p:nvPr/>
        </p:nvSpPr>
        <p:spPr>
          <a:xfrm>
            <a:off x="457200" y="576072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950"/>
              <a:buFont typeface="Arial"/>
              <a:buNone/>
            </a:pPr>
            <a:r>
              <a:rPr b="0" i="1" lang="en-US" sz="9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Painel do logo em pedra moledo com "Canasvieiras SPOT"; floreira e banco em alvenaria com a mesma pedra (LOG Ind. 02).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7" name="Google Shape;1017;p34"/>
          <p:cNvSpPr/>
          <p:nvPr/>
        </p:nvSpPr>
        <p:spPr>
          <a:xfrm>
            <a:off x="4572000" y="128016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8" name="Google Shape;1018;p34"/>
          <p:cNvSpPr txBox="1"/>
          <p:nvPr/>
        </p:nvSpPr>
        <p:spPr>
          <a:xfrm>
            <a:off x="4681728" y="12801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Piscina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9" name="Google Shape;1019;p34"/>
          <p:cNvSpPr txBox="1"/>
          <p:nvPr/>
        </p:nvSpPr>
        <p:spPr>
          <a:xfrm>
            <a:off x="6126480" y="1280160"/>
            <a:ext cx="45537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Barlavento Blanc 14,5×14,5 (memorial 30.3.1, prancha 44) × briefing: revestimento esverdeado 20×20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1" name="Google Shape;1021;p34"/>
          <p:cNvSpPr txBox="1"/>
          <p:nvPr/>
        </p:nvSpPr>
        <p:spPr>
          <a:xfrm>
            <a:off x="4681728" y="18338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Borda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2" name="Google Shape;1022;p34"/>
          <p:cNvSpPr txBox="1"/>
          <p:nvPr/>
        </p:nvSpPr>
        <p:spPr>
          <a:xfrm>
            <a:off x="6126480" y="1833880"/>
            <a:ext cx="45537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Borda curva (prancha) × borda infinita/atérmica: definir acabamento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3" name="Google Shape;1023;p34"/>
          <p:cNvSpPr/>
          <p:nvPr/>
        </p:nvSpPr>
        <p:spPr>
          <a:xfrm>
            <a:off x="4572000" y="238760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4" name="Google Shape;1024;p34"/>
          <p:cNvSpPr txBox="1"/>
          <p:nvPr/>
        </p:nvSpPr>
        <p:spPr>
          <a:xfrm>
            <a:off x="4681728" y="23876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Aquecimento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5" name="Google Shape;1025;p34"/>
          <p:cNvSpPr txBox="1"/>
          <p:nvPr/>
        </p:nvSpPr>
        <p:spPr>
          <a:xfrm>
            <a:off x="6126480" y="238760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Solar (briefing e memorial)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Google Shape;1026;p34"/>
          <p:cNvSpPr txBox="1"/>
          <p:nvPr/>
        </p:nvSpPr>
        <p:spPr>
          <a:xfrm>
            <a:off x="4681728" y="29413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Deck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34"/>
          <p:cNvSpPr txBox="1"/>
          <p:nvPr/>
        </p:nvSpPr>
        <p:spPr>
          <a:xfrm>
            <a:off x="6126480" y="2941320"/>
            <a:ext cx="45537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que imita madeira 120×20 (briefing) sobre piso elevado (prancha 44) · referência não definida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8" name="Google Shape;1028;p34"/>
          <p:cNvSpPr/>
          <p:nvPr/>
        </p:nvSpPr>
        <p:spPr>
          <a:xfrm>
            <a:off x="4572000" y="349504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34"/>
          <p:cNvSpPr txBox="1"/>
          <p:nvPr/>
        </p:nvSpPr>
        <p:spPr>
          <a:xfrm>
            <a:off x="4681728" y="349504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Pedra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0" name="Google Shape;1030;p34"/>
          <p:cNvSpPr txBox="1"/>
          <p:nvPr/>
        </p:nvSpPr>
        <p:spPr>
          <a:xfrm>
            <a:off x="6126480" y="349504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Pedra branca estilo moledo na parede do balanço e lateral · floreira e banco com a mesma pedra (LOG Ind. 02)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1" name="Google Shape;1031;p34"/>
          <p:cNvSpPr txBox="1"/>
          <p:nvPr/>
        </p:nvSpPr>
        <p:spPr>
          <a:xfrm>
            <a:off x="4681728" y="40487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Painel do logo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34"/>
          <p:cNvSpPr txBox="1"/>
          <p:nvPr/>
        </p:nvSpPr>
        <p:spPr>
          <a:xfrm>
            <a:off x="6126480" y="404876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"Canasvieiras SPOT" preto com LED no "O" sobre a pedra · ponto com interruptor no logo (briefing)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34"/>
          <p:cNvSpPr/>
          <p:nvPr/>
        </p:nvSpPr>
        <p:spPr>
          <a:xfrm>
            <a:off x="4572000" y="460248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34"/>
          <p:cNvSpPr txBox="1"/>
          <p:nvPr/>
        </p:nvSpPr>
        <p:spPr>
          <a:xfrm>
            <a:off x="4681728" y="46024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Balanço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34"/>
          <p:cNvSpPr txBox="1"/>
          <p:nvPr/>
        </p:nvSpPr>
        <p:spPr>
          <a:xfrm>
            <a:off x="6126480" y="4602480"/>
            <a:ext cx="45537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Reforço no pergolado (LOG Ind. 06) × instalação direto na laje (briefing)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34"/>
          <p:cNvSpPr txBox="1"/>
          <p:nvPr/>
        </p:nvSpPr>
        <p:spPr>
          <a:xfrm>
            <a:off x="4681728" y="51562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Guarda-corpo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34"/>
          <p:cNvSpPr txBox="1"/>
          <p:nvPr/>
        </p:nvSpPr>
        <p:spPr>
          <a:xfrm>
            <a:off x="6126480" y="5156200"/>
            <a:ext cx="45537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GC-03 alumínio anodizado + vidro (executivo) × briefing: vidro com perfil "U" inox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34"/>
          <p:cNvSpPr/>
          <p:nvPr/>
        </p:nvSpPr>
        <p:spPr>
          <a:xfrm>
            <a:off x="4572000" y="570992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34"/>
          <p:cNvSpPr txBox="1"/>
          <p:nvPr/>
        </p:nvSpPr>
        <p:spPr>
          <a:xfrm>
            <a:off x="4681728" y="57099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2" name="Google Shape;1042;p34"/>
          <p:cNvSpPr txBox="1"/>
          <p:nvPr/>
        </p:nvSpPr>
        <p:spPr>
          <a:xfrm>
            <a:off x="6126480" y="5709920"/>
            <a:ext cx="5468112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Balanço Acapulco · espreguiçadeira em aço preto · banqueta Clarice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1" name="Pill 5001"/>
          <p:cNvSpPr/>
          <p:nvPr/>
        </p:nvSpPr>
        <p:spPr>
          <a:xfrm>
            <a:off x="10735056" y="144729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2" name="Pill 5002"/>
          <p:cNvSpPr/>
          <p:nvPr/>
        </p:nvSpPr>
        <p:spPr>
          <a:xfrm>
            <a:off x="10735056" y="2001011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3" name="Pill 5003"/>
          <p:cNvSpPr/>
          <p:nvPr/>
        </p:nvSpPr>
        <p:spPr>
          <a:xfrm>
            <a:off x="10799064" y="310845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4" name="Pill 5004"/>
          <p:cNvSpPr/>
          <p:nvPr/>
        </p:nvSpPr>
        <p:spPr>
          <a:xfrm>
            <a:off x="10735056" y="476961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5" name="Pill 5005"/>
          <p:cNvSpPr/>
          <p:nvPr/>
        </p:nvSpPr>
        <p:spPr>
          <a:xfrm>
            <a:off x="10735056" y="532333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767" name="Google Shape;767;p26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PENDÊNCIAS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26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Áreas comuns: pendências e pontos a confirmar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769" name="Google Shape;769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770" name="Google Shape;77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771" name="Google Shape;771;p26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22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M 01.png" id="772" name="Google Shape;772;p2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00" y="1280160"/>
            <a:ext cx="3840480" cy="498348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Google Shape;773;p26"/>
          <p:cNvSpPr txBox="1"/>
          <p:nvPr/>
        </p:nvSpPr>
        <p:spPr>
          <a:xfrm>
            <a:off x="530352" y="1353312"/>
            <a:ext cx="1486814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ROOFTOP · BALANÇO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26"/>
          <p:cNvSpPr/>
          <p:nvPr/>
        </p:nvSpPr>
        <p:spPr>
          <a:xfrm>
            <a:off x="4572000" y="1280160"/>
            <a:ext cx="7162495" cy="8305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5" name="Google Shape;775;p26"/>
          <p:cNvSpPr txBox="1"/>
          <p:nvPr/>
        </p:nvSpPr>
        <p:spPr>
          <a:xfrm>
            <a:off x="4663440" y="141732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26"/>
          <p:cNvSpPr txBox="1"/>
          <p:nvPr/>
        </p:nvSpPr>
        <p:spPr>
          <a:xfrm>
            <a:off x="5074920" y="128016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Paredes das áreas comuns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Vela / Camurça Clara (memorial de texturas) × "Outono Gelado" (briefing): fechar a cor dos corredores.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26"/>
          <p:cNvSpPr txBox="1"/>
          <p:nvPr/>
        </p:nvSpPr>
        <p:spPr>
          <a:xfrm>
            <a:off x="4663440" y="224790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26"/>
          <p:cNvSpPr txBox="1"/>
          <p:nvPr/>
        </p:nvSpPr>
        <p:spPr>
          <a:xfrm>
            <a:off x="5074920" y="211074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Rodapé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Branco de sobrepor (briefing e prancha 24) × esmalte preto (memorial de texturas).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26"/>
          <p:cNvSpPr/>
          <p:nvPr/>
        </p:nvSpPr>
        <p:spPr>
          <a:xfrm>
            <a:off x="4572000" y="2941320"/>
            <a:ext cx="7162495" cy="8305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2" name="Google Shape;782;p26"/>
          <p:cNvSpPr txBox="1"/>
          <p:nvPr/>
        </p:nvSpPr>
        <p:spPr>
          <a:xfrm>
            <a:off x="4663440" y="307848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26"/>
          <p:cNvSpPr txBox="1"/>
          <p:nvPr/>
        </p:nvSpPr>
        <p:spPr>
          <a:xfrm>
            <a:off x="5074920" y="294132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Revestimento e borda da piscina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Barlavento Blanc (memorial) × esverdeado 20×20 (briefing) · borda curva × infinita.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26"/>
          <p:cNvSpPr txBox="1"/>
          <p:nvPr/>
        </p:nvSpPr>
        <p:spPr>
          <a:xfrm>
            <a:off x="4663440" y="39090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26"/>
          <p:cNvSpPr txBox="1"/>
          <p:nvPr/>
        </p:nvSpPr>
        <p:spPr>
          <a:xfrm>
            <a:off x="5074920" y="377190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Balanço do rooftop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Reforço no pergolado (LOG Ind. 06) × instalação na laje (briefing).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26"/>
          <p:cNvSpPr/>
          <p:nvPr/>
        </p:nvSpPr>
        <p:spPr>
          <a:xfrm>
            <a:off x="4572000" y="4602480"/>
            <a:ext cx="7162495" cy="8305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9" name="Google Shape;789;p26"/>
          <p:cNvSpPr txBox="1"/>
          <p:nvPr/>
        </p:nvSpPr>
        <p:spPr>
          <a:xfrm>
            <a:off x="4663440" y="47396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0" name="Google Shape;790;p26"/>
          <p:cNvSpPr txBox="1"/>
          <p:nvPr/>
        </p:nvSpPr>
        <p:spPr>
          <a:xfrm>
            <a:off x="5074920" y="460248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Deck do rooftop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que imita madeira 120×20: falta a referência comercial antiderrapante.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2" name="Google Shape;792;p26"/>
          <p:cNvSpPr txBox="1"/>
          <p:nvPr/>
        </p:nvSpPr>
        <p:spPr>
          <a:xfrm>
            <a:off x="4663440" y="557022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26"/>
          <p:cNvSpPr txBox="1"/>
          <p:nvPr/>
        </p:nvSpPr>
        <p:spPr>
          <a:xfrm>
            <a:off x="5074920" y="543306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Marcenaria do rooftop e da recepção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Materiais "a definir" no memorial de interiores × Savana e Cinza Sagrado (texturas).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1" name="Pill 5001"/>
          <p:cNvSpPr/>
          <p:nvPr/>
        </p:nvSpPr>
        <p:spPr>
          <a:xfrm>
            <a:off x="10735056" y="158572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2" name="Pill 5002"/>
          <p:cNvSpPr/>
          <p:nvPr/>
        </p:nvSpPr>
        <p:spPr>
          <a:xfrm>
            <a:off x="10735056" y="241630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3" name="Pill 5003"/>
          <p:cNvSpPr/>
          <p:nvPr/>
        </p:nvSpPr>
        <p:spPr>
          <a:xfrm>
            <a:off x="10735056" y="324688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4" name="Pill 5004"/>
          <p:cNvSpPr/>
          <p:nvPr/>
        </p:nvSpPr>
        <p:spPr>
          <a:xfrm>
            <a:off x="10735056" y="407746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5" name="Pill 5005"/>
          <p:cNvSpPr/>
          <p:nvPr/>
        </p:nvSpPr>
        <p:spPr>
          <a:xfrm>
            <a:off x="10799064" y="490804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6" name="Pill 5006"/>
          <p:cNvSpPr/>
          <p:nvPr/>
        </p:nvSpPr>
        <p:spPr>
          <a:xfrm>
            <a:off x="10799064" y="573862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43D"/>
        </a:solidFill>
      </p:bgPr>
    </p:bg>
    <p:spTree>
      <p:nvGrpSpPr>
        <p:cNvPr id="1" name=""/>
        <p:cNvGrpSpPr/>
        <p:nvPr/>
      </p:nvGrpSpPr>
      <p:grpSpPr/>
      <p:pic>
        <p:nvPicPr>
          <p:cNvPr descr="IMAGEM 05.png" id="1048" name="Google Shape;1048;p3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54880" y="0"/>
            <a:ext cx="743681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logo_cover.png" id="1049" name="Google Shape;104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502920"/>
            <a:ext cx="1645920" cy="270780"/>
          </a:xfrm>
          <a:prstGeom prst="rect">
            <a:avLst/>
          </a:prstGeom>
          <a:noFill/>
          <a:ln>
            <a:noFill/>
          </a:ln>
        </p:spPr>
      </p:pic>
      <p:sp>
        <p:nvSpPr>
          <p:cNvPr id="1050" name="Google Shape;1050;p35"/>
          <p:cNvSpPr txBox="1"/>
          <p:nvPr/>
        </p:nvSpPr>
        <p:spPr>
          <a:xfrm>
            <a:off x="457200" y="2377440"/>
            <a:ext cx="393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200"/>
              <a:buFont typeface="Arial"/>
              <a:buNone/>
            </a:pPr>
            <a:r>
              <a:rPr b="1" lang="en-US" sz="7200">
                <a:solidFill>
                  <a:srgbClr val="FC6058"/>
                </a:solidFill>
              </a:rPr>
              <a:t>03</a:t>
            </a:r>
            <a:endParaRPr b="0" i="0" sz="7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35"/>
          <p:cNvSpPr txBox="1"/>
          <p:nvPr/>
        </p:nvSpPr>
        <p:spPr>
          <a:xfrm>
            <a:off x="457200" y="3383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Materiais de interiores</a:t>
            </a:r>
            <a:endParaRPr b="0" i="0" sz="3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35"/>
          <p:cNvSpPr txBox="1"/>
          <p:nvPr/>
        </p:nvSpPr>
        <p:spPr>
          <a:xfrm>
            <a:off x="457200" y="4526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3EA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9D3EA"/>
                </a:solidFill>
                <a:latin typeface="Arial"/>
                <a:ea typeface="Arial"/>
                <a:cs typeface="Arial"/>
                <a:sym typeface="Arial"/>
              </a:rPr>
              <a:t>Áreas comuns · mapa de materialidade T13–T24: amostras tiradas das imagens Seazone para compra e aprovação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pl_icon_footer.png" id="1053" name="Google Shape;1053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54" name="Google Shape;1054;p35"/>
          <p:cNvSpPr txBox="1"/>
          <p:nvPr/>
        </p:nvSpPr>
        <p:spPr>
          <a:xfrm>
            <a:off x="731520" y="6382512"/>
            <a:ext cx="4023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23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60" name="Google Shape;1060;p36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C6058"/>
                </a:solidFill>
              </a:rPr>
              <a:t>03 · INTERIORES DAS ÁREAS COMUNS · MAPA DE MATERIALIDADE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36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Materiais · pisos e paredes (1/3)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1062" name="Google Shape;1062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1063" name="Google Shape;1063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p36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24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3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das imagens de interiores Seazone. Referência visual, não substitui amostra física. Especificação: Memorial Descritivo, Memorial de Texturas, Memorial de Interiores e Briefing.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36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2.png" id="1067" name="Google Shape;1067;p3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68" name="Google Shape;1068;p36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T13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9" name="Google Shape;1069;p36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Porcelanato Superquadra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Lobby, recepção, corredores, WC comuns e terraços da cobertura.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Superquadra Concreto Natural 90×90 retificado (Portobello) · memorial 12.4 e 30.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Peças grandes: argamassa também no tardoz; alinhar paginação hall × circulação.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0" name="Google Shape;1070;p36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2.png" id="1071" name="Google Shape;1071;p3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72" name="Google Shape;1072;p36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T14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36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Textura Velvet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Onde a imagem mostra cimento queimado: painel do logo da recepção e painéis cinza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Suvinil Efeito Veludo / Coral Design Efeito Veludo · off-white (recepção) e cinza concreto (rooftop).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Aprovar amostra contra o render antes de aplicar em área grande.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36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ORREDOR 01.png" id="1075" name="Google Shape;1075;p3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76" name="Google Shape;1076;p36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T15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7" name="Google Shape;1077;p36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Pintura das paredes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Recepção e corredores (off-white) · paredes internas do rooftop (cinza claro).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Suvinil "Vela" / Coral "Camurça Clara" · rooftop: Suvinil "Cromo" / Coral "Cinza Sublime" (memorial de texturas).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Briefing marca "Outono Gelado" (Coral) nos corredores: fechar a cor antes da compra.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8" name="Google Shape;1078;p36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ORREDOR 01.png" id="1079" name="Google Shape;1079;p3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80" name="Google Shape;1080;p36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T16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36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Rodapé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Recepção, corredores e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Briefing e prancha 24 (ROD-01): poliestireno branco de sobrepor, quina viva · memorial de texturas: esmalte preto.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As imagens mostram rodapé preto; briefing e executivo, branco. Definir antes da compra.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60" name="Google Shape;1060;p36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C6058"/>
                </a:solidFill>
              </a:rPr>
              <a:t>03 · INTERIORES DAS ÁREAS COMUNS · MAPA DE MATERIALIDADE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36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Materiais · madeira e pedra (2/3)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1062" name="Google Shape;1062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1063" name="Google Shape;1063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p36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25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3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das imagens de interiores Seazone. Referência visual, não substitui amostra física. Especificação: Memorial Descritivo, Memorial de Texturas, Memorial de Interiores e Briefing.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36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ORREDOR 01.png" id="1067" name="Google Shape;1067;p3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68" name="Google Shape;1068;p36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T17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9" name="Google Shape;1069;p36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MDF Savana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Sarrafos dos corredores, ripados e floreiras da recepção, ripados e prateleiras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MDF Savana (amadeirado claro) com verniz fosco (memorial de texturas).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Fixar após a pintura final; prever ponto das arandelas no eixo dos sarrafos.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0" name="Google Shape;1070;p36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5.png" id="1071" name="Google Shape;1071;p3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72" name="Google Shape;1072;p36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T18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36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MDF Cinza Sagrado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Armários do gourmet e do mini market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MDF Cinza Sagrado (memorial de texturas).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Memorial de interiores lista a marcenaria do rooftop como "material a definir". PENDENTE.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36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5.png" id="1075" name="Google Shape;1075;p3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76" name="Google Shape;1076;p36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T19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7" name="Google Shape;1077;p36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Pedra moledo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Painel do logo e parede do balanço, backsplash da copa, floreira e banco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Pedra branca estilo moledo, irregular, junta seca (briefing e memorial de texturas).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LOG Ind. 02: floreira e banco em alvenaria revestidos com a mesma pedra.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8" name="Google Shape;1078;p36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5.png" id="1079" name="Google Shape;1079;p3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80" name="Google Shape;1080;p36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T20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36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Granito Pitaya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Bancada da copa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Granito Pitaya · cuba inox · torneira Gali bica alta (Docol).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Bancada não instalada pela construtora (memorial 32.1): deixar pontos na cota do projeto.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60" name="Google Shape;1060;p36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C6058"/>
                </a:solidFill>
              </a:rPr>
              <a:t>03 · INTERIORES DAS ÁREAS COMUNS · MAPA DE MATERIALIDADE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36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Materiais · rooftop externo e identidade (3/3)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avy_tpl_logo_cover.png" id="1062" name="Google Shape;1062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icon_footer.png" id="1063" name="Google Shape;1063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p36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26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3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das imagens de interiores Seazone. Referência visual, não substitui amostra física. Especificação: Memorial Descritivo, Memorial de Texturas, Memorial de Interiores e Briefing.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36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1.png" id="1067" name="Google Shape;1067;p3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68" name="Google Shape;1068;p36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9" name="Google Shape;1069;p36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Deck do rooftop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Deck aberto da cobertura e entorno da piscina.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que imita madeira 120×20 (briefing) sobre piso elevado (prancha 44).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Referência comercial antiderrapante não definida. PENDENTE.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0" name="Google Shape;1070;p36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1.png" id="1071" name="Google Shape;1071;p3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72" name="Google Shape;1072;p36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36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Revestimento da piscina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Piscina aquecida da cobertura.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Barlavento Blanc 14,5×14,5 (memorial, prancha 44) × briefing: revestimento esverdeado 20×20.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Cor, formato e borda divergem entre memorial, prancha e briefing.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36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2.png" id="1075" name="Google Shape;1075;p3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76" name="Google Shape;1076;p36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T23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7" name="Google Shape;1077;p36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Letreiros das áreas comuns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Painel da recepção (sobre Velvet off-white) e painel em pedra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"Canasvieiras SPOT" em letras pretas com LED no "O" (memorial de texturas).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Briefing: ponto para logo iluminado com interruptor no logo; prever alimentação embutida antes do revestimento.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8" name="Google Shape;1078;p36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M 05.png" id="1079" name="Google Shape;1079;p3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80" name="Google Shape;1080;p36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T24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36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Luminárias decorativas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Corredores (arandelas) e gourmet do rooftop (pendentes).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Arandela cilindro off-white com haste em Savana · pendente Bulan em rattan · spots de sobrepor pretos.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Escopo Decor (memorial 32.1): deixar pontos elétricos no eixo dos sarrafos e sobre a mesa.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43D"/>
        </a:solidFill>
      </p:bgPr>
    </p:bg>
    <p:spTree>
      <p:nvGrpSpPr>
        <p:cNvPr id="1" name=""/>
        <p:cNvGrpSpPr/>
        <p:nvPr/>
      </p:nvGrpSpPr>
      <p:grpSpPr/>
      <p:pic>
        <p:nvPicPr>
          <p:cNvPr descr="03 (2).jpg" id="1168" name="Google Shape;1168;p4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669280" y="0"/>
            <a:ext cx="652241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pl_logo_cover.png" id="1169" name="Google Shape;1169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548640"/>
            <a:ext cx="1645920" cy="270780"/>
          </a:xfrm>
          <a:prstGeom prst="rect">
            <a:avLst/>
          </a:prstGeom>
          <a:noFill/>
          <a:ln>
            <a:noFill/>
          </a:ln>
        </p:spPr>
      </p:pic>
      <p:sp>
        <p:nvSpPr>
          <p:cNvPr id="1170" name="Google Shape;1170;p40"/>
          <p:cNvSpPr txBox="1"/>
          <p:nvPr/>
        </p:nvSpPr>
        <p:spPr>
          <a:xfrm>
            <a:off x="457200" y="274320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CANASVIEIRAS SPOT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1" name="Google Shape;1171;p40"/>
          <p:cNvSpPr txBox="1"/>
          <p:nvPr/>
        </p:nvSpPr>
        <p:spPr>
          <a:xfrm>
            <a:off x="457200" y="3063240"/>
            <a:ext cx="48463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Book de Premissas de Fachada e Interiores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2" name="Google Shape;1172;p40"/>
          <p:cNvSpPr txBox="1"/>
          <p:nvPr/>
        </p:nvSpPr>
        <p:spPr>
          <a:xfrm>
            <a:off x="457200" y="434340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3EA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9D3EA"/>
                </a:solidFill>
                <a:latin typeface="Arial"/>
                <a:ea typeface="Arial"/>
                <a:cs typeface="Arial"/>
                <a:sym typeface="Arial"/>
              </a:rPr>
              <a:t>Lançamento × Executivo  ·  Seazone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pl_icon_footer.png" id="1173" name="Google Shape;1173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174" name="Google Shape;1174;p40"/>
          <p:cNvSpPr txBox="1"/>
          <p:nvPr/>
        </p:nvSpPr>
        <p:spPr>
          <a:xfrm>
            <a:off x="731520" y="6382512"/>
            <a:ext cx="4023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CANASVIEIRAS SPOT  ·  BOOK DE PREMISSAS DE FACHADA E INTERIORES  ·  27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