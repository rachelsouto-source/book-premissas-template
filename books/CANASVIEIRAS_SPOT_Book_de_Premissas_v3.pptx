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Bianca Carina Valent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6" Type="http://schemas.openxmlformats.org/officeDocument/2006/relationships/image" Target="../media/image1.png"/><Relationship Id="rId7" Type="http://schemas.openxmlformats.org/officeDocument/2006/relationships/image" Target="../media/image1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7" Type="http://schemas.openxmlformats.org/officeDocument/2006/relationships/image" Target="../media/image1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3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8" Type="http://schemas.openxmlformats.org/officeDocument/2006/relationships/image" Target="../media/image22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32.jpg"/><Relationship Id="rId5" Type="http://schemas.openxmlformats.org/officeDocument/2006/relationships/image" Target="../media/image35.jpg"/><Relationship Id="rId6" Type="http://schemas.openxmlformats.org/officeDocument/2006/relationships/image" Target="../media/image37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10" Type="http://schemas.openxmlformats.org/officeDocument/2006/relationships/image" Target="../media/image3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Relationship Id="rId7" Type="http://schemas.openxmlformats.org/officeDocument/2006/relationships/image" Target="../media/image46.jpg"/><Relationship Id="rId8" Type="http://schemas.openxmlformats.org/officeDocument/2006/relationships/image" Target="../media/image48.jpg"/><Relationship Id="rId10" Type="http://schemas.openxmlformats.org/officeDocument/2006/relationships/image" Target="../media/image4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4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20.jpg"/><Relationship Id="rId8" Type="http://schemas.openxmlformats.org/officeDocument/2006/relationships/image" Target="../media/image5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8" Type="http://schemas.openxmlformats.org/officeDocument/2006/relationships/image" Target="../media/image56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63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8" Type="http://schemas.openxmlformats.org/officeDocument/2006/relationships/image" Target="../media/image6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6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0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8" Type="http://schemas.openxmlformats.org/officeDocument/2006/relationships/image" Target="../media/image68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7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7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79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3.jpg"/><Relationship Id="rId5" Type="http://schemas.openxmlformats.org/officeDocument/2006/relationships/image" Target="../media/image84.jpg"/><Relationship Id="rId6" Type="http://schemas.openxmlformats.org/officeDocument/2006/relationships/image" Target="../media/image85.jpg"/><Relationship Id="rId7" Type="http://schemas.openxmlformats.org/officeDocument/2006/relationships/image" Target="../media/image86.jpg"/><Relationship Id="rId9" Type="http://schemas.openxmlformats.org/officeDocument/2006/relationships/image" Target="../media/image80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97.jpg"/><Relationship Id="rId5" Type="http://schemas.openxmlformats.org/officeDocument/2006/relationships/image" Target="../media/image99.jpg"/><Relationship Id="rId6" Type="http://schemas.openxmlformats.org/officeDocument/2006/relationships/image" Target="../media/image103.jpg"/><Relationship Id="rId7" Type="http://schemas.openxmlformats.org/officeDocument/2006/relationships/image" Target="../media/image104.jpg"/><Relationship Id="rId8" Type="http://schemas.openxmlformats.org/officeDocument/2006/relationships/image" Target="../media/image106.jpg"/><Relationship Id="rId9" Type="http://schemas.openxmlformats.org/officeDocument/2006/relationships/image" Target="../media/image107.jpg"/><Relationship Id="rId10" Type="http://schemas.openxmlformats.org/officeDocument/2006/relationships/image" Target="../media/image108.jpg"/><Relationship Id="rId11" Type="http://schemas.openxmlformats.org/officeDocument/2006/relationships/image" Target="../media/image110.jpg"/><Relationship Id="rId12" Type="http://schemas.openxmlformats.org/officeDocument/2006/relationships/image" Target="../media/image111.jpg"/><Relationship Id="rId13" Type="http://schemas.openxmlformats.org/officeDocument/2006/relationships/image" Target="../media/image112.jpg"/><Relationship Id="rId14" Type="http://schemas.openxmlformats.org/officeDocument/2006/relationships/image" Target="../media/image114.jpg"/><Relationship Id="rId15" Type="http://schemas.openxmlformats.org/officeDocument/2006/relationships/image" Target="../media/image116.jpg"/><Relationship Id="rId17" Type="http://schemas.openxmlformats.org/officeDocument/2006/relationships/image" Target="../media/image9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22.jpg"/><Relationship Id="rId6" Type="http://schemas.openxmlformats.org/officeDocument/2006/relationships/image" Target="../media/image11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Relationship Id="rId8" Type="http://schemas.openxmlformats.org/officeDocument/2006/relationships/image" Target="../media/image130.jpg"/><Relationship Id="rId9" Type="http://schemas.openxmlformats.org/officeDocument/2006/relationships/image" Target="../media/image131.jpg"/><Relationship Id="rId10" Type="http://schemas.openxmlformats.org/officeDocument/2006/relationships/image" Target="../media/image132.jpg"/><Relationship Id="rId11" Type="http://schemas.openxmlformats.org/officeDocument/2006/relationships/image" Target="../media/image136.jpg"/><Relationship Id="rId12" Type="http://schemas.openxmlformats.org/officeDocument/2006/relationships/image" Target="../media/image137.jpg"/><Relationship Id="rId13" Type="http://schemas.openxmlformats.org/officeDocument/2006/relationships/image" Target="../media/image138.jpg"/><Relationship Id="rId14" Type="http://schemas.openxmlformats.org/officeDocument/2006/relationships/image" Target="../media/image140.jpg"/><Relationship Id="rId15" Type="http://schemas.openxmlformats.org/officeDocument/2006/relationships/image" Target="../media/image141.jpg"/><Relationship Id="rId17" Type="http://schemas.openxmlformats.org/officeDocument/2006/relationships/image" Target="../media/image123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45.jpg"/><Relationship Id="rId6" Type="http://schemas.openxmlformats.org/officeDocument/2006/relationships/image" Target="../media/image14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48.jpg"/><Relationship Id="rId6" Type="http://schemas.openxmlformats.org/officeDocument/2006/relationships/image" Target="../media/image14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149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5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61.jpg"/><Relationship Id="rId5" Type="http://schemas.openxmlformats.org/officeDocument/2006/relationships/image" Target="../media/image162.jpg"/><Relationship Id="rId6" Type="http://schemas.openxmlformats.org/officeDocument/2006/relationships/image" Target="../media/image163.jpg"/><Relationship Id="rId8" Type="http://schemas.openxmlformats.org/officeDocument/2006/relationships/image" Target="../media/image158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73.jpg"/><Relationship Id="rId5" Type="http://schemas.openxmlformats.org/officeDocument/2006/relationships/image" Target="../media/image174.jpg"/><Relationship Id="rId6" Type="http://schemas.openxmlformats.org/officeDocument/2006/relationships/image" Target="../media/image177.jpg"/><Relationship Id="rId8" Type="http://schemas.openxmlformats.org/officeDocument/2006/relationships/image" Target="../media/image165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85.jpg"/><Relationship Id="rId5" Type="http://schemas.openxmlformats.org/officeDocument/2006/relationships/image" Target="../media/image188.jpg"/><Relationship Id="rId6" Type="http://schemas.openxmlformats.org/officeDocument/2006/relationships/image" Target="../media/image189.jpg"/><Relationship Id="rId8" Type="http://schemas.openxmlformats.org/officeDocument/2006/relationships/image" Target="../media/image180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90.jpg"/></Relationships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05 (2).jpg" id="16" name="Google Shape;16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120640" y="0"/>
            <a:ext cx="356616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17" name="Google Shape;17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59952" y="0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18" name="Google Shape;18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59952" y="2304288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3" title="002.jpg" descr="04 (2)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59952" y="4608576"/>
            <a:ext cx="3431741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20" name="Google Shape;2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" y="548640"/>
            <a:ext cx="1828800" cy="300867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457200" y="210312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457200" y="2423160"/>
            <a:ext cx="4480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Canasvieiras Spot</a:t>
            </a:r>
            <a:endParaRPr b="0" i="0" sz="4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457200" y="324612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Moodboard de premissas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457200" y="384048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Lançamento  ×  Executivo  ·  Fachada  ·  Interiores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457200" y="566928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· Florianópolis/SC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DOCUMENTO TÉCNICO INTERNO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1" name="Google Shape;31;p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CONTEXTUALIZAÇÃO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objetivo deste material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33" name="Google Shape;33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34" name="Google Shape;3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457200" y="1325880"/>
            <a:ext cx="5577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Consolidar as premissas de fachada e de interiores das áreas comuns do Canasvieiras Spot a partir da leitura cruzada entre as imagens de lançamento, o projeto executivo de arquitetura e o projeto de interiores da Seazone: o que a imagem vendeu, o que o executivo especifica, onde o executivo precisa ser ajustado e o que a obra deve seguir na compra e na execução.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37" name="Google Shape;37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720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" name="Google Shape;38;p4"/>
          <p:cNvSpPr/>
          <p:nvPr/>
        </p:nvSpPr>
        <p:spPr>
          <a:xfrm>
            <a:off x="182880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45720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VEJA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imagem de lançamento ou o conceito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40" name="Google Shape;40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7744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374904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237744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ENTENDA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material e a especificação de cada parte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43" name="Google Shape;43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9768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566928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29768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CONFIRA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a obra precisa observar e seguir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92240" y="1325880"/>
            <a:ext cx="5242255" cy="484632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 txBox="1"/>
          <p:nvPr/>
        </p:nvSpPr>
        <p:spPr>
          <a:xfrm>
            <a:off x="6766560" y="150876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AO ABRIR ESTE BOOK, OBRAS DEVE CONSEGUIR RESPONDER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6766560" y="1920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7178040" y="1874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as imagens de lançamento mostram na fachada?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766560" y="2377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7178040" y="2331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material e cor o executivo define para cada volume?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766560" y="28346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7178040" y="27889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Onde o executivo precisa ser ajustado à imagem vendida?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6766560" y="32918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78040" y="32461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Quais cores e texturas exigem amostra aprovada?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766560" y="37490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78040" y="37033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é o conceito de interiores das áreas comuns que deve ser seguido?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766560" y="4206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78040" y="4160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não pode ser alterado sem validação?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6766560" y="4663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78040" y="4617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a obra precisa observar na execução?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766560" y="5166360"/>
            <a:ext cx="4754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Regra do material: premissas validadas pela Seazone. Prevalecem o Briefing de Projeto e a imagem de lançamento; o executivo deve replicar as cores e texturas do lançamento. Fontes: imagens de lançamento, executivo de arquitetura, Memorial Descritivo, Memorial de Texturas e de Interiores, Briefing e LOG de considerações. Interiores das unidades, índices urbanísticos, áreas e custos não fazem parte deste Book.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68" name="Google Shape;68;p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USAR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Como ler este book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0" name="Google Shape;70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502920" y="1417320"/>
            <a:ext cx="365760" cy="36576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1143000" y="137160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Número na imagem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número na foto corresponde a um item da lista ao lado.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75" name="Google Shape;75;p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2920" y="2194560"/>
            <a:ext cx="384048" cy="384048"/>
          </a:xfrm>
          <a:prstGeom prst="ellipse">
            <a:avLst/>
          </a:prstGeom>
          <a:noFill/>
          <a:ln>
            <a:noFill/>
          </a:ln>
        </p:spPr>
      </p:pic>
      <p:sp>
        <p:nvSpPr>
          <p:cNvPr id="76" name="Google Shape;76;p5"/>
          <p:cNvSpPr txBox="1"/>
          <p:nvPr/>
        </p:nvSpPr>
        <p:spPr>
          <a:xfrm>
            <a:off x="1143000" y="214884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Amostra circular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Recorte do material tirado da própria imagem: referência visual, não substitui amostra física.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411480" y="3035808"/>
            <a:ext cx="566928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1143000" y="292608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Código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Código do executivo/memorial (ex.: REV-08, BRI-01, T07) para achar o item no projeto.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457200" y="38404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STATUS DOS ITENS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7200" y="420624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1508760" y="41696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premissa validada pela Seazone: seguir na compra e na execução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6309360" y="132588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 QUE VOCÊ VAI ENCONTRAR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87" name="Google Shape;87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09360" y="1691640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 txBox="1"/>
          <p:nvPr/>
        </p:nvSpPr>
        <p:spPr>
          <a:xfrm>
            <a:off x="8001000" y="169164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 txBox="1"/>
          <p:nvPr/>
        </p:nvSpPr>
        <p:spPr>
          <a:xfrm>
            <a:off x="8641080" y="1691640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imagens de lançamento · paleta · leitura geral · texturas T01–T12 · vistas de esquina, posterior e térreo · pontos de atenção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90" name="Google Shape;90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09360" y="2807208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"/>
          <p:cNvSpPr txBox="1"/>
          <p:nvPr/>
        </p:nvSpPr>
        <p:spPr>
          <a:xfrm>
            <a:off x="8001000" y="2807208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8641080" y="2807208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lang="en-US">
                <a:solidFill>
                  <a:srgbClr val="00143D"/>
                </a:solidFill>
              </a:rPr>
              <a:t>Interiores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conceito × decisão · recepção e corredores · rooftop interno e externo · pontos de atenção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3" name="Google Shape;93;p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09360" y="3922776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 txBox="1"/>
          <p:nvPr/>
        </p:nvSpPr>
        <p:spPr>
          <a:xfrm>
            <a:off x="8001000" y="3922776"/>
            <a:ext cx="64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C6058"/>
                </a:solidFill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8641080" y="3922776"/>
            <a:ext cx="30933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de interiores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texturas T13–T24 para compra e aprovação de amostras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DRONE (1).jpg" id="101" name="Google Shape;101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02" name="Google Shape;10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Imagens de lançamento  ·  paleta  ·  leitura geral  ·  texturas  ·  vistas com marcação e especificação  ·  pontos de atenção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06" name="Google Shape;10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13" name="Google Shape;113;p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Imagens de lançamento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15" name="Google Shape;115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16" name="Google Shape;11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18" name="Google Shape;118;p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7200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"/>
          <p:cNvSpPr txBox="1"/>
          <p:nvPr/>
        </p:nvSpPr>
        <p:spPr>
          <a:xfrm>
            <a:off x="530352" y="1353312"/>
            <a:ext cx="1130198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 · FRONTAL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120" name="Google Shape;12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5696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7"/>
          <p:cNvSpPr txBox="1"/>
          <p:nvPr/>
        </p:nvSpPr>
        <p:spPr>
          <a:xfrm>
            <a:off x="4498848" y="1353312"/>
            <a:ext cx="1130198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07 · ESQUINA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22" name="Google Shape;122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7"/>
          <p:cNvSpPr txBox="1"/>
          <p:nvPr/>
        </p:nvSpPr>
        <p:spPr>
          <a:xfrm>
            <a:off x="530352" y="4327756"/>
            <a:ext cx="416966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24" name="Google Shape;124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1655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7"/>
          <p:cNvSpPr txBox="1"/>
          <p:nvPr/>
        </p:nvSpPr>
        <p:spPr>
          <a:xfrm>
            <a:off x="1789702" y="4327756"/>
            <a:ext cx="416966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4 (2).jpg" id="126" name="Google Shape;126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975899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7"/>
          <p:cNvSpPr txBox="1"/>
          <p:nvPr/>
        </p:nvSpPr>
        <p:spPr>
          <a:xfrm>
            <a:off x="3049051" y="4327756"/>
            <a:ext cx="1058875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 · TÉRREO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128" name="Google Shape;128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685046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 txBox="1"/>
          <p:nvPr/>
        </p:nvSpPr>
        <p:spPr>
          <a:xfrm>
            <a:off x="5758198" y="4327756"/>
            <a:ext cx="773582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ROOFTOP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7"/>
          <p:cNvSpPr txBox="1"/>
          <p:nvPr/>
        </p:nvSpPr>
        <p:spPr>
          <a:xfrm>
            <a:off x="8595360" y="128016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COMPOSIÇÃO DA FACHADA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8595360" y="16459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 txBox="1"/>
          <p:nvPr/>
        </p:nvSpPr>
        <p:spPr>
          <a:xfrm>
            <a:off x="8732520" y="16459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 amadeirado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Boreal Natural (REV-08) com brises verticais de correr nas janelas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595360" y="25603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 txBox="1"/>
          <p:nvPr/>
        </p:nvSpPr>
        <p:spPr>
          <a:xfrm>
            <a:off x="8732520" y="25603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Volumes laterais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cinza escuro (REV-06) e claro Papel de Presente (REV-07) com floreiras nas bordas de laje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8595360" y="34747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"/>
          <p:cNvSpPr txBox="1"/>
          <p:nvPr/>
        </p:nvSpPr>
        <p:spPr>
          <a:xfrm>
            <a:off x="8732520" y="34747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e elementos vazados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brises pretos e Oak (BRI-01), painéis em grelha (EV3/EV4) e cobogó sobre as lojas (EV1)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595360" y="43891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 txBox="1"/>
          <p:nvPr/>
        </p:nvSpPr>
        <p:spPr>
          <a:xfrm>
            <a:off x="8732520" y="43891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Base e acesso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lojas com vitrines, brises Oak no mezanino e totem iluminado CANASVIEIRAS SPOT no muro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8595360" y="53035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8732520" y="53035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Coroamento e rooftop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guarda-corpo de vidro, pergolado preto, piscina e letreiro SEAZONE no reservatório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46" name="Google Shape;146;p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PALETA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Paleta de materiais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48" name="Google Shape;148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49" name="Google Shape;1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51" name="Google Shape;151;p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7200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 txBox="1"/>
          <p:nvPr/>
        </p:nvSpPr>
        <p:spPr>
          <a:xfrm>
            <a:off x="457200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57200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Porcelanato Boreal Natural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 central e montantes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54" name="Google Shape;154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67229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2367229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2367229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escuro Rock'n Roll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laterais e bases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57" name="Google Shape;157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7725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8"/>
          <p:cNvSpPr txBox="1"/>
          <p:nvPr/>
        </p:nvSpPr>
        <p:spPr>
          <a:xfrm>
            <a:off x="4277258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8"/>
          <p:cNvSpPr txBox="1"/>
          <p:nvPr/>
        </p:nvSpPr>
        <p:spPr>
          <a:xfrm>
            <a:off x="427725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Papel de Presente Suvinil B208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claros e reservatório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60" name="Google Shape;160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8728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8"/>
          <p:cNvSpPr txBox="1"/>
          <p:nvPr/>
        </p:nvSpPr>
        <p:spPr>
          <a:xfrm>
            <a:off x="6187288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8"/>
          <p:cNvSpPr txBox="1"/>
          <p:nvPr/>
        </p:nvSpPr>
        <p:spPr>
          <a:xfrm>
            <a:off x="618728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ref. Nanquim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de laje e marquise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63" name="Google Shape;163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7317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8097317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BRI-01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8"/>
          <p:cNvSpPr txBox="1"/>
          <p:nvPr/>
        </p:nvSpPr>
        <p:spPr>
          <a:xfrm>
            <a:off x="8097317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preto e Oak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janelas, térreo e mezanino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66" name="Google Shape;166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07346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0007346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EV1–EV4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0007346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40×40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lojas e painéis laterais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57200" y="5532120"/>
            <a:ext cx="11277295" cy="713232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640080" y="5623560"/>
            <a:ext cx="1091153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LER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 = volume central amadeirado (REV-08) + volumes laterais cinza escuro (REV-06) e Papel de Presente (REV-07) + faixas cinza (REV-05) + brises pretos e Oak + elementos vazados + esquadria preta + floreiras. Detalhe de cada material nas páginas de texturas T01–T12.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76" name="Google Shape;176;p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LEITURA GERAL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que compõe 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78" name="Google Shape;17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81" name="Google Shape;181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7040880" cy="3959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 txBox="1"/>
          <p:nvPr/>
        </p:nvSpPr>
        <p:spPr>
          <a:xfrm>
            <a:off x="566928" y="1389888"/>
            <a:ext cx="233172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01 (FRONTAL)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3629253" y="162747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5248654" y="180453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1974646" y="204061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3840479" y="21389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3030778" y="247344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4544568" y="312267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2573121" y="296528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2045055" y="274887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3382822" y="39686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495086" y="39686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9"/>
          <p:cNvSpPr txBox="1"/>
          <p:nvPr/>
        </p:nvSpPr>
        <p:spPr>
          <a:xfrm>
            <a:off x="457200" y="5349240"/>
            <a:ext cx="7040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fachada é lida em quatro camadas: volume central em porcelanato amadeirado (REV-08) com brises verticais de correr; volumes laterais em cinza escuro (REV-06) e Papel de Presente (REV-07) com floreiras e painéis em elemento vazado; base do térreo e mezanino com brises Oak, elemento vazado sobre as lojas e totem de acesso; coroamento com guarda-corpo de vidro, pergolado e letreiro SEAZONE.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9"/>
          <p:cNvSpPr txBox="1"/>
          <p:nvPr/>
        </p:nvSpPr>
        <p:spPr>
          <a:xfrm>
            <a:off x="7863840" y="12801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LEGENDA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7863840" y="16276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9"/>
          <p:cNvSpPr txBox="1"/>
          <p:nvPr/>
        </p:nvSpPr>
        <p:spPr>
          <a:xfrm>
            <a:off x="8229600" y="160020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 no coroamento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letras-caixa iluminadas, como na imagem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7863840" y="209397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9"/>
          <p:cNvSpPr txBox="1"/>
          <p:nvPr/>
        </p:nvSpPr>
        <p:spPr>
          <a:xfrm>
            <a:off x="8229600" y="206654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preta (AC-02)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7863840" y="256032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9"/>
          <p:cNvSpPr txBox="1"/>
          <p:nvPr/>
        </p:nvSpPr>
        <p:spPr>
          <a:xfrm>
            <a:off x="8229600" y="253288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dos terraços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vidro incolor com perfil U inox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7863840" y="30266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 txBox="1"/>
          <p:nvPr/>
        </p:nvSpPr>
        <p:spPr>
          <a:xfrm>
            <a:off x="8229600" y="299923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 amadeirado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porcelanato Boreal Natural 20×120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863840" y="349300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 txBox="1"/>
          <p:nvPr/>
        </p:nvSpPr>
        <p:spPr>
          <a:xfrm>
            <a:off x="8229600" y="346557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verticais das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de correr em PVC · preto e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7863840" y="395935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 txBox="1"/>
          <p:nvPr/>
        </p:nvSpPr>
        <p:spPr>
          <a:xfrm>
            <a:off x="8229600" y="393192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 nas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executar no peitoril, como na imagem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7863840" y="442569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8229600" y="439826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Painéis laterais em grelha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EV3 elemento vazado 40×40 · peças pretas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7863840" y="489204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 txBox="1"/>
          <p:nvPr/>
        </p:nvSpPr>
        <p:spPr>
          <a:xfrm>
            <a:off x="8229600" y="486460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 · floreira Vasoflex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7863840" y="53583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0" y="533095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amadeirados do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em PVC cor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7863840" y="58247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8229600" y="579729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sobre 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EV1 concreto 40×40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cores e revestimento (1/3)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2 (2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REV-06 · Cinza escuro Rock'n Roll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escuros laterais, bases e molduras nas quatro elevações.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 sobre textura/massa acrílica, ref. cor Rock'n Roll (Suvinil).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em painel na própria fachada antes da compra; mesma cor e lote nas quatro faces.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5 (2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REV-05 · Cinza ref. Nanquim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de laje, marquise do térreo e fundo do elemento vazado das lojas.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 descrita como "cinza claro", ref. cor Nanquim (Suvinil).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Seguir o tom cinza médio da imagem de lançamento; aprovar painel-teste na fachada antes da compra.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2 (2)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REV-07 · Papel de Presente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laterais claros, platibanda da cobertura e caixa do reservatório.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acrílica, ref. cor Papel de Presente Suvinil (B208), mesmo tom do Cachoeira Spot.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indica Branco Puro: compatibilizar para Papel de Presente antes da compra (fachada, platibanda e reservatório).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REV-08 · Porcelanato amadeirado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 central das fachadas frontal e posterior e montantes entre janelas.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retificado 20×120, Boreal Natural (Portobello) · memorial 10.1 e 30.3.5.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Tom madeira clara e quente da imagem de lançamento: conferir a peça física contra a imagem antes do pedido.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brises e elementos vazados (2/3)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5 (2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BRI-01 · Brise amadeirado Oak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Térreo, mezanino e parte dos pavimentos 2 a 4.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de correr em PVC conforme detalhamento arquitetônico (briefing), cor Oak como na imagem de lançamento.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indica alumínio Lesco: compatibilizar para PVC antes da compra (prancha 28).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BRI-01 · Brise preto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dos pavimentos 2, 3 e 4 e do mezanino.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de correr em PVC preto (briefing) · trilho BRI-02 preto · BRI-03 veneziana preta nas condensadoras.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Tipos mudam por pavimento: seguir o quadro da prancha 28, com material compatibilizado para PVC.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EV1 · Elemento vazado das lojas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Fachada sobre as lojas e EV2 no térreo.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de concreto 40×40, peças fixas, com a borda inferior "pixelada" da imagem de lançamento.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mostra borda reta: ajustar a paginação para replicar a borda da imagem.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EV3/EV4 · Painéis em grelha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verticais ao lado do volume central.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de concreto 40×40 na cor preta, como na imagem de lançamento.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Peças pretas: especificar a cor no executivo antes da compra; garantir prumo com as faixas de laje.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esquadrias e cobertura (3/3)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Esquadrias de alumínio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e porta-janelas de todas as fachadas, lojas e áreas comuns.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Alumínio anodizado preto (padrão Alcoa) · vidro laminado transparente (memorial 16.1).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Peitoril e pingadeira em granito preto São Gabriel com frisos (memorial 20); quadro nas pranchas 26 e 27.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GC-01/02/03 · Guarda-corpos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Terraços da cobertura e borda da piscina.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Vidro incolor com perfil "U" inox, sem perfis de alumínio (briefing).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indica alumínio + vidro: compatibilizar para perfil "U" inox antes da compra.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7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AC-01 · Floreiras de 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Bordas de laje dos volumes laterais nos pavimentos 2 a 4.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 para plantas · floreira modelo estrutural Vasoflex (Ecotelhado).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Fixação mecânica com buchas e vasos independentes; paisagismo por empresa especializada.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AC-02 · Pergolado da cobertura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Áreas de integração e terraços do último pavimento.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preta, como na imagem de lançamento (AC-02 · memorial 30.3.5).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Perfis pretos aparentes como na imagem; balanço do rooftop fixado na laje (briefing), não no pergolado.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09" name="Google Shape;409;p1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Esquina: fachada frontal e lateral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11" name="Google Shape;41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12" name="Google Shape;4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414" name="Google Shape;414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 txBox="1"/>
          <p:nvPr/>
        </p:nvSpPr>
        <p:spPr>
          <a:xfrm>
            <a:off x="566928" y="1389888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07 (ESQUINA)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3635654" y="171329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4785969" y="203669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2282342" y="228400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4379974" y="232204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2147011" y="304495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3364990" y="260740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3838651" y="334933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4312310" y="399613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5394958" y="399613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3297326" y="464294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LEITURA DA ESQUINA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esquina concentra os três materiais de maior impacto visual: porcelanato amadeirado (REV-08), cinza escuro (REV-06) e brises. As floreiras marcam os volumes laterais e o elemento vazado com borda "pixelada" fecha o volume das lojas. O executivo deve replicar essas texturas e detalhar o totem iluminado.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5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5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5"/>
          <p:cNvSpPr txBox="1"/>
          <p:nvPr/>
        </p:nvSpPr>
        <p:spPr>
          <a:xfrm>
            <a:off x="7909560" y="164592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Letras-caixa iluminadas no reservatório, como na imagem · detalhar no executivo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5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5"/>
          <p:cNvSpPr/>
          <p:nvPr/>
        </p:nvSpPr>
        <p:spPr>
          <a:xfrm>
            <a:off x="7543800" y="216255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5"/>
          <p:cNvSpPr txBox="1"/>
          <p:nvPr/>
        </p:nvSpPr>
        <p:spPr>
          <a:xfrm>
            <a:off x="7909560" y="210769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preta, como na imagem (AC-02)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5"/>
          <p:cNvSpPr/>
          <p:nvPr/>
        </p:nvSpPr>
        <p:spPr>
          <a:xfrm>
            <a:off x="11496751" y="216255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5"/>
          <p:cNvSpPr/>
          <p:nvPr/>
        </p:nvSpPr>
        <p:spPr>
          <a:xfrm>
            <a:off x="7543800" y="26243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5"/>
          <p:cNvSpPr txBox="1"/>
          <p:nvPr/>
        </p:nvSpPr>
        <p:spPr>
          <a:xfrm>
            <a:off x="7909560" y="256946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Vidro incolor com perfil "U" inox (briefing)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11496751" y="262432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7543800" y="308610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5"/>
          <p:cNvSpPr txBox="1"/>
          <p:nvPr/>
        </p:nvSpPr>
        <p:spPr>
          <a:xfrm>
            <a:off x="7909560" y="303123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porcelanato 20×120 Boreal Natural (Portobello)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11496751" y="308610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7543800" y="354787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7909560" y="349300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pretos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de correr em PVC preto (briefing) + trilho BRI-02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11496751" y="354787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7543800" y="40096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7909560" y="395478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Vasoflex, fixação mecânica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11496751" y="40096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543800" y="447141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7909560" y="441655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em grelha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EV3 elemento vazado de concreto 40×40 · peças pretas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11496751" y="447141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7543800" y="493318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7909560" y="487832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em PVC cor Oak · térreo e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11496751" y="493318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7543800" y="539496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7909560" y="534009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EV1 concreto 40×40 sobre REV-05 · borda "pixelada" da imagem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496751" y="539496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543800" y="58567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7909560" y="580186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Totem de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Muro na cor Seazone com logo e nome (briefing) · letras iluminadas como na imagem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1496751" y="585673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53" name="Google Shape;353;p1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 posterior e lateral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355" name="Google Shape;35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356" name="Google Shape;35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1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358" name="Google Shape;358;p1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" y="1280160"/>
            <a:ext cx="3931920" cy="4910328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4"/>
          <p:cNvSpPr txBox="1"/>
          <p:nvPr/>
        </p:nvSpPr>
        <p:spPr>
          <a:xfrm>
            <a:off x="566928" y="1389888"/>
            <a:ext cx="2200046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05 (POSTERIOR)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2403952" y="263975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4"/>
          <p:cNvSpPr/>
          <p:nvPr/>
        </p:nvSpPr>
        <p:spPr>
          <a:xfrm>
            <a:off x="2089399" y="369646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4"/>
          <p:cNvSpPr/>
          <p:nvPr/>
        </p:nvSpPr>
        <p:spPr>
          <a:xfrm>
            <a:off x="2128717" y="293465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4"/>
          <p:cNvSpPr/>
          <p:nvPr/>
        </p:nvSpPr>
        <p:spPr>
          <a:xfrm>
            <a:off x="2521908" y="381933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2010761" y="43845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1342337" y="335241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4"/>
          <p:cNvSpPr/>
          <p:nvPr/>
        </p:nvSpPr>
        <p:spPr>
          <a:xfrm>
            <a:off x="3033056" y="408965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470916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4"/>
          <p:cNvSpPr txBox="1"/>
          <p:nvPr/>
        </p:nvSpPr>
        <p:spPr>
          <a:xfrm>
            <a:off x="498348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470916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4"/>
          <p:cNvSpPr txBox="1"/>
          <p:nvPr/>
        </p:nvSpPr>
        <p:spPr>
          <a:xfrm>
            <a:off x="5074920" y="16459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Revestimento esverdeado 20×20 (briefing) · guarda-corpo de vidro com perfil "U" inox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8677656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4"/>
          <p:cNvSpPr/>
          <p:nvPr/>
        </p:nvSpPr>
        <p:spPr>
          <a:xfrm>
            <a:off x="4709160" y="22138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5074920" y="21590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amadeirado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Boreal Natural (Portobello) · mesma leitura da fachada frontal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8677656" y="22138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4709160" y="27269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4"/>
          <p:cNvSpPr txBox="1"/>
          <p:nvPr/>
        </p:nvSpPr>
        <p:spPr>
          <a:xfrm>
            <a:off x="5074920" y="267208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das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em PVC preto e Oak · trilho BRI-02 · BRI-03 veneziana preta nas condensadoras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8677656" y="27269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4709160" y="32400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4"/>
          <p:cNvSpPr txBox="1"/>
          <p:nvPr/>
        </p:nvSpPr>
        <p:spPr>
          <a:xfrm>
            <a:off x="5074920" y="318516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Executar no peitoril das janelas, como na imagem · incluir nas elevações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4"/>
          <p:cNvSpPr/>
          <p:nvPr/>
        </p:nvSpPr>
        <p:spPr>
          <a:xfrm>
            <a:off x="8677656" y="324002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4709160" y="375310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5074920" y="369824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 do térreo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3 e Brise 4 Oak no pavimento 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8677656" y="375310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4709160" y="42661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5074920" y="42113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escuro lateral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REV-06 cinza escuro, ref. Rock'n Roll (Suvinil)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8677656" y="42661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4709160" y="47792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5074920" y="47244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Montantes claros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REV-07 Papel de Presente Suvinil (B208)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8677656" y="47792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398" name="Google Shape;39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8116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02 (2).jpg" id="399" name="Google Shape;399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5840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02 (2).jpg" id="400" name="Google Shape;400;p1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3564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01" name="Google Shape;401;p14"/>
          <p:cNvSpPr txBox="1"/>
          <p:nvPr/>
        </p:nvSpPr>
        <p:spPr>
          <a:xfrm>
            <a:off x="9235440" y="212140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REV-08 · REV-06 · REV-07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4"/>
          <p:cNvSpPr/>
          <p:nvPr/>
        </p:nvSpPr>
        <p:spPr>
          <a:xfrm>
            <a:off x="9235440" y="2606040"/>
            <a:ext cx="2499055" cy="365760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4"/>
          <p:cNvSpPr txBox="1"/>
          <p:nvPr/>
        </p:nvSpPr>
        <p:spPr>
          <a:xfrm>
            <a:off x="9418320" y="2697480"/>
            <a:ext cx="2133295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NAS QUATRO ELEVAÇÕES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 fachadas laterais e posterior repetem a paleta da frontal: REV-05, REV-06, REV-07 e REV-08 + brises. Referências: elevações (pranchas 19 a 22) e detalhes de elevação (pranchas 23 a 25).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09" name="Google Shape;409;p1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Térreo: acesso, lojas e totem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11" name="Google Shape;41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12" name="Google Shape;4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4 (2).jpg" id="414" name="Google Shape;414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 txBox="1"/>
          <p:nvPr/>
        </p:nvSpPr>
        <p:spPr>
          <a:xfrm>
            <a:off x="566928" y="1389888"/>
            <a:ext cx="2770632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04 (TÉRREO E MEZANINO)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3149487" y="437631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2472583" y="403396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995697" y="39578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6534013" y="39578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6780161" y="331122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4934056" y="323514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3826392" y="217005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3087950" y="23982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3703319" y="367259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3334098" y="296887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IDENTIDADE DO ACESSO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totem iluminado CANASVIEIRAS SPOT no muro, o cobogó das lojas e os brises Oak do mezanino são a "cara" do térreo no lançamento. O muro recebe pintura na cor Seazone com logo e nome (briefing); o executivo deve detalhar letras, iluminação e fixação conforme a imagem.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5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5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5"/>
          <p:cNvSpPr txBox="1"/>
          <p:nvPr/>
        </p:nvSpPr>
        <p:spPr>
          <a:xfrm>
            <a:off x="7909560" y="164592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Totem CANASVIEIRAS SPOT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Muro na cor Seazone com logo e nome · letras iluminadas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5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5"/>
          <p:cNvSpPr/>
          <p:nvPr/>
        </p:nvSpPr>
        <p:spPr>
          <a:xfrm>
            <a:off x="7543800" y="216255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5"/>
          <p:cNvSpPr txBox="1"/>
          <p:nvPr/>
        </p:nvSpPr>
        <p:spPr>
          <a:xfrm>
            <a:off x="7909560" y="210769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Rampa de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Guarda-corpo e corrimão em perfil preto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5"/>
          <p:cNvSpPr/>
          <p:nvPr/>
        </p:nvSpPr>
        <p:spPr>
          <a:xfrm>
            <a:off x="11496751" y="216255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5"/>
          <p:cNvSpPr/>
          <p:nvPr/>
        </p:nvSpPr>
        <p:spPr>
          <a:xfrm>
            <a:off x="7543800" y="26243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5"/>
          <p:cNvSpPr txBox="1"/>
          <p:nvPr/>
        </p:nvSpPr>
        <p:spPr>
          <a:xfrm>
            <a:off x="7909560" y="256946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Paisagismo do passeio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Vegetação alta em frente ao térreo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11496751" y="262432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7543800" y="308610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5"/>
          <p:cNvSpPr txBox="1"/>
          <p:nvPr/>
        </p:nvSpPr>
        <p:spPr>
          <a:xfrm>
            <a:off x="7909560" y="303123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Lojas 01 e 02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Vitrines em vidro · esquadria de alumínio preto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11496751" y="308610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7543800" y="354787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7909560" y="349300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EV1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Concreto 40×40 · borda "pixelada" como na imagem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11496751" y="354787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7543800" y="40096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7909560" y="395478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 do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2 em PVC cor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11496751" y="40096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543800" y="447141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7909560" y="441655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em grelha EV3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40×40 · peças pretas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11496751" y="447141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7543800" y="493318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7909560" y="487832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 AC-01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Vaso · floreira Vasoflex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11496751" y="493318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7543800" y="539496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7909560" y="534009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Faixa de laje / marquise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cinza médio da imagem (ref. Nanquim)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496751" y="539496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543800" y="58567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7909560" y="580186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Esquadrias do pavimento 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Alumínio anodizado preto ·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1496751" y="585673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767" name="Google Shape;767;p2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PONTOS DE ATENÇÃO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Fachada: pontos de atenção na obra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69" name="Google Shape;769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70" name="Google Shape;7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2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772" name="Google Shape;772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384048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30352" y="1353312"/>
            <a:ext cx="1344168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4572000" y="128016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 txBox="1"/>
          <p:nvPr/>
        </p:nvSpPr>
        <p:spPr>
          <a:xfrm>
            <a:off x="4663440" y="14173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 txBox="1"/>
          <p:nvPr/>
        </p:nvSpPr>
        <p:spPr>
          <a:xfrm>
            <a:off x="5074920" y="12801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 no coroamento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Letras-caixa iluminadas no reservatório, como na imagem: prever alimentação e fixação antes do acabamento.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6"/>
          <p:cNvSpPr txBox="1"/>
          <p:nvPr/>
        </p:nvSpPr>
        <p:spPr>
          <a:xfrm>
            <a:off x="4663440" y="22479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6"/>
          <p:cNvSpPr txBox="1"/>
          <p:nvPr/>
        </p:nvSpPr>
        <p:spPr>
          <a:xfrm>
            <a:off x="5074920" y="211074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 das janelas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Executar o ripado do peitoril como na imagem de lançamento, junto com o brise de correr.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6"/>
          <p:cNvSpPr/>
          <p:nvPr/>
        </p:nvSpPr>
        <p:spPr>
          <a:xfrm>
            <a:off x="4572000" y="294132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26"/>
          <p:cNvSpPr txBox="1"/>
          <p:nvPr/>
        </p:nvSpPr>
        <p:spPr>
          <a:xfrm>
            <a:off x="4663440" y="30784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 txBox="1"/>
          <p:nvPr/>
        </p:nvSpPr>
        <p:spPr>
          <a:xfrm>
            <a:off x="5074920" y="294132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EV1–EV4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Peças pretas nos painéis laterais e borda "pixelada" do EV1 sobre as lojas, como na imagem.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6"/>
          <p:cNvSpPr txBox="1"/>
          <p:nvPr/>
        </p:nvSpPr>
        <p:spPr>
          <a:xfrm>
            <a:off x="4663440" y="39090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5074920" y="377190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e guarda-corpos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em PVC preto e Oak e guarda-corpo de vidro com perfil "U" inox (briefing): compatibilizar o executivo.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4572000" y="460248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6"/>
          <p:cNvSpPr txBox="1"/>
          <p:nvPr/>
        </p:nvSpPr>
        <p:spPr>
          <a:xfrm>
            <a:off x="4663440" y="4739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6"/>
          <p:cNvSpPr txBox="1"/>
          <p:nvPr/>
        </p:nvSpPr>
        <p:spPr>
          <a:xfrm>
            <a:off x="5074920" y="460248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Cores e porcelanato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cinza médio e Boreal Natural (REV-08) no tom da imagem: painel-teste e peça física antes da compra.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6"/>
          <p:cNvSpPr txBox="1"/>
          <p:nvPr/>
        </p:nvSpPr>
        <p:spPr>
          <a:xfrm>
            <a:off x="4663440" y="55702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 txBox="1"/>
          <p:nvPr/>
        </p:nvSpPr>
        <p:spPr>
          <a:xfrm>
            <a:off x="5074920" y="54330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Pergolado, totem e soleiras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Pergolado metálico preto; muro na cor Seazone com logo e nome iluminados; soleira em granito cinza (SOL-01).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99064" y="15857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99064" y="241630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10799064" y="324688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10799064" y="407746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10799064" y="490804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6" name="Pill 5006"/>
          <p:cNvSpPr/>
          <p:nvPr/>
        </p:nvSpPr>
        <p:spPr>
          <a:xfrm>
            <a:off x="10799064" y="57386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IMAGEM 01.png" id="465" name="Google Shape;465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466" name="Google Shape;46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1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Interiores das áreas comuns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Conceito Seazone × decisão  ·  recepção e corredores  ·  rooftop interno  ·  rooftop externo e piscina  ·  pontos de atenção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470" name="Google Shape;47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77" name="Google Shape;477;p1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Conceito Seazone × decisão registrada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79" name="Google Shape;47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80" name="Google Shape;48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45720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483" name="Google Shape;483;p1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720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7"/>
          <p:cNvSpPr txBox="1"/>
          <p:nvPr/>
        </p:nvSpPr>
        <p:spPr>
          <a:xfrm>
            <a:off x="56692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/ hall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7"/>
          <p:cNvSpPr txBox="1"/>
          <p:nvPr/>
        </p:nvSpPr>
        <p:spPr>
          <a:xfrm>
            <a:off x="56692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do logo em Velvet off-white com "Canasvieiras SPOT" e LED no "O", sarrafos e floreiras em MDF Savana, sofá em couro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DECISÃO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 do logo em efeito cimento queimado tom areia (briefing), aplicado em textura Velvet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274923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488" name="Google Shape;488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4923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17"/>
          <p:cNvSpPr txBox="1"/>
          <p:nvPr/>
        </p:nvSpPr>
        <p:spPr>
          <a:xfrm>
            <a:off x="285896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Corredores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7"/>
          <p:cNvSpPr txBox="1"/>
          <p:nvPr/>
        </p:nvSpPr>
        <p:spPr>
          <a:xfrm>
            <a:off x="285896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claras, sarrafos verticais em MDF Savana, arandelas cilindro com haste de madeira, piso claro 90×90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DECISÃO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 "Outono Gelado" (Coral, briefing) · portas e rodapés PRETOS, como na imagem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504127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493" name="Google Shape;493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4127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17"/>
          <p:cNvSpPr txBox="1"/>
          <p:nvPr/>
        </p:nvSpPr>
        <p:spPr>
          <a:xfrm>
            <a:off x="515099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interno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515099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Gourmet com pedra moledo, ripado de madeira, armários cinza, bancada Pitaya e pendente de rattan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DECISÃO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 em MDF Savana e Cinza Sagrado (memorial de texturas) · pedra moledo na copa (briefing)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7"/>
          <p:cNvSpPr/>
          <p:nvPr/>
        </p:nvSpPr>
        <p:spPr>
          <a:xfrm>
            <a:off x="733330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3.png" id="498" name="Google Shape;498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3330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17"/>
          <p:cNvSpPr txBox="1"/>
          <p:nvPr/>
        </p:nvSpPr>
        <p:spPr>
          <a:xfrm>
            <a:off x="744303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externo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44303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com deck amadeirado, painel do logo em pedra, balanço e pergolado preto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DECISÃO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 esverdeada 20×20 com aquecimento solar · balanço fixado na laje (briefing)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962534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10.png" id="503" name="Google Shape;503;p1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534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7"/>
          <p:cNvSpPr txBox="1"/>
          <p:nvPr/>
        </p:nvSpPr>
        <p:spPr>
          <a:xfrm>
            <a:off x="973506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Projeto de interiores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7"/>
          <p:cNvSpPr txBox="1"/>
          <p:nvPr/>
        </p:nvSpPr>
        <p:spPr>
          <a:xfrm>
            <a:off x="973506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Imagens Seazone + Memorial de Texturas + Memorial de Interiores (10 - Projeto de Interiores)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DECISÃO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entregue mobiliada (memorial 31) · marcenaria, bancadas e luminárias pela Decor (memorial 32.1)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7"/>
          <p:cNvSpPr txBox="1"/>
          <p:nvPr/>
        </p:nvSpPr>
        <p:spPr>
          <a:xfrm>
            <a:off x="457200" y="5230368"/>
            <a:ext cx="112772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Imagens Seazone (10 - Projeto de Interiores / 02 - Imagens) × Memorial Descritivo, Memorial de Texturas, Memorial de Interiores, Briefing e LOG de considerações (00 - Premissas de Projeto).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457200" y="5532120"/>
            <a:ext cx="11277295" cy="73152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REGRA PARA A OBRA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Vale o conceito Seazone das áreas comuns. Onde a imagem mostra cimento queimado, aplicar textura Velvet (memorial de texturas). Qualquer troca de material ou mobiliário precisa de validação registrada.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56692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2858963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515099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7443033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973506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00" name="Google Shape;800;p2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E CORREDORES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2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e corredores: Velvet, Savana e couro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02" name="Google Shape;802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03" name="Google Shape;80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2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805" name="Google Shape;805;p27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806" name="Google Shape;806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3.png" id="807" name="Google Shape;807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4.png" id="808" name="Google Shape;808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5.png" id="809" name="Google Shape;809;p2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1.png" id="810" name="Google Shape;810;p2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2.png" id="811" name="Google Shape;811;p2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lanta recepção.png" id="812" name="Google Shape;812;p2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1.png" id="813" name="Google Shape;813;p2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27"/>
          <p:cNvSpPr/>
          <p:nvPr/>
        </p:nvSpPr>
        <p:spPr>
          <a:xfrm>
            <a:off x="457200" y="3977640"/>
            <a:ext cx="3108960" cy="9144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27"/>
          <p:cNvSpPr txBox="1"/>
          <p:nvPr/>
        </p:nvSpPr>
        <p:spPr>
          <a:xfrm>
            <a:off x="640080" y="4069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REGRA DO MEMORIAL DE TEXTURAS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queimado, aplicar textura Velvet. Portas e rodapés das áreas comuns: PRETOS, como na imagem.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27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com painel do logo em efeito cimento queimado tom areia e letreiro "Canasvieiras SPOT" com LED no "O", sarrafos verticais e floreiras em MDF Savana e muita vegetação.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CORREDORES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"Outono Gelado" acetinadas com sarrafos em MDF Savana, arandelas cilindro com haste de madeira e piso claro 90×90.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Sofá em couro, puffs Aurora e Saturno cinza, puff Seat Garden e tapete Debrum Chevron cinza (memorial de interiores).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17" name="Google Shape;817;p2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18" name="Google Shape;818;p27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Parede do logo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19" name="Google Shape;819;p27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0" name="Google Shape;820;p27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Superquadra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RREDOR 01.png" id="821" name="Google Shape;821;p27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2" name="Google Shape;822;p27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MDF Savana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23" name="Google Shape;823;p27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4" name="Google Shape;824;p27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Couro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48" name="Google Shape;848;p2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E CORREDORES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2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Ficha: recepção, hall e corredores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50" name="Google Shape;85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51" name="Google Shape;85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p2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53" name="Google Shape;853;p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p29"/>
          <p:cNvSpPr txBox="1"/>
          <p:nvPr/>
        </p:nvSpPr>
        <p:spPr>
          <a:xfrm>
            <a:off x="548640" y="1371600"/>
            <a:ext cx="16294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RECEPÇÃO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RREDOR 01.png" id="855" name="Google Shape;855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6" name="Google Shape;856;p29"/>
          <p:cNvSpPr txBox="1"/>
          <p:nvPr/>
        </p:nvSpPr>
        <p:spPr>
          <a:xfrm>
            <a:off x="548640" y="3602736"/>
            <a:ext cx="16294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CORREDOR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29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Recepção entregue mobiliada e equipada (memorial 31). Imagens em 10 - Projeto de Interiores / 02 - Imagens / RECEPÇÃO.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29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29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do logo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9"/>
          <p:cNvSpPr txBox="1"/>
          <p:nvPr/>
        </p:nvSpPr>
        <p:spPr>
          <a:xfrm>
            <a:off x="6126480" y="12801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Efeito cimento queimado tom areia (briefing) em textura Velvet + "Canasvieiras SPOT" preto com LED no "O"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29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6126480" y="18338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Recepção: efeito cimento queimado tom areia (briefing) · corredores: "Outono Gelado" (Coral, briefing), acabamento acetinado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9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29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e 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9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Sarrafos verticais em MDF Savana com verniz fosco · floreiras em MDF Savana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9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29"/>
          <p:cNvSpPr txBox="1"/>
          <p:nvPr/>
        </p:nvSpPr>
        <p:spPr>
          <a:xfrm>
            <a:off x="6126480" y="29413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Superquadra Concreto Natural 90×90 retificado (Portobello) · lobby e corredores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9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29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9"/>
          <p:cNvSpPr txBox="1"/>
          <p:nvPr/>
        </p:nvSpPr>
        <p:spPr>
          <a:xfrm>
            <a:off x="6126480" y="349504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Recepção: gesso acartonado com pé-direito duplo (briefing) · corredores: forro modular mineral (memorial 15.2)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9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9"/>
          <p:cNvSpPr txBox="1"/>
          <p:nvPr/>
        </p:nvSpPr>
        <p:spPr>
          <a:xfrm>
            <a:off x="6126480" y="40487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PRETO, em esmalte (memorial de texturas), como na imagem de lançamento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9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29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9"/>
          <p:cNvSpPr txBox="1"/>
          <p:nvPr/>
        </p:nvSpPr>
        <p:spPr>
          <a:xfrm>
            <a:off x="6126480" y="46024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Sofá em couro · puffs Aurora e Saturno cinza · puff Seat Garden · tapete Debrum Chevron cinza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29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29"/>
          <p:cNvSpPr txBox="1"/>
          <p:nvPr/>
        </p:nvSpPr>
        <p:spPr>
          <a:xfrm>
            <a:off x="6126480" y="51562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Portas de acesso às unidades nos corredores: PRETAS, como na imagem · bandeira até o forro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9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29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29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Trilho com spots direcionáveis em alumínio preto · arandelas de corredor: cilindro off-white + haste Savana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88" name="Google Shape;888;p3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3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Rooftop: integração, gourmet e piscina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90" name="Google Shape;890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91" name="Google Shape;89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92" name="Google Shape;892;p3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893" name="Google Shape;893;p30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6.png" id="894" name="Google Shape;894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7.png" id="895" name="Google Shape;895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8.png" id="896" name="Google Shape;896;p3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9.png" id="897" name="Google Shape;897;p3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10.png" id="898" name="Google Shape;898;p3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1.png" id="899" name="Google Shape;899;p3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900" name="Google Shape;900;p3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3.png" id="901" name="Google Shape;901;p30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p30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Gourmet e copa com pedra moledo, ripados de madeira, armários cinza e pendente de rattan; deck amadeirado com piscina e painel do logo em pedra.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REGRA DE TEXTURA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queimado: textura Velvet cinza concreto (memorial de texturas).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Cadeira Mara bouclé cinza, poltrona em alumínio preto, banqueta Clarice, balanço Acapulco e espreguiçadeira em aço preto.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03" name="Google Shape;903;p30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4" name="Google Shape;904;p30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Pedra moledo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4.png" id="905" name="Google Shape;905;p30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6" name="Google Shape;906;p30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Velvet cinza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07" name="Google Shape;907;p30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8" name="Google Shape;908;p30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Ripado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909" name="Google Shape;909;p30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10" name="Google Shape;910;p30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Deck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938" name="Google Shape;938;p3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INTERNO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32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gourmet, copa e mini market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940" name="Google Shape;940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941" name="Google Shape;94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32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43" name="Google Shape;943;p3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32"/>
          <p:cNvSpPr txBox="1"/>
          <p:nvPr/>
        </p:nvSpPr>
        <p:spPr>
          <a:xfrm>
            <a:off x="548640" y="1371600"/>
            <a:ext cx="2128723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SEAZONE · GOURMET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9.png" id="945" name="Google Shape;945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6" name="Google Shape;946;p32"/>
          <p:cNvSpPr txBox="1"/>
          <p:nvPr/>
        </p:nvSpPr>
        <p:spPr>
          <a:xfrm>
            <a:off x="548640" y="3602736"/>
            <a:ext cx="1058875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MINI MARKET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32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Pedra branca estilo moledo na copa (briefing) e marcenaria em MDF Savana e Cinza Sagrado (memorial de texturas).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32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2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Painéis cinza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32"/>
          <p:cNvSpPr txBox="1"/>
          <p:nvPr/>
        </p:nvSpPr>
        <p:spPr>
          <a:xfrm>
            <a:off x="6126480" y="12801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cinza médio (briefing) em textura Velvet cinza concreto (memorial de texturas)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32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 internas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32"/>
          <p:cNvSpPr txBox="1"/>
          <p:nvPr/>
        </p:nvSpPr>
        <p:spPr>
          <a:xfrm>
            <a:off x="6126480" y="18338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fosco aveludado lavável cinza claro · Suvinil "Cromo" / Coral "Cinza Sublime"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32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32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 da copa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32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moledo, irregular, junta seca (briefing e memorial de texturas)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32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 interno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32"/>
          <p:cNvSpPr txBox="1"/>
          <p:nvPr/>
        </p:nvSpPr>
        <p:spPr>
          <a:xfrm>
            <a:off x="6126480" y="29413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90×90 natural/acetinado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32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32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32"/>
          <p:cNvSpPr txBox="1"/>
          <p:nvPr/>
        </p:nvSpPr>
        <p:spPr>
          <a:xfrm>
            <a:off x="6126480" y="349504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Ripados e prateleiras em MDF Savana · armários do gourmet e mini market em MDF Cinza Sagrado (memorial de texturas)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32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Bancada da copa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32"/>
          <p:cNvSpPr txBox="1"/>
          <p:nvPr/>
        </p:nvSpPr>
        <p:spPr>
          <a:xfrm>
            <a:off x="6126480" y="40487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Granito Pitaya · cuba inox · torneira Gali bica alta (Docol)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32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" name="Google Shape;965;p32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32"/>
          <p:cNvSpPr txBox="1"/>
          <p:nvPr/>
        </p:nvSpPr>
        <p:spPr>
          <a:xfrm>
            <a:off x="6126480" y="46024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Forro modular no rooftop e no mini market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32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32"/>
          <p:cNvSpPr txBox="1"/>
          <p:nvPr/>
        </p:nvSpPr>
        <p:spPr>
          <a:xfrm>
            <a:off x="6126480" y="51562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Cadeira Mara bouclé cinza · banqueta Clarice · poltrona em alumínio preto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32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2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32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Spots de sobrepor pretos · pendente Bulan em rattan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7" name="Google Shape;1007;p3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EXTERNO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3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rooftop externo e piscina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09" name="Google Shape;1009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10" name="Google Shape;101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11" name="Google Shape;1011;p3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1012" name="Google Shape;1012;p3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3" name="Google Shape;1013;p34"/>
          <p:cNvSpPr txBox="1"/>
          <p:nvPr/>
        </p:nvSpPr>
        <p:spPr>
          <a:xfrm>
            <a:off x="548640" y="1371600"/>
            <a:ext cx="1558137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PISCINA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1014" name="Google Shape;1014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5" name="Google Shape;1015;p34"/>
          <p:cNvSpPr txBox="1"/>
          <p:nvPr/>
        </p:nvSpPr>
        <p:spPr>
          <a:xfrm>
            <a:off x="548640" y="3602736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BALANÇO E LOGO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34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Painel do logo em pedra moledo com "Canasvieiras SPOT"; floreira e banco em alvenaria com a mesma pedra (LOG Ind. 02).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34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8" name="Google Shape;1018;p34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Google Shape;1019;p34"/>
          <p:cNvSpPr txBox="1"/>
          <p:nvPr/>
        </p:nvSpPr>
        <p:spPr>
          <a:xfrm>
            <a:off x="6126480" y="12801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Revestimento em acabamento esverdeado 20×20 (briefing) · executivo indica Barlavento Blanc: compatibilizar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34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Borda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34"/>
          <p:cNvSpPr txBox="1"/>
          <p:nvPr/>
        </p:nvSpPr>
        <p:spPr>
          <a:xfrm>
            <a:off x="6126480" y="18338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Acabamento da borda conforme a imagem de lançamento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34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34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Aquecimento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34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Solar (briefing e memorial)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4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34"/>
          <p:cNvSpPr txBox="1"/>
          <p:nvPr/>
        </p:nvSpPr>
        <p:spPr>
          <a:xfrm>
            <a:off x="6126480" y="29413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120×20, antiderrapante (briefing), sobre piso elevado (prancha 44)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34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4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34"/>
          <p:cNvSpPr txBox="1"/>
          <p:nvPr/>
        </p:nvSpPr>
        <p:spPr>
          <a:xfrm>
            <a:off x="6126480" y="349504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 na parede do balanço e lateral · floreira e banco com a mesma pedra (LOG Ind. 02)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34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do logo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4"/>
          <p:cNvSpPr txBox="1"/>
          <p:nvPr/>
        </p:nvSpPr>
        <p:spPr>
          <a:xfrm>
            <a:off x="6126480" y="40487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"Canasvieiras SPOT" preto com LED no "O" sobre a pedra · ponto com interruptor no logo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4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34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34"/>
          <p:cNvSpPr txBox="1"/>
          <p:nvPr/>
        </p:nvSpPr>
        <p:spPr>
          <a:xfrm>
            <a:off x="6126480" y="46024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Instalado diretamente na laje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34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34"/>
          <p:cNvSpPr txBox="1"/>
          <p:nvPr/>
        </p:nvSpPr>
        <p:spPr>
          <a:xfrm>
            <a:off x="6126480" y="51562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Vidro incolor com perfil "U" inox, sem perfis de alumínio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34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34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34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Balanço Acapulco · espreguiçadeira em aço preto · banqueta Clarice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767" name="Google Shape;767;p2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PONTOS DE ATENÇÃO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Áreas comuns: pontos de atenção na obra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69" name="Google Shape;769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70" name="Google Shape;7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2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772" name="Google Shape;772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384048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30352" y="1353312"/>
            <a:ext cx="1486814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ROOFTOP · BALANÇO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4572000" y="128016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 txBox="1"/>
          <p:nvPr/>
        </p:nvSpPr>
        <p:spPr>
          <a:xfrm>
            <a:off x="4663440" y="14173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 txBox="1"/>
          <p:nvPr/>
        </p:nvSpPr>
        <p:spPr>
          <a:xfrm>
            <a:off x="5074920" y="12801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 das áreas comuns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em cimento queimado tom areia, rooftop cinza médio e corredores "Outono Gelado" (briefing).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6"/>
          <p:cNvSpPr txBox="1"/>
          <p:nvPr/>
        </p:nvSpPr>
        <p:spPr>
          <a:xfrm>
            <a:off x="4663440" y="22479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6"/>
          <p:cNvSpPr txBox="1"/>
          <p:nvPr/>
        </p:nvSpPr>
        <p:spPr>
          <a:xfrm>
            <a:off x="5074920" y="211074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rodapés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PRETOS nas áreas comuns, como na imagem de lançamento: ajustar o executivo (ROD-01) antes da compra.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6"/>
          <p:cNvSpPr/>
          <p:nvPr/>
        </p:nvSpPr>
        <p:spPr>
          <a:xfrm>
            <a:off x="4572000" y="294132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26"/>
          <p:cNvSpPr txBox="1"/>
          <p:nvPr/>
        </p:nvSpPr>
        <p:spPr>
          <a:xfrm>
            <a:off x="4663440" y="30784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 txBox="1"/>
          <p:nvPr/>
        </p:nvSpPr>
        <p:spPr>
          <a:xfrm>
            <a:off x="5074920" y="294132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Revestimento da piscina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Acabamento esverdeado 20×20 (briefing), borda conforme a imagem: compatibilizar o executivo.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6"/>
          <p:cNvSpPr txBox="1"/>
          <p:nvPr/>
        </p:nvSpPr>
        <p:spPr>
          <a:xfrm>
            <a:off x="4663440" y="39090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5074920" y="377190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 do rooftop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Fixação diretamente na laje (briefing): prever o reforço na laje antes do revestimento.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4572000" y="460248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6"/>
          <p:cNvSpPr txBox="1"/>
          <p:nvPr/>
        </p:nvSpPr>
        <p:spPr>
          <a:xfrm>
            <a:off x="4663440" y="4739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6"/>
          <p:cNvSpPr txBox="1"/>
          <p:nvPr/>
        </p:nvSpPr>
        <p:spPr>
          <a:xfrm>
            <a:off x="5074920" y="460248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 do rooftop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120×20, antiderrapante, sobre piso elevado (prancha 44).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6"/>
          <p:cNvSpPr txBox="1"/>
          <p:nvPr/>
        </p:nvSpPr>
        <p:spPr>
          <a:xfrm>
            <a:off x="4663440" y="55702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 txBox="1"/>
          <p:nvPr/>
        </p:nvSpPr>
        <p:spPr>
          <a:xfrm>
            <a:off x="5074920" y="54330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 do rooftop e da recepção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Savana nos ripados e prateleiras e MDF Cinza Sagrado nos armários (memorial de texturas).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99064" y="15857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99064" y="241630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10799064" y="324688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10799064" y="407746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10799064" y="490804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6" name="Pill 5006"/>
          <p:cNvSpPr/>
          <p:nvPr/>
        </p:nvSpPr>
        <p:spPr>
          <a:xfrm>
            <a:off x="10799064" y="57386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IMAGEM 05.png" id="1048" name="Google Shape;1048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049" name="Google Shape;104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p35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lang="en-US" sz="7200">
                <a:solidFill>
                  <a:srgbClr val="FC6058"/>
                </a:solidFill>
              </a:rPr>
              <a:t>03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35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Materiais de interiores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35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Áreas comuns · mapa de materialidade T13–T24: amostras tiradas das imagens Seazone para compra e aprovação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053" name="Google Shape;1053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4" name="Google Shape;1054;p35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pisos e paredes (1/3)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Porcelanato Superquadra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Lobby, recepção, corredores, WC comuns e terraços da cobertura.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Superquadra Concreto Natural 90×90 retificado (Portobello) · memorial 12.4 e 30.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Peças grandes: argamassa também no tardoz; alinhar paginação hall × circulação.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4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 Velvet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queimado: painel do logo da recepção e painéis cinza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Suvinil Efeito Veludo / Coral Design Efeito Veludo · tom areia (recepção) e cinza concreto (rooftop).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contra o render antes de aplicar em área grande.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Pintura das paredes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Corredores, recepção e paredes internas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Corredores: "Outono Gelado" (Coral) acetinado · recepção: efeito cimento queimado tom areia · rooftop: cinza médio (briefing).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Corredores em "Outono Gelado" (Coral, briefing); recepção em efeito cimento queimado tom areia.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Recepção, corredores e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Rodapé em esmalte PRETO (memorial de texturas), como na imagem de lançamento.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PRETO, como na imagem de lançamento: ajustar o ROD-01 do executivo antes da compra.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madeira e pedra (2/3)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Savana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Sarrafos dos corredores, ripados e floreiras da recepção, ripados e prateleiras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Savana (amadeirado claro) com verniz fosco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Fixar após a pintura final; prever ponto das arandelas no eixo dos sarrafos.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Cinza Sagrado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Armários do gourmet e do mini market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Cinza Sagrado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Conferir o padrão com a amostra do fornecedor antes do pedido.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 moledo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do logo e parede do balanço, backsplash da copa, floreira e banco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moledo, irregular, junta seca (briefing e 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 Ind. 02: floreira e banco em alvenaria revestidos com a mesma pedra.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Granito Pitaya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Bancada da copa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Granito Pitaya · cuba inox · torneira Gali bica alta (Docol).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Bancada não instalada pela construtora (memorial 32.1): deixar pontos na cota do projeto.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rooftop externo e identidade (3/3)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1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 do rooftop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Deck aberto da cobertura e entorno da piscina.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 (briefing) sobre piso elevado (prancha 44).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Peça antiderrapante, paginação longitudinal como na imagem; conferir caimento para os ralos.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1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Revestimento da piscina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aquecida da cobertura.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Revestimento em acabamento esverdeado 20×20 (briefing).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indica Barlavento Blanc: compatibilizar para o esverdeado 20×20 antes do pedido.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da recepção (sobre o cimento queimado tom areia) e painel em pedra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"Canasvieiras SPOT" em letras pretas com LED no "O"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Briefing: ponto para logo iluminado com interruptor no logo; prever alimentação embutida antes do revestimento.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Luminárias decorativas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Corredores (arandelas) e gourmet do rooftop (pendentes).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Arandela cilindro off-white com haste em Savana · pendente Bulan em rattan · spots de sobrepor pretos.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Escopo Decor (memorial 32.1): deixar pontos elétricos no eixo dos sarrafos e sobre a mesa.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03 (2).jpg" id="1168" name="Google Shape;1168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169" name="Google Shape;116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4864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40"/>
          <p:cNvSpPr txBox="1"/>
          <p:nvPr/>
        </p:nvSpPr>
        <p:spPr>
          <a:xfrm>
            <a:off x="4572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CANASVIEIRAS SPOT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40"/>
          <p:cNvSpPr txBox="1"/>
          <p:nvPr/>
        </p:nvSpPr>
        <p:spPr>
          <a:xfrm>
            <a:off x="457200" y="3063240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40"/>
          <p:cNvSpPr txBox="1"/>
          <p:nvPr/>
        </p:nvSpPr>
        <p:spPr>
          <a:xfrm>
            <a:off x="457200" y="43434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Lançamento × Executivo  · 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173" name="Google Shape;1173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4" name="Google Shape;1174;p40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