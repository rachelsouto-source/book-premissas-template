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comments+xml" PartName="/ppt/comments/comment2.xml"/>
  <Override ContentType="application/vnd.openxmlformats-officedocument.presentationml.comments+xml" PartName="/ppt/comments/comment3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3" name="Bianca Carina Valente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10-13T17:26:06.146">
    <p:pos x="5518" y="2903"/>
    <p:text>trocar por imagem externa</p:text>
  </p:cm>
</p:cmLst>
</file>

<file path=ppt/comments/comment2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2" dt="2026-10-13T17:26:48.650">
    <p:pos x="4521" y="2332"/>
    <p:text>ajustar todo campo que fala de interiores para "interiores das áreas comuns"</p:text>
  </p:cm>
</p:cmLst>
</file>

<file path=ppt/comments/comment3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3" dt="2026-10-13T17:27:04.177">
    <p:pos x="5443" y="2471"/>
    <p:text>das áreas comuns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" name="Google Shape;2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" name="Google Shape;65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" name="Google Shape;66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" name="Google Shape;11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" name="Google Shape;14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3" name="Google Shape;173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7" name="Google Shape;217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4" name="Google Shape;24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1" name="Google Shape;27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8" name="Google Shape;298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9" name="Google Shape;299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0" name="Google Shape;35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1" name="Google Shape;351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6" name="Google Shape;40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62" name="Google Shape;462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3" name="Google Shape;463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2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4" name="Google Shape;474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5" name="Google Shape;475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2" name="Google Shape;512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3" name="Google Shape;513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1" name="Google Shape;54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2" name="Google Shape;542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7" name="Google Shape;567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8" name="Google Shape;568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0" name="Google Shape;600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1" name="Google Shape;601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9" name="Google Shape;649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0" name="Google Shape;650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5" name="Google Shape;695;p2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5" name="Shape 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Google Shape;72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7" name="Google Shape;72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8" name="Google Shape;72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5" name="Google Shape;745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6" name="Google Shape;746;p2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5" name="Google Shape;765;p2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5" name="Shape 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Google Shape;796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97" name="Google Shape;797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8" name="Google Shape;798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5" name="Shape 8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6" name="Google Shape;826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7" name="Google Shape;827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8" name="Google Shape;828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3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5" name="Google Shape;845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6" name="Google Shape;846;p2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3" name="Shape 8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Google Shape;884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5" name="Google Shape;885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6" name="Google Shape;886;p2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1" name="Shape 9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2" name="Google Shape;912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3" name="Google Shape;913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2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3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35" name="Google Shape;935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6" name="Google Shape;936;p3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2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3" name="Google Shape;973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4" name="Google Shape;974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5" name="Google Shape;975;p3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2" name="Shape 10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" name="Google Shape;1003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4" name="Google Shape;1004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5" name="Google Shape;1005;p3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3" name="Shape 10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" name="Google Shape;1044;p4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5" name="Google Shape;1045;p4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6" name="Google Shape;1046;p4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5" name="Shape 10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Google Shape;1056;p4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7" name="Google Shape;1057;p4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8" name="Google Shape;1058;p4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2" name="Shape 10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3" name="Google Shape;1083;p4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84" name="Google Shape;1084;p4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5" name="Google Shape;1085;p4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9" name="Shape 1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Google Shape;1110;p5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1" name="Google Shape;1111;p5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2" name="Google Shape;1112;p5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6" name="Shape 1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7" name="Google Shape;1137;p52mdf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38" name="Google Shape;1138;p52mdf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9" name="Google Shape;1139;p52mdf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3" name="Shape 1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4" name="Google Shape;1164;p5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65" name="Google Shape;1165;p5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6" name="Google Shape;1166;p5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comments" Target="../comments/comment1.xml"/><Relationship Id="rId4" Type="http://schemas.openxmlformats.org/officeDocument/2006/relationships/image" Target="../media/image15.jpg"/><Relationship Id="rId5" Type="http://schemas.openxmlformats.org/officeDocument/2006/relationships/image" Target="../media/image10.jpg"/><Relationship Id="rId6" Type="http://schemas.openxmlformats.org/officeDocument/2006/relationships/image" Target="../media/image12.jpg"/><Relationship Id="rId7" Type="http://schemas.openxmlformats.org/officeDocument/2006/relationships/image" Target="../media/image1.jpg"/><Relationship Id="rId8" Type="http://schemas.openxmlformats.org/officeDocument/2006/relationships/image" Target="../media/image3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comments" Target="../comments/comment2.xml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8.jpg"/><Relationship Id="rId7" Type="http://schemas.openxmlformats.org/officeDocument/2006/relationships/image" Target="../media/image9.jpg"/><Relationship Id="rId8" Type="http://schemas.openxmlformats.org/officeDocument/2006/relationships/image" Target="../media/image11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omments" Target="../comments/comment3.xml"/><Relationship Id="rId4" Type="http://schemas.openxmlformats.org/officeDocument/2006/relationships/image" Target="../media/image4.png"/><Relationship Id="rId9" Type="http://schemas.openxmlformats.org/officeDocument/2006/relationships/image" Target="../media/image14.jpg"/><Relationship Id="rId5" Type="http://schemas.openxmlformats.org/officeDocument/2006/relationships/image" Target="../media/image5.png"/><Relationship Id="rId6" Type="http://schemas.openxmlformats.org/officeDocument/2006/relationships/image" Target="../media/image7.jpg"/><Relationship Id="rId7" Type="http://schemas.openxmlformats.org/officeDocument/2006/relationships/image" Target="../media/image17.jpg"/><Relationship Id="rId8" Type="http://schemas.openxmlformats.org/officeDocument/2006/relationships/image" Target="../media/image1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6.jpg"/><Relationship Id="rId4" Type="http://schemas.openxmlformats.org/officeDocument/2006/relationships/image" Target="../media/image32.png"/><Relationship Id="rId5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10" Type="http://schemas.openxmlformats.org/officeDocument/2006/relationships/image" Target="../media/image43.jpg"/><Relationship Id="rId9" Type="http://schemas.openxmlformats.org/officeDocument/2006/relationships/image" Target="../media/image11.jpg"/><Relationship Id="rId5" Type="http://schemas.openxmlformats.org/officeDocument/2006/relationships/image" Target="../media/image8.jpg"/><Relationship Id="rId6" Type="http://schemas.openxmlformats.org/officeDocument/2006/relationships/image" Target="../media/image17.jpg"/><Relationship Id="rId7" Type="http://schemas.openxmlformats.org/officeDocument/2006/relationships/image" Target="../media/image27.jpg"/><Relationship Id="rId8" Type="http://schemas.openxmlformats.org/officeDocument/2006/relationships/image" Target="../media/image2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10" Type="http://schemas.openxmlformats.org/officeDocument/2006/relationships/image" Target="../media/image97.jpg"/><Relationship Id="rId9" Type="http://schemas.openxmlformats.org/officeDocument/2006/relationships/image" Target="../media/image31.jpg"/><Relationship Id="rId5" Type="http://schemas.openxmlformats.org/officeDocument/2006/relationships/image" Target="../media/image25.jpg"/><Relationship Id="rId6" Type="http://schemas.openxmlformats.org/officeDocument/2006/relationships/image" Target="../media/image21.jpg"/><Relationship Id="rId7" Type="http://schemas.openxmlformats.org/officeDocument/2006/relationships/image" Target="../media/image9.jpg"/><Relationship Id="rId8" Type="http://schemas.openxmlformats.org/officeDocument/2006/relationships/image" Target="../media/image28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4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5.jpg"/><Relationship Id="rId6" Type="http://schemas.openxmlformats.org/officeDocument/2006/relationships/image" Target="../media/image9.jpg"/><Relationship Id="rId7" Type="http://schemas.openxmlformats.org/officeDocument/2006/relationships/image" Target="../media/image21.jpg"/><Relationship Id="rId8" Type="http://schemas.openxmlformats.org/officeDocument/2006/relationships/image" Target="../media/image28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1.jpg"/><Relationship Id="rId6" Type="http://schemas.openxmlformats.org/officeDocument/2006/relationships/image" Target="../media/image63.jpg"/><Relationship Id="rId7" Type="http://schemas.openxmlformats.org/officeDocument/2006/relationships/image" Target="../media/image97.jpg"/><Relationship Id="rId8" Type="http://schemas.openxmlformats.org/officeDocument/2006/relationships/image" Target="../media/image47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1.jpg"/><Relationship Id="rId6" Type="http://schemas.openxmlformats.org/officeDocument/2006/relationships/image" Target="../media/image55.jpg"/><Relationship Id="rId7" Type="http://schemas.openxmlformats.org/officeDocument/2006/relationships/image" Target="../media/image58.jpg"/><Relationship Id="rId8" Type="http://schemas.openxmlformats.org/officeDocument/2006/relationships/image" Target="../media/image60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1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5.jpg"/><Relationship Id="rId6" Type="http://schemas.openxmlformats.org/officeDocument/2006/relationships/image" Target="../media/image25.jpg"/><Relationship Id="rId7" Type="http://schemas.openxmlformats.org/officeDocument/2006/relationships/image" Target="../media/image21.jpg"/><Relationship Id="rId8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1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2.jpg"/><Relationship Id="rId4" Type="http://schemas.openxmlformats.org/officeDocument/2006/relationships/image" Target="../media/image32.png"/><Relationship Id="rId5" Type="http://schemas.openxmlformats.org/officeDocument/2006/relationships/image" Target="../media/image5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9" Type="http://schemas.openxmlformats.org/officeDocument/2006/relationships/image" Target="../media/image119.jpg"/><Relationship Id="rId5" Type="http://schemas.openxmlformats.org/officeDocument/2006/relationships/image" Target="../media/image74.jpg"/><Relationship Id="rId6" Type="http://schemas.openxmlformats.org/officeDocument/2006/relationships/image" Target="../media/image93.jpg"/><Relationship Id="rId7" Type="http://schemas.openxmlformats.org/officeDocument/2006/relationships/image" Target="../media/image75.jpg"/><Relationship Id="rId8" Type="http://schemas.openxmlformats.org/officeDocument/2006/relationships/image" Target="../media/image77.jp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0.jpg"/><Relationship Id="rId6" Type="http://schemas.openxmlformats.org/officeDocument/2006/relationships/image" Target="../media/image84.jpg"/><Relationship Id="rId7" Type="http://schemas.openxmlformats.org/officeDocument/2006/relationships/image" Target="../media/image82.jpg"/><Relationship Id="rId8" Type="http://schemas.openxmlformats.org/officeDocument/2006/relationships/image" Target="../media/image83.jp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4.jpg"/><Relationship Id="rId6" Type="http://schemas.openxmlformats.org/officeDocument/2006/relationships/image" Target="../media/image83.jpg"/></Relationships>
</file>

<file path=ppt/slides/_rels/slide18.xml.rels><?xml version="1.0" encoding="UTF-8" standalone="yes"?><Relationships xmlns="http://schemas.openxmlformats.org/package/2006/relationships"><Relationship Id="rId11" Type="http://schemas.openxmlformats.org/officeDocument/2006/relationships/image" Target="../media/image96.jpg"/><Relationship Id="rId10" Type="http://schemas.openxmlformats.org/officeDocument/2006/relationships/image" Target="../media/image92.jpg"/><Relationship Id="rId13" Type="http://schemas.openxmlformats.org/officeDocument/2006/relationships/image" Target="../media/image98.jpg"/><Relationship Id="rId12" Type="http://schemas.openxmlformats.org/officeDocument/2006/relationships/image" Target="../media/image126.jp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9" Type="http://schemas.openxmlformats.org/officeDocument/2006/relationships/image" Target="../media/image94.jpg"/><Relationship Id="rId15" Type="http://schemas.openxmlformats.org/officeDocument/2006/relationships/image" Target="../media/image100.jpg"/><Relationship Id="rId14" Type="http://schemas.openxmlformats.org/officeDocument/2006/relationships/image" Target="../media/image106.png"/><Relationship Id="rId5" Type="http://schemas.openxmlformats.org/officeDocument/2006/relationships/image" Target="../media/image83.jpg"/><Relationship Id="rId6" Type="http://schemas.openxmlformats.org/officeDocument/2006/relationships/image" Target="../media/image84.jpg"/><Relationship Id="rId7" Type="http://schemas.openxmlformats.org/officeDocument/2006/relationships/image" Target="../media/image91.jpg"/><Relationship Id="rId8" Type="http://schemas.openxmlformats.org/officeDocument/2006/relationships/image" Target="../media/image90.jpg"/></Relationships>
</file>

<file path=ppt/slides/_rels/slide19.xml.rels><?xml version="1.0" encoding="UTF-8" standalone="yes"?><Relationships xmlns="http://schemas.openxmlformats.org/package/2006/relationships"><Relationship Id="rId11" Type="http://schemas.openxmlformats.org/officeDocument/2006/relationships/image" Target="../media/image107.jpg"/><Relationship Id="rId10" Type="http://schemas.openxmlformats.org/officeDocument/2006/relationships/image" Target="../media/image91.jpg"/><Relationship Id="rId12" Type="http://schemas.openxmlformats.org/officeDocument/2006/relationships/image" Target="../media/image108.jp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9" Type="http://schemas.openxmlformats.org/officeDocument/2006/relationships/image" Target="../media/image113.jpg"/><Relationship Id="rId5" Type="http://schemas.openxmlformats.org/officeDocument/2006/relationships/image" Target="../media/image94.jpg"/><Relationship Id="rId6" Type="http://schemas.openxmlformats.org/officeDocument/2006/relationships/image" Target="../media/image102.jpg"/><Relationship Id="rId7" Type="http://schemas.openxmlformats.org/officeDocument/2006/relationships/image" Target="../media/image90.jpg"/><Relationship Id="rId8" Type="http://schemas.openxmlformats.org/officeDocument/2006/relationships/image" Target="../media/image103.jpg"/></Relationships>
</file>

<file path=ppt/slides/_rels/slide20.xml.rels><?xml version="1.0" encoding="UTF-8" standalone="yes"?><Relationships xmlns="http://schemas.openxmlformats.org/package/2006/relationships"><Relationship Id="rId11" Type="http://schemas.openxmlformats.org/officeDocument/2006/relationships/image" Target="../media/image115.jpg"/><Relationship Id="rId10" Type="http://schemas.openxmlformats.org/officeDocument/2006/relationships/image" Target="../media/image138.jpg"/><Relationship Id="rId12" Type="http://schemas.openxmlformats.org/officeDocument/2006/relationships/image" Target="../media/image118.jp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9" Type="http://schemas.openxmlformats.org/officeDocument/2006/relationships/image" Target="../media/image114.jpg"/><Relationship Id="rId5" Type="http://schemas.openxmlformats.org/officeDocument/2006/relationships/image" Target="../media/image92.jpg"/><Relationship Id="rId6" Type="http://schemas.openxmlformats.org/officeDocument/2006/relationships/image" Target="../media/image126.jpg"/><Relationship Id="rId7" Type="http://schemas.openxmlformats.org/officeDocument/2006/relationships/image" Target="../media/image110.jpg"/><Relationship Id="rId8" Type="http://schemas.openxmlformats.org/officeDocument/2006/relationships/image" Target="../media/image96.jp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9" Type="http://schemas.openxmlformats.org/officeDocument/2006/relationships/image" Target="../media/image113.jpg"/><Relationship Id="rId5" Type="http://schemas.openxmlformats.org/officeDocument/2006/relationships/image" Target="../media/image121.jpg"/><Relationship Id="rId6" Type="http://schemas.openxmlformats.org/officeDocument/2006/relationships/image" Target="../media/image124.jpg"/><Relationship Id="rId7" Type="http://schemas.openxmlformats.org/officeDocument/2006/relationships/image" Target="../media/image98.jpg"/><Relationship Id="rId8" Type="http://schemas.openxmlformats.org/officeDocument/2006/relationships/image" Target="../media/image100.jp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59.jpg"/><Relationship Id="rId6" Type="http://schemas.openxmlformats.org/officeDocument/2006/relationships/image" Target="../media/image129.jp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32.jpg"/><Relationship Id="rId6" Type="http://schemas.openxmlformats.org/officeDocument/2006/relationships/image" Target="../media/image182.jpg"/><Relationship Id="rId7" Type="http://schemas.openxmlformats.org/officeDocument/2006/relationships/image" Target="../media/image133.jp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4.jpg"/></Relationships>
</file>

<file path=ppt/slides/_rels/slide25.xml.rels><?xml version="1.0" encoding="UTF-8" standalone="yes"?><Relationships xmlns="http://schemas.openxmlformats.org/package/2006/relationships"><Relationship Id="rId11" Type="http://schemas.openxmlformats.org/officeDocument/2006/relationships/image" Target="../media/image150.jpg"/><Relationship Id="rId10" Type="http://schemas.openxmlformats.org/officeDocument/2006/relationships/image" Target="../media/image72.jpg"/><Relationship Id="rId13" Type="http://schemas.openxmlformats.org/officeDocument/2006/relationships/image" Target="../media/image152.jpg"/><Relationship Id="rId12" Type="http://schemas.openxmlformats.org/officeDocument/2006/relationships/image" Target="../media/image146.jp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9" Type="http://schemas.openxmlformats.org/officeDocument/2006/relationships/image" Target="../media/image145.jpg"/><Relationship Id="rId15" Type="http://schemas.openxmlformats.org/officeDocument/2006/relationships/image" Target="../media/image149.jpg"/><Relationship Id="rId14" Type="http://schemas.openxmlformats.org/officeDocument/2006/relationships/image" Target="../media/image14.jpg"/><Relationship Id="rId17" Type="http://schemas.openxmlformats.org/officeDocument/2006/relationships/image" Target="../media/image148.jpg"/><Relationship Id="rId16" Type="http://schemas.openxmlformats.org/officeDocument/2006/relationships/image" Target="../media/image7.jpg"/><Relationship Id="rId5" Type="http://schemas.openxmlformats.org/officeDocument/2006/relationships/image" Target="../media/image74.jpg"/><Relationship Id="rId6" Type="http://schemas.openxmlformats.org/officeDocument/2006/relationships/image" Target="../media/image12.jpg"/><Relationship Id="rId7" Type="http://schemas.openxmlformats.org/officeDocument/2006/relationships/image" Target="../media/image141.jpg"/><Relationship Id="rId8" Type="http://schemas.openxmlformats.org/officeDocument/2006/relationships/image" Target="../media/image168.jp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9" Type="http://schemas.openxmlformats.org/officeDocument/2006/relationships/image" Target="../media/image161.jpg"/><Relationship Id="rId5" Type="http://schemas.openxmlformats.org/officeDocument/2006/relationships/image" Target="../media/image153.jpg"/><Relationship Id="rId6" Type="http://schemas.openxmlformats.org/officeDocument/2006/relationships/image" Target="../media/image163.jpg"/><Relationship Id="rId7" Type="http://schemas.openxmlformats.org/officeDocument/2006/relationships/image" Target="../media/image93.jpg"/><Relationship Id="rId8" Type="http://schemas.openxmlformats.org/officeDocument/2006/relationships/image" Target="../media/image160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98.jpg"/><Relationship Id="rId6" Type="http://schemas.openxmlformats.org/officeDocument/2006/relationships/image" Target="../media/image183.jpg"/></Relationships>
</file>

<file path=ppt/slides/_rels/slide28.xml.rels><?xml version="1.0" encoding="UTF-8" standalone="yes"?><Relationships xmlns="http://schemas.openxmlformats.org/package/2006/relationships"><Relationship Id="rId11" Type="http://schemas.openxmlformats.org/officeDocument/2006/relationships/image" Target="../media/image178.jpg"/><Relationship Id="rId10" Type="http://schemas.openxmlformats.org/officeDocument/2006/relationships/image" Target="../media/image171.jpg"/><Relationship Id="rId13" Type="http://schemas.openxmlformats.org/officeDocument/2006/relationships/image" Target="../media/image172.jpg"/><Relationship Id="rId12" Type="http://schemas.openxmlformats.org/officeDocument/2006/relationships/image" Target="../media/image199.jp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9" Type="http://schemas.openxmlformats.org/officeDocument/2006/relationships/image" Target="../media/image166.jpg"/><Relationship Id="rId15" Type="http://schemas.openxmlformats.org/officeDocument/2006/relationships/image" Target="../media/image175.jpg"/><Relationship Id="rId14" Type="http://schemas.openxmlformats.org/officeDocument/2006/relationships/image" Target="../media/image173.jpg"/><Relationship Id="rId17" Type="http://schemas.openxmlformats.org/officeDocument/2006/relationships/image" Target="../media/image14.jpg"/><Relationship Id="rId16" Type="http://schemas.openxmlformats.org/officeDocument/2006/relationships/image" Target="../media/image176.jpg"/><Relationship Id="rId5" Type="http://schemas.openxmlformats.org/officeDocument/2006/relationships/image" Target="../media/image164.jpg"/><Relationship Id="rId6" Type="http://schemas.openxmlformats.org/officeDocument/2006/relationships/image" Target="../media/image75.jpg"/><Relationship Id="rId7" Type="http://schemas.openxmlformats.org/officeDocument/2006/relationships/image" Target="../media/image174.jpg"/><Relationship Id="rId8" Type="http://schemas.openxmlformats.org/officeDocument/2006/relationships/image" Target="../media/image167.jp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9" Type="http://schemas.openxmlformats.org/officeDocument/2006/relationships/image" Target="../media/image187.jpg"/><Relationship Id="rId5" Type="http://schemas.openxmlformats.org/officeDocument/2006/relationships/image" Target="../media/image119.jpg"/><Relationship Id="rId6" Type="http://schemas.openxmlformats.org/officeDocument/2006/relationships/image" Target="../media/image197.jpg"/><Relationship Id="rId7" Type="http://schemas.openxmlformats.org/officeDocument/2006/relationships/image" Target="../media/image186.jpg"/><Relationship Id="rId8" Type="http://schemas.openxmlformats.org/officeDocument/2006/relationships/image" Target="../media/image190.jp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92.jpg"/><Relationship Id="rId6" Type="http://schemas.openxmlformats.org/officeDocument/2006/relationships/image" Target="../media/image189.jpg"/></Relationships>
</file>

<file path=ppt/slides/_rels/slide31.xml.rels><?xml version="1.0" encoding="UTF-8" standalone="yes"?><Relationships xmlns="http://schemas.openxmlformats.org/package/2006/relationships"><Relationship Id="rId11" Type="http://schemas.openxmlformats.org/officeDocument/2006/relationships/image" Target="../media/image13.jpg"/><Relationship Id="rId10" Type="http://schemas.openxmlformats.org/officeDocument/2006/relationships/image" Target="../media/image201.jpg"/><Relationship Id="rId13" Type="http://schemas.openxmlformats.org/officeDocument/2006/relationships/image" Target="../media/image203.jpg"/><Relationship Id="rId12" Type="http://schemas.openxmlformats.org/officeDocument/2006/relationships/image" Target="../media/image204.jp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9" Type="http://schemas.openxmlformats.org/officeDocument/2006/relationships/image" Target="../media/image77.jpg"/><Relationship Id="rId15" Type="http://schemas.openxmlformats.org/officeDocument/2006/relationships/image" Target="../media/image217.jpg"/><Relationship Id="rId14" Type="http://schemas.openxmlformats.org/officeDocument/2006/relationships/image" Target="../media/image205.jpg"/><Relationship Id="rId17" Type="http://schemas.openxmlformats.org/officeDocument/2006/relationships/image" Target="../media/image208.jpg"/><Relationship Id="rId16" Type="http://schemas.openxmlformats.org/officeDocument/2006/relationships/image" Target="../media/image212.jpg"/><Relationship Id="rId5" Type="http://schemas.openxmlformats.org/officeDocument/2006/relationships/image" Target="../media/image191.jpg"/><Relationship Id="rId19" Type="http://schemas.openxmlformats.org/officeDocument/2006/relationships/image" Target="../media/image148.jpg"/><Relationship Id="rId6" Type="http://schemas.openxmlformats.org/officeDocument/2006/relationships/image" Target="../media/image193.jpg"/><Relationship Id="rId18" Type="http://schemas.openxmlformats.org/officeDocument/2006/relationships/image" Target="../media/image55.jpg"/><Relationship Id="rId7" Type="http://schemas.openxmlformats.org/officeDocument/2006/relationships/image" Target="../media/image194.jpg"/><Relationship Id="rId8" Type="http://schemas.openxmlformats.org/officeDocument/2006/relationships/image" Target="../media/image196.jp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15.jpg"/><Relationship Id="rId6" Type="http://schemas.openxmlformats.org/officeDocument/2006/relationships/image" Target="../media/image214.jp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72.jpg"/><Relationship Id="rId4" Type="http://schemas.openxmlformats.org/officeDocument/2006/relationships/image" Target="../media/image32.png"/><Relationship Id="rId5" Type="http://schemas.openxmlformats.org/officeDocument/2006/relationships/image" Target="../media/image5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149.jpg"/><Relationship Id="rId7" Type="http://schemas.openxmlformats.org/officeDocument/2006/relationships/image" Target="../media/image14.jpg"/><Relationship Id="rId8" Type="http://schemas.openxmlformats.org/officeDocument/2006/relationships/image" Target="../media/image173.jp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48.jpg"/><Relationship Id="rId6" Type="http://schemas.openxmlformats.org/officeDocument/2006/relationships/image" Target="../media/image175.jpg"/><Relationship Id="rId7" Type="http://schemas.openxmlformats.org/officeDocument/2006/relationships/image" Target="../media/image176.jpg"/><Relationship Id="rId8" Type="http://schemas.openxmlformats.org/officeDocument/2006/relationships/image" Target="../media/image208.jp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12.jpg"/><Relationship Id="rId6" Type="http://schemas.openxmlformats.org/officeDocument/2006/relationships/image" Target="../media/image238.png"/><Relationship Id="rId7" Type="http://schemas.openxmlformats.org/officeDocument/2006/relationships/image" Target="../media/image241.jpg"/><Relationship Id="rId8" Type="http://schemas.openxmlformats.org/officeDocument/2006/relationships/image" Target="../media/image231.jp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06.png"/><Relationship Id="rId6" Type="http://schemas.openxmlformats.org/officeDocument/2006/relationships/image" Target="../media/image237.png"/><Relationship Id="rId7" Type="http://schemas.openxmlformats.org/officeDocument/2006/relationships/image" Target="../media/image240.png"/><Relationship Id="rId8" Type="http://schemas.openxmlformats.org/officeDocument/2006/relationships/image" Target="../media/image23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43.jpg"/><Relationship Id="rId4" Type="http://schemas.openxmlformats.org/officeDocument/2006/relationships/image" Target="../media/image32.png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143D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:/Users/Rachel/AppData/Local/Temp/claude/C--Users-Rachel-Documents-SEAZONE-BOOK-PREMISSAS-FACHADA-EXTERNA-CAMPECHE-SPOT/a62d8e33-2374-48a1-8865-f7b177fbebf6/scratchpad/img/annot__s1_0.jpg" id="16" name="Google Shape;16;p3"/>
          <p:cNvPicPr preferRelativeResize="0"/>
          <p:nvPr/>
        </p:nvPicPr>
        <p:blipFill rotWithShape="1">
          <a:blip r:embed="rId4">
            <a:alphaModFix/>
          </a:blip>
          <a:srcRect b="0" l="17504" r="17504" t="0"/>
          <a:stretch/>
        </p:blipFill>
        <p:spPr>
          <a:xfrm>
            <a:off x="5120640" y="0"/>
            <a:ext cx="356616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/Users/Rachel/AppData/Local/Temp/claude/C--Users-Rachel-Documents-SEAZONE-BOOK-PREMISSAS-FACHADA-EXTERNA-CAMPECHE-SPOT/a62d8e33-2374-48a1-8865-f7b177fbebf6/scratchpad/img/ext__rooftop01.jpg" id="17" name="Google Shape;17;p3"/>
          <p:cNvPicPr preferRelativeResize="0"/>
          <p:nvPr/>
        </p:nvPicPr>
        <p:blipFill rotWithShape="1">
          <a:blip r:embed="rId5">
            <a:alphaModFix/>
          </a:blip>
          <a:srcRect b="0" l="7092" r="7092" t="0"/>
          <a:stretch/>
        </p:blipFill>
        <p:spPr>
          <a:xfrm>
            <a:off x="8759952" y="0"/>
            <a:ext cx="3431743" cy="224942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/Users/Rachel/AppData/Local/Temp/claude/C--Users-Rachel-Documents-SEAZONE-BOOK-PREMISSAS-FACHADA-EXTERNA-CAMPECHE-SPOT/a62d8e33-2374-48a1-8865-f7b177fbebf6/scratchpad/img/recepcao_e_corredor__recepcao_2.jpg" id="18" name="Google Shape;18;p3"/>
          <p:cNvPicPr preferRelativeResize="0"/>
          <p:nvPr/>
        </p:nvPicPr>
        <p:blipFill rotWithShape="1">
          <a:blip r:embed="rId6">
            <a:alphaModFix/>
          </a:blip>
          <a:srcRect b="0" l="7092" r="7092" t="0"/>
          <a:stretch/>
        </p:blipFill>
        <p:spPr>
          <a:xfrm>
            <a:off x="8759952" y="2304288"/>
            <a:ext cx="3431743" cy="224942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/Users/Rachel/AppData/Local/Temp/claude/C--Users-Rachel-Documents-SEAZONE-BOOK-PREMISSAS-FACHADA-EXTERNA-CAMPECHE-SPOT/a62d8e33-2374-48a1-8865-f7b177fbebf6/scratchpad/img/unidades_simples_com_23_m2__enscape_2023_11_24_10_04_35.jpg" id="19" name="Google Shape;19;p3"/>
          <p:cNvPicPr preferRelativeResize="0"/>
          <p:nvPr/>
        </p:nvPicPr>
        <p:blipFill rotWithShape="1">
          <a:blip r:embed="rId7">
            <a:alphaModFix/>
          </a:blip>
          <a:srcRect b="0" l="7092" r="7092" t="0"/>
          <a:stretch/>
        </p:blipFill>
        <p:spPr>
          <a:xfrm>
            <a:off x="8759952" y="4608576"/>
            <a:ext cx="3431743" cy="224942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logo_cover.png" id="20" name="Google Shape;20;p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57200" y="548640"/>
            <a:ext cx="1828800" cy="300867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 txBox="1"/>
          <p:nvPr/>
        </p:nvSpPr>
        <p:spPr>
          <a:xfrm>
            <a:off x="457200" y="2103120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BOOK DE PREMISSAS DE FACHADA E INTERIORES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3"/>
          <p:cNvSpPr txBox="1"/>
          <p:nvPr/>
        </p:nvSpPr>
        <p:spPr>
          <a:xfrm>
            <a:off x="457200" y="2423160"/>
            <a:ext cx="448056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Campeche Spot</a:t>
            </a:r>
            <a:endParaRPr b="0" i="0" sz="4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/>
          <p:nvPr/>
        </p:nvSpPr>
        <p:spPr>
          <a:xfrm>
            <a:off x="457200" y="3246120"/>
            <a:ext cx="4480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D3EA"/>
              </a:buClr>
              <a:buSzPts val="2200"/>
              <a:buFont typeface="Arial"/>
              <a:buNone/>
            </a:pPr>
            <a:r>
              <a:rPr b="0" i="0" lang="en-US" sz="2200" u="none" cap="none" strike="noStrike">
                <a:solidFill>
                  <a:srgbClr val="C9D3EA"/>
                </a:solidFill>
                <a:latin typeface="Arial"/>
                <a:ea typeface="Arial"/>
                <a:cs typeface="Arial"/>
                <a:sym typeface="Arial"/>
              </a:rPr>
              <a:t>Moodboard de premissas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3"/>
          <p:cNvSpPr txBox="1"/>
          <p:nvPr/>
        </p:nvSpPr>
        <p:spPr>
          <a:xfrm>
            <a:off x="457200" y="3840480"/>
            <a:ext cx="4480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D4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9FB0D4"/>
                </a:solidFill>
                <a:latin typeface="Arial"/>
                <a:ea typeface="Arial"/>
                <a:cs typeface="Arial"/>
                <a:sym typeface="Arial"/>
              </a:rPr>
              <a:t>Lançamento  ×  Executivo  ·  Fachada  ·  Interiores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3"/>
          <p:cNvSpPr txBox="1"/>
          <p:nvPr/>
        </p:nvSpPr>
        <p:spPr>
          <a:xfrm>
            <a:off x="457200" y="5669280"/>
            <a:ext cx="44805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D4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9FB0D4"/>
                </a:solidFill>
                <a:latin typeface="Arial"/>
                <a:ea typeface="Arial"/>
                <a:cs typeface="Arial"/>
                <a:sym typeface="Arial"/>
              </a:rPr>
              <a:t>Campeche · Florianópolis/SC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rgbClr val="9FB0D4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9FB0D4"/>
                </a:solidFill>
                <a:latin typeface="Arial"/>
                <a:ea typeface="Arial"/>
                <a:cs typeface="Arial"/>
                <a:sym typeface="Arial"/>
              </a:rPr>
              <a:t>DOCUMENTO TÉCNICO INTERNO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CONTEXTUALIZAÇÃO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O objetivo deste material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navy_tpl_logo_cover.png" id="33" name="Google Shape;33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icon_footer.png" id="34" name="Google Shape;34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35;p4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INTERIORES  ·  02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4"/>
          <p:cNvSpPr txBox="1"/>
          <p:nvPr/>
        </p:nvSpPr>
        <p:spPr>
          <a:xfrm>
            <a:off x="457200" y="1325880"/>
            <a:ext cx="557784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Consolidar as premissas de fachada e interiores do Campeche Spot a partir da leitura cruzada entre as imagens de lançamento, o projeto executivo da ROVE e o projeto de interiores da Seazone: o que a imagem vendeu, o que o executivo especifica, onde divergem e o que validar antes da compra e da execução.</a:t>
            </a:r>
            <a:endParaRPr b="0" i="0" sz="1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ext__cam_001.jpg" id="37" name="Google Shape;37;p4"/>
          <p:cNvPicPr preferRelativeResize="0"/>
          <p:nvPr/>
        </p:nvPicPr>
        <p:blipFill rotWithShape="1">
          <a:blip r:embed="rId6">
            <a:alphaModFix/>
          </a:blip>
          <a:srcRect b="0" l="21875" r="21875" t="0"/>
          <a:stretch/>
        </p:blipFill>
        <p:spPr>
          <a:xfrm>
            <a:off x="457200" y="2971800"/>
            <a:ext cx="1737360" cy="1737360"/>
          </a:xfrm>
          <a:prstGeom prst="ellipse">
            <a:avLst/>
          </a:prstGeom>
          <a:noFill/>
          <a:ln>
            <a:noFill/>
          </a:ln>
        </p:spPr>
      </p:pic>
      <p:sp>
        <p:nvSpPr>
          <p:cNvPr id="38" name="Google Shape;38;p4"/>
          <p:cNvSpPr/>
          <p:nvPr/>
        </p:nvSpPr>
        <p:spPr>
          <a:xfrm>
            <a:off x="1828800" y="3017520"/>
            <a:ext cx="347472" cy="34747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4"/>
          <p:cNvSpPr txBox="1"/>
          <p:nvPr/>
        </p:nvSpPr>
        <p:spPr>
          <a:xfrm>
            <a:off x="457200" y="4800600"/>
            <a:ext cx="17830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VEJA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 imagem de lançamento ou o conceito Seazone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rev06.jpg" id="40" name="Google Shape;40;p4"/>
          <p:cNvPicPr preferRelativeResize="0"/>
          <p:nvPr/>
        </p:nvPicPr>
        <p:blipFill rotWithShape="1">
          <a:blip r:embed="rId7">
            <a:alphaModFix/>
          </a:blip>
          <a:srcRect b="23312" l="0" r="0" t="23312"/>
          <a:stretch/>
        </p:blipFill>
        <p:spPr>
          <a:xfrm>
            <a:off x="2377440" y="2971800"/>
            <a:ext cx="1737360" cy="1737360"/>
          </a:xfrm>
          <a:prstGeom prst="ellipse">
            <a:avLst/>
          </a:prstGeom>
          <a:noFill/>
          <a:ln>
            <a:noFill/>
          </a:ln>
        </p:spPr>
      </p:pic>
      <p:sp>
        <p:nvSpPr>
          <p:cNvPr id="41" name="Google Shape;41;p4"/>
          <p:cNvSpPr/>
          <p:nvPr/>
        </p:nvSpPr>
        <p:spPr>
          <a:xfrm>
            <a:off x="3749040" y="3017520"/>
            <a:ext cx="347472" cy="34747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4"/>
          <p:cNvSpPr txBox="1"/>
          <p:nvPr/>
        </p:nvSpPr>
        <p:spPr>
          <a:xfrm>
            <a:off x="2377440" y="4800600"/>
            <a:ext cx="17830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ENTENDA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 material e a especificação de cada parte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ext__002.jpg" id="43" name="Google Shape;43;p4"/>
          <p:cNvPicPr preferRelativeResize="0"/>
          <p:nvPr/>
        </p:nvPicPr>
        <p:blipFill rotWithShape="1">
          <a:blip r:embed="rId8">
            <a:alphaModFix/>
          </a:blip>
          <a:srcRect b="0" l="21875" r="21875" t="0"/>
          <a:stretch/>
        </p:blipFill>
        <p:spPr>
          <a:xfrm>
            <a:off x="4297680" y="2971800"/>
            <a:ext cx="1737360" cy="1737360"/>
          </a:xfrm>
          <a:prstGeom prst="ellipse">
            <a:avLst/>
          </a:prstGeom>
          <a:noFill/>
          <a:ln>
            <a:noFill/>
          </a:ln>
        </p:spPr>
      </p:pic>
      <p:sp>
        <p:nvSpPr>
          <p:cNvPr id="44" name="Google Shape;44;p4"/>
          <p:cNvSpPr/>
          <p:nvPr/>
        </p:nvSpPr>
        <p:spPr>
          <a:xfrm>
            <a:off x="5669280" y="3017520"/>
            <a:ext cx="347472" cy="34747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4"/>
          <p:cNvSpPr txBox="1"/>
          <p:nvPr/>
        </p:nvSpPr>
        <p:spPr>
          <a:xfrm>
            <a:off x="4297680" y="4800600"/>
            <a:ext cx="17830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CONFIRA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 que a obra precisa observar ou validar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4"/>
          <p:cNvSpPr/>
          <p:nvPr/>
        </p:nvSpPr>
        <p:spPr>
          <a:xfrm>
            <a:off x="6492240" y="1325880"/>
            <a:ext cx="5242255" cy="4846320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4"/>
          <p:cNvSpPr txBox="1"/>
          <p:nvPr/>
        </p:nvSpPr>
        <p:spPr>
          <a:xfrm>
            <a:off x="6766560" y="1508760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AO ABRIR ESTE BOOK, OBRAS DEVE CONSEGUIR RESPONDER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" name="Google Shape;48;p4"/>
          <p:cNvSpPr/>
          <p:nvPr/>
        </p:nvSpPr>
        <p:spPr>
          <a:xfrm>
            <a:off x="6766560" y="1920240"/>
            <a:ext cx="274320" cy="274320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4"/>
          <p:cNvSpPr txBox="1"/>
          <p:nvPr/>
        </p:nvSpPr>
        <p:spPr>
          <a:xfrm>
            <a:off x="7178040" y="1874520"/>
            <a:ext cx="4343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 que as imagens de lançamento mostram na fachada?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" name="Google Shape;50;p4"/>
          <p:cNvSpPr/>
          <p:nvPr/>
        </p:nvSpPr>
        <p:spPr>
          <a:xfrm>
            <a:off x="6766560" y="2377440"/>
            <a:ext cx="274320" cy="274320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4"/>
          <p:cNvSpPr txBox="1"/>
          <p:nvPr/>
        </p:nvSpPr>
        <p:spPr>
          <a:xfrm>
            <a:off x="7178040" y="2331720"/>
            <a:ext cx="4343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Qual cor e textura o executivo define para cada plano?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4"/>
          <p:cNvSpPr/>
          <p:nvPr/>
        </p:nvSpPr>
        <p:spPr>
          <a:xfrm>
            <a:off x="6766560" y="2834640"/>
            <a:ext cx="274320" cy="274320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4"/>
          <p:cNvSpPr txBox="1"/>
          <p:nvPr/>
        </p:nvSpPr>
        <p:spPr>
          <a:xfrm>
            <a:off x="7178040" y="2788920"/>
            <a:ext cx="4343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Onde o executivo diverge da imagem vendida?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4"/>
          <p:cNvSpPr/>
          <p:nvPr/>
        </p:nvSpPr>
        <p:spPr>
          <a:xfrm>
            <a:off x="6766560" y="3291840"/>
            <a:ext cx="274320" cy="274320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4"/>
          <p:cNvSpPr txBox="1"/>
          <p:nvPr/>
        </p:nvSpPr>
        <p:spPr>
          <a:xfrm>
            <a:off x="7178040" y="3246120"/>
            <a:ext cx="4343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 que precisa de errata antes da compra da tinta?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6766560" y="3749040"/>
            <a:ext cx="274320" cy="274320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4"/>
          <p:cNvSpPr txBox="1"/>
          <p:nvPr/>
        </p:nvSpPr>
        <p:spPr>
          <a:xfrm>
            <a:off x="7178040" y="3703320"/>
            <a:ext cx="4343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Qual é o conceito de interiores que deve ser seguido?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4"/>
          <p:cNvSpPr/>
          <p:nvPr/>
        </p:nvSpPr>
        <p:spPr>
          <a:xfrm>
            <a:off x="6766560" y="4206240"/>
            <a:ext cx="274320" cy="274320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4"/>
          <p:cNvSpPr txBox="1"/>
          <p:nvPr/>
        </p:nvSpPr>
        <p:spPr>
          <a:xfrm>
            <a:off x="7178040" y="4160520"/>
            <a:ext cx="4343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 que não pode ser alterado sem validação?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4"/>
          <p:cNvSpPr/>
          <p:nvPr/>
        </p:nvSpPr>
        <p:spPr>
          <a:xfrm>
            <a:off x="6766560" y="4663440"/>
            <a:ext cx="274320" cy="274320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4"/>
          <p:cNvSpPr txBox="1"/>
          <p:nvPr/>
        </p:nvSpPr>
        <p:spPr>
          <a:xfrm>
            <a:off x="7178040" y="4617720"/>
            <a:ext cx="4343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Quais pontos ainda precisam ser validados?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4"/>
          <p:cNvSpPr txBox="1"/>
          <p:nvPr/>
        </p:nvSpPr>
        <p:spPr>
          <a:xfrm>
            <a:off x="6766560" y="5166360"/>
            <a:ext cx="4754880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D4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9FB0D4"/>
                </a:solidFill>
                <a:latin typeface="Arial"/>
                <a:ea typeface="Arial"/>
                <a:cs typeface="Arial"/>
                <a:sym typeface="Arial"/>
              </a:rPr>
              <a:t>Regra do material: nenhuma informação foi inventada. Fontes (Campeche Spot / 02 - Projetos): imagens de lançamento, executivo de arquitetura ROVE, Memorial Descritivo R01, projeto de interiores Seazone e 00 - Premissas de Projeto. Foco: imagens externas, texturas e interiores. Índices urbanísticos, áreas e custos não fazem parte deste Book.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5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COMO USAR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5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Como ler este book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navy_tpl_logo_cover.png" id="70" name="Google Shape;70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icon_footer.png" id="71" name="Google Shape;71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5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INTERIORES  ·  03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502920" y="1417320"/>
            <a:ext cx="365760" cy="36576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5"/>
          <p:cNvSpPr txBox="1"/>
          <p:nvPr/>
        </p:nvSpPr>
        <p:spPr>
          <a:xfrm>
            <a:off x="1143000" y="1371600"/>
            <a:ext cx="44805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Número na imagem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Cada número na foto corresponde a um item da lista ao lado.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velvet.jpg" id="75" name="Google Shape;75;p5"/>
          <p:cNvPicPr preferRelativeResize="0"/>
          <p:nvPr/>
        </p:nvPicPr>
        <p:blipFill rotWithShape="1">
          <a:blip r:embed="rId6">
            <a:alphaModFix/>
          </a:blip>
          <a:srcRect b="0" l="12500" r="12500" t="0"/>
          <a:stretch/>
        </p:blipFill>
        <p:spPr>
          <a:xfrm>
            <a:off x="502920" y="2194560"/>
            <a:ext cx="384048" cy="384048"/>
          </a:xfrm>
          <a:prstGeom prst="ellipse">
            <a:avLst/>
          </a:prstGeom>
          <a:noFill/>
          <a:ln>
            <a:noFill/>
          </a:ln>
        </p:spPr>
      </p:pic>
      <p:sp>
        <p:nvSpPr>
          <p:cNvPr id="76" name="Google Shape;76;p5"/>
          <p:cNvSpPr txBox="1"/>
          <p:nvPr/>
        </p:nvSpPr>
        <p:spPr>
          <a:xfrm>
            <a:off x="1143000" y="2148840"/>
            <a:ext cx="44805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Amostra circular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Recorte do material tirado da própria imagem: referência visual, não substitui amostra física.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5"/>
          <p:cNvSpPr txBox="1"/>
          <p:nvPr/>
        </p:nvSpPr>
        <p:spPr>
          <a:xfrm>
            <a:off x="411480" y="3035808"/>
            <a:ext cx="566928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REV-05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5"/>
          <p:cNvSpPr txBox="1"/>
          <p:nvPr/>
        </p:nvSpPr>
        <p:spPr>
          <a:xfrm>
            <a:off x="1143000" y="2926080"/>
            <a:ext cx="44805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Código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Código do executivo/memorial (ex.: REV-05, BR-01, T07) para achar o item no projeto.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5"/>
          <p:cNvSpPr txBox="1"/>
          <p:nvPr/>
        </p:nvSpPr>
        <p:spPr>
          <a:xfrm>
            <a:off x="457200" y="3840480"/>
            <a:ext cx="3657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STATUS DOS ITENS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5"/>
          <p:cNvSpPr/>
          <p:nvPr/>
        </p:nvSpPr>
        <p:spPr>
          <a:xfrm>
            <a:off x="457200" y="4206240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DEFINIDO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5"/>
          <p:cNvSpPr txBox="1"/>
          <p:nvPr/>
        </p:nvSpPr>
        <p:spPr>
          <a:xfrm>
            <a:off x="1508760" y="4169664"/>
            <a:ext cx="4114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premissa fechada: seguir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5"/>
          <p:cNvSpPr/>
          <p:nvPr/>
        </p:nvSpPr>
        <p:spPr>
          <a:xfrm>
            <a:off x="457200" y="4663440"/>
            <a:ext cx="891540" cy="219456"/>
          </a:xfrm>
          <a:prstGeom prst="roundRect">
            <a:avLst>
              <a:gd fmla="val 50000" name="adj"/>
            </a:avLst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VALIDAR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5"/>
          <p:cNvSpPr txBox="1"/>
          <p:nvPr/>
        </p:nvSpPr>
        <p:spPr>
          <a:xfrm>
            <a:off x="1508760" y="4626864"/>
            <a:ext cx="4114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há divergência entre fontes: confirmar antes de comprar/executar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" name="Google Shape;84;p5"/>
          <p:cNvSpPr/>
          <p:nvPr/>
        </p:nvSpPr>
        <p:spPr>
          <a:xfrm>
            <a:off x="457200" y="5120640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C982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PENDENTE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5"/>
          <p:cNvSpPr txBox="1"/>
          <p:nvPr/>
        </p:nvSpPr>
        <p:spPr>
          <a:xfrm>
            <a:off x="1508760" y="5084064"/>
            <a:ext cx="41148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solução ainda não definida no projeto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5"/>
          <p:cNvSpPr txBox="1"/>
          <p:nvPr/>
        </p:nvSpPr>
        <p:spPr>
          <a:xfrm>
            <a:off x="6309360" y="1325880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 QUE VOCÊ VAI ENCONTRAR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ext__cam_0003.jpg" id="87" name="Google Shape;87;p5"/>
          <p:cNvPicPr preferRelativeResize="0"/>
          <p:nvPr/>
        </p:nvPicPr>
        <p:blipFill rotWithShape="1">
          <a:blip r:embed="rId7">
            <a:alphaModFix/>
          </a:blip>
          <a:srcRect b="0" l="4464" r="4464" t="0"/>
          <a:stretch/>
        </p:blipFill>
        <p:spPr>
          <a:xfrm>
            <a:off x="6309360" y="1691640"/>
            <a:ext cx="1554480" cy="96012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"/>
          <p:cNvSpPr txBox="1"/>
          <p:nvPr/>
        </p:nvSpPr>
        <p:spPr>
          <a:xfrm>
            <a:off x="8001000" y="1691640"/>
            <a:ext cx="640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5"/>
          <p:cNvSpPr txBox="1"/>
          <p:nvPr/>
        </p:nvSpPr>
        <p:spPr>
          <a:xfrm>
            <a:off x="8641080" y="1691640"/>
            <a:ext cx="3093415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Fachada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imagens de lançamento · paleta · leitura geral · texturas T01–T12 · vistas frontal, lateral e acesso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rooftop__enscape_2023_11_22_18_09_35.jpg" id="90" name="Google Shape;90;p5"/>
          <p:cNvPicPr preferRelativeResize="0"/>
          <p:nvPr/>
        </p:nvPicPr>
        <p:blipFill rotWithShape="1">
          <a:blip r:embed="rId8">
            <a:alphaModFix/>
          </a:blip>
          <a:srcRect b="0" l="4464" r="4464" t="0"/>
          <a:stretch/>
        </p:blipFill>
        <p:spPr>
          <a:xfrm>
            <a:off x="6309360" y="2807208"/>
            <a:ext cx="1554480" cy="96012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5"/>
          <p:cNvSpPr txBox="1"/>
          <p:nvPr/>
        </p:nvSpPr>
        <p:spPr>
          <a:xfrm>
            <a:off x="8001000" y="2807208"/>
            <a:ext cx="640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5"/>
          <p:cNvSpPr txBox="1"/>
          <p:nvPr/>
        </p:nvSpPr>
        <p:spPr>
          <a:xfrm>
            <a:off x="8641080" y="2807208"/>
            <a:ext cx="3093415" cy="960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Áreas comuns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conceito × situação · portas e rodapés brancos · NOVA RECEPÇÃO (rev. 07/10) · recepção de lançamento · rooftop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cimento.jpg" id="93" name="Google Shape;93;p5"/>
          <p:cNvPicPr preferRelativeResize="0"/>
          <p:nvPr/>
        </p:nvPicPr>
        <p:blipFill rotWithShape="1">
          <a:blip r:embed="rId9">
            <a:alphaModFix/>
          </a:blip>
          <a:srcRect b="8824" l="0" r="0" t="8824"/>
          <a:stretch/>
        </p:blipFill>
        <p:spPr>
          <a:xfrm>
            <a:off x="6309360" y="3922776"/>
            <a:ext cx="1554480" cy="96012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5"/>
          <p:cNvSpPr txBox="1"/>
          <p:nvPr/>
        </p:nvSpPr>
        <p:spPr>
          <a:xfrm>
            <a:off x="8001000" y="3922776"/>
            <a:ext cx="640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2400"/>
              <a:buFont typeface="Arial"/>
              <a:buNone/>
            </a:pPr>
            <a:r>
              <a:rPr b="1" lang="en-US" sz="2400">
                <a:solidFill>
                  <a:srgbClr val="FC6058"/>
                </a:solidFill>
              </a:rPr>
              <a:t>03</a:t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5"/>
          <p:cNvSpPr txBox="1"/>
          <p:nvPr/>
        </p:nvSpPr>
        <p:spPr>
          <a:xfrm>
            <a:off x="8641080" y="3922776"/>
            <a:ext cx="30933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Materiais de interiores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texturas </a:t>
            </a:r>
            <a:r>
              <a:rPr lang="en-US" sz="1000">
                <a:solidFill>
                  <a:srgbClr val="333333"/>
                </a:solidFill>
              </a:rPr>
              <a:t>T13–T28</a:t>
            </a: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para compra e aprovação de amostras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143D"/>
        </a:solidFill>
      </p:bgPr>
    </p:bg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:/Users/Rachel/AppData/Local/Temp/claude/C--Users-Rachel-Documents-SEAZONE-BOOK-PREMISSAS-FACHADA-EXTERNA-CAMPECHE-SPOT/a62d8e33-2374-48a1-8865-f7b177fbebf6/scratchpad/img/ext__drone_00.jpg" id="101" name="Google Shape;101;p6"/>
          <p:cNvPicPr preferRelativeResize="0"/>
          <p:nvPr/>
        </p:nvPicPr>
        <p:blipFill rotWithShape="1">
          <a:blip r:embed="rId3">
            <a:alphaModFix/>
          </a:blip>
          <a:srcRect b="0" l="19501" r="19501" t="0"/>
          <a:stretch/>
        </p:blipFill>
        <p:spPr>
          <a:xfrm>
            <a:off x="4754880" y="0"/>
            <a:ext cx="7436815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logo_cover.png" id="102" name="Google Shape;102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502920"/>
            <a:ext cx="1645920" cy="27078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6"/>
          <p:cNvSpPr txBox="1"/>
          <p:nvPr/>
        </p:nvSpPr>
        <p:spPr>
          <a:xfrm>
            <a:off x="457200" y="2377440"/>
            <a:ext cx="39319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200"/>
              <a:buFont typeface="Arial"/>
              <a:buNone/>
            </a:pPr>
            <a:r>
              <a:rPr b="1" i="0" lang="en-US" sz="72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endParaRPr b="0" i="0" sz="7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6"/>
          <p:cNvSpPr txBox="1"/>
          <p:nvPr/>
        </p:nvSpPr>
        <p:spPr>
          <a:xfrm>
            <a:off x="457200" y="3383280"/>
            <a:ext cx="39319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Arial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Fachada</a:t>
            </a:r>
            <a:endParaRPr b="0" i="0" sz="3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6"/>
          <p:cNvSpPr txBox="1"/>
          <p:nvPr/>
        </p:nvSpPr>
        <p:spPr>
          <a:xfrm>
            <a:off x="457200" y="4526280"/>
            <a:ext cx="39319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D3EA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C9D3EA"/>
                </a:solidFill>
                <a:latin typeface="Arial"/>
                <a:ea typeface="Arial"/>
                <a:cs typeface="Arial"/>
                <a:sym typeface="Arial"/>
              </a:rPr>
              <a:t>Imagens de lançamento  ·  paleta  ·  leitura geral  ·  texturas  ·  vistas com marcação e especificação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tpl_icon_footer.png" id="106" name="Google Shape;106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6"/>
          <p:cNvSpPr txBox="1"/>
          <p:nvPr/>
        </p:nvSpPr>
        <p:spPr>
          <a:xfrm>
            <a:off x="731520" y="6382512"/>
            <a:ext cx="4023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D4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9FB0D4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INTERIORES  ·  04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7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01 · FACHADA · MOODBOARD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7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Imagens de lançamento da fachada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navy_tpl_logo_cover.png" id="115" name="Google Shape;115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icon_footer.png" id="116" name="Google Shape;116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7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INTERIORES  ·  05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ext__cam_001.jpg" id="118" name="Google Shape;118;p7"/>
          <p:cNvPicPr preferRelativeResize="0"/>
          <p:nvPr/>
        </p:nvPicPr>
        <p:blipFill rotWithShape="1">
          <a:blip r:embed="rId5">
            <a:alphaModFix/>
          </a:blip>
          <a:srcRect b="0" l="12239" r="12239" t="0"/>
          <a:stretch/>
        </p:blipFill>
        <p:spPr>
          <a:xfrm>
            <a:off x="457200" y="1280160"/>
            <a:ext cx="3895344" cy="2901292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7"/>
          <p:cNvSpPr txBox="1"/>
          <p:nvPr/>
        </p:nvSpPr>
        <p:spPr>
          <a:xfrm>
            <a:off x="530352" y="1353312"/>
            <a:ext cx="82296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CAM 001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ext__cam_0003.jpg" id="120" name="Google Shape;120;p7"/>
          <p:cNvPicPr preferRelativeResize="0"/>
          <p:nvPr/>
        </p:nvPicPr>
        <p:blipFill rotWithShape="1">
          <a:blip r:embed="rId6">
            <a:alphaModFix/>
          </a:blip>
          <a:srcRect b="0" l="12239" r="12239" t="0"/>
          <a:stretch/>
        </p:blipFill>
        <p:spPr>
          <a:xfrm>
            <a:off x="4425696" y="1280160"/>
            <a:ext cx="3895344" cy="2901292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7"/>
          <p:cNvSpPr txBox="1"/>
          <p:nvPr/>
        </p:nvSpPr>
        <p:spPr>
          <a:xfrm>
            <a:off x="4498848" y="1353312"/>
            <a:ext cx="82296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CAM 0003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ext__cam002.jpg" id="122" name="Google Shape;122;p7"/>
          <p:cNvPicPr preferRelativeResize="0"/>
          <p:nvPr/>
        </p:nvPicPr>
        <p:blipFill rotWithShape="1">
          <a:blip r:embed="rId7">
            <a:alphaModFix/>
          </a:blip>
          <a:srcRect b="0" l="12239" r="12239" t="0"/>
          <a:stretch/>
        </p:blipFill>
        <p:spPr>
          <a:xfrm>
            <a:off x="457200" y="4254604"/>
            <a:ext cx="1186198" cy="1963316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7"/>
          <p:cNvSpPr txBox="1"/>
          <p:nvPr/>
        </p:nvSpPr>
        <p:spPr>
          <a:xfrm>
            <a:off x="530352" y="4327756"/>
            <a:ext cx="82296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CAM 002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ext__cam_006.jpg" id="124" name="Google Shape;124;p7"/>
          <p:cNvPicPr preferRelativeResize="0"/>
          <p:nvPr/>
        </p:nvPicPr>
        <p:blipFill rotWithShape="1">
          <a:blip r:embed="rId8">
            <a:alphaModFix/>
          </a:blip>
          <a:srcRect b="0" l="12239" r="12239" t="0"/>
          <a:stretch/>
        </p:blipFill>
        <p:spPr>
          <a:xfrm>
            <a:off x="1716550" y="4254604"/>
            <a:ext cx="1186198" cy="1963316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7"/>
          <p:cNvSpPr txBox="1"/>
          <p:nvPr/>
        </p:nvSpPr>
        <p:spPr>
          <a:xfrm>
            <a:off x="1789702" y="4327756"/>
            <a:ext cx="82296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CAM 006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ext__002.jpg" id="126" name="Google Shape;126;p7"/>
          <p:cNvPicPr preferRelativeResize="0"/>
          <p:nvPr/>
        </p:nvPicPr>
        <p:blipFill rotWithShape="1">
          <a:blip r:embed="rId9">
            <a:alphaModFix/>
          </a:blip>
          <a:srcRect b="0" l="12239" r="12239" t="0"/>
          <a:stretch/>
        </p:blipFill>
        <p:spPr>
          <a:xfrm>
            <a:off x="2975899" y="4254604"/>
            <a:ext cx="2635994" cy="1963316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7"/>
          <p:cNvSpPr txBox="1"/>
          <p:nvPr/>
        </p:nvSpPr>
        <p:spPr>
          <a:xfrm>
            <a:off x="3049051" y="4327756"/>
            <a:ext cx="109728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002 · ACESSO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ext__rooftop_2.jpg" id="128" name="Google Shape;128;p7"/>
          <p:cNvPicPr preferRelativeResize="0"/>
          <p:nvPr/>
        </p:nvPicPr>
        <p:blipFill rotWithShape="1">
          <a:blip r:embed="rId10">
            <a:alphaModFix/>
          </a:blip>
          <a:srcRect b="0" l="12239" r="12239" t="0"/>
          <a:stretch/>
        </p:blipFill>
        <p:spPr>
          <a:xfrm>
            <a:off x="5685046" y="4254604"/>
            <a:ext cx="2635994" cy="1963316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7"/>
          <p:cNvSpPr txBox="1"/>
          <p:nvPr/>
        </p:nvSpPr>
        <p:spPr>
          <a:xfrm>
            <a:off x="5758198" y="4327756"/>
            <a:ext cx="82296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ROOFTOP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7"/>
          <p:cNvSpPr txBox="1"/>
          <p:nvPr/>
        </p:nvSpPr>
        <p:spPr>
          <a:xfrm>
            <a:off x="8595360" y="1280160"/>
            <a:ext cx="31089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COMPOSIÇÃO DA FACHADA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7"/>
          <p:cNvSpPr/>
          <p:nvPr/>
        </p:nvSpPr>
        <p:spPr>
          <a:xfrm>
            <a:off x="8595360" y="1645920"/>
            <a:ext cx="3139135" cy="804672"/>
          </a:xfrm>
          <a:prstGeom prst="rect">
            <a:avLst/>
          </a:prstGeom>
          <a:solidFill>
            <a:srgbClr val="EEF1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7"/>
          <p:cNvSpPr txBox="1"/>
          <p:nvPr/>
        </p:nvSpPr>
        <p:spPr>
          <a:xfrm>
            <a:off x="8732520" y="1645920"/>
            <a:ext cx="2864815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Grelha clara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pilares e lajes claros (REV-05 e Papel de Presente) desenhando a malha das varandas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7"/>
          <p:cNvSpPr/>
          <p:nvPr/>
        </p:nvSpPr>
        <p:spPr>
          <a:xfrm>
            <a:off x="8595360" y="2560320"/>
            <a:ext cx="3139135" cy="8046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7"/>
          <p:cNvSpPr txBox="1"/>
          <p:nvPr/>
        </p:nvSpPr>
        <p:spPr>
          <a:xfrm>
            <a:off x="8732520" y="2560320"/>
            <a:ext cx="2864815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Volumes escuros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empenas, base e pano sobre as lojas em cinza escuro (REV-06)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7"/>
          <p:cNvSpPr/>
          <p:nvPr/>
        </p:nvSpPr>
        <p:spPr>
          <a:xfrm>
            <a:off x="8595360" y="3474720"/>
            <a:ext cx="3139135" cy="804672"/>
          </a:xfrm>
          <a:prstGeom prst="rect">
            <a:avLst/>
          </a:prstGeom>
          <a:solidFill>
            <a:srgbClr val="EEF1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7"/>
          <p:cNvSpPr txBox="1"/>
          <p:nvPr/>
        </p:nvSpPr>
        <p:spPr>
          <a:xfrm>
            <a:off x="8732520" y="3474720"/>
            <a:ext cx="2864815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Brises e vasos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brises ripados amadeirados e vasos com vegetação em todas as varandas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7"/>
          <p:cNvSpPr/>
          <p:nvPr/>
        </p:nvSpPr>
        <p:spPr>
          <a:xfrm>
            <a:off x="8595360" y="4389120"/>
            <a:ext cx="3139135" cy="8046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"/>
          <p:cNvSpPr txBox="1"/>
          <p:nvPr/>
        </p:nvSpPr>
        <p:spPr>
          <a:xfrm>
            <a:off x="8732520" y="4389120"/>
            <a:ext cx="2864815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Iluminação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fita de LED nas marquises e floreiras, logo-casinha iluminado no acesso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7"/>
          <p:cNvSpPr/>
          <p:nvPr/>
        </p:nvSpPr>
        <p:spPr>
          <a:xfrm>
            <a:off x="8595360" y="5303520"/>
            <a:ext cx="3139135" cy="804672"/>
          </a:xfrm>
          <a:prstGeom prst="rect">
            <a:avLst/>
          </a:prstGeom>
          <a:solidFill>
            <a:srgbClr val="EEF1F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7"/>
          <p:cNvSpPr txBox="1"/>
          <p:nvPr/>
        </p:nvSpPr>
        <p:spPr>
          <a:xfrm>
            <a:off x="8732520" y="5303520"/>
            <a:ext cx="2864815" cy="8046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Rooftop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piscina de borda infinita e pergolado escuro com forro amadeirado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01 · FACHADA · PALETA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8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Paleta de materiais da fachada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navy_tpl_logo_cover.png" id="148" name="Google Shape;148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icon_footer.png" id="149" name="Google Shape;149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8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INTERIORES  ·  06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rev05.jpg" id="151" name="Google Shape;151;p8"/>
          <p:cNvPicPr preferRelativeResize="0"/>
          <p:nvPr/>
        </p:nvPicPr>
        <p:blipFill rotWithShape="1">
          <a:blip r:embed="rId5">
            <a:alphaModFix/>
          </a:blip>
          <a:srcRect b="31803" l="0" r="0" t="31803"/>
          <a:stretch/>
        </p:blipFill>
        <p:spPr>
          <a:xfrm>
            <a:off x="457200" y="1325880"/>
            <a:ext cx="1727149" cy="292608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8"/>
          <p:cNvSpPr txBox="1"/>
          <p:nvPr/>
        </p:nvSpPr>
        <p:spPr>
          <a:xfrm>
            <a:off x="457200" y="4343400"/>
            <a:ext cx="1727149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REV-05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8"/>
          <p:cNvSpPr txBox="1"/>
          <p:nvPr/>
        </p:nvSpPr>
        <p:spPr>
          <a:xfrm>
            <a:off x="457200" y="4663440"/>
            <a:ext cx="1727149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Cinza claro Nanquim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grelha das varandas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rev07.jpg" id="154" name="Google Shape;154;p8"/>
          <p:cNvPicPr preferRelativeResize="0"/>
          <p:nvPr/>
        </p:nvPicPr>
        <p:blipFill rotWithShape="1">
          <a:blip r:embed="rId6">
            <a:alphaModFix/>
          </a:blip>
          <a:srcRect b="4893" l="0" r="0" t="4893"/>
          <a:stretch/>
        </p:blipFill>
        <p:spPr>
          <a:xfrm>
            <a:off x="2367229" y="1325880"/>
            <a:ext cx="1727149" cy="292608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8"/>
          <p:cNvSpPr txBox="1"/>
          <p:nvPr/>
        </p:nvSpPr>
        <p:spPr>
          <a:xfrm>
            <a:off x="2367229" y="4343400"/>
            <a:ext cx="1727149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PAPEL DE PRESENTE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8"/>
          <p:cNvSpPr txBox="1"/>
          <p:nvPr/>
        </p:nvSpPr>
        <p:spPr>
          <a:xfrm>
            <a:off x="2367229" y="4663440"/>
            <a:ext cx="1727149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Suvinil B208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frentes de laje e empenas claras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rev06.jpg" id="157" name="Google Shape;157;p8"/>
          <p:cNvPicPr preferRelativeResize="0"/>
          <p:nvPr/>
        </p:nvPicPr>
        <p:blipFill rotWithShape="1">
          <a:blip r:embed="rId7">
            <a:alphaModFix/>
          </a:blip>
          <a:srcRect b="4787" l="0" r="0" t="4787"/>
          <a:stretch/>
        </p:blipFill>
        <p:spPr>
          <a:xfrm>
            <a:off x="4277258" y="1325880"/>
            <a:ext cx="1727149" cy="2926080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8"/>
          <p:cNvSpPr txBox="1"/>
          <p:nvPr/>
        </p:nvSpPr>
        <p:spPr>
          <a:xfrm>
            <a:off x="4277258" y="4343400"/>
            <a:ext cx="1727149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REV-06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8"/>
          <p:cNvSpPr txBox="1"/>
          <p:nvPr/>
        </p:nvSpPr>
        <p:spPr>
          <a:xfrm>
            <a:off x="4277258" y="4663440"/>
            <a:ext cx="1727149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Cinza escuro Rock'n Roll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empenas, base e pano das lojas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br01.jpg" id="160" name="Google Shape;160;p8"/>
          <p:cNvPicPr preferRelativeResize="0"/>
          <p:nvPr/>
        </p:nvPicPr>
        <p:blipFill rotWithShape="1">
          <a:blip r:embed="rId8">
            <a:alphaModFix/>
          </a:blip>
          <a:srcRect b="1685" l="0" r="0" t="1685"/>
          <a:stretch/>
        </p:blipFill>
        <p:spPr>
          <a:xfrm>
            <a:off x="6187288" y="1325880"/>
            <a:ext cx="1727149" cy="292608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8"/>
          <p:cNvSpPr txBox="1"/>
          <p:nvPr/>
        </p:nvSpPr>
        <p:spPr>
          <a:xfrm>
            <a:off x="6187288" y="4343400"/>
            <a:ext cx="1727149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BR-01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8"/>
          <p:cNvSpPr txBox="1"/>
          <p:nvPr/>
        </p:nvSpPr>
        <p:spPr>
          <a:xfrm>
            <a:off x="6187288" y="4663440"/>
            <a:ext cx="1727149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Brise / ripado amêndoa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frente das varandas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esq2.jpg" id="163" name="Google Shape;163;p8"/>
          <p:cNvPicPr preferRelativeResize="0"/>
          <p:nvPr/>
        </p:nvPicPr>
        <p:blipFill rotWithShape="1">
          <a:blip r:embed="rId9">
            <a:alphaModFix/>
          </a:blip>
          <a:srcRect b="0" l="20487" r="20487" t="0"/>
          <a:stretch/>
        </p:blipFill>
        <p:spPr>
          <a:xfrm>
            <a:off x="8097317" y="1325880"/>
            <a:ext cx="1727149" cy="292608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8"/>
          <p:cNvSpPr txBox="1"/>
          <p:nvPr/>
        </p:nvSpPr>
        <p:spPr>
          <a:xfrm>
            <a:off x="8097317" y="4343400"/>
            <a:ext cx="1727149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ESQUADRIAS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8"/>
          <p:cNvSpPr txBox="1"/>
          <p:nvPr/>
        </p:nvSpPr>
        <p:spPr>
          <a:xfrm>
            <a:off x="8097317" y="4663440"/>
            <a:ext cx="1727149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Alumínio preto fosco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janelas e vitrines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vaso.jpg" id="166" name="Google Shape;166;p8"/>
          <p:cNvPicPr preferRelativeResize="0"/>
          <p:nvPr/>
        </p:nvPicPr>
        <p:blipFill rotWithShape="1">
          <a:blip r:embed="rId10">
            <a:alphaModFix/>
          </a:blip>
          <a:srcRect b="0" l="37552" r="37552" t="0"/>
          <a:stretch/>
        </p:blipFill>
        <p:spPr>
          <a:xfrm>
            <a:off x="10007346" y="1325880"/>
            <a:ext cx="1727149" cy="292608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8"/>
          <p:cNvSpPr txBox="1"/>
          <p:nvPr/>
        </p:nvSpPr>
        <p:spPr>
          <a:xfrm>
            <a:off x="10007346" y="4343400"/>
            <a:ext cx="1727149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PAI-08 / PAI-11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8"/>
          <p:cNvSpPr txBox="1"/>
          <p:nvPr/>
        </p:nvSpPr>
        <p:spPr>
          <a:xfrm>
            <a:off x="10007346" y="4663440"/>
            <a:ext cx="1727149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Vasos de fachada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varandas e floreiras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8"/>
          <p:cNvSpPr/>
          <p:nvPr/>
        </p:nvSpPr>
        <p:spPr>
          <a:xfrm>
            <a:off x="457200" y="5532120"/>
            <a:ext cx="11277295" cy="713232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8"/>
          <p:cNvSpPr txBox="1"/>
          <p:nvPr/>
        </p:nvSpPr>
        <p:spPr>
          <a:xfrm>
            <a:off x="640080" y="5623560"/>
            <a:ext cx="10911535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COMO LER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Fachada = grelha clara (REV-05) + lajes Papel de Presente + volumes escuros (REV-06) + brise amadeirado + esquadria preta + vegetação. Detalhe de cada material nas páginas de texturas T01–T12.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9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01 · FACHADA · LEITURA GERAL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9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O que compõe a fachada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navy_tpl_logo_cover.png" id="178" name="Google Shape;178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icon_footer.png" id="179" name="Google Shape;179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9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INTERIORES  ·  07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annot__s4_0.jpg" id="181" name="Google Shape;181;p9"/>
          <p:cNvPicPr preferRelativeResize="0"/>
          <p:nvPr/>
        </p:nvPicPr>
        <p:blipFill rotWithShape="1">
          <a:blip r:embed="rId5">
            <a:alphaModFix/>
          </a:blip>
          <a:srcRect b="14" l="0" r="0" t="14"/>
          <a:stretch/>
        </p:blipFill>
        <p:spPr>
          <a:xfrm>
            <a:off x="457200" y="1280160"/>
            <a:ext cx="7040880" cy="395935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9"/>
          <p:cNvSpPr txBox="1"/>
          <p:nvPr/>
        </p:nvSpPr>
        <p:spPr>
          <a:xfrm>
            <a:off x="566928" y="1389888"/>
            <a:ext cx="233172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LANÇAMENTO · CAM 001 (ESQUINA)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9"/>
          <p:cNvSpPr/>
          <p:nvPr/>
        </p:nvSpPr>
        <p:spPr>
          <a:xfrm>
            <a:off x="4544568" y="1776496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9"/>
          <p:cNvSpPr/>
          <p:nvPr/>
        </p:nvSpPr>
        <p:spPr>
          <a:xfrm>
            <a:off x="5389474" y="2093244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9"/>
          <p:cNvSpPr/>
          <p:nvPr/>
        </p:nvSpPr>
        <p:spPr>
          <a:xfrm>
            <a:off x="2643530" y="2330806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9"/>
          <p:cNvSpPr/>
          <p:nvPr/>
        </p:nvSpPr>
        <p:spPr>
          <a:xfrm>
            <a:off x="3453232" y="2330806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9"/>
          <p:cNvSpPr/>
          <p:nvPr/>
        </p:nvSpPr>
        <p:spPr>
          <a:xfrm>
            <a:off x="2009851" y="2449586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9"/>
          <p:cNvSpPr/>
          <p:nvPr/>
        </p:nvSpPr>
        <p:spPr>
          <a:xfrm>
            <a:off x="4474159" y="2805928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9"/>
          <p:cNvSpPr/>
          <p:nvPr/>
        </p:nvSpPr>
        <p:spPr>
          <a:xfrm>
            <a:off x="5952744" y="3419627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9"/>
          <p:cNvSpPr/>
          <p:nvPr/>
        </p:nvSpPr>
        <p:spPr>
          <a:xfrm>
            <a:off x="3136392" y="4033327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9"/>
          <p:cNvSpPr/>
          <p:nvPr/>
        </p:nvSpPr>
        <p:spPr>
          <a:xfrm>
            <a:off x="3065983" y="4508449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9"/>
          <p:cNvSpPr/>
          <p:nvPr/>
        </p:nvSpPr>
        <p:spPr>
          <a:xfrm>
            <a:off x="5671109" y="4231295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9"/>
          <p:cNvSpPr txBox="1"/>
          <p:nvPr/>
        </p:nvSpPr>
        <p:spPr>
          <a:xfrm>
            <a:off x="457200" y="5349240"/>
            <a:ext cx="70408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 fachada combina uma grelha clara (REV-05) de pilares e lajes na cor Papel de Presente (REV-07) com volumes escuros (REV-06) nas empenas e na base. Nas varandas, brises ripados verticais amadeirados e vasos com vegetação; na base, pano escuro contínuo sobre as vitrines, fita de LED nas marquises e o logo-casinha iluminado no acesso.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9"/>
          <p:cNvSpPr txBox="1"/>
          <p:nvPr/>
        </p:nvSpPr>
        <p:spPr>
          <a:xfrm>
            <a:off x="7863840" y="128016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LEGENDA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9"/>
          <p:cNvSpPr/>
          <p:nvPr/>
        </p:nvSpPr>
        <p:spPr>
          <a:xfrm>
            <a:off x="7863840" y="1627632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9"/>
          <p:cNvSpPr txBox="1"/>
          <p:nvPr/>
        </p:nvSpPr>
        <p:spPr>
          <a:xfrm>
            <a:off x="8229600" y="1600200"/>
            <a:ext cx="35048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Pergolado da cobertura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estrutura escura com forro amadeirado no tom amêndoa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9"/>
          <p:cNvSpPr/>
          <p:nvPr/>
        </p:nvSpPr>
        <p:spPr>
          <a:xfrm>
            <a:off x="7863840" y="2093976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9"/>
          <p:cNvSpPr txBox="1"/>
          <p:nvPr/>
        </p:nvSpPr>
        <p:spPr>
          <a:xfrm>
            <a:off x="8229600" y="2066544"/>
            <a:ext cx="35048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Guarda-corpo da cobertura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vidro · GC-01 alumínio/vidro h=1,10 m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9"/>
          <p:cNvSpPr/>
          <p:nvPr/>
        </p:nvSpPr>
        <p:spPr>
          <a:xfrm>
            <a:off x="7863840" y="2560320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9"/>
          <p:cNvSpPr txBox="1"/>
          <p:nvPr/>
        </p:nvSpPr>
        <p:spPr>
          <a:xfrm>
            <a:off x="8229600" y="2532888"/>
            <a:ext cx="35048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Volume escuro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REV-06 pintura cinza escuro Rock'n Roll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9"/>
          <p:cNvSpPr/>
          <p:nvPr/>
        </p:nvSpPr>
        <p:spPr>
          <a:xfrm>
            <a:off x="7863840" y="302666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9"/>
          <p:cNvSpPr txBox="1"/>
          <p:nvPr/>
        </p:nvSpPr>
        <p:spPr>
          <a:xfrm>
            <a:off x="8229600" y="2999232"/>
            <a:ext cx="35048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Brise ripado vertical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cor madeira na imagem · BR-01 no executivo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9"/>
          <p:cNvSpPr/>
          <p:nvPr/>
        </p:nvSpPr>
        <p:spPr>
          <a:xfrm>
            <a:off x="7863840" y="3493008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9"/>
          <p:cNvSpPr txBox="1"/>
          <p:nvPr/>
        </p:nvSpPr>
        <p:spPr>
          <a:xfrm>
            <a:off x="8229600" y="3465576"/>
            <a:ext cx="35048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Vasos das varandas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PAI-08 Japi Floreira Flat · 36 un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9"/>
          <p:cNvSpPr/>
          <p:nvPr/>
        </p:nvSpPr>
        <p:spPr>
          <a:xfrm>
            <a:off x="7863840" y="3959352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9"/>
          <p:cNvSpPr txBox="1"/>
          <p:nvPr/>
        </p:nvSpPr>
        <p:spPr>
          <a:xfrm>
            <a:off x="8229600" y="3931920"/>
            <a:ext cx="35048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Grelha das varandas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REV-05 pintura cinza claro Nanquim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9"/>
          <p:cNvSpPr/>
          <p:nvPr/>
        </p:nvSpPr>
        <p:spPr>
          <a:xfrm>
            <a:off x="7863840" y="4425696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9"/>
          <p:cNvSpPr txBox="1"/>
          <p:nvPr/>
        </p:nvSpPr>
        <p:spPr>
          <a:xfrm>
            <a:off x="8229600" y="4398264"/>
            <a:ext cx="35048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Frentes de laje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ref. cor Papel de Presente Suvinil papel-de-presente-b208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9"/>
          <p:cNvSpPr/>
          <p:nvPr/>
        </p:nvSpPr>
        <p:spPr>
          <a:xfrm>
            <a:off x="7863840" y="4892040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9"/>
          <p:cNvSpPr txBox="1"/>
          <p:nvPr/>
        </p:nvSpPr>
        <p:spPr>
          <a:xfrm>
            <a:off x="8229600" y="4864608"/>
            <a:ext cx="35048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Fita de LED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marquises e floreiras · luz âmbar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1" name="Google Shape;211;p9"/>
          <p:cNvSpPr/>
          <p:nvPr/>
        </p:nvSpPr>
        <p:spPr>
          <a:xfrm>
            <a:off x="7863840" y="535838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9"/>
          <p:cNvSpPr txBox="1"/>
          <p:nvPr/>
        </p:nvSpPr>
        <p:spPr>
          <a:xfrm>
            <a:off x="8229600" y="5330952"/>
            <a:ext cx="35048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Logo-casinha iluminada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pilastra escura do acesso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9"/>
          <p:cNvSpPr/>
          <p:nvPr/>
        </p:nvSpPr>
        <p:spPr>
          <a:xfrm>
            <a:off x="7863840" y="5824728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9"/>
          <p:cNvSpPr txBox="1"/>
          <p:nvPr/>
        </p:nvSpPr>
        <p:spPr>
          <a:xfrm>
            <a:off x="8229600" y="5797296"/>
            <a:ext cx="3504895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Pano escuro sobre as lojas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faixa única REV-06 até o vidro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01 · FACHADA · MAPA DE TEXTURAS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10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Texturas da fachada · cores e fechamentos </a:t>
            </a:r>
            <a:r>
              <a:rPr b="1" lang="en-US" sz="2600">
                <a:solidFill>
                  <a:srgbClr val="00143D"/>
                </a:solidFill>
              </a:rPr>
              <a:t>(1/4)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navy_tpl_logo_cover.png" id="222" name="Google Shape;222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icon_footer.png" id="223" name="Google Shape;223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10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INTERIORES  ·  08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10"/>
          <p:cNvSpPr txBox="1"/>
          <p:nvPr/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Amostras extraídas das imagens de lançamento: referência visual, não substitui amostra física. Especificação: legenda das elevações 028 a 031, executivo, Memorial Descritivo R01 e Briefing.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10"/>
          <p:cNvSpPr/>
          <p:nvPr/>
        </p:nvSpPr>
        <p:spPr>
          <a:xfrm>
            <a:off x="457200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rev05.jpg" id="227" name="Google Shape;227;p10"/>
          <p:cNvPicPr preferRelativeResize="0"/>
          <p:nvPr/>
        </p:nvPicPr>
        <p:blipFill rotWithShape="1">
          <a:blip r:embed="rId5">
            <a:alphaModFix/>
          </a:blip>
          <a:srcRect b="39259" l="0" r="0" t="39259"/>
          <a:stretch/>
        </p:blipFill>
        <p:spPr>
          <a:xfrm>
            <a:off x="685800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28" name="Google Shape;228;p10"/>
          <p:cNvSpPr txBox="1"/>
          <p:nvPr/>
        </p:nvSpPr>
        <p:spPr>
          <a:xfrm>
            <a:off x="1211580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T01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10"/>
          <p:cNvSpPr txBox="1"/>
          <p:nvPr/>
        </p:nvSpPr>
        <p:spPr>
          <a:xfrm>
            <a:off x="2514600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REV-05 · Cinza claro Nanquim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Grelha das varandas, torre do duto e paredes entre vitrines do térreo.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Pintura cinza claro, ref. cor Nanquim Suvinil, sobre textura Texturatto Efeito Suave (legenda 028).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No térreo o executivo trocou REV-05 e REV-06 (conferência itens 2 e 3). Errata R02.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10"/>
          <p:cNvSpPr/>
          <p:nvPr/>
        </p:nvSpPr>
        <p:spPr>
          <a:xfrm>
            <a:off x="6233008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rev06.jpg" id="231" name="Google Shape;231;p10"/>
          <p:cNvPicPr preferRelativeResize="0"/>
          <p:nvPr/>
        </p:nvPicPr>
        <p:blipFill rotWithShape="1">
          <a:blip r:embed="rId6">
            <a:alphaModFix/>
          </a:blip>
          <a:srcRect b="23313" l="0" r="0" t="23313"/>
          <a:stretch/>
        </p:blipFill>
        <p:spPr>
          <a:xfrm>
            <a:off x="6461608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32" name="Google Shape;232;p10"/>
          <p:cNvSpPr txBox="1"/>
          <p:nvPr/>
        </p:nvSpPr>
        <p:spPr>
          <a:xfrm>
            <a:off x="6987388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T02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10"/>
          <p:cNvSpPr txBox="1"/>
          <p:nvPr/>
        </p:nvSpPr>
        <p:spPr>
          <a:xfrm>
            <a:off x="8290408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REV-06 · Cinza escuro Rock'n Roll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Empenas escuras, bandas das floreiras e pano sobre as lojas.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Pintura cinza escuro, ref. cor Rock'n Roll Suvinil (legenda 028).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Faixa do letreiro sobre as lojas deve ser REV-06 (pano único escuro). A VALIDAR na errata.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10"/>
          <p:cNvSpPr/>
          <p:nvPr/>
        </p:nvSpPr>
        <p:spPr>
          <a:xfrm>
            <a:off x="457200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rev07.jpg" id="235" name="Google Shape;235;p10"/>
          <p:cNvPicPr preferRelativeResize="0"/>
          <p:nvPr/>
        </p:nvPicPr>
        <p:blipFill rotWithShape="1">
          <a:blip r:embed="rId7">
            <a:alphaModFix/>
          </a:blip>
          <a:srcRect b="23375" l="0" r="0" t="23375"/>
          <a:stretch/>
        </p:blipFill>
        <p:spPr>
          <a:xfrm>
            <a:off x="685800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36" name="Google Shape;236;p10"/>
          <p:cNvSpPr txBox="1"/>
          <p:nvPr/>
        </p:nvSpPr>
        <p:spPr>
          <a:xfrm>
            <a:off x="1211580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T03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10"/>
          <p:cNvSpPr txBox="1"/>
          <p:nvPr/>
        </p:nvSpPr>
        <p:spPr>
          <a:xfrm>
            <a:off x="2514600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Parede Papel de Presente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Frentes de laje, empenas claras, reservatório e mureta.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Pintura, ref. cor Papel de Presente Suvinil papel-de-presente-b208.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Conforme a imagem de venda (conferência). Aprovar painel-teste antes da compra.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6233008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br01.jpg" id="239" name="Google Shape;239;p10"/>
          <p:cNvPicPr preferRelativeResize="0"/>
          <p:nvPr/>
        </p:nvPicPr>
        <p:blipFill rotWithShape="1">
          <a:blip r:embed="rId8">
            <a:alphaModFix/>
          </a:blip>
          <a:srcRect b="21481" l="0" r="0" t="21481"/>
          <a:stretch/>
        </p:blipFill>
        <p:spPr>
          <a:xfrm>
            <a:off x="6461608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40" name="Google Shape;240;p10"/>
          <p:cNvSpPr txBox="1"/>
          <p:nvPr/>
        </p:nvSpPr>
        <p:spPr>
          <a:xfrm>
            <a:off x="6987388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T04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10"/>
          <p:cNvSpPr txBox="1"/>
          <p:nvPr/>
        </p:nvSpPr>
        <p:spPr>
          <a:xfrm>
            <a:off x="8290408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BR-01 · Brise das varandas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Frente das janelas e varandas dos pavimentos tipo.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Executivo: brise de correr em alumínio, lâminas horizontais · memorial: "horizontais em alumínio na cor amêndoa".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Imagem vendeu ripado vertical cor madeira. ROVE: troca inviável. CRÍTICO · A VALIDAR.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1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01 · FACHADA · MAPA DE TEXTURAS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11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Texturas da fachada · esquadrias, vasos e luz </a:t>
            </a:r>
            <a:r>
              <a:rPr b="1" lang="en-US" sz="2200">
                <a:solidFill>
                  <a:srgbClr val="00143D"/>
                </a:solidFill>
              </a:rPr>
              <a:t>(2/4)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navy_tpl_logo_cover.png" id="249" name="Google Shape;249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icon_footer.png" id="250" name="Google Shape;250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11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INTERIORES  ·  09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1"/>
          <p:cNvSpPr txBox="1"/>
          <p:nvPr/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Amostras extraídas das imagens de lançamento: referência visual, não substitui amostra física. Especificação: legenda das elevações 028 a 031, executivo, Memorial Descritivo R01 e Briefing.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11"/>
          <p:cNvSpPr/>
          <p:nvPr/>
        </p:nvSpPr>
        <p:spPr>
          <a:xfrm>
            <a:off x="457200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esq2.jpg" id="254" name="Google Shape;254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5800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55" name="Google Shape;255;p11"/>
          <p:cNvSpPr txBox="1"/>
          <p:nvPr/>
        </p:nvSpPr>
        <p:spPr>
          <a:xfrm>
            <a:off x="1211580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T05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11"/>
          <p:cNvSpPr txBox="1"/>
          <p:nvPr/>
        </p:nvSpPr>
        <p:spPr>
          <a:xfrm>
            <a:off x="2514600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Esquadrias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Janelas e porta-janelas de todas as fachadas.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Linha 32 (gold) nas fachadas frontais e linha 25 nos fundos, alumínio preto fosco (memorial R01).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Confirmar linha por fachada no caderno de esquadrias (pranchas 032 e 033).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11"/>
          <p:cNvSpPr/>
          <p:nvPr/>
        </p:nvSpPr>
        <p:spPr>
          <a:xfrm>
            <a:off x="6233008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gc.jpg" id="258" name="Google Shape;258;p11"/>
          <p:cNvPicPr preferRelativeResize="0"/>
          <p:nvPr/>
        </p:nvPicPr>
        <p:blipFill rotWithShape="1">
          <a:blip r:embed="rId6">
            <a:alphaModFix/>
          </a:blip>
          <a:srcRect b="0" l="29688" r="29688" t="0"/>
          <a:stretch/>
        </p:blipFill>
        <p:spPr>
          <a:xfrm>
            <a:off x="6461608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59" name="Google Shape;259;p11"/>
          <p:cNvSpPr txBox="1"/>
          <p:nvPr/>
        </p:nvSpPr>
        <p:spPr>
          <a:xfrm>
            <a:off x="6987388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T06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11"/>
          <p:cNvSpPr txBox="1"/>
          <p:nvPr/>
        </p:nvSpPr>
        <p:spPr>
          <a:xfrm>
            <a:off x="8290408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GC-01 · Guarda-corpo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Cobertura, rooftop e varandas.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Guarda-corpo em alumínio e vidro, h=1,10 m (legenda executivo).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Briefing: privativo alumínio anodizado com montante; comum vidro perfil U inox. A VALIDAR.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11"/>
          <p:cNvSpPr/>
          <p:nvPr/>
        </p:nvSpPr>
        <p:spPr>
          <a:xfrm>
            <a:off x="457200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vaso.jpg" id="262" name="Google Shape;262;p11"/>
          <p:cNvPicPr preferRelativeResize="0"/>
          <p:nvPr/>
        </p:nvPicPr>
        <p:blipFill rotWithShape="1">
          <a:blip r:embed="rId7">
            <a:alphaModFix/>
          </a:blip>
          <a:srcRect b="0" l="28910" r="28910" t="0"/>
          <a:stretch/>
        </p:blipFill>
        <p:spPr>
          <a:xfrm>
            <a:off x="685800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63" name="Google Shape;263;p11"/>
          <p:cNvSpPr txBox="1"/>
          <p:nvPr/>
        </p:nvSpPr>
        <p:spPr>
          <a:xfrm>
            <a:off x="1211580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T07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11"/>
          <p:cNvSpPr txBox="1"/>
          <p:nvPr/>
        </p:nvSpPr>
        <p:spPr>
          <a:xfrm>
            <a:off x="2514600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Vasos de fachada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Varandas e floreiras dos pavimentos.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PAI-08 Japi Floreira Flat 29×77 h=29, cimento queimado, 36 un · PAI-11 Gardeno M 50×100 h=60, chumbo fosco, 12 un.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Constam na legenda, mas não estão desenhados nas elevações (conferência item 7).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11"/>
          <p:cNvSpPr/>
          <p:nvPr/>
        </p:nvSpPr>
        <p:spPr>
          <a:xfrm>
            <a:off x="6233008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led.jpg" id="266" name="Google Shape;266;p11"/>
          <p:cNvPicPr preferRelativeResize="0"/>
          <p:nvPr/>
        </p:nvPicPr>
        <p:blipFill rotWithShape="1">
          <a:blip r:embed="rId8">
            <a:alphaModFix/>
          </a:blip>
          <a:srcRect b="0" l="35938" r="35938" t="0"/>
          <a:stretch/>
        </p:blipFill>
        <p:spPr>
          <a:xfrm>
            <a:off x="6461608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67" name="Google Shape;267;p11"/>
          <p:cNvSpPr txBox="1"/>
          <p:nvPr/>
        </p:nvSpPr>
        <p:spPr>
          <a:xfrm>
            <a:off x="6987388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T08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8" name="Google Shape;268;p11"/>
          <p:cNvSpPr txBox="1"/>
          <p:nvPr/>
        </p:nvSpPr>
        <p:spPr>
          <a:xfrm>
            <a:off x="8290408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Fita de LED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Marquises, floreiras e coroamento.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Memorial R01: fita de LED na marquise e no coroamento · imagens: luz âmbar contínua.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Ausente nas elevações (conferência item 6): prever pontos antes do revestimento. A VALIDAR.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2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01 · FACHADA · MAPA DE TEXTURAS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12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Texturas da fachada · identidade, rooftop e lojas </a:t>
            </a:r>
            <a:r>
              <a:rPr b="1" lang="en-US" sz="2200">
                <a:solidFill>
                  <a:srgbClr val="00143D"/>
                </a:solidFill>
              </a:rPr>
              <a:t>(3/4)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navy_tpl_logo_cover.png" id="276" name="Google Shape;276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icon_footer.png" id="277" name="Google Shape;277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12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INTERIORES  ·  10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12"/>
          <p:cNvSpPr txBox="1"/>
          <p:nvPr/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Amostras extraídas das imagens de lançamento: referência visual, não substitui amostra física. Especificação: legenda das elevações 028 a 031, executivo, Memorial Descritivo R01 e Briefing.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12"/>
          <p:cNvSpPr/>
          <p:nvPr/>
        </p:nvSpPr>
        <p:spPr>
          <a:xfrm>
            <a:off x="457200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logo.jpg" id="281" name="Google Shape;281;p12"/>
          <p:cNvPicPr preferRelativeResize="0"/>
          <p:nvPr/>
        </p:nvPicPr>
        <p:blipFill rotWithShape="1">
          <a:blip r:embed="rId5">
            <a:alphaModFix/>
          </a:blip>
          <a:srcRect b="0" l="1952" r="1952" t="0"/>
          <a:stretch/>
        </p:blipFill>
        <p:spPr>
          <a:xfrm>
            <a:off x="685800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82" name="Google Shape;282;p12"/>
          <p:cNvSpPr txBox="1"/>
          <p:nvPr/>
        </p:nvSpPr>
        <p:spPr>
          <a:xfrm>
            <a:off x="1211580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T09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12"/>
          <p:cNvSpPr txBox="1"/>
          <p:nvPr/>
        </p:nvSpPr>
        <p:spPr>
          <a:xfrm>
            <a:off x="2514600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Logo-casinha + letreiro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Pilastra do acesso principal.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Imagem: pilastra escura REV-06 com logo-casinha iluminado e "Campeche SPOT" · executivo: CV-01 letreiro PVC/aço inox com LED.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Executivo mostra pilastra clara e só texto (conferência item 4). A VALIDAR.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2"/>
          <p:cNvSpPr/>
          <p:nvPr/>
        </p:nvSpPr>
        <p:spPr>
          <a:xfrm>
            <a:off x="6233008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perg.jpg" id="285" name="Google Shape;285;p12"/>
          <p:cNvPicPr preferRelativeResize="0"/>
          <p:nvPr/>
        </p:nvPicPr>
        <p:blipFill rotWithShape="1">
          <a:blip r:embed="rId6">
            <a:alphaModFix/>
          </a:blip>
          <a:srcRect b="0" l="30625" r="30625" t="0"/>
          <a:stretch/>
        </p:blipFill>
        <p:spPr>
          <a:xfrm>
            <a:off x="6461608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86" name="Google Shape;286;p12"/>
          <p:cNvSpPr txBox="1"/>
          <p:nvPr/>
        </p:nvSpPr>
        <p:spPr>
          <a:xfrm>
            <a:off x="6987388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T10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12"/>
          <p:cNvSpPr txBox="1"/>
          <p:nvPr/>
        </p:nvSpPr>
        <p:spPr>
          <a:xfrm>
            <a:off x="8290408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Pergolado da cobertura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Terraço do rooftop.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Estrutura metálica escura com réguas amadeiradas (imagem) · memorial: aço corten + madeira · FR-03 madeira "a definir".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Madeira do forro ainda "a definir" no executivo: fechar referência. PENDENTE.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12"/>
          <p:cNvSpPr/>
          <p:nvPr/>
        </p:nvSpPr>
        <p:spPr>
          <a:xfrm>
            <a:off x="457200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pisc.jpg" id="289" name="Google Shape;289;p12"/>
          <p:cNvPicPr preferRelativeResize="0"/>
          <p:nvPr/>
        </p:nvPicPr>
        <p:blipFill rotWithShape="1">
          <a:blip r:embed="rId7">
            <a:alphaModFix/>
          </a:blip>
          <a:srcRect b="0" l="39875" r="39875" t="0"/>
          <a:stretch/>
        </p:blipFill>
        <p:spPr>
          <a:xfrm>
            <a:off x="685800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90" name="Google Shape;290;p12"/>
          <p:cNvSpPr txBox="1"/>
          <p:nvPr/>
        </p:nvSpPr>
        <p:spPr>
          <a:xfrm>
            <a:off x="1211580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T11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1" name="Google Shape;291;p12"/>
          <p:cNvSpPr txBox="1"/>
          <p:nvPr/>
        </p:nvSpPr>
        <p:spPr>
          <a:xfrm>
            <a:off x="2514600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Piscina com borda infinita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Rooftop, voltada para o mar.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Pastilha Eliane Noronha Mar Mesh 10×10 (memorial R01) · aquecimento solar.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Briefing: esverdeado 20×20 · borda não especificada no executivo. A VALIDAR.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12"/>
          <p:cNvSpPr/>
          <p:nvPr/>
        </p:nvSpPr>
        <p:spPr>
          <a:xfrm>
            <a:off x="6233008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lojas2.jpg" id="293" name="Google Shape;293;p1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461608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94" name="Google Shape;294;p12"/>
          <p:cNvSpPr txBox="1"/>
          <p:nvPr/>
        </p:nvSpPr>
        <p:spPr>
          <a:xfrm>
            <a:off x="6987388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T12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2"/>
          <p:cNvSpPr txBox="1"/>
          <p:nvPr/>
        </p:nvSpPr>
        <p:spPr>
          <a:xfrm>
            <a:off x="8290408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Lojas e vitrines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Térreo, fachada sudeste.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Vitrines com esquadria preta sob pano escuro contínuo; paredes entre vitrines claras (imagem).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Excluir o letreiro "seazone café" da prancha 028 (conferência item 5).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3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01 · FACHADA · VISTA + ESPECIFICAÇÃO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13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Fachada frontal: lojas e varandas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navy_tpl_logo_cover.png" id="303" name="Google Shape;303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icon_footer.png" id="304" name="Google Shape;304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13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INTERIORES  ·  11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annot__s7_0.jpg" id="306" name="Google Shape;306;p13"/>
          <p:cNvPicPr preferRelativeResize="0"/>
          <p:nvPr/>
        </p:nvPicPr>
        <p:blipFill rotWithShape="1">
          <a:blip r:embed="rId5">
            <a:alphaModFix/>
          </a:blip>
          <a:srcRect b="30" l="0" r="0" t="30"/>
          <a:stretch/>
        </p:blipFill>
        <p:spPr>
          <a:xfrm>
            <a:off x="457200" y="1280160"/>
            <a:ext cx="6766560" cy="3803904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13"/>
          <p:cNvSpPr txBox="1"/>
          <p:nvPr/>
        </p:nvSpPr>
        <p:spPr>
          <a:xfrm>
            <a:off x="566928" y="1389888"/>
            <a:ext cx="240030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LANÇAMENTO · CAM 0003 (FRONTAL)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13"/>
          <p:cNvSpPr/>
          <p:nvPr/>
        </p:nvSpPr>
        <p:spPr>
          <a:xfrm>
            <a:off x="3500323" y="1523390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13"/>
          <p:cNvSpPr/>
          <p:nvPr/>
        </p:nvSpPr>
        <p:spPr>
          <a:xfrm>
            <a:off x="3906317" y="1713586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13"/>
          <p:cNvSpPr/>
          <p:nvPr/>
        </p:nvSpPr>
        <p:spPr>
          <a:xfrm>
            <a:off x="2214677" y="2170054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13"/>
          <p:cNvSpPr/>
          <p:nvPr/>
        </p:nvSpPr>
        <p:spPr>
          <a:xfrm>
            <a:off x="3297326" y="2093976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13"/>
          <p:cNvSpPr/>
          <p:nvPr/>
        </p:nvSpPr>
        <p:spPr>
          <a:xfrm>
            <a:off x="4176979" y="2664562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13"/>
          <p:cNvSpPr/>
          <p:nvPr/>
        </p:nvSpPr>
        <p:spPr>
          <a:xfrm>
            <a:off x="4718304" y="3729655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13"/>
          <p:cNvSpPr/>
          <p:nvPr/>
        </p:nvSpPr>
        <p:spPr>
          <a:xfrm>
            <a:off x="5259629" y="3995928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5" name="Google Shape;315;p13"/>
          <p:cNvSpPr/>
          <p:nvPr/>
        </p:nvSpPr>
        <p:spPr>
          <a:xfrm>
            <a:off x="5733288" y="4452396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13"/>
          <p:cNvSpPr/>
          <p:nvPr/>
        </p:nvSpPr>
        <p:spPr>
          <a:xfrm>
            <a:off x="1808683" y="4338279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13"/>
          <p:cNvSpPr/>
          <p:nvPr/>
        </p:nvSpPr>
        <p:spPr>
          <a:xfrm>
            <a:off x="457200" y="5230368"/>
            <a:ext cx="6766560" cy="1005840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13"/>
          <p:cNvSpPr txBox="1"/>
          <p:nvPr/>
        </p:nvSpPr>
        <p:spPr>
          <a:xfrm>
            <a:off x="640080" y="5321808"/>
            <a:ext cx="64008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LEITURA DA FACHADA FRONTAL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imagem vendida mostra a base com um pano escuro contínuo até o vidro e paredes claras entre as vitrines. O executivo inverteu as cores (REV-05 × REV-06): corrigir na errata R02 antes da compra da tinta.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9" name="Google Shape;319;p13"/>
          <p:cNvSpPr/>
          <p:nvPr/>
        </p:nvSpPr>
        <p:spPr>
          <a:xfrm>
            <a:off x="7543800" y="1298448"/>
            <a:ext cx="201168" cy="201168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13"/>
          <p:cNvSpPr txBox="1"/>
          <p:nvPr/>
        </p:nvSpPr>
        <p:spPr>
          <a:xfrm>
            <a:off x="7818120" y="1280160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7F5C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E7F5C"/>
                </a:solidFill>
                <a:latin typeface="Arial"/>
                <a:ea typeface="Arial"/>
                <a:cs typeface="Arial"/>
                <a:sym typeface="Arial"/>
              </a:rPr>
              <a:t>Status do item: DEFINIDO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13"/>
          <p:cNvSpPr/>
          <p:nvPr/>
        </p:nvSpPr>
        <p:spPr>
          <a:xfrm>
            <a:off x="7543800" y="170078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13"/>
          <p:cNvSpPr txBox="1"/>
          <p:nvPr/>
        </p:nvSpPr>
        <p:spPr>
          <a:xfrm>
            <a:off x="7909560" y="1645920"/>
            <a:ext cx="3504895" cy="51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Pergolado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Aço corten no tom chumbo escuro + madeira (memorial) · FR-03 madeira "amêndoa"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13"/>
          <p:cNvSpPr/>
          <p:nvPr/>
        </p:nvSpPr>
        <p:spPr>
          <a:xfrm>
            <a:off x="11496751" y="170078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13"/>
          <p:cNvSpPr/>
          <p:nvPr/>
        </p:nvSpPr>
        <p:spPr>
          <a:xfrm>
            <a:off x="7543800" y="221386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13"/>
          <p:cNvSpPr txBox="1"/>
          <p:nvPr/>
        </p:nvSpPr>
        <p:spPr>
          <a:xfrm>
            <a:off x="7909560" y="2159000"/>
            <a:ext cx="3504895" cy="51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Guarda-corpo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GC-01 alumínio e vidro, h=1,10 m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13"/>
          <p:cNvSpPr/>
          <p:nvPr/>
        </p:nvSpPr>
        <p:spPr>
          <a:xfrm>
            <a:off x="11496751" y="221386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13"/>
          <p:cNvSpPr/>
          <p:nvPr/>
        </p:nvSpPr>
        <p:spPr>
          <a:xfrm>
            <a:off x="7543800" y="272694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13"/>
          <p:cNvSpPr txBox="1"/>
          <p:nvPr/>
        </p:nvSpPr>
        <p:spPr>
          <a:xfrm>
            <a:off x="7909560" y="2672080"/>
            <a:ext cx="3504895" cy="51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Vasos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PAI-08 (36 un) e PAI-11 (12 un) · não desenhados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13"/>
          <p:cNvSpPr/>
          <p:nvPr/>
        </p:nvSpPr>
        <p:spPr>
          <a:xfrm>
            <a:off x="11496751" y="272694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13"/>
          <p:cNvSpPr/>
          <p:nvPr/>
        </p:nvSpPr>
        <p:spPr>
          <a:xfrm>
            <a:off x="7543800" y="324002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13"/>
          <p:cNvSpPr txBox="1"/>
          <p:nvPr/>
        </p:nvSpPr>
        <p:spPr>
          <a:xfrm>
            <a:off x="7909560" y="3185160"/>
            <a:ext cx="3504895" cy="51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Brises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BR-01 ACM × ripado vertical madeira amêndoa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13"/>
          <p:cNvSpPr/>
          <p:nvPr/>
        </p:nvSpPr>
        <p:spPr>
          <a:xfrm>
            <a:off x="11496751" y="324002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13"/>
          <p:cNvSpPr/>
          <p:nvPr/>
        </p:nvSpPr>
        <p:spPr>
          <a:xfrm>
            <a:off x="7543800" y="375310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13"/>
          <p:cNvSpPr txBox="1"/>
          <p:nvPr/>
        </p:nvSpPr>
        <p:spPr>
          <a:xfrm>
            <a:off x="7909560" y="3698240"/>
            <a:ext cx="3504895" cy="51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Grelha das varandas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REV-05 cinza claro Nanquim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13"/>
          <p:cNvSpPr/>
          <p:nvPr/>
        </p:nvSpPr>
        <p:spPr>
          <a:xfrm>
            <a:off x="11496751" y="375310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13"/>
          <p:cNvSpPr/>
          <p:nvPr/>
        </p:nvSpPr>
        <p:spPr>
          <a:xfrm>
            <a:off x="7543800" y="426618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13"/>
          <p:cNvSpPr txBox="1"/>
          <p:nvPr/>
        </p:nvSpPr>
        <p:spPr>
          <a:xfrm>
            <a:off x="7909560" y="4211320"/>
            <a:ext cx="3504895" cy="51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Frentes de laje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ref. cor Papel de Presente Suvinil papel-de-presente-b208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13"/>
          <p:cNvSpPr/>
          <p:nvPr/>
        </p:nvSpPr>
        <p:spPr>
          <a:xfrm>
            <a:off x="11496751" y="426618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13"/>
          <p:cNvSpPr/>
          <p:nvPr/>
        </p:nvSpPr>
        <p:spPr>
          <a:xfrm>
            <a:off x="7543800" y="477926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13"/>
          <p:cNvSpPr txBox="1"/>
          <p:nvPr/>
        </p:nvSpPr>
        <p:spPr>
          <a:xfrm>
            <a:off x="7909560" y="4724400"/>
            <a:ext cx="3504895" cy="51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Pano sobre as lojas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Deve ser REV-06 único · executivo marca REV-05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13"/>
          <p:cNvSpPr/>
          <p:nvPr/>
        </p:nvSpPr>
        <p:spPr>
          <a:xfrm>
            <a:off x="11496751" y="477926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13"/>
          <p:cNvSpPr/>
          <p:nvPr/>
        </p:nvSpPr>
        <p:spPr>
          <a:xfrm>
            <a:off x="7543800" y="529234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13"/>
          <p:cNvSpPr txBox="1"/>
          <p:nvPr/>
        </p:nvSpPr>
        <p:spPr>
          <a:xfrm>
            <a:off x="7909560" y="5237480"/>
            <a:ext cx="3504895" cy="51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Vitrines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Paredes entre vitrines REV-05 · executivo marca REV-06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13"/>
          <p:cNvSpPr/>
          <p:nvPr/>
        </p:nvSpPr>
        <p:spPr>
          <a:xfrm>
            <a:off x="11496751" y="529234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13"/>
          <p:cNvSpPr/>
          <p:nvPr/>
        </p:nvSpPr>
        <p:spPr>
          <a:xfrm>
            <a:off x="7543800" y="580542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13"/>
          <p:cNvSpPr txBox="1"/>
          <p:nvPr/>
        </p:nvSpPr>
        <p:spPr>
          <a:xfrm>
            <a:off x="7909560" y="5750560"/>
            <a:ext cx="3504895" cy="51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Logo na empena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Logo "C" Seazone na empena (imagem) · sem detalhe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13"/>
          <p:cNvSpPr/>
          <p:nvPr/>
        </p:nvSpPr>
        <p:spPr>
          <a:xfrm>
            <a:off x="11496751" y="580542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14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01 · FACHADA · VISTA + ESPECIFICAÇÃO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14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Fachada lateral e base comercial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navy_tpl_logo_cover.png" id="355" name="Google Shape;355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icon_footer.png" id="356" name="Google Shape;356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357" name="Google Shape;357;p14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INTERIORES  ·  12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annot__s8_0.jpg" id="358" name="Google Shape;358;p14"/>
          <p:cNvPicPr preferRelativeResize="0"/>
          <p:nvPr/>
        </p:nvPicPr>
        <p:blipFill rotWithShape="1">
          <a:blip r:embed="rId5">
            <a:alphaModFix/>
          </a:blip>
          <a:srcRect b="40" l="0" r="0" t="40"/>
          <a:stretch/>
        </p:blipFill>
        <p:spPr>
          <a:xfrm>
            <a:off x="457200" y="1280160"/>
            <a:ext cx="3931920" cy="4910328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14"/>
          <p:cNvSpPr txBox="1"/>
          <p:nvPr/>
        </p:nvSpPr>
        <p:spPr>
          <a:xfrm>
            <a:off x="566928" y="1389888"/>
            <a:ext cx="164592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LANÇAMENTO · CAM 002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14"/>
          <p:cNvSpPr/>
          <p:nvPr/>
        </p:nvSpPr>
        <p:spPr>
          <a:xfrm>
            <a:off x="3237525" y="1535826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14"/>
          <p:cNvSpPr/>
          <p:nvPr/>
        </p:nvSpPr>
        <p:spPr>
          <a:xfrm>
            <a:off x="2525847" y="2174169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14"/>
          <p:cNvSpPr/>
          <p:nvPr/>
        </p:nvSpPr>
        <p:spPr>
          <a:xfrm>
            <a:off x="3237525" y="2296927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14"/>
          <p:cNvSpPr/>
          <p:nvPr/>
        </p:nvSpPr>
        <p:spPr>
          <a:xfrm>
            <a:off x="2832537" y="3107131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14"/>
          <p:cNvSpPr/>
          <p:nvPr/>
        </p:nvSpPr>
        <p:spPr>
          <a:xfrm>
            <a:off x="1810238" y="3770025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14"/>
          <p:cNvSpPr/>
          <p:nvPr/>
        </p:nvSpPr>
        <p:spPr>
          <a:xfrm>
            <a:off x="2856128" y="3966439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14"/>
          <p:cNvSpPr/>
          <p:nvPr/>
        </p:nvSpPr>
        <p:spPr>
          <a:xfrm>
            <a:off x="3524555" y="4531126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14"/>
          <p:cNvSpPr/>
          <p:nvPr/>
        </p:nvSpPr>
        <p:spPr>
          <a:xfrm>
            <a:off x="4134002" y="3107131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14"/>
          <p:cNvSpPr/>
          <p:nvPr/>
        </p:nvSpPr>
        <p:spPr>
          <a:xfrm>
            <a:off x="1094628" y="4531126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14"/>
          <p:cNvSpPr/>
          <p:nvPr/>
        </p:nvSpPr>
        <p:spPr>
          <a:xfrm>
            <a:off x="4709160" y="1298448"/>
            <a:ext cx="201168" cy="201168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14"/>
          <p:cNvSpPr txBox="1"/>
          <p:nvPr/>
        </p:nvSpPr>
        <p:spPr>
          <a:xfrm>
            <a:off x="4983480" y="1280160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7F5C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E7F5C"/>
                </a:solidFill>
                <a:latin typeface="Arial"/>
                <a:ea typeface="Arial"/>
                <a:cs typeface="Arial"/>
                <a:sym typeface="Arial"/>
              </a:rPr>
              <a:t>Status do item: DEFINIDO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14"/>
          <p:cNvSpPr/>
          <p:nvPr/>
        </p:nvSpPr>
        <p:spPr>
          <a:xfrm>
            <a:off x="4709160" y="170078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14"/>
          <p:cNvSpPr txBox="1"/>
          <p:nvPr/>
        </p:nvSpPr>
        <p:spPr>
          <a:xfrm>
            <a:off x="5074920" y="1645920"/>
            <a:ext cx="3520440" cy="51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Guarda-corpo cobertura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GC-01 alumínio e vidro h=1,10 m · briefing: áreas comuns vidro perfil U inox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14"/>
          <p:cNvSpPr/>
          <p:nvPr/>
        </p:nvSpPr>
        <p:spPr>
          <a:xfrm>
            <a:off x="8677656" y="170078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14"/>
          <p:cNvSpPr/>
          <p:nvPr/>
        </p:nvSpPr>
        <p:spPr>
          <a:xfrm>
            <a:off x="4709160" y="221386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14"/>
          <p:cNvSpPr txBox="1"/>
          <p:nvPr/>
        </p:nvSpPr>
        <p:spPr>
          <a:xfrm>
            <a:off x="5074920" y="2159000"/>
            <a:ext cx="3520440" cy="51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Brises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BR-01 brise de correr em alumínio, lâminas horizontais × ripado vertical madeira (imagem)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14"/>
          <p:cNvSpPr/>
          <p:nvPr/>
        </p:nvSpPr>
        <p:spPr>
          <a:xfrm>
            <a:off x="8677656" y="221386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14"/>
          <p:cNvSpPr/>
          <p:nvPr/>
        </p:nvSpPr>
        <p:spPr>
          <a:xfrm>
            <a:off x="4709160" y="272694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14"/>
          <p:cNvSpPr txBox="1"/>
          <p:nvPr/>
        </p:nvSpPr>
        <p:spPr>
          <a:xfrm>
            <a:off x="5074920" y="2672080"/>
            <a:ext cx="3520440" cy="51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Vasos das varandas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PAI-08 Japi Floreira Flat, cimento queimado · incluir nas elevações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14"/>
          <p:cNvSpPr/>
          <p:nvPr/>
        </p:nvSpPr>
        <p:spPr>
          <a:xfrm>
            <a:off x="8677656" y="272694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14"/>
          <p:cNvSpPr/>
          <p:nvPr/>
        </p:nvSpPr>
        <p:spPr>
          <a:xfrm>
            <a:off x="4709160" y="324002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14"/>
          <p:cNvSpPr txBox="1"/>
          <p:nvPr/>
        </p:nvSpPr>
        <p:spPr>
          <a:xfrm>
            <a:off x="5074920" y="3185160"/>
            <a:ext cx="3520440" cy="51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Pilares da grelha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REV-05 pintura cinza claro Nanquim Suvinil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14"/>
          <p:cNvSpPr/>
          <p:nvPr/>
        </p:nvSpPr>
        <p:spPr>
          <a:xfrm>
            <a:off x="8677656" y="324002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3" name="Google Shape;383;p14"/>
          <p:cNvSpPr/>
          <p:nvPr/>
        </p:nvSpPr>
        <p:spPr>
          <a:xfrm>
            <a:off x="4709160" y="375310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4" name="Google Shape;384;p14"/>
          <p:cNvSpPr txBox="1"/>
          <p:nvPr/>
        </p:nvSpPr>
        <p:spPr>
          <a:xfrm>
            <a:off x="5074920" y="3698240"/>
            <a:ext cx="3520440" cy="51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Frentes de laje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ref. cor Papel de Presente Suvinil papel-de-presente-b208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14"/>
          <p:cNvSpPr/>
          <p:nvPr/>
        </p:nvSpPr>
        <p:spPr>
          <a:xfrm>
            <a:off x="8677656" y="375310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14"/>
          <p:cNvSpPr/>
          <p:nvPr/>
        </p:nvSpPr>
        <p:spPr>
          <a:xfrm>
            <a:off x="4709160" y="426618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14"/>
          <p:cNvSpPr txBox="1"/>
          <p:nvPr/>
        </p:nvSpPr>
        <p:spPr>
          <a:xfrm>
            <a:off x="5074920" y="4211320"/>
            <a:ext cx="3520440" cy="51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Pano sobre as lojas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REV-06 cinza escuro Rock'n Roll, faixa única até o vidro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p14"/>
          <p:cNvSpPr/>
          <p:nvPr/>
        </p:nvSpPr>
        <p:spPr>
          <a:xfrm>
            <a:off x="8677656" y="426618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p14"/>
          <p:cNvSpPr/>
          <p:nvPr/>
        </p:nvSpPr>
        <p:spPr>
          <a:xfrm>
            <a:off x="4709160" y="477926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14"/>
          <p:cNvSpPr txBox="1"/>
          <p:nvPr/>
        </p:nvSpPr>
        <p:spPr>
          <a:xfrm>
            <a:off x="5074920" y="4724400"/>
            <a:ext cx="3520440" cy="51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Vitrines das lojas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Esquadria preta · paredes entre vitrines REV-05 (errata R02)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14"/>
          <p:cNvSpPr/>
          <p:nvPr/>
        </p:nvSpPr>
        <p:spPr>
          <a:xfrm>
            <a:off x="8677656" y="477926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14"/>
          <p:cNvSpPr/>
          <p:nvPr/>
        </p:nvSpPr>
        <p:spPr>
          <a:xfrm>
            <a:off x="4709160" y="529234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14"/>
          <p:cNvSpPr txBox="1"/>
          <p:nvPr/>
        </p:nvSpPr>
        <p:spPr>
          <a:xfrm>
            <a:off x="5074920" y="5237480"/>
            <a:ext cx="3520440" cy="51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Empena clara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ref. cor Papel de Presente Suvinil papel-de-presente-b208 (empenas claras, reservatório e mureta)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14"/>
          <p:cNvSpPr/>
          <p:nvPr/>
        </p:nvSpPr>
        <p:spPr>
          <a:xfrm>
            <a:off x="8677656" y="529234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14"/>
          <p:cNvSpPr/>
          <p:nvPr/>
        </p:nvSpPr>
        <p:spPr>
          <a:xfrm>
            <a:off x="4709160" y="580542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14"/>
          <p:cNvSpPr txBox="1"/>
          <p:nvPr/>
        </p:nvSpPr>
        <p:spPr>
          <a:xfrm>
            <a:off x="5074920" y="5750560"/>
            <a:ext cx="3520440" cy="513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Base e paisagismo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Floreira com vegetação e LED na base · paisagismo conforme projeto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14"/>
          <p:cNvSpPr/>
          <p:nvPr/>
        </p:nvSpPr>
        <p:spPr>
          <a:xfrm>
            <a:off x="8677656" y="580542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rev05.jpg" id="398" name="Google Shape;398;p14"/>
          <p:cNvPicPr preferRelativeResize="0"/>
          <p:nvPr/>
        </p:nvPicPr>
        <p:blipFill rotWithShape="1">
          <a:blip r:embed="rId6">
            <a:alphaModFix/>
          </a:blip>
          <a:srcRect b="39259" l="0" r="0" t="39259"/>
          <a:stretch/>
        </p:blipFill>
        <p:spPr>
          <a:xfrm>
            <a:off x="9281160" y="1325880"/>
            <a:ext cx="731520" cy="731520"/>
          </a:xfrm>
          <a:prstGeom prst="ellipse">
            <a:avLst/>
          </a:prstGeom>
          <a:noFill/>
          <a:ln>
            <a:noFill/>
          </a:ln>
        </p:spPr>
      </p:pic>
      <p:pic>
        <p:nvPicPr>
          <p:cNvPr descr="C:/Users/Rachel/AppData/Local/Temp/claude/C--Users-Rachel-Documents-SEAZONE-BOOK-PREMISSAS-FACHADA-EXTERNA-CAMPECHE-SPOT/a62d8e33-2374-48a1-8865-f7b177fbebf6/scratchpad/img/sw__rev07.jpg" id="399" name="Google Shape;399;p14"/>
          <p:cNvPicPr preferRelativeResize="0"/>
          <p:nvPr/>
        </p:nvPicPr>
        <p:blipFill rotWithShape="1">
          <a:blip r:embed="rId7">
            <a:alphaModFix/>
          </a:blip>
          <a:srcRect b="23375" l="0" r="0" t="23375"/>
          <a:stretch/>
        </p:blipFill>
        <p:spPr>
          <a:xfrm>
            <a:off x="10058400" y="1325880"/>
            <a:ext cx="731520" cy="731520"/>
          </a:xfrm>
          <a:prstGeom prst="ellipse">
            <a:avLst/>
          </a:prstGeom>
          <a:noFill/>
          <a:ln>
            <a:noFill/>
          </a:ln>
        </p:spPr>
      </p:pic>
      <p:pic>
        <p:nvPicPr>
          <p:cNvPr descr="C:/Users/Rachel/AppData/Local/Temp/claude/C--Users-Rachel-Documents-SEAZONE-BOOK-PREMISSAS-FACHADA-EXTERNA-CAMPECHE-SPOT/a62d8e33-2374-48a1-8865-f7b177fbebf6/scratchpad/img/sw__rev06.jpg" id="400" name="Google Shape;400;p14"/>
          <p:cNvPicPr preferRelativeResize="0"/>
          <p:nvPr/>
        </p:nvPicPr>
        <p:blipFill rotWithShape="1">
          <a:blip r:embed="rId8">
            <a:alphaModFix/>
          </a:blip>
          <a:srcRect b="23312" l="0" r="0" t="23312"/>
          <a:stretch/>
        </p:blipFill>
        <p:spPr>
          <a:xfrm>
            <a:off x="10835640" y="1325880"/>
            <a:ext cx="731520" cy="731520"/>
          </a:xfrm>
          <a:prstGeom prst="ellipse">
            <a:avLst/>
          </a:prstGeom>
          <a:noFill/>
          <a:ln>
            <a:noFill/>
          </a:ln>
        </p:spPr>
      </p:pic>
      <p:sp>
        <p:nvSpPr>
          <p:cNvPr id="401" name="Google Shape;401;p14"/>
          <p:cNvSpPr txBox="1"/>
          <p:nvPr/>
        </p:nvSpPr>
        <p:spPr>
          <a:xfrm>
            <a:off x="9235440" y="2121408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REV-05 · Papel de Presente · REV-06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14"/>
          <p:cNvSpPr/>
          <p:nvPr/>
        </p:nvSpPr>
        <p:spPr>
          <a:xfrm>
            <a:off x="9235440" y="2606040"/>
            <a:ext cx="2499055" cy="3657600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14"/>
          <p:cNvSpPr txBox="1"/>
          <p:nvPr/>
        </p:nvSpPr>
        <p:spPr>
          <a:xfrm>
            <a:off x="9418320" y="2697480"/>
            <a:ext cx="2133295" cy="3474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NAS QUATRO ELEVAÇÕES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As elevações 028 Sudeste, 029 Sul, 030 Oeste e 031 Norte repetem os códigos REV-05, REV-06 e REV-07. A errata R02 das pranchas 28 a 30 foi solicitada em 28/07/2026.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15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01 · FACHADA · VISTA + ESPECIFICAÇÃO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15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Térreo: acesso e identidade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navy_tpl_logo_cover.png" id="411" name="Google Shape;41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icon_footer.png" id="412" name="Google Shape;41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13" name="Google Shape;413;p15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INTERIORES  ·  13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annot__s9_0.jpg" id="414" name="Google Shape;414;p15"/>
          <p:cNvPicPr preferRelativeResize="0"/>
          <p:nvPr/>
        </p:nvPicPr>
        <p:blipFill rotWithShape="1">
          <a:blip r:embed="rId5">
            <a:alphaModFix/>
          </a:blip>
          <a:srcRect b="30" l="0" r="0" t="30"/>
          <a:stretch/>
        </p:blipFill>
        <p:spPr>
          <a:xfrm>
            <a:off x="457200" y="1280160"/>
            <a:ext cx="6766560" cy="3803904"/>
          </a:xfrm>
          <a:prstGeom prst="rect">
            <a:avLst/>
          </a:prstGeom>
          <a:noFill/>
          <a:ln>
            <a:noFill/>
          </a:ln>
        </p:spPr>
      </p:pic>
      <p:sp>
        <p:nvSpPr>
          <p:cNvPr id="415" name="Google Shape;415;p15"/>
          <p:cNvSpPr txBox="1"/>
          <p:nvPr/>
        </p:nvSpPr>
        <p:spPr>
          <a:xfrm>
            <a:off x="566928" y="1389888"/>
            <a:ext cx="198882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LANÇAMENTO · 002 (ACESSO)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15"/>
          <p:cNvSpPr/>
          <p:nvPr/>
        </p:nvSpPr>
        <p:spPr>
          <a:xfrm>
            <a:off x="2417674" y="3235147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15"/>
          <p:cNvSpPr/>
          <p:nvPr/>
        </p:nvSpPr>
        <p:spPr>
          <a:xfrm>
            <a:off x="3161995" y="3539460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15"/>
          <p:cNvSpPr/>
          <p:nvPr/>
        </p:nvSpPr>
        <p:spPr>
          <a:xfrm>
            <a:off x="2011680" y="1979859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15"/>
          <p:cNvSpPr/>
          <p:nvPr/>
        </p:nvSpPr>
        <p:spPr>
          <a:xfrm>
            <a:off x="1335024" y="2208093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0" name="Google Shape;420;p15"/>
          <p:cNvSpPr/>
          <p:nvPr/>
        </p:nvSpPr>
        <p:spPr>
          <a:xfrm>
            <a:off x="2891333" y="4186123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15"/>
          <p:cNvSpPr/>
          <p:nvPr/>
        </p:nvSpPr>
        <p:spPr>
          <a:xfrm>
            <a:off x="1132027" y="3881811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15"/>
          <p:cNvSpPr/>
          <p:nvPr/>
        </p:nvSpPr>
        <p:spPr>
          <a:xfrm>
            <a:off x="4109314" y="2398288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3" name="Google Shape;423;p15"/>
          <p:cNvSpPr/>
          <p:nvPr/>
        </p:nvSpPr>
        <p:spPr>
          <a:xfrm>
            <a:off x="5191963" y="3121030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15"/>
          <p:cNvSpPr/>
          <p:nvPr/>
        </p:nvSpPr>
        <p:spPr>
          <a:xfrm>
            <a:off x="5056632" y="3995928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5" name="Google Shape;425;p15"/>
          <p:cNvSpPr/>
          <p:nvPr/>
        </p:nvSpPr>
        <p:spPr>
          <a:xfrm>
            <a:off x="4515307" y="3235147"/>
            <a:ext cx="274320" cy="274320"/>
          </a:xfrm>
          <a:prstGeom prst="ellipse">
            <a:avLst/>
          </a:prstGeom>
          <a:solidFill>
            <a:srgbClr val="FC6058"/>
          </a:solidFill>
          <a:ln cap="flat" cmpd="sng" w="1905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15"/>
          <p:cNvSpPr/>
          <p:nvPr/>
        </p:nvSpPr>
        <p:spPr>
          <a:xfrm>
            <a:off x="457200" y="5230368"/>
            <a:ext cx="6766560" cy="1005840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15"/>
          <p:cNvSpPr txBox="1"/>
          <p:nvPr/>
        </p:nvSpPr>
        <p:spPr>
          <a:xfrm>
            <a:off x="640080" y="5321808"/>
            <a:ext cx="64008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ATENÇÃO · IDENTIDADE DO ACESSO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Pilastra escura com o logo-casinha iluminado, letreiro Campeche SPOT e LED na marquise são a "cara" do empreendimento no lançamento. O executivo mostra pilastra clara e só o texto CV-01: corrigir na errata e detalhar elétrica e fixação.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8" name="Google Shape;428;p15"/>
          <p:cNvSpPr/>
          <p:nvPr/>
        </p:nvSpPr>
        <p:spPr>
          <a:xfrm>
            <a:off x="7543800" y="1298448"/>
            <a:ext cx="201168" cy="201168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5"/>
          <p:cNvSpPr txBox="1"/>
          <p:nvPr/>
        </p:nvSpPr>
        <p:spPr>
          <a:xfrm>
            <a:off x="7818120" y="1280160"/>
            <a:ext cx="23774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7F5C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1E7F5C"/>
                </a:solidFill>
                <a:latin typeface="Arial"/>
                <a:ea typeface="Arial"/>
                <a:cs typeface="Arial"/>
                <a:sym typeface="Arial"/>
              </a:rPr>
              <a:t>Status do item: DEFINIDO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15"/>
          <p:cNvSpPr/>
          <p:nvPr/>
        </p:nvSpPr>
        <p:spPr>
          <a:xfrm>
            <a:off x="7543800" y="170078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15"/>
          <p:cNvSpPr txBox="1"/>
          <p:nvPr/>
        </p:nvSpPr>
        <p:spPr>
          <a:xfrm>
            <a:off x="7909560" y="1645920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Logo-casinha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Iluminado na pilastra escura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15"/>
          <p:cNvSpPr/>
          <p:nvPr/>
        </p:nvSpPr>
        <p:spPr>
          <a:xfrm>
            <a:off x="11496751" y="170078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15"/>
          <p:cNvSpPr/>
          <p:nvPr/>
        </p:nvSpPr>
        <p:spPr>
          <a:xfrm>
            <a:off x="7543800" y="2162556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15"/>
          <p:cNvSpPr txBox="1"/>
          <p:nvPr/>
        </p:nvSpPr>
        <p:spPr>
          <a:xfrm>
            <a:off x="7909560" y="2107692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Letreiro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"Campeche SPOT" · CV-01 PVC/aço inox com LED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15"/>
          <p:cNvSpPr/>
          <p:nvPr/>
        </p:nvSpPr>
        <p:spPr>
          <a:xfrm>
            <a:off x="11496751" y="2162556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p15"/>
          <p:cNvSpPr/>
          <p:nvPr/>
        </p:nvSpPr>
        <p:spPr>
          <a:xfrm>
            <a:off x="7543800" y="2624328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15"/>
          <p:cNvSpPr txBox="1"/>
          <p:nvPr/>
        </p:nvSpPr>
        <p:spPr>
          <a:xfrm>
            <a:off x="7909560" y="2569464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LED da marquise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Fita de LED âmbar · ausente nas elevações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15"/>
          <p:cNvSpPr/>
          <p:nvPr/>
        </p:nvSpPr>
        <p:spPr>
          <a:xfrm>
            <a:off x="11496751" y="2624328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15"/>
          <p:cNvSpPr/>
          <p:nvPr/>
        </p:nvSpPr>
        <p:spPr>
          <a:xfrm>
            <a:off x="7543800" y="3086100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p15"/>
          <p:cNvSpPr txBox="1"/>
          <p:nvPr/>
        </p:nvSpPr>
        <p:spPr>
          <a:xfrm>
            <a:off x="7909560" y="3031236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Forro da marquise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FR-03 forro de madeira / teto vinílico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15"/>
          <p:cNvSpPr/>
          <p:nvPr/>
        </p:nvSpPr>
        <p:spPr>
          <a:xfrm>
            <a:off x="11496751" y="3086100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15"/>
          <p:cNvSpPr/>
          <p:nvPr/>
        </p:nvSpPr>
        <p:spPr>
          <a:xfrm>
            <a:off x="7543800" y="3547872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15"/>
          <p:cNvSpPr txBox="1"/>
          <p:nvPr/>
        </p:nvSpPr>
        <p:spPr>
          <a:xfrm>
            <a:off x="7909560" y="3493008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Escada de acesso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Degraus com LED embutido (imagem)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15"/>
          <p:cNvSpPr/>
          <p:nvPr/>
        </p:nvSpPr>
        <p:spPr>
          <a:xfrm>
            <a:off x="11496751" y="3547872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5" name="Google Shape;445;p15"/>
          <p:cNvSpPr/>
          <p:nvPr/>
        </p:nvSpPr>
        <p:spPr>
          <a:xfrm>
            <a:off x="7543800" y="4009644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15"/>
          <p:cNvSpPr txBox="1"/>
          <p:nvPr/>
        </p:nvSpPr>
        <p:spPr>
          <a:xfrm>
            <a:off x="7909560" y="3954780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Guarda-corpo rampa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Metálico preto (imagem) · NBR 9050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15"/>
          <p:cNvSpPr/>
          <p:nvPr/>
        </p:nvSpPr>
        <p:spPr>
          <a:xfrm>
            <a:off x="11496751" y="4009644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8" name="Google Shape;448;p15"/>
          <p:cNvSpPr/>
          <p:nvPr/>
        </p:nvSpPr>
        <p:spPr>
          <a:xfrm>
            <a:off x="7543800" y="4471416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15"/>
          <p:cNvSpPr txBox="1"/>
          <p:nvPr/>
        </p:nvSpPr>
        <p:spPr>
          <a:xfrm>
            <a:off x="7909560" y="4416552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Brises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Ripado vertical no tom amêndoa × BR-01 horizontal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15"/>
          <p:cNvSpPr/>
          <p:nvPr/>
        </p:nvSpPr>
        <p:spPr>
          <a:xfrm>
            <a:off x="11496751" y="4471416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15"/>
          <p:cNvSpPr/>
          <p:nvPr/>
        </p:nvSpPr>
        <p:spPr>
          <a:xfrm>
            <a:off x="7543800" y="4933188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2" name="Google Shape;452;p15"/>
          <p:cNvSpPr txBox="1"/>
          <p:nvPr/>
        </p:nvSpPr>
        <p:spPr>
          <a:xfrm>
            <a:off x="7909560" y="4878324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Vitrines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Esquadria preta, vidro incolor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3" name="Google Shape;453;p15"/>
          <p:cNvSpPr/>
          <p:nvPr/>
        </p:nvSpPr>
        <p:spPr>
          <a:xfrm>
            <a:off x="11496751" y="4933188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5"/>
          <p:cNvSpPr/>
          <p:nvPr/>
        </p:nvSpPr>
        <p:spPr>
          <a:xfrm>
            <a:off x="7543800" y="5394960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5" name="Google Shape;455;p15"/>
          <p:cNvSpPr txBox="1"/>
          <p:nvPr/>
        </p:nvSpPr>
        <p:spPr>
          <a:xfrm>
            <a:off x="7909560" y="5340096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Paisagismo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Vegetação tropical com iluminação de piso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6" name="Google Shape;456;p15"/>
          <p:cNvSpPr/>
          <p:nvPr/>
        </p:nvSpPr>
        <p:spPr>
          <a:xfrm>
            <a:off x="11496751" y="5394960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7" name="Google Shape;457;p15"/>
          <p:cNvSpPr/>
          <p:nvPr/>
        </p:nvSpPr>
        <p:spPr>
          <a:xfrm>
            <a:off x="7543800" y="5856732"/>
            <a:ext cx="256032" cy="256032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8" name="Google Shape;458;p15"/>
          <p:cNvSpPr txBox="1"/>
          <p:nvPr/>
        </p:nvSpPr>
        <p:spPr>
          <a:xfrm>
            <a:off x="7909560" y="5801868"/>
            <a:ext cx="3504895" cy="4617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Pilastra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REV-06 escura · executivo mostra clara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9" name="Google Shape;459;p15"/>
          <p:cNvSpPr/>
          <p:nvPr/>
        </p:nvSpPr>
        <p:spPr>
          <a:xfrm>
            <a:off x="11496751" y="5856732"/>
            <a:ext cx="219456" cy="219456"/>
          </a:xfrm>
          <a:prstGeom prst="ellipse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143D"/>
        </a:solidFill>
      </p:bgPr>
    </p:bg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:/Users/Rachel/AppData/Local/Temp/claude/C--Users-Rachel-Documents-SEAZONE-BOOK-PREMISSAS-FACHADA-EXTERNA-CAMPECHE-SPOT/a62d8e33-2374-48a1-8865-f7b177fbebf6/scratchpad/img/recepcao_e_corredor__recepcao_6.jpg" id="465" name="Google Shape;465;p16"/>
          <p:cNvPicPr preferRelativeResize="0"/>
          <p:nvPr/>
        </p:nvPicPr>
        <p:blipFill rotWithShape="1">
          <a:blip r:embed="rId3">
            <a:alphaModFix/>
          </a:blip>
          <a:srcRect b="0" l="19501" r="19501" t="0"/>
          <a:stretch/>
        </p:blipFill>
        <p:spPr>
          <a:xfrm>
            <a:off x="4754880" y="0"/>
            <a:ext cx="7436815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logo_cover.png" id="466" name="Google Shape;46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502920"/>
            <a:ext cx="1645920" cy="270780"/>
          </a:xfrm>
          <a:prstGeom prst="rect">
            <a:avLst/>
          </a:prstGeom>
          <a:noFill/>
          <a:ln>
            <a:noFill/>
          </a:ln>
        </p:spPr>
      </p:pic>
      <p:sp>
        <p:nvSpPr>
          <p:cNvPr id="467" name="Google Shape;467;p16"/>
          <p:cNvSpPr txBox="1"/>
          <p:nvPr/>
        </p:nvSpPr>
        <p:spPr>
          <a:xfrm>
            <a:off x="457200" y="2377440"/>
            <a:ext cx="39319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200"/>
              <a:buFont typeface="Arial"/>
              <a:buNone/>
            </a:pPr>
            <a:r>
              <a:rPr b="1" i="0" lang="en-US" sz="72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endParaRPr b="0" i="0" sz="7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16"/>
          <p:cNvSpPr txBox="1"/>
          <p:nvPr/>
        </p:nvSpPr>
        <p:spPr>
          <a:xfrm>
            <a:off x="457200" y="3383280"/>
            <a:ext cx="39319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Arial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Interiores · áreas comuns</a:t>
            </a:r>
            <a:endParaRPr b="0" i="0" sz="3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16"/>
          <p:cNvSpPr txBox="1"/>
          <p:nvPr/>
        </p:nvSpPr>
        <p:spPr>
          <a:xfrm>
            <a:off x="457200" y="4526280"/>
            <a:ext cx="39319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D3EA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C9D3EA"/>
                </a:solidFill>
                <a:latin typeface="Arial"/>
                <a:ea typeface="Arial"/>
                <a:cs typeface="Arial"/>
                <a:sym typeface="Arial"/>
              </a:rPr>
              <a:t>Conceito Seazone  ·  portas e rodapés brancos  ·  nova recepção (rev. 07/10/2026)  ·  rooftop interno  ·  rooftop externo e piscina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tpl_icon_footer.png" id="470" name="Google Shape;470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p16"/>
          <p:cNvSpPr txBox="1"/>
          <p:nvPr/>
        </p:nvSpPr>
        <p:spPr>
          <a:xfrm>
            <a:off x="731520" y="6382512"/>
            <a:ext cx="4023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D4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9FB0D4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INTERIORES  ·  14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17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 · INTERIORES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17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Conceito Seazone × situação do projeto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navy_tpl_logo_cover.png" id="479" name="Google Shape;479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icon_footer.png" id="480" name="Google Shape;480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481" name="Google Shape;481;p17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INTERIORES  ·  15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7"/>
          <p:cNvSpPr/>
          <p:nvPr/>
        </p:nvSpPr>
        <p:spPr>
          <a:xfrm>
            <a:off x="457200" y="1280160"/>
            <a:ext cx="2109155" cy="38862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recepcao_e_corredor__recepcao_1.jpg" id="483" name="Google Shape;483;p17"/>
          <p:cNvPicPr preferRelativeResize="0"/>
          <p:nvPr/>
        </p:nvPicPr>
        <p:blipFill rotWithShape="1">
          <a:blip r:embed="rId5">
            <a:alphaModFix/>
          </a:blip>
          <a:srcRect b="0" l="1946" r="1946" t="0"/>
          <a:stretch/>
        </p:blipFill>
        <p:spPr>
          <a:xfrm>
            <a:off x="457200" y="1280160"/>
            <a:ext cx="2109155" cy="1234440"/>
          </a:xfrm>
          <a:prstGeom prst="rect">
            <a:avLst/>
          </a:prstGeom>
          <a:noFill/>
          <a:ln>
            <a:noFill/>
          </a:ln>
        </p:spPr>
      </p:pic>
      <p:sp>
        <p:nvSpPr>
          <p:cNvPr id="484" name="Google Shape;484;p17"/>
          <p:cNvSpPr txBox="1"/>
          <p:nvPr/>
        </p:nvSpPr>
        <p:spPr>
          <a:xfrm>
            <a:off x="566928" y="2606040"/>
            <a:ext cx="1889699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Recepção / hall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7"/>
          <p:cNvSpPr txBox="1"/>
          <p:nvPr/>
        </p:nvSpPr>
        <p:spPr>
          <a:xfrm>
            <a:off x="566928" y="2944368"/>
            <a:ext cx="1889699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CONCEITO SEAZONE (SEGUIR)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Pé-direito duplo, painel cimento queimado com quadros em metalon preto, biombos de palha, poltronas de corda náutica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SITUAÇÃO REGISTRADA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Substituída pela NOVA RECEPÇÃO (rev. 07/10/2026): cimento queimado + grelha de metalon, muxarabi e letreiro. Ver páginas seguintes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17"/>
          <p:cNvSpPr/>
          <p:nvPr/>
        </p:nvSpPr>
        <p:spPr>
          <a:xfrm>
            <a:off x="566928" y="4828032"/>
            <a:ext cx="891540" cy="219456"/>
          </a:xfrm>
          <a:prstGeom prst="roundRect">
            <a:avLst>
              <a:gd fmla="val 50000" name="adj"/>
            </a:avLst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VALIDAR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17"/>
          <p:cNvSpPr/>
          <p:nvPr/>
        </p:nvSpPr>
        <p:spPr>
          <a:xfrm>
            <a:off x="2749235" y="1280160"/>
            <a:ext cx="2109155" cy="38862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recepcao_e_corredor__corredor_3.jpg" id="488" name="Google Shape;488;p17"/>
          <p:cNvPicPr preferRelativeResize="0"/>
          <p:nvPr/>
        </p:nvPicPr>
        <p:blipFill rotWithShape="1">
          <a:blip r:embed="rId6">
            <a:alphaModFix/>
          </a:blip>
          <a:srcRect b="0" l="1946" r="1946" t="0"/>
          <a:stretch/>
        </p:blipFill>
        <p:spPr>
          <a:xfrm>
            <a:off x="2749235" y="1280160"/>
            <a:ext cx="2109155" cy="1234440"/>
          </a:xfrm>
          <a:prstGeom prst="rect">
            <a:avLst/>
          </a:prstGeom>
          <a:noFill/>
          <a:ln>
            <a:noFill/>
          </a:ln>
        </p:spPr>
      </p:pic>
      <p:sp>
        <p:nvSpPr>
          <p:cNvPr id="489" name="Google Shape;489;p17"/>
          <p:cNvSpPr txBox="1"/>
          <p:nvPr/>
        </p:nvSpPr>
        <p:spPr>
          <a:xfrm>
            <a:off x="2858963" y="2606040"/>
            <a:ext cx="1889699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Corredores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0" name="Google Shape;490;p17"/>
          <p:cNvSpPr txBox="1"/>
          <p:nvPr/>
        </p:nvSpPr>
        <p:spPr>
          <a:xfrm>
            <a:off x="2858963" y="2944368"/>
            <a:ext cx="1889699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CONCEITO SEAZONE (SEGUIR)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Paredes claras, portas escuras com números pretos e arandelas, piso claro 90×90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SITUAÇÃO REGISTRADA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Portas e rodapés BRANCOS (imagens finais 07/10/2026) · forro em definição (V1 × V2)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p17"/>
          <p:cNvSpPr/>
          <p:nvPr/>
        </p:nvSpPr>
        <p:spPr>
          <a:xfrm>
            <a:off x="2858963" y="4828032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DEFINIDO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17"/>
          <p:cNvSpPr/>
          <p:nvPr/>
        </p:nvSpPr>
        <p:spPr>
          <a:xfrm>
            <a:off x="5041270" y="1280160"/>
            <a:ext cx="2109155" cy="38862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rooftop__enscape_2023_11_22_17_49_03.jpg" id="493" name="Google Shape;493;p17"/>
          <p:cNvPicPr preferRelativeResize="0"/>
          <p:nvPr/>
        </p:nvPicPr>
        <p:blipFill rotWithShape="1">
          <a:blip r:embed="rId7">
            <a:alphaModFix/>
          </a:blip>
          <a:srcRect b="0" l="1946" r="1946" t="0"/>
          <a:stretch/>
        </p:blipFill>
        <p:spPr>
          <a:xfrm>
            <a:off x="5041270" y="1280160"/>
            <a:ext cx="2109155" cy="1234440"/>
          </a:xfrm>
          <a:prstGeom prst="rect">
            <a:avLst/>
          </a:prstGeom>
          <a:noFill/>
          <a:ln>
            <a:noFill/>
          </a:ln>
        </p:spPr>
      </p:pic>
      <p:sp>
        <p:nvSpPr>
          <p:cNvPr id="494" name="Google Shape;494;p17"/>
          <p:cNvSpPr txBox="1"/>
          <p:nvPr/>
        </p:nvSpPr>
        <p:spPr>
          <a:xfrm>
            <a:off x="5150998" y="2606040"/>
            <a:ext cx="1889699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Rooftop interno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7"/>
          <p:cNvSpPr txBox="1"/>
          <p:nvPr/>
        </p:nvSpPr>
        <p:spPr>
          <a:xfrm>
            <a:off x="5150998" y="2944368"/>
            <a:ext cx="1889699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CONCEITO SEAZONE (SEGUIR)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Forro com ripas pretas, bancada em cimento, parede Canjiquinha com "Seu lugar fora de casa", mini market ripado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SITUAÇÃO REGISTRADA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Forro modular × gesso não confirmado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7"/>
          <p:cNvSpPr/>
          <p:nvPr/>
        </p:nvSpPr>
        <p:spPr>
          <a:xfrm>
            <a:off x="5150998" y="4828032"/>
            <a:ext cx="891540" cy="219456"/>
          </a:xfrm>
          <a:prstGeom prst="roundRect">
            <a:avLst>
              <a:gd fmla="val 50000" name="adj"/>
            </a:avLst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VALIDAR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17"/>
          <p:cNvSpPr/>
          <p:nvPr/>
        </p:nvSpPr>
        <p:spPr>
          <a:xfrm>
            <a:off x="7333305" y="1280160"/>
            <a:ext cx="2109155" cy="38862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rooftop__enscape_2023_11_22_18_08_53.jpg" id="498" name="Google Shape;498;p17"/>
          <p:cNvPicPr preferRelativeResize="0"/>
          <p:nvPr/>
        </p:nvPicPr>
        <p:blipFill rotWithShape="1">
          <a:blip r:embed="rId8">
            <a:alphaModFix/>
          </a:blip>
          <a:srcRect b="0" l="1946" r="1946" t="0"/>
          <a:stretch/>
        </p:blipFill>
        <p:spPr>
          <a:xfrm>
            <a:off x="7333305" y="1280160"/>
            <a:ext cx="2109155" cy="1234440"/>
          </a:xfrm>
          <a:prstGeom prst="rect">
            <a:avLst/>
          </a:prstGeom>
          <a:noFill/>
          <a:ln>
            <a:noFill/>
          </a:ln>
        </p:spPr>
      </p:pic>
      <p:sp>
        <p:nvSpPr>
          <p:cNvPr id="499" name="Google Shape;499;p17"/>
          <p:cNvSpPr txBox="1"/>
          <p:nvPr/>
        </p:nvSpPr>
        <p:spPr>
          <a:xfrm>
            <a:off x="7443033" y="2606040"/>
            <a:ext cx="1889699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Rooftop externo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7"/>
          <p:cNvSpPr txBox="1"/>
          <p:nvPr/>
        </p:nvSpPr>
        <p:spPr>
          <a:xfrm>
            <a:off x="7443033" y="2944368"/>
            <a:ext cx="1889699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CONCEITO SEAZONE (SEGUIR)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Piscina de borda infinita, lounge amadeirado, balanço suspenso, pergolado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SITUAÇÃO REGISTRADA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Balanço suspenso não executável · briefing: fixar na laje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7"/>
          <p:cNvSpPr/>
          <p:nvPr/>
        </p:nvSpPr>
        <p:spPr>
          <a:xfrm>
            <a:off x="7443033" y="4828032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C982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PENDENTE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7"/>
          <p:cNvSpPr/>
          <p:nvPr/>
        </p:nvSpPr>
        <p:spPr>
          <a:xfrm>
            <a:off x="9625340" y="1280160"/>
            <a:ext cx="2109155" cy="38862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rooftop__planta_humanizada_r00_rooftop_ed.jpg" id="503" name="Google Shape;503;p17"/>
          <p:cNvPicPr preferRelativeResize="0"/>
          <p:nvPr/>
        </p:nvPicPr>
        <p:blipFill rotWithShape="1">
          <a:blip r:embed="rId9">
            <a:alphaModFix/>
          </a:blip>
          <a:srcRect b="0" l="1946" r="1946" t="0"/>
          <a:stretch/>
        </p:blipFill>
        <p:spPr>
          <a:xfrm>
            <a:off x="9625340" y="1280160"/>
            <a:ext cx="2109155" cy="1234440"/>
          </a:xfrm>
          <a:prstGeom prst="rect">
            <a:avLst/>
          </a:prstGeom>
          <a:noFill/>
          <a:ln>
            <a:noFill/>
          </a:ln>
        </p:spPr>
      </p:pic>
      <p:sp>
        <p:nvSpPr>
          <p:cNvPr id="504" name="Google Shape;504;p17"/>
          <p:cNvSpPr txBox="1"/>
          <p:nvPr/>
        </p:nvSpPr>
        <p:spPr>
          <a:xfrm>
            <a:off x="9735068" y="2606040"/>
            <a:ext cx="1889699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Projeto executivo</a:t>
            </a:r>
            <a:endParaRPr b="0" i="0" sz="12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17"/>
          <p:cNvSpPr txBox="1"/>
          <p:nvPr/>
        </p:nvSpPr>
        <p:spPr>
          <a:xfrm>
            <a:off x="9735068" y="2944368"/>
            <a:ext cx="1889699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CONCEITO SEAZONE (SEGUIR)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950"/>
              <a:buFont typeface="Arial"/>
              <a:buNone/>
            </a:pPr>
            <a:r>
              <a:rPr b="0" i="0" lang="en-US" sz="9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Interiores a partir dos renders Seazone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SITUAÇÃO REGISTRADA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950"/>
              <a:buFont typeface="Arial"/>
              <a:buNone/>
            </a:pPr>
            <a:r>
              <a:rPr b="1" i="0" lang="en-US" sz="9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Executivo de interiores nunca contratado (ACA indicada)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p17"/>
          <p:cNvSpPr/>
          <p:nvPr/>
        </p:nvSpPr>
        <p:spPr>
          <a:xfrm>
            <a:off x="9735068" y="4828032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C982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PENDENTE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7" name="Google Shape;507;p17"/>
          <p:cNvSpPr txBox="1"/>
          <p:nvPr/>
        </p:nvSpPr>
        <p:spPr>
          <a:xfrm>
            <a:off x="457200" y="5230368"/>
            <a:ext cx="1127729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900"/>
              <a:buFont typeface="Arial"/>
              <a:buNone/>
            </a:pPr>
            <a:r>
              <a:rPr b="0" i="1" lang="en-US" sz="90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Renders Seazone (Enscape, nov/2023) × Memorial R01, Relatório de Pendências e Comunicações e Análise Comparativa (00 - Premissas de Projeto).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" name="Google Shape;508;p17"/>
          <p:cNvSpPr/>
          <p:nvPr/>
        </p:nvSpPr>
        <p:spPr>
          <a:xfrm>
            <a:off x="457200" y="5532120"/>
            <a:ext cx="11277295" cy="731520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9" name="Google Shape;509;p1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ATENÇÃO · REGRA PARA A OBRA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Vale o conceito Seazone (04 INTERIORES / 02 - Imagens e memoriais de Unidades e Áreas comuns). Sem executivo de interiores contratado, qualquer troca de material ou mobiliário precisa de validação registrada.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1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 · INTERIORES · DECISÃO DE PROJETO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6" name="Google Shape;516;p18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Portas e rodapés: de pretos para BRANCOS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navy_tpl_logo_cover.png" id="517" name="Google Shape;51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icon_footer.png" id="518" name="Google Shape;518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519" name="Google Shape;519;p18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INTERIORES  ·  16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img02_preto.jpg" id="520" name="Google Shape;520;p18"/>
          <p:cNvPicPr preferRelativeResize="0"/>
          <p:nvPr/>
        </p:nvPicPr>
        <p:blipFill rotWithShape="1">
          <a:blip r:embed="rId5">
            <a:alphaModFix/>
          </a:blip>
          <a:srcRect b="0" l="12200" r="12200" t="0"/>
          <a:stretch/>
        </p:blipFill>
        <p:spPr>
          <a:xfrm>
            <a:off x="457200" y="1280160"/>
            <a:ext cx="2705024" cy="2011680"/>
          </a:xfrm>
          <a:prstGeom prst="rect">
            <a:avLst/>
          </a:prstGeom>
          <a:noFill/>
          <a:ln>
            <a:noFill/>
          </a:ln>
        </p:spPr>
      </p:pic>
      <p:sp>
        <p:nvSpPr>
          <p:cNvPr id="521" name="Google Shape;521;p18"/>
          <p:cNvSpPr txBox="1"/>
          <p:nvPr/>
        </p:nvSpPr>
        <p:spPr>
          <a:xfrm>
            <a:off x="530352" y="1353312"/>
            <a:ext cx="105156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ANTES · PRETO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img02_branco.jpg" id="522" name="Google Shape;522;p18"/>
          <p:cNvPicPr preferRelativeResize="0"/>
          <p:nvPr/>
        </p:nvPicPr>
        <p:blipFill rotWithShape="1">
          <a:blip r:embed="rId6">
            <a:alphaModFix/>
          </a:blip>
          <a:srcRect b="0" l="12200" r="12200" t="0"/>
          <a:stretch/>
        </p:blipFill>
        <p:spPr>
          <a:xfrm>
            <a:off x="3253664" y="1280160"/>
            <a:ext cx="2705024" cy="2011680"/>
          </a:xfrm>
          <a:prstGeom prst="rect">
            <a:avLst/>
          </a:prstGeom>
          <a:noFill/>
          <a:ln>
            <a:noFill/>
          </a:ln>
        </p:spPr>
      </p:pic>
      <p:sp>
        <p:nvSpPr>
          <p:cNvPr id="523" name="Google Shape;523;p18"/>
          <p:cNvSpPr txBox="1"/>
          <p:nvPr/>
        </p:nvSpPr>
        <p:spPr>
          <a:xfrm>
            <a:off x="3326816" y="1353312"/>
            <a:ext cx="1097280" cy="237744"/>
          </a:xfrm>
          <a:prstGeom prst="rect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AGORA · BRANCO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4" name="Google Shape;524;p18"/>
          <p:cNvSpPr txBox="1"/>
          <p:nvPr/>
        </p:nvSpPr>
        <p:spPr>
          <a:xfrm>
            <a:off x="457200" y="3337560"/>
            <a:ext cx="5501488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900"/>
              <a:buFont typeface="Arial"/>
              <a:buNone/>
            </a:pPr>
            <a:r>
              <a:rPr b="0" i="1" lang="en-US" sz="90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IMAGEM 2 · imagens finais da nova recepção (07/10/2026)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img01_preto.jpg" id="525" name="Google Shape;525;p18"/>
          <p:cNvPicPr preferRelativeResize="0"/>
          <p:nvPr/>
        </p:nvPicPr>
        <p:blipFill rotWithShape="1">
          <a:blip r:embed="rId7">
            <a:alphaModFix/>
          </a:blip>
          <a:srcRect b="0" l="12200" r="12200" t="0"/>
          <a:stretch/>
        </p:blipFill>
        <p:spPr>
          <a:xfrm>
            <a:off x="6233008" y="1280160"/>
            <a:ext cx="2705024" cy="2011680"/>
          </a:xfrm>
          <a:prstGeom prst="rect">
            <a:avLst/>
          </a:prstGeom>
          <a:noFill/>
          <a:ln>
            <a:noFill/>
          </a:ln>
        </p:spPr>
      </p:pic>
      <p:sp>
        <p:nvSpPr>
          <p:cNvPr id="526" name="Google Shape;526;p18"/>
          <p:cNvSpPr txBox="1"/>
          <p:nvPr/>
        </p:nvSpPr>
        <p:spPr>
          <a:xfrm>
            <a:off x="6306160" y="1353312"/>
            <a:ext cx="105156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ANTES · PRETO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img01_branco.jpg" id="527" name="Google Shape;527;p18"/>
          <p:cNvPicPr preferRelativeResize="0"/>
          <p:nvPr/>
        </p:nvPicPr>
        <p:blipFill rotWithShape="1">
          <a:blip r:embed="rId8">
            <a:alphaModFix/>
          </a:blip>
          <a:srcRect b="0" l="12200" r="12200" t="0"/>
          <a:stretch/>
        </p:blipFill>
        <p:spPr>
          <a:xfrm>
            <a:off x="9029471" y="1280160"/>
            <a:ext cx="2705024" cy="2011680"/>
          </a:xfrm>
          <a:prstGeom prst="rect">
            <a:avLst/>
          </a:prstGeom>
          <a:noFill/>
          <a:ln>
            <a:noFill/>
          </a:ln>
        </p:spPr>
      </p:pic>
      <p:sp>
        <p:nvSpPr>
          <p:cNvPr id="528" name="Google Shape;528;p18"/>
          <p:cNvSpPr txBox="1"/>
          <p:nvPr/>
        </p:nvSpPr>
        <p:spPr>
          <a:xfrm>
            <a:off x="9102623" y="1353312"/>
            <a:ext cx="1097280" cy="237744"/>
          </a:xfrm>
          <a:prstGeom prst="rect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AGORA · BRANCO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9" name="Google Shape;529;p18"/>
          <p:cNvSpPr txBox="1"/>
          <p:nvPr/>
        </p:nvSpPr>
        <p:spPr>
          <a:xfrm>
            <a:off x="6233008" y="3337560"/>
            <a:ext cx="5501488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900"/>
              <a:buFont typeface="Arial"/>
              <a:buNone/>
            </a:pPr>
            <a:r>
              <a:rPr b="0" i="1" lang="en-US" sz="90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IMAGEM 01 · imagens finais da nova recepção (07/10/2026)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0" name="Google Shape;530;p18"/>
          <p:cNvSpPr/>
          <p:nvPr/>
        </p:nvSpPr>
        <p:spPr>
          <a:xfrm>
            <a:off x="457200" y="3794760"/>
            <a:ext cx="11277295" cy="1143000"/>
          </a:xfrm>
          <a:prstGeom prst="rect">
            <a:avLst/>
          </a:prstGeom>
          <a:solidFill>
            <a:srgbClr val="1E7F5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1" name="Google Shape;531;p18"/>
          <p:cNvSpPr/>
          <p:nvPr/>
        </p:nvSpPr>
        <p:spPr>
          <a:xfrm>
            <a:off x="685800" y="4041648"/>
            <a:ext cx="640080" cy="6400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7F5C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1E7F5C"/>
                </a:solidFill>
                <a:latin typeface="Arial"/>
                <a:ea typeface="Arial"/>
                <a:cs typeface="Arial"/>
                <a:sym typeface="Arial"/>
              </a:rPr>
              <a:t>✓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2" name="Google Shape;532;p18"/>
          <p:cNvSpPr txBox="1"/>
          <p:nvPr/>
        </p:nvSpPr>
        <p:spPr>
          <a:xfrm>
            <a:off x="1554480" y="3886200"/>
            <a:ext cx="9997135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DEBDD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CDEBDD"/>
                </a:solidFill>
                <a:latin typeface="Arial"/>
                <a:ea typeface="Arial"/>
                <a:cs typeface="Arial"/>
                <a:sym typeface="Arial"/>
              </a:rPr>
              <a:t>DEFINIDO · VALE PARA TODO O EMPREENDIMENTO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TODAS as portas e rodapés serão BRANCOS: recepção, corredores, rooftop e unidades.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3" name="Google Shape;533;p18"/>
          <p:cNvSpPr/>
          <p:nvPr/>
        </p:nvSpPr>
        <p:spPr>
          <a:xfrm>
            <a:off x="457200" y="5120640"/>
            <a:ext cx="3576218" cy="1143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4" name="Google Shape;534;p18"/>
          <p:cNvSpPr txBox="1"/>
          <p:nvPr/>
        </p:nvSpPr>
        <p:spPr>
          <a:xfrm>
            <a:off x="594360" y="5166360"/>
            <a:ext cx="3301898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 QUE MUDA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Folhas, batentes e rodapés passam de preto para branco. Números das unidades continuam pretos, com arandela.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8"/>
          <p:cNvSpPr/>
          <p:nvPr/>
        </p:nvSpPr>
        <p:spPr>
          <a:xfrm>
            <a:off x="4307738" y="5120640"/>
            <a:ext cx="3576218" cy="1143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6" name="Google Shape;536;p18"/>
          <p:cNvSpPr txBox="1"/>
          <p:nvPr/>
        </p:nvSpPr>
        <p:spPr>
          <a:xfrm>
            <a:off x="4444898" y="5166360"/>
            <a:ext cx="3301898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 JÁ ESTÁ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Hall da nova recepção: rodapé ≈24,9 m lineares + folhas e batentes do hall (memorial 07/10: "já in loco").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7" name="Google Shape;537;p18"/>
          <p:cNvSpPr/>
          <p:nvPr/>
        </p:nvSpPr>
        <p:spPr>
          <a:xfrm>
            <a:off x="8158277" y="5120640"/>
            <a:ext cx="3576218" cy="1143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8" name="Google Shape;538;p18"/>
          <p:cNvSpPr txBox="1"/>
          <p:nvPr/>
        </p:nvSpPr>
        <p:spPr>
          <a:xfrm>
            <a:off x="8295437" y="5166360"/>
            <a:ext cx="3301898" cy="10515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Os renders de lançamento (2023) mostram portas escuras: nas páginas de lançamento, ler sempre como BRANCO.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43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19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 · INTERIORES · NOVA RECEPÇÃO · REV. 07/10/2026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p19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Nova recepção: o que mudou em relação ao lançamento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navy_tpl_logo_cover.png" id="546" name="Google Shape;54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icon_footer.png" id="547" name="Google Shape;54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548" name="Google Shape;548;p19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INTERIORES  ·  17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recepcao_e_corredor__recepcao_1.jpg" id="549" name="Google Shape;549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7200" y="1280160"/>
            <a:ext cx="3931920" cy="2211705"/>
          </a:xfrm>
          <a:prstGeom prst="rect">
            <a:avLst/>
          </a:prstGeom>
          <a:noFill/>
          <a:ln>
            <a:noFill/>
          </a:ln>
        </p:spPr>
      </p:pic>
      <p:sp>
        <p:nvSpPr>
          <p:cNvPr id="550" name="Google Shape;550;p19"/>
          <p:cNvSpPr txBox="1"/>
          <p:nvPr/>
        </p:nvSpPr>
        <p:spPr>
          <a:xfrm>
            <a:off x="530352" y="1353312"/>
            <a:ext cx="132588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LANÇAMENTO · 2023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img01_branco.jpg" id="551" name="Google Shape;551;p19"/>
          <p:cNvPicPr preferRelativeResize="0"/>
          <p:nvPr/>
        </p:nvPicPr>
        <p:blipFill rotWithShape="1">
          <a:blip r:embed="rId6">
            <a:alphaModFix/>
          </a:blip>
          <a:srcRect b="0" l="25" r="25" t="0"/>
          <a:stretch/>
        </p:blipFill>
        <p:spPr>
          <a:xfrm>
            <a:off x="4599432" y="1280160"/>
            <a:ext cx="7132320" cy="4011930"/>
          </a:xfrm>
          <a:prstGeom prst="rect">
            <a:avLst/>
          </a:prstGeom>
          <a:noFill/>
          <a:ln>
            <a:noFill/>
          </a:ln>
        </p:spPr>
      </p:pic>
      <p:sp>
        <p:nvSpPr>
          <p:cNvPr id="552" name="Google Shape;552;p19"/>
          <p:cNvSpPr txBox="1"/>
          <p:nvPr/>
        </p:nvSpPr>
        <p:spPr>
          <a:xfrm>
            <a:off x="4672584" y="1353312"/>
            <a:ext cx="310896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NOVA RECEPÇÃO · IMAGEM FINAL 07/10/2026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3" name="Google Shape;553;p19"/>
          <p:cNvSpPr txBox="1"/>
          <p:nvPr/>
        </p:nvSpPr>
        <p:spPr>
          <a:xfrm>
            <a:off x="4599432" y="5401818"/>
            <a:ext cx="71323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1050"/>
              <a:buFont typeface="Arial"/>
              <a:buNone/>
            </a:pPr>
            <a:r>
              <a:rPr b="0" i="1" lang="en-US" sz="10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O lançamento tinha painel de cimento queimado com quadros em metalon, biombos de palha e o vão do pé-direito duplo aberto. A nova recepção segue o que foi executado na obra.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4" name="Google Shape;554;p19"/>
          <p:cNvSpPr txBox="1"/>
          <p:nvPr/>
        </p:nvSpPr>
        <p:spPr>
          <a:xfrm>
            <a:off x="457200" y="370332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 QUE MUDOU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" name="Google Shape;555;p19"/>
          <p:cNvSpPr/>
          <p:nvPr/>
        </p:nvSpPr>
        <p:spPr>
          <a:xfrm>
            <a:off x="457200" y="4114800"/>
            <a:ext cx="237744" cy="237744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" name="Google Shape;556;p19"/>
          <p:cNvSpPr txBox="1"/>
          <p:nvPr/>
        </p:nvSpPr>
        <p:spPr>
          <a:xfrm>
            <a:off x="822960" y="4023360"/>
            <a:ext cx="356616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Vão do pé-direito duplo:  </a:t>
            </a: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fechado em alvenaria (prancha DT.01)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" name="Google Shape;557;p19"/>
          <p:cNvSpPr/>
          <p:nvPr/>
        </p:nvSpPr>
        <p:spPr>
          <a:xfrm>
            <a:off x="457200" y="4562856"/>
            <a:ext cx="237744" cy="237744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8" name="Google Shape;558;p19"/>
          <p:cNvSpPr txBox="1"/>
          <p:nvPr/>
        </p:nvSpPr>
        <p:spPr>
          <a:xfrm>
            <a:off x="822960" y="4471416"/>
            <a:ext cx="356616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Parede do letreiro:  </a:t>
            </a: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cimento queimado + grelha de metalon preta + letreiro luminoso Campeche SPOT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9" name="Google Shape;559;p19"/>
          <p:cNvSpPr/>
          <p:nvPr/>
        </p:nvSpPr>
        <p:spPr>
          <a:xfrm>
            <a:off x="457200" y="5010912"/>
            <a:ext cx="237744" cy="237744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" name="Google Shape;560;p19"/>
          <p:cNvSpPr txBox="1"/>
          <p:nvPr/>
        </p:nvSpPr>
        <p:spPr>
          <a:xfrm>
            <a:off x="822960" y="4919472"/>
            <a:ext cx="356616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Divisa recepção / corredor:  </a:t>
            </a: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painel muxarabi com palha, 900 × 2880 mm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p19"/>
          <p:cNvSpPr/>
          <p:nvPr/>
        </p:nvSpPr>
        <p:spPr>
          <a:xfrm>
            <a:off x="457200" y="5458968"/>
            <a:ext cx="237744" cy="237744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p19"/>
          <p:cNvSpPr txBox="1"/>
          <p:nvPr/>
        </p:nvSpPr>
        <p:spPr>
          <a:xfrm>
            <a:off x="822960" y="5367528"/>
            <a:ext cx="356616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Portas e rodapés:  </a:t>
            </a: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de pretos para BRANCOS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p19"/>
          <p:cNvSpPr/>
          <p:nvPr/>
        </p:nvSpPr>
        <p:spPr>
          <a:xfrm>
            <a:off x="457200" y="5907024"/>
            <a:ext cx="237744" cy="237744"/>
          </a:xfrm>
          <a:prstGeom prst="ellipse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p19"/>
          <p:cNvSpPr txBox="1"/>
          <p:nvPr/>
        </p:nvSpPr>
        <p:spPr>
          <a:xfrm>
            <a:off x="822960" y="5815584"/>
            <a:ext cx="3566160" cy="4206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Forro do corredor:  </a:t>
            </a: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em definição: V1 modular × V2 gesso liso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p2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 · INTERIORES · NOVA RECEPÇÃO · REV. 07/10/2026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20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Moodboard da nova recepção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navy_tpl_logo_cover.png" id="572" name="Google Shape;572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icon_footer.png" id="573" name="Google Shape;573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574" name="Google Shape;574;p20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INTERIORES  ·  18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img01_branco.jpg" id="575" name="Google Shape;575;p20"/>
          <p:cNvPicPr preferRelativeResize="0"/>
          <p:nvPr/>
        </p:nvPicPr>
        <p:blipFill rotWithShape="1">
          <a:blip r:embed="rId5">
            <a:alphaModFix/>
          </a:blip>
          <a:srcRect b="0" l="56" r="56" t="0"/>
          <a:stretch/>
        </p:blipFill>
        <p:spPr>
          <a:xfrm>
            <a:off x="457200" y="1280160"/>
            <a:ext cx="6400800" cy="3602736"/>
          </a:xfrm>
          <a:prstGeom prst="rect">
            <a:avLst/>
          </a:prstGeom>
          <a:noFill/>
          <a:ln>
            <a:noFill/>
          </a:ln>
        </p:spPr>
      </p:pic>
      <p:sp>
        <p:nvSpPr>
          <p:cNvPr id="576" name="Google Shape;576;p20"/>
          <p:cNvSpPr txBox="1"/>
          <p:nvPr/>
        </p:nvSpPr>
        <p:spPr>
          <a:xfrm>
            <a:off x="530352" y="1353312"/>
            <a:ext cx="128016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IMAGEM 01 · FINAL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img02_branco.jpg" id="577" name="Google Shape;577;p20"/>
          <p:cNvPicPr preferRelativeResize="0"/>
          <p:nvPr/>
        </p:nvPicPr>
        <p:blipFill rotWithShape="1">
          <a:blip r:embed="rId6">
            <a:alphaModFix/>
          </a:blip>
          <a:srcRect b="128" l="0" r="0" t="128"/>
          <a:stretch/>
        </p:blipFill>
        <p:spPr>
          <a:xfrm>
            <a:off x="457200" y="4956048"/>
            <a:ext cx="2331720" cy="1307592"/>
          </a:xfrm>
          <a:prstGeom prst="rect">
            <a:avLst/>
          </a:prstGeom>
          <a:noFill/>
          <a:ln>
            <a:noFill/>
          </a:ln>
        </p:spPr>
      </p:pic>
      <p:sp>
        <p:nvSpPr>
          <p:cNvPr id="578" name="Google Shape;578;p20"/>
          <p:cNvSpPr txBox="1"/>
          <p:nvPr/>
        </p:nvSpPr>
        <p:spPr>
          <a:xfrm>
            <a:off x="512064" y="5010912"/>
            <a:ext cx="128016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IMAGEM 02 · FINAL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20"/>
          <p:cNvSpPr txBox="1"/>
          <p:nvPr/>
        </p:nvSpPr>
        <p:spPr>
          <a:xfrm>
            <a:off x="2926080" y="4956048"/>
            <a:ext cx="3931920" cy="1307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COMPOSIÇÃO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Parede do letreiro em cimento queimado com grelha de metalon preta e letreiro luminoso (LED 3000K); painel muxarabi com palha; ripado MDF </a:t>
            </a:r>
            <a:r>
              <a:rPr lang="en-US" sz="1000">
                <a:solidFill>
                  <a:srgbClr val="333333"/>
                </a:solidFill>
              </a:rPr>
              <a:t>Carvalho Treviso</a:t>
            </a: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no corredor; poltronas de corda náutica; plantas artificiais; portas e rodapés brancos.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s8_11.jpg" id="580" name="Google Shape;580;p20"/>
          <p:cNvPicPr preferRelativeResize="0"/>
          <p:nvPr/>
        </p:nvPicPr>
        <p:blipFill rotWithShape="1">
          <a:blip r:embed="rId7">
            <a:alphaModFix/>
          </a:blip>
          <a:srcRect b="0" l="26748" r="26748" t="0"/>
          <a:stretch/>
        </p:blipFill>
        <p:spPr>
          <a:xfrm>
            <a:off x="7086600" y="1280160"/>
            <a:ext cx="1488338" cy="1600200"/>
          </a:xfrm>
          <a:prstGeom prst="rect">
            <a:avLst/>
          </a:prstGeom>
          <a:noFill/>
          <a:ln>
            <a:noFill/>
          </a:ln>
        </p:spPr>
      </p:pic>
      <p:sp>
        <p:nvSpPr>
          <p:cNvPr id="581" name="Google Shape;581;p20"/>
          <p:cNvSpPr txBox="1"/>
          <p:nvPr/>
        </p:nvSpPr>
        <p:spPr>
          <a:xfrm>
            <a:off x="7086600" y="2624328"/>
            <a:ext cx="1488338" cy="256032"/>
          </a:xfrm>
          <a:prstGeom prst="rect">
            <a:avLst/>
          </a:prstGeom>
          <a:solidFill>
            <a:srgbClr val="00143D">
              <a:alpha val="85098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Letreiro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s7_17.jpg" id="582" name="Google Shape;582;p20"/>
          <p:cNvPicPr preferRelativeResize="0"/>
          <p:nvPr/>
        </p:nvPicPr>
        <p:blipFill rotWithShape="1">
          <a:blip r:embed="rId8">
            <a:alphaModFix/>
          </a:blip>
          <a:srcRect b="0" l="3495" r="3495" t="0"/>
          <a:stretch/>
        </p:blipFill>
        <p:spPr>
          <a:xfrm>
            <a:off x="8666378" y="1280160"/>
            <a:ext cx="1488338" cy="1600200"/>
          </a:xfrm>
          <a:prstGeom prst="rect">
            <a:avLst/>
          </a:prstGeom>
          <a:noFill/>
          <a:ln>
            <a:noFill/>
          </a:ln>
        </p:spPr>
      </p:pic>
      <p:sp>
        <p:nvSpPr>
          <p:cNvPr id="583" name="Google Shape;583;p20"/>
          <p:cNvSpPr txBox="1"/>
          <p:nvPr/>
        </p:nvSpPr>
        <p:spPr>
          <a:xfrm>
            <a:off x="8666378" y="2624328"/>
            <a:ext cx="1488338" cy="256032"/>
          </a:xfrm>
          <a:prstGeom prst="rect">
            <a:avLst/>
          </a:prstGeom>
          <a:solidFill>
            <a:srgbClr val="00143D">
              <a:alpha val="85098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Cimento queimado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s7_5.jpg" id="584" name="Google Shape;584;p20"/>
          <p:cNvPicPr preferRelativeResize="0"/>
          <p:nvPr/>
        </p:nvPicPr>
        <p:blipFill rotWithShape="1">
          <a:blip r:embed="rId9">
            <a:alphaModFix/>
          </a:blip>
          <a:srcRect b="26974" l="0" r="0" t="26974"/>
          <a:stretch/>
        </p:blipFill>
        <p:spPr>
          <a:xfrm>
            <a:off x="10246157" y="1280160"/>
            <a:ext cx="1488338" cy="1600200"/>
          </a:xfrm>
          <a:prstGeom prst="rect">
            <a:avLst/>
          </a:prstGeom>
          <a:noFill/>
          <a:ln>
            <a:noFill/>
          </a:ln>
        </p:spPr>
      </p:pic>
      <p:sp>
        <p:nvSpPr>
          <p:cNvPr id="585" name="Google Shape;585;p20"/>
          <p:cNvSpPr txBox="1"/>
          <p:nvPr/>
        </p:nvSpPr>
        <p:spPr>
          <a:xfrm>
            <a:off x="10246157" y="2624328"/>
            <a:ext cx="1488338" cy="256032"/>
          </a:xfrm>
          <a:prstGeom prst="rect">
            <a:avLst/>
          </a:prstGeom>
          <a:solidFill>
            <a:srgbClr val="00143D">
              <a:alpha val="85098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Muxarabi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s7_35.jpg" id="586" name="Google Shape;586;p20"/>
          <p:cNvPicPr preferRelativeResize="0"/>
          <p:nvPr/>
        </p:nvPicPr>
        <p:blipFill rotWithShape="1">
          <a:blip r:embed="rId10">
            <a:alphaModFix/>
          </a:blip>
          <a:srcRect b="9620" l="0" r="0" t="9620"/>
          <a:stretch/>
        </p:blipFill>
        <p:spPr>
          <a:xfrm>
            <a:off x="7086600" y="2971800"/>
            <a:ext cx="1488338" cy="1600200"/>
          </a:xfrm>
          <a:prstGeom prst="rect">
            <a:avLst/>
          </a:prstGeom>
          <a:noFill/>
          <a:ln>
            <a:noFill/>
          </a:ln>
        </p:spPr>
      </p:pic>
      <p:sp>
        <p:nvSpPr>
          <p:cNvPr id="587" name="Google Shape;587;p20"/>
          <p:cNvSpPr txBox="1"/>
          <p:nvPr/>
        </p:nvSpPr>
        <p:spPr>
          <a:xfrm>
            <a:off x="7086600" y="4315968"/>
            <a:ext cx="1488338" cy="256032"/>
          </a:xfrm>
          <a:prstGeom prst="rect">
            <a:avLst/>
          </a:prstGeom>
          <a:solidFill>
            <a:srgbClr val="00143D">
              <a:alpha val="85098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Poltrona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s8_23.jpg" id="588" name="Google Shape;588;p20"/>
          <p:cNvPicPr preferRelativeResize="0"/>
          <p:nvPr/>
        </p:nvPicPr>
        <p:blipFill rotWithShape="1">
          <a:blip r:embed="rId11">
            <a:alphaModFix/>
          </a:blip>
          <a:srcRect b="0" l="25290" r="25290" t="0"/>
          <a:stretch/>
        </p:blipFill>
        <p:spPr>
          <a:xfrm>
            <a:off x="8666378" y="2971800"/>
            <a:ext cx="1488338" cy="1600200"/>
          </a:xfrm>
          <a:prstGeom prst="rect">
            <a:avLst/>
          </a:prstGeom>
          <a:noFill/>
          <a:ln>
            <a:noFill/>
          </a:ln>
        </p:spPr>
      </p:pic>
      <p:sp>
        <p:nvSpPr>
          <p:cNvPr id="589" name="Google Shape;589;p20"/>
          <p:cNvSpPr txBox="1"/>
          <p:nvPr/>
        </p:nvSpPr>
        <p:spPr>
          <a:xfrm>
            <a:off x="8666378" y="4315968"/>
            <a:ext cx="1488338" cy="256032"/>
          </a:xfrm>
          <a:prstGeom prst="rect">
            <a:avLst/>
          </a:prstGeom>
          <a:solidFill>
            <a:srgbClr val="00143D">
              <a:alpha val="85098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Quadros praia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s8_5.jpg" id="590" name="Google Shape;590;p20"/>
          <p:cNvPicPr preferRelativeResize="0"/>
          <p:nvPr/>
        </p:nvPicPr>
        <p:blipFill rotWithShape="1">
          <a:blip r:embed="rId12">
            <a:alphaModFix/>
          </a:blip>
          <a:srcRect b="29997" l="0" r="0" t="29997"/>
          <a:stretch/>
        </p:blipFill>
        <p:spPr>
          <a:xfrm>
            <a:off x="10246157" y="2971800"/>
            <a:ext cx="1488338" cy="1600200"/>
          </a:xfrm>
          <a:prstGeom prst="rect">
            <a:avLst/>
          </a:prstGeom>
          <a:noFill/>
          <a:ln>
            <a:noFill/>
          </a:ln>
        </p:spPr>
      </p:pic>
      <p:sp>
        <p:nvSpPr>
          <p:cNvPr id="591" name="Google Shape;591;p20"/>
          <p:cNvSpPr txBox="1"/>
          <p:nvPr/>
        </p:nvSpPr>
        <p:spPr>
          <a:xfrm>
            <a:off x="10246157" y="4315968"/>
            <a:ext cx="1488338" cy="256032"/>
          </a:xfrm>
          <a:prstGeom prst="rect">
            <a:avLst/>
          </a:prstGeom>
          <a:solidFill>
            <a:srgbClr val="00143D">
              <a:alpha val="85098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Mesa cesto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s10_5.jpg" id="592" name="Google Shape;592;p20"/>
          <p:cNvPicPr preferRelativeResize="0"/>
          <p:nvPr/>
        </p:nvPicPr>
        <p:blipFill rotWithShape="1">
          <a:blip r:embed="rId13">
            <a:alphaModFix/>
          </a:blip>
          <a:srcRect b="25300" l="0" r="0" t="25300"/>
          <a:stretch/>
        </p:blipFill>
        <p:spPr>
          <a:xfrm>
            <a:off x="7086600" y="4663440"/>
            <a:ext cx="1488338" cy="1600200"/>
          </a:xfrm>
          <a:prstGeom prst="rect">
            <a:avLst/>
          </a:prstGeom>
          <a:noFill/>
          <a:ln>
            <a:noFill/>
          </a:ln>
        </p:spPr>
      </p:pic>
      <p:sp>
        <p:nvSpPr>
          <p:cNvPr id="593" name="Google Shape;593;p20"/>
          <p:cNvSpPr txBox="1"/>
          <p:nvPr/>
        </p:nvSpPr>
        <p:spPr>
          <a:xfrm>
            <a:off x="7086600" y="6007608"/>
            <a:ext cx="1488338" cy="256032"/>
          </a:xfrm>
          <a:prstGeom prst="rect">
            <a:avLst/>
          </a:prstGeom>
          <a:solidFill>
            <a:srgbClr val="00143D">
              <a:alpha val="85098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Arandela Slide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94" name="Google Shape;594;p20"/>
          <p:cNvPicPr preferRelativeResize="0"/>
          <p:nvPr/>
        </p:nvPicPr>
        <p:blipFill rotWithShape="1">
          <a:blip r:embed="rId14">
            <a:alphaModFix/>
          </a:blip>
          <a:srcRect b="0" l="3497" r="3497" t="0"/>
          <a:stretch/>
        </p:blipFill>
        <p:spPr>
          <a:xfrm>
            <a:off x="8666378" y="4663440"/>
            <a:ext cx="1488338" cy="1600200"/>
          </a:xfrm>
          <a:prstGeom prst="rect">
            <a:avLst/>
          </a:prstGeom>
          <a:noFill/>
          <a:ln>
            <a:noFill/>
          </a:ln>
        </p:spPr>
      </p:pic>
      <p:sp>
        <p:nvSpPr>
          <p:cNvPr id="595" name="Google Shape;595;p20"/>
          <p:cNvSpPr txBox="1"/>
          <p:nvPr/>
        </p:nvSpPr>
        <p:spPr>
          <a:xfrm>
            <a:off x="8666378" y="6007608"/>
            <a:ext cx="1488338" cy="256032"/>
          </a:xfrm>
          <a:prstGeom prst="rect">
            <a:avLst/>
          </a:prstGeom>
          <a:solidFill>
            <a:srgbClr val="00143D">
              <a:alpha val="85098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Ripado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s10_11.jpg" id="596" name="Google Shape;596;p20"/>
          <p:cNvPicPr preferRelativeResize="0"/>
          <p:nvPr/>
        </p:nvPicPr>
        <p:blipFill rotWithShape="1">
          <a:blip r:embed="rId15">
            <a:alphaModFix/>
          </a:blip>
          <a:srcRect b="0" l="26748" r="26748" t="0"/>
          <a:stretch/>
        </p:blipFill>
        <p:spPr>
          <a:xfrm>
            <a:off x="10246157" y="4663440"/>
            <a:ext cx="1488338" cy="1600200"/>
          </a:xfrm>
          <a:prstGeom prst="rect">
            <a:avLst/>
          </a:prstGeom>
          <a:noFill/>
          <a:ln>
            <a:noFill/>
          </a:ln>
        </p:spPr>
      </p:pic>
      <p:sp>
        <p:nvSpPr>
          <p:cNvPr id="597" name="Google Shape;597;p20"/>
          <p:cNvSpPr txBox="1"/>
          <p:nvPr/>
        </p:nvSpPr>
        <p:spPr>
          <a:xfrm>
            <a:off x="10246157" y="6007608"/>
            <a:ext cx="1488338" cy="256032"/>
          </a:xfrm>
          <a:prstGeom prst="rect">
            <a:avLst/>
          </a:prstGeom>
          <a:solidFill>
            <a:srgbClr val="00143D">
              <a:alpha val="85098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Número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21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 · INTERIORES · NOVA RECEPÇÃO · REV. 07/10/2026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21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Itens da recepção · letreiro, revestimentos e serviços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navy_tpl_logo_cover.png" id="605" name="Google Shape;605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icon_footer.png" id="606" name="Google Shape;606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607" name="Google Shape;607;p21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INTERIORES  ·  19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8" name="Google Shape;608;p21"/>
          <p:cNvSpPr txBox="1"/>
          <p:nvPr/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Fonte: memorial descritivo da nova recepção (rev. 07/10/2026) · modelo Revit + imagens finais. Sem etiqueta = especificado no memorial.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9" name="Google Shape;609;p21"/>
          <p:cNvSpPr/>
          <p:nvPr/>
        </p:nvSpPr>
        <p:spPr>
          <a:xfrm>
            <a:off x="457200" y="1463040"/>
            <a:ext cx="2682164" cy="230886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s7_5.jpg" id="610" name="Google Shape;610;p21"/>
          <p:cNvPicPr preferRelativeResize="0"/>
          <p:nvPr/>
        </p:nvPicPr>
        <p:blipFill rotWithShape="1">
          <a:blip r:embed="rId5">
            <a:alphaModFix/>
          </a:blip>
          <a:srcRect b="41603" l="0" r="0" t="41603"/>
          <a:stretch/>
        </p:blipFill>
        <p:spPr>
          <a:xfrm>
            <a:off x="457200" y="1463040"/>
            <a:ext cx="2682164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611" name="Google Shape;611;p21"/>
          <p:cNvSpPr txBox="1"/>
          <p:nvPr/>
        </p:nvSpPr>
        <p:spPr>
          <a:xfrm>
            <a:off x="530352" y="1536192"/>
            <a:ext cx="68580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QTD 1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2" name="Google Shape;612;p21"/>
          <p:cNvSpPr/>
          <p:nvPr/>
        </p:nvSpPr>
        <p:spPr>
          <a:xfrm>
            <a:off x="2174672" y="1545336"/>
            <a:ext cx="891540" cy="219456"/>
          </a:xfrm>
          <a:prstGeom prst="roundRect">
            <a:avLst>
              <a:gd fmla="val 50000" name="adj"/>
            </a:avLst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VALIDAR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3" name="Google Shape;613;p21"/>
          <p:cNvSpPr txBox="1"/>
          <p:nvPr/>
        </p:nvSpPr>
        <p:spPr>
          <a:xfrm>
            <a:off x="548640" y="2569464"/>
            <a:ext cx="2499284" cy="1165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MARCENARIA / SERRALHARIA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Painel muxarabi com palha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900 × 2880 mm (piso +1,08 ao forro +3,96), moldura 30 mm. Palha quadriculada natural + quadro em madeira. Fixação proposta na DT.01: validar com a obra.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4" name="Google Shape;614;p21"/>
          <p:cNvSpPr/>
          <p:nvPr/>
        </p:nvSpPr>
        <p:spPr>
          <a:xfrm>
            <a:off x="3322244" y="1463040"/>
            <a:ext cx="2682164" cy="230886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s7_11.jpg" id="615" name="Google Shape;615;p21"/>
          <p:cNvPicPr preferRelativeResize="0"/>
          <p:nvPr/>
        </p:nvPicPr>
        <p:blipFill rotWithShape="1">
          <a:blip r:embed="rId6">
            <a:alphaModFix/>
          </a:blip>
          <a:srcRect b="28458" l="0" r="0" t="28458"/>
          <a:stretch/>
        </p:blipFill>
        <p:spPr>
          <a:xfrm>
            <a:off x="3322244" y="1463040"/>
            <a:ext cx="2682164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616" name="Google Shape;616;p21"/>
          <p:cNvSpPr txBox="1"/>
          <p:nvPr/>
        </p:nvSpPr>
        <p:spPr>
          <a:xfrm>
            <a:off x="3395396" y="1536192"/>
            <a:ext cx="68580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QTD 1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7" name="Google Shape;617;p21"/>
          <p:cNvSpPr txBox="1"/>
          <p:nvPr/>
        </p:nvSpPr>
        <p:spPr>
          <a:xfrm>
            <a:off x="3413684" y="2569464"/>
            <a:ext cx="2499284" cy="1165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MARCENARIA / SERRALHARIA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Grelha em metalon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Parede do letreiro (2,88 m) até +6,69. Tubo 30×30 mm preto fosco: 5 montantes de 5,61 m + 2 de 2,73 m + 5 travessas de 0,83 m (≈37,7 m).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8" name="Google Shape;618;p21"/>
          <p:cNvSpPr/>
          <p:nvPr/>
        </p:nvSpPr>
        <p:spPr>
          <a:xfrm>
            <a:off x="6187288" y="1463040"/>
            <a:ext cx="2682164" cy="230886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s7_17.jpg" id="619" name="Google Shape;619;p21"/>
          <p:cNvPicPr preferRelativeResize="0"/>
          <p:nvPr/>
        </p:nvPicPr>
        <p:blipFill rotWithShape="1">
          <a:blip r:embed="rId7">
            <a:alphaModFix/>
          </a:blip>
          <a:srcRect b="30397" l="0" r="0" t="30397"/>
          <a:stretch/>
        </p:blipFill>
        <p:spPr>
          <a:xfrm>
            <a:off x="6187288" y="1463040"/>
            <a:ext cx="2682164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620" name="Google Shape;620;p21"/>
          <p:cNvSpPr txBox="1"/>
          <p:nvPr/>
        </p:nvSpPr>
        <p:spPr>
          <a:xfrm>
            <a:off x="6260440" y="1536192"/>
            <a:ext cx="105156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QTD 56,01 M²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1" name="Google Shape;621;p21"/>
          <p:cNvSpPr txBox="1"/>
          <p:nvPr/>
        </p:nvSpPr>
        <p:spPr>
          <a:xfrm>
            <a:off x="6278728" y="2569464"/>
            <a:ext cx="2499284" cy="1165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REVESTIMENTO / PINTURA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Cimento queimado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Parede do letreiro e contíguas: letreiro 19,10 + contígua 16,80 + demais faces 20,11 m² (7 faces, inclui pé-direito duplo). Cinza, efeito.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2" name="Google Shape;622;p21"/>
          <p:cNvSpPr/>
          <p:nvPr/>
        </p:nvSpPr>
        <p:spPr>
          <a:xfrm>
            <a:off x="9052331" y="1463040"/>
            <a:ext cx="2682164" cy="230886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s7_23.jpg" id="623" name="Google Shape;623;p21"/>
          <p:cNvPicPr preferRelativeResize="0"/>
          <p:nvPr/>
        </p:nvPicPr>
        <p:blipFill rotWithShape="1">
          <a:blip r:embed="rId8">
            <a:alphaModFix/>
          </a:blip>
          <a:srcRect b="10704" l="0" r="0" t="10704"/>
          <a:stretch/>
        </p:blipFill>
        <p:spPr>
          <a:xfrm>
            <a:off x="9052331" y="1463040"/>
            <a:ext cx="2682164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624" name="Google Shape;624;p21"/>
          <p:cNvSpPr txBox="1"/>
          <p:nvPr/>
        </p:nvSpPr>
        <p:spPr>
          <a:xfrm>
            <a:off x="9125483" y="1536192"/>
            <a:ext cx="98298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QTD 3,54 M²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5" name="Google Shape;625;p21"/>
          <p:cNvSpPr/>
          <p:nvPr/>
        </p:nvSpPr>
        <p:spPr>
          <a:xfrm>
            <a:off x="10769803" y="1545336"/>
            <a:ext cx="891540" cy="219456"/>
          </a:xfrm>
          <a:prstGeom prst="roundRect">
            <a:avLst>
              <a:gd fmla="val 50000" name="adj"/>
            </a:avLst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VALIDAR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6" name="Google Shape;626;p21"/>
          <p:cNvSpPr txBox="1"/>
          <p:nvPr/>
        </p:nvSpPr>
        <p:spPr>
          <a:xfrm>
            <a:off x="9143771" y="2569464"/>
            <a:ext cx="2499284" cy="1165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REVESTIMENTO / PINTURA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Textura velvet cinza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Face pintada da parede dos quadros (2,09 × 2,88 m), hall 107. Conferir se o velvet cobre mais paredes do corredor.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7" name="Google Shape;627;p21"/>
          <p:cNvSpPr/>
          <p:nvPr/>
        </p:nvSpPr>
        <p:spPr>
          <a:xfrm>
            <a:off x="457200" y="3954780"/>
            <a:ext cx="2682164" cy="230886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s7_29.jpg" id="628" name="Google Shape;628;p21"/>
          <p:cNvPicPr preferRelativeResize="0"/>
          <p:nvPr/>
        </p:nvPicPr>
        <p:blipFill rotWithShape="1">
          <a:blip r:embed="rId9">
            <a:alphaModFix/>
          </a:blip>
          <a:srcRect b="42096" l="0" r="0" t="42096"/>
          <a:stretch/>
        </p:blipFill>
        <p:spPr>
          <a:xfrm>
            <a:off x="457200" y="3954780"/>
            <a:ext cx="2682164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629" name="Google Shape;629;p21"/>
          <p:cNvSpPr txBox="1"/>
          <p:nvPr/>
        </p:nvSpPr>
        <p:spPr>
          <a:xfrm>
            <a:off x="530352" y="4027932"/>
            <a:ext cx="68580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QTD 1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0" name="Google Shape;630;p21"/>
          <p:cNvSpPr/>
          <p:nvPr/>
        </p:nvSpPr>
        <p:spPr>
          <a:xfrm>
            <a:off x="2243252" y="4037076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DEFINIDO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1" name="Google Shape;631;p21"/>
          <p:cNvSpPr txBox="1"/>
          <p:nvPr/>
        </p:nvSpPr>
        <p:spPr>
          <a:xfrm>
            <a:off x="548640" y="5061204"/>
            <a:ext cx="2499284" cy="1165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REVESTIMENTO / PINTURA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Portas e rodapés brancos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Rodapé ≈24,9 m lineares; folhas e batentes do hall. Alterado de preto para branco nas imagens finais. Já in loco.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2" name="Google Shape;632;p21"/>
          <p:cNvSpPr/>
          <p:nvPr/>
        </p:nvSpPr>
        <p:spPr>
          <a:xfrm>
            <a:off x="3322244" y="3954780"/>
            <a:ext cx="2682164" cy="230886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s8_11.jpg" id="633" name="Google Shape;633;p21"/>
          <p:cNvPicPr preferRelativeResize="0"/>
          <p:nvPr/>
        </p:nvPicPr>
        <p:blipFill rotWithShape="1">
          <a:blip r:embed="rId10">
            <a:alphaModFix/>
          </a:blip>
          <a:srcRect b="10794" l="0" r="0" t="10794"/>
          <a:stretch/>
        </p:blipFill>
        <p:spPr>
          <a:xfrm>
            <a:off x="3322244" y="3954780"/>
            <a:ext cx="2682164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634" name="Google Shape;634;p21"/>
          <p:cNvSpPr txBox="1"/>
          <p:nvPr/>
        </p:nvSpPr>
        <p:spPr>
          <a:xfrm>
            <a:off x="3395396" y="4027932"/>
            <a:ext cx="68580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QTD 1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5" name="Google Shape;635;p21"/>
          <p:cNvSpPr/>
          <p:nvPr/>
        </p:nvSpPr>
        <p:spPr>
          <a:xfrm>
            <a:off x="5176876" y="4037076"/>
            <a:ext cx="754380" cy="219456"/>
          </a:xfrm>
          <a:prstGeom prst="roundRect">
            <a:avLst>
              <a:gd fmla="val 50000" name="adj"/>
            </a:avLst>
          </a:prstGeom>
          <a:solidFill>
            <a:srgbClr val="5B6B8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COTAR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6" name="Google Shape;636;p21"/>
          <p:cNvSpPr txBox="1"/>
          <p:nvPr/>
        </p:nvSpPr>
        <p:spPr>
          <a:xfrm>
            <a:off x="3413684" y="5061204"/>
            <a:ext cx="2499284" cy="1165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ILUMINAÇÃO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Letreiro luminoso Campeche SPOT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≈970 × 610 mm, letra caixa com LED quente 3000K, aplicada sobre a grelha / cimento queimado. Cotação Rove.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7" name="Google Shape;637;p21"/>
          <p:cNvSpPr/>
          <p:nvPr/>
        </p:nvSpPr>
        <p:spPr>
          <a:xfrm>
            <a:off x="6187288" y="3954780"/>
            <a:ext cx="2682164" cy="230886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s9_17.jpg" id="638" name="Google Shape;638;p21"/>
          <p:cNvPicPr preferRelativeResize="0"/>
          <p:nvPr/>
        </p:nvPicPr>
        <p:blipFill rotWithShape="1">
          <a:blip r:embed="rId11">
            <a:alphaModFix/>
          </a:blip>
          <a:srcRect b="6159" l="0" r="0" t="6159"/>
          <a:stretch/>
        </p:blipFill>
        <p:spPr>
          <a:xfrm>
            <a:off x="6187288" y="3954780"/>
            <a:ext cx="2682164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21"/>
          <p:cNvSpPr txBox="1"/>
          <p:nvPr/>
        </p:nvSpPr>
        <p:spPr>
          <a:xfrm>
            <a:off x="6260440" y="4027932"/>
            <a:ext cx="68580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QTD 2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0" name="Google Shape;640;p21"/>
          <p:cNvSpPr/>
          <p:nvPr/>
        </p:nvSpPr>
        <p:spPr>
          <a:xfrm>
            <a:off x="8041919" y="4037076"/>
            <a:ext cx="754380" cy="219456"/>
          </a:xfrm>
          <a:prstGeom prst="roundRect">
            <a:avLst>
              <a:gd fmla="val 50000" name="adj"/>
            </a:avLst>
          </a:prstGeom>
          <a:solidFill>
            <a:srgbClr val="5B6B8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COTAR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1" name="Google Shape;641;p21"/>
          <p:cNvSpPr txBox="1"/>
          <p:nvPr/>
        </p:nvSpPr>
        <p:spPr>
          <a:xfrm>
            <a:off x="6278728" y="5061204"/>
            <a:ext cx="2499284" cy="1165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TAPETES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Capacho de alumínio (entrada)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2200 × 497 mm, rebaixo de 12 mm no piso. Treadmaster Alpha Step 2 (TMAS2C102): alumínio anodizado + carpete preto.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2" name="Google Shape;642;p21"/>
          <p:cNvSpPr/>
          <p:nvPr/>
        </p:nvSpPr>
        <p:spPr>
          <a:xfrm>
            <a:off x="9052331" y="3954780"/>
            <a:ext cx="2682164" cy="230886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s9_23.jpg" id="643" name="Google Shape;643;p21"/>
          <p:cNvPicPr preferRelativeResize="0"/>
          <p:nvPr/>
        </p:nvPicPr>
        <p:blipFill rotWithShape="1">
          <a:blip r:embed="rId12">
            <a:alphaModFix/>
          </a:blip>
          <a:srcRect b="29220" l="0" r="0" t="29220"/>
          <a:stretch/>
        </p:blipFill>
        <p:spPr>
          <a:xfrm>
            <a:off x="9052331" y="3954780"/>
            <a:ext cx="2682164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644" name="Google Shape;644;p21"/>
          <p:cNvSpPr txBox="1"/>
          <p:nvPr/>
        </p:nvSpPr>
        <p:spPr>
          <a:xfrm>
            <a:off x="9125483" y="4027932"/>
            <a:ext cx="68580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QTD 1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5" name="Google Shape;645;p21"/>
          <p:cNvSpPr/>
          <p:nvPr/>
        </p:nvSpPr>
        <p:spPr>
          <a:xfrm>
            <a:off x="10906963" y="4037076"/>
            <a:ext cx="754380" cy="219456"/>
          </a:xfrm>
          <a:prstGeom prst="roundRect">
            <a:avLst>
              <a:gd fmla="val 50000" name="adj"/>
            </a:avLst>
          </a:prstGeom>
          <a:solidFill>
            <a:srgbClr val="5B6B8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COTAR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6" name="Google Shape;646;p21"/>
          <p:cNvSpPr txBox="1"/>
          <p:nvPr/>
        </p:nvSpPr>
        <p:spPr>
          <a:xfrm>
            <a:off x="9143771" y="5061204"/>
            <a:ext cx="2499284" cy="1165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SERVIÇOS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Alvenaria de fechamento do vão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Bloco cerâmico 19 cm, rebocado 2 faces, encunhado no topo. Fundo 2,88 m e lateral 1,95 m, de ±0,00 a +6,76 (DT.01).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22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 · INTERIORES · NOVA RECEPÇÃO · REV. 07/10/2026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3" name="Google Shape;653;p22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Itens da recepção · mobiliário, luz e decoração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navy_tpl_logo_cover.png" id="654" name="Google Shape;654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icon_footer.png" id="655" name="Google Shape;655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656" name="Google Shape;656;p22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INTERIORES  ·  20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7" name="Google Shape;657;p22"/>
          <p:cNvSpPr txBox="1"/>
          <p:nvPr/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Fonte: memorial descritivo da nova recepção (rev. 07/10/2026) · modelo Revit + imagens finais. Sem etiqueta = especificado no memorial.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8" name="Google Shape;658;p22"/>
          <p:cNvSpPr/>
          <p:nvPr/>
        </p:nvSpPr>
        <p:spPr>
          <a:xfrm>
            <a:off x="457200" y="1463040"/>
            <a:ext cx="2682164" cy="230886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s7_35.jpg" id="659" name="Google Shape;659;p22"/>
          <p:cNvPicPr preferRelativeResize="0"/>
          <p:nvPr/>
        </p:nvPicPr>
        <p:blipFill rotWithShape="1">
          <a:blip r:embed="rId5">
            <a:alphaModFix/>
          </a:blip>
          <a:srcRect b="35275" l="0" r="0" t="35275"/>
          <a:stretch/>
        </p:blipFill>
        <p:spPr>
          <a:xfrm>
            <a:off x="457200" y="1463040"/>
            <a:ext cx="2682164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660" name="Google Shape;660;p22"/>
          <p:cNvSpPr txBox="1"/>
          <p:nvPr/>
        </p:nvSpPr>
        <p:spPr>
          <a:xfrm>
            <a:off x="530352" y="1536192"/>
            <a:ext cx="68580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QTD 2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1" name="Google Shape;661;p22"/>
          <p:cNvSpPr txBox="1"/>
          <p:nvPr/>
        </p:nvSpPr>
        <p:spPr>
          <a:xfrm>
            <a:off x="548640" y="2569464"/>
            <a:ext cx="2499284" cy="1165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MOBILIÁRIO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Poltrona corda náutica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≈800 × 780 × 850 mm. Estrutura preta, corda náutica natural, estofado impermeável cinza grafite + almofada terracota.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2" name="Google Shape;662;p22"/>
          <p:cNvSpPr/>
          <p:nvPr/>
        </p:nvSpPr>
        <p:spPr>
          <a:xfrm>
            <a:off x="3322244" y="1463040"/>
            <a:ext cx="2682164" cy="230886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s8_5.jpg" id="663" name="Google Shape;663;p22"/>
          <p:cNvPicPr preferRelativeResize="0"/>
          <p:nvPr/>
        </p:nvPicPr>
        <p:blipFill rotWithShape="1">
          <a:blip r:embed="rId6">
            <a:alphaModFix/>
          </a:blip>
          <a:srcRect b="42706" l="0" r="0" t="42706"/>
          <a:stretch/>
        </p:blipFill>
        <p:spPr>
          <a:xfrm>
            <a:off x="3322244" y="1463040"/>
            <a:ext cx="2682164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664" name="Google Shape;664;p22"/>
          <p:cNvSpPr txBox="1"/>
          <p:nvPr/>
        </p:nvSpPr>
        <p:spPr>
          <a:xfrm>
            <a:off x="3395396" y="1536192"/>
            <a:ext cx="68580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QTD 1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5" name="Google Shape;665;p22"/>
          <p:cNvSpPr txBox="1"/>
          <p:nvPr/>
        </p:nvSpPr>
        <p:spPr>
          <a:xfrm>
            <a:off x="3413684" y="2569464"/>
            <a:ext cx="2499284" cy="1165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MOBILIÁRIO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Mesa lateral cesto em fibra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Puff Seat Garden, 420 × 440 × 420 mm. Fibra natural com base branca.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6" name="Google Shape;666;p22"/>
          <p:cNvSpPr/>
          <p:nvPr/>
        </p:nvSpPr>
        <p:spPr>
          <a:xfrm>
            <a:off x="6187288" y="1463040"/>
            <a:ext cx="2682164" cy="230886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s8_17.jpg" id="667" name="Google Shape;667;p22"/>
          <p:cNvPicPr preferRelativeResize="0"/>
          <p:nvPr/>
        </p:nvPicPr>
        <p:blipFill rotWithShape="1">
          <a:blip r:embed="rId7">
            <a:alphaModFix/>
          </a:blip>
          <a:srcRect b="30397" l="0" r="0" t="30397"/>
          <a:stretch/>
        </p:blipFill>
        <p:spPr>
          <a:xfrm>
            <a:off x="6187288" y="1463040"/>
            <a:ext cx="2682164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668" name="Google Shape;668;p22"/>
          <p:cNvSpPr txBox="1"/>
          <p:nvPr/>
        </p:nvSpPr>
        <p:spPr>
          <a:xfrm>
            <a:off x="6260440" y="1536192"/>
            <a:ext cx="68580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QTD 2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9" name="Google Shape;669;p22"/>
          <p:cNvSpPr/>
          <p:nvPr/>
        </p:nvSpPr>
        <p:spPr>
          <a:xfrm>
            <a:off x="7904759" y="1545336"/>
            <a:ext cx="891540" cy="219456"/>
          </a:xfrm>
          <a:prstGeom prst="roundRect">
            <a:avLst>
              <a:gd fmla="val 50000" name="adj"/>
            </a:avLst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VALIDAR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0" name="Google Shape;670;p22"/>
          <p:cNvSpPr txBox="1"/>
          <p:nvPr/>
        </p:nvSpPr>
        <p:spPr>
          <a:xfrm>
            <a:off x="6278728" y="2569464"/>
            <a:ext cx="2499284" cy="1165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ILUMINAÇÃO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Pendente Bulan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Rattan e fibra sintética branca. Consta no Revit, mas não aparece nas imagens: confirmar se entra.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1" name="Google Shape;671;p22"/>
          <p:cNvSpPr/>
          <p:nvPr/>
        </p:nvSpPr>
        <p:spPr>
          <a:xfrm>
            <a:off x="9052331" y="1463040"/>
            <a:ext cx="2682164" cy="230886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s8_23.jpg" id="672" name="Google Shape;672;p22"/>
          <p:cNvPicPr preferRelativeResize="0"/>
          <p:nvPr/>
        </p:nvPicPr>
        <p:blipFill rotWithShape="1">
          <a:blip r:embed="rId8">
            <a:alphaModFix/>
          </a:blip>
          <a:srcRect b="13106" l="0" r="0" t="13106"/>
          <a:stretch/>
        </p:blipFill>
        <p:spPr>
          <a:xfrm>
            <a:off x="9052331" y="1463040"/>
            <a:ext cx="2682164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673" name="Google Shape;673;p22"/>
          <p:cNvSpPr txBox="1"/>
          <p:nvPr/>
        </p:nvSpPr>
        <p:spPr>
          <a:xfrm>
            <a:off x="9125483" y="1536192"/>
            <a:ext cx="68580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QTD 4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4" name="Google Shape;674;p22"/>
          <p:cNvSpPr txBox="1"/>
          <p:nvPr/>
        </p:nvSpPr>
        <p:spPr>
          <a:xfrm>
            <a:off x="9143771" y="2569464"/>
            <a:ext cx="2499284" cy="1165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DECORAÇÃO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Quadros fotografia praia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500 × 700 × 15 mm. Moldura preta, paspatur branco, impressão fine art.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22"/>
          <p:cNvSpPr/>
          <p:nvPr/>
        </p:nvSpPr>
        <p:spPr>
          <a:xfrm>
            <a:off x="457200" y="3954780"/>
            <a:ext cx="2682164" cy="230886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s8_29.jpg" id="676" name="Google Shape;676;p22"/>
          <p:cNvPicPr preferRelativeResize="0"/>
          <p:nvPr/>
        </p:nvPicPr>
        <p:blipFill rotWithShape="1">
          <a:blip r:embed="rId9">
            <a:alphaModFix/>
          </a:blip>
          <a:srcRect b="35919" l="0" r="0" t="35919"/>
          <a:stretch/>
        </p:blipFill>
        <p:spPr>
          <a:xfrm>
            <a:off x="457200" y="3954780"/>
            <a:ext cx="2682164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677" name="Google Shape;677;p22"/>
          <p:cNvSpPr txBox="1"/>
          <p:nvPr/>
        </p:nvSpPr>
        <p:spPr>
          <a:xfrm>
            <a:off x="530352" y="4027932"/>
            <a:ext cx="68580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QTD 1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p22"/>
          <p:cNvSpPr/>
          <p:nvPr/>
        </p:nvSpPr>
        <p:spPr>
          <a:xfrm>
            <a:off x="2311832" y="4037076"/>
            <a:ext cx="754380" cy="219456"/>
          </a:xfrm>
          <a:prstGeom prst="roundRect">
            <a:avLst>
              <a:gd fmla="val 50000" name="adj"/>
            </a:avLst>
          </a:prstGeom>
          <a:solidFill>
            <a:srgbClr val="5B6B8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COTAR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p22"/>
          <p:cNvSpPr txBox="1"/>
          <p:nvPr/>
        </p:nvSpPr>
        <p:spPr>
          <a:xfrm>
            <a:off x="548640" y="5061204"/>
            <a:ext cx="2499284" cy="1165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DECORAÇÃO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Quadro grande abstrato azul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570 × 870 mm. Moldura preta fina, arte abstrata azul e areia.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22"/>
          <p:cNvSpPr/>
          <p:nvPr/>
        </p:nvSpPr>
        <p:spPr>
          <a:xfrm>
            <a:off x="3322244" y="3954780"/>
            <a:ext cx="2682164" cy="230886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s8_35.jpg" id="681" name="Google Shape;681;p22"/>
          <p:cNvPicPr preferRelativeResize="0"/>
          <p:nvPr/>
        </p:nvPicPr>
        <p:blipFill rotWithShape="1">
          <a:blip r:embed="rId10">
            <a:alphaModFix/>
          </a:blip>
          <a:srcRect b="40754" l="0" r="0" t="40754"/>
          <a:stretch/>
        </p:blipFill>
        <p:spPr>
          <a:xfrm>
            <a:off x="3322244" y="3954780"/>
            <a:ext cx="2682164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682" name="Google Shape;682;p22"/>
          <p:cNvSpPr txBox="1"/>
          <p:nvPr/>
        </p:nvSpPr>
        <p:spPr>
          <a:xfrm>
            <a:off x="3395396" y="4027932"/>
            <a:ext cx="68580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QTD 3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22"/>
          <p:cNvSpPr txBox="1"/>
          <p:nvPr/>
        </p:nvSpPr>
        <p:spPr>
          <a:xfrm>
            <a:off x="3413684" y="5061204"/>
            <a:ext cx="2499284" cy="1165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DECORAÇÃO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Bananeira / estrelítzia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Planta artificial alta (≈1,6 m).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p22"/>
          <p:cNvSpPr/>
          <p:nvPr/>
        </p:nvSpPr>
        <p:spPr>
          <a:xfrm>
            <a:off x="6187288" y="3954780"/>
            <a:ext cx="2682164" cy="230886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s9_5.jpg" id="685" name="Google Shape;685;p22"/>
          <p:cNvPicPr preferRelativeResize="0"/>
          <p:nvPr/>
        </p:nvPicPr>
        <p:blipFill rotWithShape="1">
          <a:blip r:embed="rId11">
            <a:alphaModFix/>
          </a:blip>
          <a:srcRect b="15305" l="0" r="0" t="15305"/>
          <a:stretch/>
        </p:blipFill>
        <p:spPr>
          <a:xfrm>
            <a:off x="6187288" y="3954780"/>
            <a:ext cx="2682164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686" name="Google Shape;686;p22"/>
          <p:cNvSpPr txBox="1"/>
          <p:nvPr/>
        </p:nvSpPr>
        <p:spPr>
          <a:xfrm>
            <a:off x="6260440" y="4027932"/>
            <a:ext cx="68580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QTD 2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p22"/>
          <p:cNvSpPr txBox="1"/>
          <p:nvPr/>
        </p:nvSpPr>
        <p:spPr>
          <a:xfrm>
            <a:off x="6278728" y="5061204"/>
            <a:ext cx="2499284" cy="1165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DECORAÇÃO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Costela-de-adão / palmeira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Artificiais: costela-de-adão no hall + palmeira no vaso de vidro.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22"/>
          <p:cNvSpPr/>
          <p:nvPr/>
        </p:nvSpPr>
        <p:spPr>
          <a:xfrm>
            <a:off x="9052331" y="3954780"/>
            <a:ext cx="2682164" cy="230886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s9_11.jpg" id="689" name="Google Shape;689;p22"/>
          <p:cNvPicPr preferRelativeResize="0"/>
          <p:nvPr/>
        </p:nvPicPr>
        <p:blipFill rotWithShape="1">
          <a:blip r:embed="rId12">
            <a:alphaModFix/>
          </a:blip>
          <a:srcRect b="27947" l="0" r="0" t="27947"/>
          <a:stretch/>
        </p:blipFill>
        <p:spPr>
          <a:xfrm>
            <a:off x="9052331" y="3954780"/>
            <a:ext cx="2682164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690" name="Google Shape;690;p22"/>
          <p:cNvSpPr txBox="1"/>
          <p:nvPr/>
        </p:nvSpPr>
        <p:spPr>
          <a:xfrm>
            <a:off x="9125483" y="4027932"/>
            <a:ext cx="68580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QTD 4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22"/>
          <p:cNvSpPr txBox="1"/>
          <p:nvPr/>
        </p:nvSpPr>
        <p:spPr>
          <a:xfrm>
            <a:off x="9143771" y="5061204"/>
            <a:ext cx="2499284" cy="1165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DECORAÇÃO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Vasos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2 em cerâmica branco fosco alto, 1 cuia em fibra natural, 1 em vidro transparente.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96" name="Shape 6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Google Shape;697;p23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 · INTERIORES · NOVA RECEPÇÃO · REV. 07/10/2026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Google Shape;698;p23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Itens do corredor (PAV 1)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navy_tpl_logo_cover.png" id="699" name="Google Shape;699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icon_footer.png" id="700" name="Google Shape;700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701" name="Google Shape;701;p23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INTERIORES  ·  21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2" name="Google Shape;702;p23"/>
          <p:cNvSpPr txBox="1"/>
          <p:nvPr/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Fonte: memorial descritivo do corredor PAV 1 (rev. 07/10/2026). Escopo: corredor do PAV 1 do modelo (10 unidades); os demais pavimentos seguem o memorial anterior.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3" name="Google Shape;703;p23"/>
          <p:cNvSpPr/>
          <p:nvPr/>
        </p:nvSpPr>
        <p:spPr>
          <a:xfrm>
            <a:off x="457200" y="1463040"/>
            <a:ext cx="2109155" cy="48006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s9_29.jpg" id="704" name="Google Shape;704;p23"/>
          <p:cNvPicPr preferRelativeResize="0"/>
          <p:nvPr/>
        </p:nvPicPr>
        <p:blipFill rotWithShape="1">
          <a:blip r:embed="rId5">
            <a:alphaModFix/>
          </a:blip>
          <a:srcRect b="6871" l="0" r="0" t="6871"/>
          <a:stretch/>
        </p:blipFill>
        <p:spPr>
          <a:xfrm>
            <a:off x="457200" y="1463040"/>
            <a:ext cx="2109155" cy="2103120"/>
          </a:xfrm>
          <a:prstGeom prst="rect">
            <a:avLst/>
          </a:prstGeom>
          <a:noFill/>
          <a:ln>
            <a:noFill/>
          </a:ln>
        </p:spPr>
      </p:pic>
      <p:sp>
        <p:nvSpPr>
          <p:cNvPr id="705" name="Google Shape;705;p23"/>
          <p:cNvSpPr txBox="1"/>
          <p:nvPr/>
        </p:nvSpPr>
        <p:spPr>
          <a:xfrm>
            <a:off x="530352" y="1536192"/>
            <a:ext cx="68580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QTD 8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6" name="Google Shape;706;p23"/>
          <p:cNvSpPr txBox="1"/>
          <p:nvPr/>
        </p:nvSpPr>
        <p:spPr>
          <a:xfrm>
            <a:off x="548640" y="3621024"/>
            <a:ext cx="1926275" cy="2606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MARCENARIA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Ripado MDF </a:t>
            </a:r>
            <a:r>
              <a:rPr b="1" lang="en-US" sz="1050">
                <a:solidFill>
                  <a:srgbClr val="00143D"/>
                </a:solidFill>
              </a:rPr>
              <a:t>Carvalho Treviso</a:t>
            </a:r>
            <a:endParaRPr b="1" i="0" sz="700" u="none" cap="none" strike="noStrike">
              <a:solidFill>
                <a:srgbClr val="00143D"/>
              </a:solidFill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Ripas de 200 mm, h 2780 mm, 18 mm: painéis verticais entre as portas.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23"/>
          <p:cNvSpPr/>
          <p:nvPr/>
        </p:nvSpPr>
        <p:spPr>
          <a:xfrm>
            <a:off x="2749235" y="1463040"/>
            <a:ext cx="2109155" cy="48006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s9_35.jpg" id="708" name="Google Shape;708;p23"/>
          <p:cNvPicPr preferRelativeResize="0"/>
          <p:nvPr/>
        </p:nvPicPr>
        <p:blipFill rotWithShape="1">
          <a:blip r:embed="rId6">
            <a:alphaModFix/>
          </a:blip>
          <a:srcRect b="0" l="25130" r="25130" t="0"/>
          <a:stretch/>
        </p:blipFill>
        <p:spPr>
          <a:xfrm>
            <a:off x="2749235" y="1463040"/>
            <a:ext cx="2109155" cy="2103120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23"/>
          <p:cNvSpPr txBox="1"/>
          <p:nvPr/>
        </p:nvSpPr>
        <p:spPr>
          <a:xfrm>
            <a:off x="2822387" y="1536192"/>
            <a:ext cx="68580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QTD 1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0" name="Google Shape;710;p23"/>
          <p:cNvSpPr/>
          <p:nvPr/>
        </p:nvSpPr>
        <p:spPr>
          <a:xfrm>
            <a:off x="3962278" y="1545336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C982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PENDENTE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1" name="Google Shape;711;p23"/>
          <p:cNvSpPr txBox="1"/>
          <p:nvPr/>
        </p:nvSpPr>
        <p:spPr>
          <a:xfrm>
            <a:off x="2840675" y="3621024"/>
            <a:ext cx="1926275" cy="2606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FORRO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Forro do corredor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Em definição: V1 modular × V2 gesso liso com spots. Depende do mapa de visitas da obra.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2" name="Google Shape;712;p23"/>
          <p:cNvSpPr/>
          <p:nvPr/>
        </p:nvSpPr>
        <p:spPr>
          <a:xfrm>
            <a:off x="5041270" y="1463040"/>
            <a:ext cx="2109155" cy="48006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s10_5.jpg" id="713" name="Google Shape;713;p23"/>
          <p:cNvPicPr preferRelativeResize="0"/>
          <p:nvPr/>
        </p:nvPicPr>
        <p:blipFill rotWithShape="1">
          <a:blip r:embed="rId7">
            <a:alphaModFix/>
          </a:blip>
          <a:srcRect b="48555" l="1900" r="-1900" t="5631"/>
          <a:stretch/>
        </p:blipFill>
        <p:spPr>
          <a:xfrm>
            <a:off x="5041270" y="1463040"/>
            <a:ext cx="2109155" cy="2103120"/>
          </a:xfrm>
          <a:prstGeom prst="rect">
            <a:avLst/>
          </a:prstGeom>
          <a:noFill/>
          <a:ln>
            <a:noFill/>
          </a:ln>
        </p:spPr>
      </p:pic>
      <p:sp>
        <p:nvSpPr>
          <p:cNvPr id="714" name="Google Shape;714;p23"/>
          <p:cNvSpPr txBox="1"/>
          <p:nvPr/>
        </p:nvSpPr>
        <p:spPr>
          <a:xfrm>
            <a:off x="5114422" y="1536192"/>
            <a:ext cx="68580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QTD 9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p23"/>
          <p:cNvSpPr txBox="1"/>
          <p:nvPr/>
        </p:nvSpPr>
        <p:spPr>
          <a:xfrm>
            <a:off x="5132710" y="3621024"/>
            <a:ext cx="1926275" cy="2606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ILUMINAÇÃO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Arandela Slide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Preta com haste de madeira, luz quente.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6" name="Google Shape;716;p23"/>
          <p:cNvSpPr/>
          <p:nvPr/>
        </p:nvSpPr>
        <p:spPr>
          <a:xfrm>
            <a:off x="7333305" y="1463040"/>
            <a:ext cx="2109155" cy="48006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s10_11.jpg" id="717" name="Google Shape;717;p23"/>
          <p:cNvPicPr preferRelativeResize="0"/>
          <p:nvPr/>
        </p:nvPicPr>
        <p:blipFill rotWithShape="1">
          <a:blip r:embed="rId8">
            <a:alphaModFix/>
          </a:blip>
          <a:srcRect b="0" l="24928" r="24928" t="0"/>
          <a:stretch/>
        </p:blipFill>
        <p:spPr>
          <a:xfrm>
            <a:off x="7333305" y="1463040"/>
            <a:ext cx="2109155" cy="2103120"/>
          </a:xfrm>
          <a:prstGeom prst="rect">
            <a:avLst/>
          </a:prstGeom>
          <a:noFill/>
          <a:ln>
            <a:noFill/>
          </a:ln>
        </p:spPr>
      </p:pic>
      <p:sp>
        <p:nvSpPr>
          <p:cNvPr id="718" name="Google Shape;718;p23"/>
          <p:cNvSpPr txBox="1"/>
          <p:nvPr/>
        </p:nvSpPr>
        <p:spPr>
          <a:xfrm>
            <a:off x="7406457" y="1536192"/>
            <a:ext cx="68580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QTD 10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9" name="Google Shape;719;p23"/>
          <p:cNvSpPr txBox="1"/>
          <p:nvPr/>
        </p:nvSpPr>
        <p:spPr>
          <a:xfrm>
            <a:off x="7424745" y="3621024"/>
            <a:ext cx="1926275" cy="2606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DECORAÇÃO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Número da unidade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Preto, junto à arandela, sobre porta branca.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0" name="Google Shape;720;p23"/>
          <p:cNvSpPr/>
          <p:nvPr/>
        </p:nvSpPr>
        <p:spPr>
          <a:xfrm>
            <a:off x="9625340" y="1463040"/>
            <a:ext cx="2109155" cy="48006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s10_17.jpg" id="721" name="Google Shape;721;p23"/>
          <p:cNvPicPr preferRelativeResize="0"/>
          <p:nvPr/>
        </p:nvPicPr>
        <p:blipFill rotWithShape="1">
          <a:blip r:embed="rId9">
            <a:alphaModFix/>
          </a:blip>
          <a:srcRect b="29898" l="0" r="0" t="29898"/>
          <a:stretch/>
        </p:blipFill>
        <p:spPr>
          <a:xfrm>
            <a:off x="9625340" y="1463040"/>
            <a:ext cx="2109155" cy="2103120"/>
          </a:xfrm>
          <a:prstGeom prst="rect">
            <a:avLst/>
          </a:prstGeom>
          <a:noFill/>
          <a:ln>
            <a:noFill/>
          </a:ln>
        </p:spPr>
      </p:pic>
      <p:sp>
        <p:nvSpPr>
          <p:cNvPr id="722" name="Google Shape;722;p23"/>
          <p:cNvSpPr txBox="1"/>
          <p:nvPr/>
        </p:nvSpPr>
        <p:spPr>
          <a:xfrm>
            <a:off x="9698492" y="1536192"/>
            <a:ext cx="68580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QTD 10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3" name="Google Shape;723;p23"/>
          <p:cNvSpPr/>
          <p:nvPr/>
        </p:nvSpPr>
        <p:spPr>
          <a:xfrm>
            <a:off x="10906963" y="1545336"/>
            <a:ext cx="754380" cy="219456"/>
          </a:xfrm>
          <a:prstGeom prst="roundRect">
            <a:avLst>
              <a:gd fmla="val 50000" name="adj"/>
            </a:avLst>
          </a:prstGeom>
          <a:solidFill>
            <a:srgbClr val="5B6B8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COTAR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4" name="Google Shape;724;p23"/>
          <p:cNvSpPr txBox="1"/>
          <p:nvPr/>
        </p:nvSpPr>
        <p:spPr>
          <a:xfrm>
            <a:off x="9716780" y="3621024"/>
            <a:ext cx="1926275" cy="2606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00"/>
              <a:buFont typeface="Arial"/>
              <a:buNone/>
            </a:pPr>
            <a:r>
              <a:rPr b="1" i="0" lang="en-US" sz="7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DECORAÇÃO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Capacho Seazone (portas)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850"/>
              <a:buFont typeface="Arial"/>
              <a:buNone/>
            </a:pPr>
            <a:r>
              <a:rPr b="0" i="0" lang="en-US" sz="8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450 × 600 mm, azul com logo Seazone, um por porta.</a:t>
            </a:r>
            <a:endParaRPr b="0" i="0" sz="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29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24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 · INTERIORES · NOVA RECEPÇÃO · REV. 07/10/2026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1" name="Google Shape;731;p24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Forro do corredor: V1 modular × V2 gesso liso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navy_tpl_logo_cover.png" id="732" name="Google Shape;732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icon_footer.png" id="733" name="Google Shape;733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734" name="Google Shape;734;p24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INTERIORES  ·  22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s5_4.jpg" id="735" name="Google Shape;735;p24"/>
          <p:cNvPicPr preferRelativeResize="0"/>
          <p:nvPr/>
        </p:nvPicPr>
        <p:blipFill rotWithShape="1">
          <a:blip r:embed="rId5">
            <a:alphaModFix/>
          </a:blip>
          <a:srcRect b="6237" l="0" r="0" t="6237"/>
          <a:stretch/>
        </p:blipFill>
        <p:spPr>
          <a:xfrm>
            <a:off x="457200" y="1280160"/>
            <a:ext cx="5501488" cy="3429000"/>
          </a:xfrm>
          <a:prstGeom prst="rect">
            <a:avLst/>
          </a:prstGeom>
          <a:noFill/>
          <a:ln>
            <a:noFill/>
          </a:ln>
        </p:spPr>
      </p:pic>
      <p:sp>
        <p:nvSpPr>
          <p:cNvPr id="736" name="Google Shape;736;p24"/>
          <p:cNvSpPr txBox="1"/>
          <p:nvPr/>
        </p:nvSpPr>
        <p:spPr>
          <a:xfrm>
            <a:off x="548640" y="1371600"/>
            <a:ext cx="146304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V1 · FORRO MODULAR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s5_6.jpg" id="737" name="Google Shape;737;p24"/>
          <p:cNvPicPr preferRelativeResize="0"/>
          <p:nvPr/>
        </p:nvPicPr>
        <p:blipFill rotWithShape="1">
          <a:blip r:embed="rId6">
            <a:alphaModFix/>
          </a:blip>
          <a:srcRect b="6237" l="0" r="0" t="6237"/>
          <a:stretch/>
        </p:blipFill>
        <p:spPr>
          <a:xfrm>
            <a:off x="6233008" y="1280160"/>
            <a:ext cx="5501488" cy="3429000"/>
          </a:xfrm>
          <a:prstGeom prst="rect">
            <a:avLst/>
          </a:prstGeom>
          <a:noFill/>
          <a:ln>
            <a:noFill/>
          </a:ln>
        </p:spPr>
      </p:pic>
      <p:sp>
        <p:nvSpPr>
          <p:cNvPr id="738" name="Google Shape;738;p24"/>
          <p:cNvSpPr txBox="1"/>
          <p:nvPr/>
        </p:nvSpPr>
        <p:spPr>
          <a:xfrm>
            <a:off x="6324448" y="1371600"/>
            <a:ext cx="178308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V2 · FORRO DE GESSO LISO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9" name="Google Shape;739;p24"/>
          <p:cNvSpPr/>
          <p:nvPr/>
        </p:nvSpPr>
        <p:spPr>
          <a:xfrm>
            <a:off x="457200" y="4937760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C982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PENDENTE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0" name="Google Shape;740;p24"/>
          <p:cNvSpPr txBox="1"/>
          <p:nvPr/>
        </p:nvSpPr>
        <p:spPr>
          <a:xfrm>
            <a:off x="1463040" y="4892040"/>
            <a:ext cx="10271455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Decisão pendente: depende do mapa de visitas da obra. A V2 é a mesma imagem 01, só com o forro do corredor trocado por gesso liso; spots embutidos na mesma posição.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1" name="Google Shape;741;p24"/>
          <p:cNvSpPr/>
          <p:nvPr/>
        </p:nvSpPr>
        <p:spPr>
          <a:xfrm>
            <a:off x="457200" y="5532120"/>
            <a:ext cx="11277295" cy="731520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2" name="Google Shape;742;p24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NA OBRA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Rachel avisa a Alice no suporte quando o forro for definido. Até lá, o memorial mantém o forro do corredor como "a cotar (Rove)".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47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25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 · INTERIORES · NOVA RECEPÇÃO · REV. 07/10/2026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9" name="Google Shape;749;p25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Muxarabi e fechamento do vão · prancha DT.01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navy_tpl_logo_cover.png" id="750" name="Google Shape;750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icon_footer.png" id="751" name="Google Shape;751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752" name="Google Shape;752;p25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INTERIORES  ·  23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s13_5.jpg" id="753" name="Google Shape;753;p25"/>
          <p:cNvPicPr preferRelativeResize="0"/>
          <p:nvPr/>
        </p:nvPicPr>
        <p:blipFill rotWithShape="1">
          <a:blip r:embed="rId5">
            <a:alphaModFix/>
          </a:blip>
          <a:srcRect b="50" l="0" r="0" t="50"/>
          <a:stretch/>
        </p:blipFill>
        <p:spPr>
          <a:xfrm>
            <a:off x="457200" y="1280160"/>
            <a:ext cx="2194560" cy="4937760"/>
          </a:xfrm>
          <a:prstGeom prst="rect">
            <a:avLst/>
          </a:prstGeom>
          <a:noFill/>
          <a:ln>
            <a:noFill/>
          </a:ln>
        </p:spPr>
      </p:pic>
      <p:sp>
        <p:nvSpPr>
          <p:cNvPr id="754" name="Google Shape;754;p25"/>
          <p:cNvSpPr txBox="1"/>
          <p:nvPr/>
        </p:nvSpPr>
        <p:spPr>
          <a:xfrm>
            <a:off x="530352" y="1353312"/>
            <a:ext cx="10058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IMAGEM FINAL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5" name="Google Shape;755;p25"/>
          <p:cNvSpPr/>
          <p:nvPr/>
        </p:nvSpPr>
        <p:spPr>
          <a:xfrm>
            <a:off x="2834640" y="1280160"/>
            <a:ext cx="2194560" cy="49377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s13_4.jpg" id="756" name="Google Shape;756;p2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880360" y="1854337"/>
            <a:ext cx="2103120" cy="3789405"/>
          </a:xfrm>
          <a:prstGeom prst="rect">
            <a:avLst/>
          </a:prstGeom>
          <a:noFill/>
          <a:ln>
            <a:noFill/>
          </a:ln>
        </p:spPr>
      </p:pic>
      <p:sp>
        <p:nvSpPr>
          <p:cNvPr id="757" name="Google Shape;757;p25"/>
          <p:cNvSpPr txBox="1"/>
          <p:nvPr/>
        </p:nvSpPr>
        <p:spPr>
          <a:xfrm>
            <a:off x="2907792" y="1353312"/>
            <a:ext cx="114300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VISTA CC · 1:35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8" name="Google Shape;758;p25"/>
          <p:cNvSpPr/>
          <p:nvPr/>
        </p:nvSpPr>
        <p:spPr>
          <a:xfrm>
            <a:off x="5212080" y="1280160"/>
            <a:ext cx="6522415" cy="29260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s12_4.jpg" id="759" name="Google Shape;759;p2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68592" y="1325880"/>
            <a:ext cx="4009392" cy="2834640"/>
          </a:xfrm>
          <a:prstGeom prst="rect">
            <a:avLst/>
          </a:prstGeom>
          <a:noFill/>
          <a:ln>
            <a:noFill/>
          </a:ln>
        </p:spPr>
      </p:pic>
      <p:sp>
        <p:nvSpPr>
          <p:cNvPr id="760" name="Google Shape;760;p25"/>
          <p:cNvSpPr txBox="1"/>
          <p:nvPr/>
        </p:nvSpPr>
        <p:spPr>
          <a:xfrm>
            <a:off x="5285232" y="1353312"/>
            <a:ext cx="86868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DT.01 · A3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1" name="Google Shape;761;p25"/>
          <p:cNvSpPr txBox="1"/>
          <p:nvPr/>
        </p:nvSpPr>
        <p:spPr>
          <a:xfrm>
            <a:off x="5212080" y="4343400"/>
            <a:ext cx="6522415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MUXARABI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Palha quadriculada natural com quadro em madeira (moldura 30 mm), 900 × 2880 mm, do piso da recepção (+1,08) ao forro (+3,96). Acima de +3,96 segue a grelha de metalon 30×30 preto fosco até +6,69.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FC6058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FIXAÇÃO PROPOSTA · A VALIDAR COM A OBRA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Perfil U metálico 20×20 preto fosco no piso e no forro, com parafuso e bucha 6 mm · cantoneira L 20×20 a cada 60 cm na lateral, na alvenaria.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FC6058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FECHAMENTO DO VÃO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Em alvenaria, como já definido: bloco cerâmico 19 cm, rebocado nas 2 faces, encunhado no topo e amarrado às alvenarias existentes (planta do vão em 1:25 na DT.01).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26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 · INTERIORES · NOVA RECEPÇÃO · REV. 07/10/2026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8" name="Google Shape;768;p26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Nova recepção: pendências e pontos a confirmar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navy_tpl_logo_cover.png" id="769" name="Google Shape;769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icon_footer.png" id="770" name="Google Shape;770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771" name="Google Shape;771;p26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INTERIORES  ·  24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nr__img02_branco.jpg" id="772" name="Google Shape;772;p26"/>
          <p:cNvPicPr preferRelativeResize="0"/>
          <p:nvPr/>
        </p:nvPicPr>
        <p:blipFill rotWithShape="1">
          <a:blip r:embed="rId5">
            <a:alphaModFix/>
          </a:blip>
          <a:srcRect b="0" l="28336" r="28336" t="0"/>
          <a:stretch/>
        </p:blipFill>
        <p:spPr>
          <a:xfrm>
            <a:off x="457200" y="1280160"/>
            <a:ext cx="3840480" cy="4983480"/>
          </a:xfrm>
          <a:prstGeom prst="rect">
            <a:avLst/>
          </a:prstGeom>
          <a:noFill/>
          <a:ln>
            <a:noFill/>
          </a:ln>
        </p:spPr>
      </p:pic>
      <p:sp>
        <p:nvSpPr>
          <p:cNvPr id="773" name="Google Shape;773;p26"/>
          <p:cNvSpPr txBox="1"/>
          <p:nvPr/>
        </p:nvSpPr>
        <p:spPr>
          <a:xfrm>
            <a:off x="530352" y="1353312"/>
            <a:ext cx="128016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IMAGEM 02 · FINAL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4" name="Google Shape;774;p26"/>
          <p:cNvSpPr/>
          <p:nvPr/>
        </p:nvSpPr>
        <p:spPr>
          <a:xfrm>
            <a:off x="4572000" y="1280160"/>
            <a:ext cx="7162495" cy="83058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5" name="Google Shape;775;p26"/>
          <p:cNvSpPr txBox="1"/>
          <p:nvPr/>
        </p:nvSpPr>
        <p:spPr>
          <a:xfrm>
            <a:off x="4663440" y="141732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☐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6" name="Google Shape;776;p26"/>
          <p:cNvSpPr txBox="1"/>
          <p:nvPr/>
        </p:nvSpPr>
        <p:spPr>
          <a:xfrm>
            <a:off x="5074920" y="1280160"/>
            <a:ext cx="5470855" cy="8305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Forro do corredor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Modular (V1) ou gesso liso (V2). Depende do mapa de visitas; a Rachel avisa a Alice no suporte.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7" name="Google Shape;777;p26"/>
          <p:cNvSpPr/>
          <p:nvPr/>
        </p:nvSpPr>
        <p:spPr>
          <a:xfrm>
            <a:off x="10801807" y="1585722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C982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PENDENTE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8" name="Google Shape;778;p26"/>
          <p:cNvSpPr txBox="1"/>
          <p:nvPr/>
        </p:nvSpPr>
        <p:spPr>
          <a:xfrm>
            <a:off x="4663440" y="224790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☐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9" name="Google Shape;779;p26"/>
          <p:cNvSpPr txBox="1"/>
          <p:nvPr/>
        </p:nvSpPr>
        <p:spPr>
          <a:xfrm>
            <a:off x="5074920" y="2110740"/>
            <a:ext cx="5470855" cy="8305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Cotação da Rove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Letreiro luminoso, quadro grande, capacho de alumínio, capachos Seazone e alvenaria do vão.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0" name="Google Shape;780;p26"/>
          <p:cNvSpPr/>
          <p:nvPr/>
        </p:nvSpPr>
        <p:spPr>
          <a:xfrm>
            <a:off x="10870387" y="2416302"/>
            <a:ext cx="754380" cy="219456"/>
          </a:xfrm>
          <a:prstGeom prst="roundRect">
            <a:avLst>
              <a:gd fmla="val 50000" name="adj"/>
            </a:avLst>
          </a:prstGeom>
          <a:solidFill>
            <a:srgbClr val="5B6B8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COTAR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1" name="Google Shape;781;p26"/>
          <p:cNvSpPr/>
          <p:nvPr/>
        </p:nvSpPr>
        <p:spPr>
          <a:xfrm>
            <a:off x="4572000" y="2941320"/>
            <a:ext cx="7162495" cy="83058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2" name="Google Shape;782;p26"/>
          <p:cNvSpPr txBox="1"/>
          <p:nvPr/>
        </p:nvSpPr>
        <p:spPr>
          <a:xfrm>
            <a:off x="4663440" y="307848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☐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Google Shape;783;p26"/>
          <p:cNvSpPr txBox="1"/>
          <p:nvPr/>
        </p:nvSpPr>
        <p:spPr>
          <a:xfrm>
            <a:off x="5074920" y="2941320"/>
            <a:ext cx="5470855" cy="8305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Pendente Bulan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Está no Revit (2 un.), mas não aparece nas imagens. Entra ou sai?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4" name="Google Shape;784;p26"/>
          <p:cNvSpPr/>
          <p:nvPr/>
        </p:nvSpPr>
        <p:spPr>
          <a:xfrm>
            <a:off x="10733227" y="3246882"/>
            <a:ext cx="891540" cy="219456"/>
          </a:xfrm>
          <a:prstGeom prst="roundRect">
            <a:avLst>
              <a:gd fmla="val 50000" name="adj"/>
            </a:avLst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VALIDAR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5" name="Google Shape;785;p26"/>
          <p:cNvSpPr txBox="1"/>
          <p:nvPr/>
        </p:nvSpPr>
        <p:spPr>
          <a:xfrm>
            <a:off x="4663440" y="390906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☐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6" name="Google Shape;786;p26"/>
          <p:cNvSpPr txBox="1"/>
          <p:nvPr/>
        </p:nvSpPr>
        <p:spPr>
          <a:xfrm>
            <a:off x="5074920" y="3771900"/>
            <a:ext cx="5470855" cy="8305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Cimento queimado e velvet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Áreas do Revit (56,01 m² e 3,54 m²): conferir se o velvet cobre mais paredes do corredor.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7" name="Google Shape;787;p26"/>
          <p:cNvSpPr/>
          <p:nvPr/>
        </p:nvSpPr>
        <p:spPr>
          <a:xfrm>
            <a:off x="10733227" y="4077462"/>
            <a:ext cx="891540" cy="219456"/>
          </a:xfrm>
          <a:prstGeom prst="roundRect">
            <a:avLst>
              <a:gd fmla="val 50000" name="adj"/>
            </a:avLst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VALIDAR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8" name="Google Shape;788;p26"/>
          <p:cNvSpPr/>
          <p:nvPr/>
        </p:nvSpPr>
        <p:spPr>
          <a:xfrm>
            <a:off x="4572000" y="4602480"/>
            <a:ext cx="7162495" cy="83058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9" name="Google Shape;789;p26"/>
          <p:cNvSpPr txBox="1"/>
          <p:nvPr/>
        </p:nvSpPr>
        <p:spPr>
          <a:xfrm>
            <a:off x="4663440" y="473964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☐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0" name="Google Shape;790;p26"/>
          <p:cNvSpPr txBox="1"/>
          <p:nvPr/>
        </p:nvSpPr>
        <p:spPr>
          <a:xfrm>
            <a:off x="5074920" y="4602480"/>
            <a:ext cx="5470855" cy="8305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Fixação do muxarabi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Proposta de detalhe (DT.01), a validar com a obra.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1" name="Google Shape;791;p26"/>
          <p:cNvSpPr/>
          <p:nvPr/>
        </p:nvSpPr>
        <p:spPr>
          <a:xfrm>
            <a:off x="10733227" y="4908042"/>
            <a:ext cx="891540" cy="219456"/>
          </a:xfrm>
          <a:prstGeom prst="roundRect">
            <a:avLst>
              <a:gd fmla="val 50000" name="adj"/>
            </a:avLst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VALIDAR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2" name="Google Shape;792;p26"/>
          <p:cNvSpPr txBox="1"/>
          <p:nvPr/>
        </p:nvSpPr>
        <p:spPr>
          <a:xfrm>
            <a:off x="4663440" y="5570220"/>
            <a:ext cx="320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☐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3" name="Google Shape;793;p26"/>
          <p:cNvSpPr txBox="1"/>
          <p:nvPr/>
        </p:nvSpPr>
        <p:spPr>
          <a:xfrm>
            <a:off x="5074920" y="5433060"/>
            <a:ext cx="5470855" cy="8305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Escopo do corredor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 memorial novo cobre o corredor do PAV 1 do modelo (10 unidades). Os demais pavimentos seguem o memorial anterior.</a:t>
            </a:r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4" name="Google Shape;794;p26"/>
          <p:cNvSpPr/>
          <p:nvPr/>
        </p:nvSpPr>
        <p:spPr>
          <a:xfrm>
            <a:off x="10801807" y="5738622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DEFINIDO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99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Google Shape;800;p27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 · INTERIORES · RECEPÇÃO DE LANÇAMENTO (2023) · REFERÊNCIA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1" name="Google Shape;801;p27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Recepção de lançamento: cimento e palha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navy_tpl_logo_cover.png" id="802" name="Google Shape;802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icon_footer.png" id="803" name="Google Shape;803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804" name="Google Shape;804;p27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INTERIORES  ·  25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recepcao_e_corredor__recepcao_1.jpg" id="805" name="Google Shape;805;p27"/>
          <p:cNvPicPr preferRelativeResize="0"/>
          <p:nvPr/>
        </p:nvPicPr>
        <p:blipFill rotWithShape="1">
          <a:blip r:embed="rId5">
            <a:alphaModFix/>
          </a:blip>
          <a:srcRect b="0" l="4686" r="4686" t="0"/>
          <a:stretch/>
        </p:blipFill>
        <p:spPr>
          <a:xfrm>
            <a:off x="3794760" y="1280160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/Users/Rachel/AppData/Local/Temp/claude/C--Users-Rachel-Documents-SEAZONE-BOOK-PREMISSAS-FACHADA-EXTERNA-CAMPECHE-SPOT/a62d8e33-2374-48a1-8865-f7b177fbebf6/scratchpad/img/recepcao_e_corredor__recepcao_2.jpg" id="806" name="Google Shape;806;p27"/>
          <p:cNvPicPr preferRelativeResize="0"/>
          <p:nvPr/>
        </p:nvPicPr>
        <p:blipFill rotWithShape="1">
          <a:blip r:embed="rId6">
            <a:alphaModFix/>
          </a:blip>
          <a:srcRect b="0" l="4686" r="4686" t="0"/>
          <a:stretch/>
        </p:blipFill>
        <p:spPr>
          <a:xfrm>
            <a:off x="6465722" y="1280160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/Users/Rachel/AppData/Local/Temp/claude/C--Users-Rachel-Documents-SEAZONE-BOOK-PREMISSAS-FACHADA-EXTERNA-CAMPECHE-SPOT/a62d8e33-2374-48a1-8865-f7b177fbebf6/scratchpad/img/recepcao_e_corredor__recepcao_3.jpg" id="807" name="Google Shape;807;p27"/>
          <p:cNvPicPr preferRelativeResize="0"/>
          <p:nvPr/>
        </p:nvPicPr>
        <p:blipFill rotWithShape="1">
          <a:blip r:embed="rId7">
            <a:alphaModFix/>
          </a:blip>
          <a:srcRect b="0" l="4686" r="4686" t="0"/>
          <a:stretch/>
        </p:blipFill>
        <p:spPr>
          <a:xfrm>
            <a:off x="9136685" y="1280160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/Users/Rachel/AppData/Local/Temp/claude/C--Users-Rachel-Documents-SEAZONE-BOOK-PREMISSAS-FACHADA-EXTERNA-CAMPECHE-SPOT/a62d8e33-2374-48a1-8865-f7b177fbebf6/scratchpad/img/recepcao_e_corredor__recepcao_4.jpg" id="808" name="Google Shape;808;p27"/>
          <p:cNvPicPr preferRelativeResize="0"/>
          <p:nvPr/>
        </p:nvPicPr>
        <p:blipFill rotWithShape="1">
          <a:blip r:embed="rId8">
            <a:alphaModFix/>
          </a:blip>
          <a:srcRect b="0" l="4686" r="4686" t="0"/>
          <a:stretch/>
        </p:blipFill>
        <p:spPr>
          <a:xfrm>
            <a:off x="3794760" y="2965704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/Users/Rachel/AppData/Local/Temp/claude/C--Users-Rachel-Documents-SEAZONE-BOOK-PREMISSAS-FACHADA-EXTERNA-CAMPECHE-SPOT/a62d8e33-2374-48a1-8865-f7b177fbebf6/scratchpad/img/recepcao_e_corredor__recepcao_5.jpg" id="809" name="Google Shape;809;p27"/>
          <p:cNvPicPr preferRelativeResize="0"/>
          <p:nvPr/>
        </p:nvPicPr>
        <p:blipFill rotWithShape="1">
          <a:blip r:embed="rId9">
            <a:alphaModFix/>
          </a:blip>
          <a:srcRect b="0" l="4686" r="4686" t="0"/>
          <a:stretch/>
        </p:blipFill>
        <p:spPr>
          <a:xfrm>
            <a:off x="6465722" y="2965704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/Users/Rachel/AppData/Local/Temp/claude/C--Users-Rachel-Documents-SEAZONE-BOOK-PREMISSAS-FACHADA-EXTERNA-CAMPECHE-SPOT/a62d8e33-2374-48a1-8865-f7b177fbebf6/scratchpad/img/recepcao_e_corredor__recepcao_6.jpg" id="810" name="Google Shape;810;p27"/>
          <p:cNvPicPr preferRelativeResize="0"/>
          <p:nvPr/>
        </p:nvPicPr>
        <p:blipFill rotWithShape="1">
          <a:blip r:embed="rId10">
            <a:alphaModFix/>
          </a:blip>
          <a:srcRect b="0" l="4686" r="4686" t="0"/>
          <a:stretch/>
        </p:blipFill>
        <p:spPr>
          <a:xfrm>
            <a:off x="9136685" y="2965704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/Users/Rachel/AppData/Local/Temp/claude/C--Users-Rachel-Documents-SEAZONE-BOOK-PREMISSAS-FACHADA-EXTERNA-CAMPECHE-SPOT/a62d8e33-2374-48a1-8865-f7b177fbebf6/scratchpad/img/recepcao_e_corredor__recepcao_7.jpg" id="811" name="Google Shape;811;p27"/>
          <p:cNvPicPr preferRelativeResize="0"/>
          <p:nvPr/>
        </p:nvPicPr>
        <p:blipFill rotWithShape="1">
          <a:blip r:embed="rId11">
            <a:alphaModFix/>
          </a:blip>
          <a:srcRect b="0" l="4686" r="4686" t="0"/>
          <a:stretch/>
        </p:blipFill>
        <p:spPr>
          <a:xfrm>
            <a:off x="3794760" y="4651248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/Users/Rachel/AppData/Local/Temp/claude/C--Users-Rachel-Documents-SEAZONE-BOOK-PREMISSAS-FACHADA-EXTERNA-CAMPECHE-SPOT/a62d8e33-2374-48a1-8865-f7b177fbebf6/scratchpad/img/recepcao_e_corredor__recepcao_8.jpg" id="812" name="Google Shape;812;p27"/>
          <p:cNvPicPr preferRelativeResize="0"/>
          <p:nvPr/>
        </p:nvPicPr>
        <p:blipFill rotWithShape="1">
          <a:blip r:embed="rId12">
            <a:alphaModFix/>
          </a:blip>
          <a:srcRect b="0" l="4686" r="4686" t="0"/>
          <a:stretch/>
        </p:blipFill>
        <p:spPr>
          <a:xfrm>
            <a:off x="6465722" y="4651248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/Users/Rachel/AppData/Local/Temp/claude/C--Users-Rachel-Documents-SEAZONE-BOOK-PREMISSAS-FACHADA-EXTERNA-CAMPECHE-SPOT/a62d8e33-2374-48a1-8865-f7b177fbebf6/scratchpad/img/recepcao_e_corredor__recepcao_9.jpg" id="813" name="Google Shape;813;p27"/>
          <p:cNvPicPr preferRelativeResize="0"/>
          <p:nvPr/>
        </p:nvPicPr>
        <p:blipFill rotWithShape="1">
          <a:blip r:embed="rId13">
            <a:alphaModFix/>
          </a:blip>
          <a:srcRect b="0" l="4686" r="4686" t="0"/>
          <a:stretch/>
        </p:blipFill>
        <p:spPr>
          <a:xfrm>
            <a:off x="9136685" y="4651248"/>
            <a:ext cx="2597810" cy="1612392"/>
          </a:xfrm>
          <a:prstGeom prst="rect">
            <a:avLst/>
          </a:prstGeom>
          <a:noFill/>
          <a:ln>
            <a:noFill/>
          </a:ln>
        </p:spPr>
      </p:pic>
      <p:sp>
        <p:nvSpPr>
          <p:cNvPr id="814" name="Google Shape;814;p27"/>
          <p:cNvSpPr/>
          <p:nvPr/>
        </p:nvSpPr>
        <p:spPr>
          <a:xfrm>
            <a:off x="457200" y="3977640"/>
            <a:ext cx="3108960" cy="914400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5" name="Google Shape;815;p27"/>
          <p:cNvSpPr txBox="1"/>
          <p:nvPr/>
        </p:nvSpPr>
        <p:spPr>
          <a:xfrm>
            <a:off x="640080" y="406908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REFERÊNCIA DE LANÇAMENTO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30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Na obra vale a NOVA RECEPÇÃO (rev. 07/10/2026). Portas e rodapés: BRANCOS.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6" name="Google Shape;816;p27"/>
          <p:cNvSpPr txBox="1"/>
          <p:nvPr/>
        </p:nvSpPr>
        <p:spPr>
          <a:xfrm>
            <a:off x="457200" y="1280160"/>
            <a:ext cx="3108960" cy="4983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CONCEITO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Recepção com pé-direito duplo: painel de cimento queimado com quadros em metalon, biombos de palha e poltronas de corda náutica.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FC6058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BIOMBOS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As estruturas metálicas com palha dão privacidade a quem circula nos corredores, já que da rua se tem visão da recepção (memorial de interiores).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FC6058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MOBILIÁRIO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Poltrona com corda náutica, poltrona Acapulco, puff seat garden, puffs Aurora cinza e Sampa, mesinha lateral Vulcan.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cimento.jpg" id="817" name="Google Shape;817;p27"/>
          <p:cNvPicPr preferRelativeResize="0"/>
          <p:nvPr/>
        </p:nvPicPr>
        <p:blipFill rotWithShape="1">
          <a:blip r:embed="rId14">
            <a:alphaModFix/>
          </a:blip>
          <a:srcRect b="0" l="12500" r="12500" t="0"/>
          <a:stretch/>
        </p:blipFill>
        <p:spPr>
          <a:xfrm>
            <a:off x="457200" y="5120640"/>
            <a:ext cx="658368" cy="658368"/>
          </a:xfrm>
          <a:prstGeom prst="ellipse">
            <a:avLst/>
          </a:prstGeom>
          <a:noFill/>
          <a:ln>
            <a:noFill/>
          </a:ln>
        </p:spPr>
      </p:pic>
      <p:sp>
        <p:nvSpPr>
          <p:cNvPr id="818" name="Google Shape;818;p27"/>
          <p:cNvSpPr txBox="1"/>
          <p:nvPr/>
        </p:nvSpPr>
        <p:spPr>
          <a:xfrm>
            <a:off x="402336" y="5815584"/>
            <a:ext cx="76809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Cimento queimado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palha.jpg" id="819" name="Google Shape;819;p27"/>
          <p:cNvPicPr preferRelativeResize="0"/>
          <p:nvPr/>
        </p:nvPicPr>
        <p:blipFill rotWithShape="1">
          <a:blip r:embed="rId15">
            <a:alphaModFix/>
          </a:blip>
          <a:srcRect b="35542" l="0" r="0" t="35542"/>
          <a:stretch/>
        </p:blipFill>
        <p:spPr>
          <a:xfrm>
            <a:off x="1261872" y="5120640"/>
            <a:ext cx="658368" cy="658368"/>
          </a:xfrm>
          <a:prstGeom prst="ellipse">
            <a:avLst/>
          </a:prstGeom>
          <a:noFill/>
          <a:ln>
            <a:noFill/>
          </a:ln>
        </p:spPr>
      </p:pic>
      <p:sp>
        <p:nvSpPr>
          <p:cNvPr id="820" name="Google Shape;820;p27"/>
          <p:cNvSpPr txBox="1"/>
          <p:nvPr/>
        </p:nvSpPr>
        <p:spPr>
          <a:xfrm>
            <a:off x="1207008" y="5815584"/>
            <a:ext cx="76809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Palha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velvet.jpg" id="821" name="Google Shape;821;p27"/>
          <p:cNvPicPr preferRelativeResize="0"/>
          <p:nvPr/>
        </p:nvPicPr>
        <p:blipFill rotWithShape="1">
          <a:blip r:embed="rId16">
            <a:alphaModFix/>
          </a:blip>
          <a:srcRect b="0" l="12500" r="12500" t="0"/>
          <a:stretch/>
        </p:blipFill>
        <p:spPr>
          <a:xfrm>
            <a:off x="2066544" y="5120640"/>
            <a:ext cx="658368" cy="658368"/>
          </a:xfrm>
          <a:prstGeom prst="ellipse">
            <a:avLst/>
          </a:prstGeom>
          <a:noFill/>
          <a:ln>
            <a:noFill/>
          </a:ln>
        </p:spPr>
      </p:pic>
      <p:sp>
        <p:nvSpPr>
          <p:cNvPr id="822" name="Google Shape;822;p27"/>
          <p:cNvSpPr txBox="1"/>
          <p:nvPr/>
        </p:nvSpPr>
        <p:spPr>
          <a:xfrm>
            <a:off x="2011680" y="5815584"/>
            <a:ext cx="76809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Velvet cinza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khali.jpg" id="823" name="Google Shape;823;p27"/>
          <p:cNvPicPr preferRelativeResize="0"/>
          <p:nvPr/>
        </p:nvPicPr>
        <p:blipFill rotWithShape="1">
          <a:blip r:embed="rId17">
            <a:alphaModFix/>
          </a:blip>
          <a:srcRect b="0" l="32437" r="32437" t="0"/>
          <a:stretch/>
        </p:blipFill>
        <p:spPr>
          <a:xfrm>
            <a:off x="2871216" y="5120640"/>
            <a:ext cx="658368" cy="658368"/>
          </a:xfrm>
          <a:prstGeom prst="ellipse">
            <a:avLst/>
          </a:prstGeom>
          <a:noFill/>
          <a:ln>
            <a:noFill/>
          </a:ln>
        </p:spPr>
      </p:pic>
      <p:sp>
        <p:nvSpPr>
          <p:cNvPr id="824" name="Google Shape;824;p27"/>
          <p:cNvSpPr txBox="1"/>
          <p:nvPr/>
        </p:nvSpPr>
        <p:spPr>
          <a:xfrm>
            <a:off x="2816352" y="5815584"/>
            <a:ext cx="76809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Khali 90×90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29" name="Shape 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Google Shape;830;p2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 · INTERIORES · CORREDORES DE LANÇAMENTO (2023) · REFERÊNCIA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28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200"/>
              <a:buFont typeface="Arial"/>
              <a:buNone/>
            </a:pPr>
            <a:r>
              <a:rPr b="1" i="0" lang="en-US" sz="22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Corredores e vista superior da recepção (lançamento)</a:t>
            </a:r>
            <a:endParaRPr b="0" i="0" sz="2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navy_tpl_logo_cover.png" id="832" name="Google Shape;832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icon_footer.png" id="833" name="Google Shape;833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834" name="Google Shape;834;p28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INTERIORES  ·  26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recepcao_e_corredor__corredor_1.jpg" id="835" name="Google Shape;835;p28"/>
          <p:cNvPicPr preferRelativeResize="0"/>
          <p:nvPr/>
        </p:nvPicPr>
        <p:blipFill rotWithShape="1">
          <a:blip r:embed="rId5">
            <a:alphaModFix/>
          </a:blip>
          <a:srcRect b="0" l="14064" r="14064" t="0"/>
          <a:stretch/>
        </p:blipFill>
        <p:spPr>
          <a:xfrm>
            <a:off x="3794760" y="1280160"/>
            <a:ext cx="3933292" cy="307833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/Users/Rachel/AppData/Local/Temp/claude/C--Users-Rachel-Documents-SEAZONE-BOOK-PREMISSAS-FACHADA-EXTERNA-CAMPECHE-SPOT/a62d8e33-2374-48a1-8865-f7b177fbebf6/scratchpad/img/recepcao_e_corredor__corredor_2.jpg" id="836" name="Google Shape;836;p28"/>
          <p:cNvPicPr preferRelativeResize="0"/>
          <p:nvPr/>
        </p:nvPicPr>
        <p:blipFill rotWithShape="1">
          <a:blip r:embed="rId6">
            <a:alphaModFix/>
          </a:blip>
          <a:srcRect b="0" l="14064" r="14064" t="0"/>
          <a:stretch/>
        </p:blipFill>
        <p:spPr>
          <a:xfrm>
            <a:off x="7801204" y="1280160"/>
            <a:ext cx="3933292" cy="307833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/Users/Rachel/AppData/Local/Temp/claude/C--Users-Rachel-Documents-SEAZONE-BOOK-PREMISSAS-FACHADA-EXTERNA-CAMPECHE-SPOT/a62d8e33-2374-48a1-8865-f7b177fbebf6/scratchpad/img/recepcao_e_corredor__corredor_3.jpg" id="837" name="Google Shape;837;p28"/>
          <p:cNvPicPr preferRelativeResize="0"/>
          <p:nvPr/>
        </p:nvPicPr>
        <p:blipFill rotWithShape="1">
          <a:blip r:embed="rId7">
            <a:alphaModFix/>
          </a:blip>
          <a:srcRect b="0" l="14064" r="14064" t="0"/>
          <a:stretch/>
        </p:blipFill>
        <p:spPr>
          <a:xfrm>
            <a:off x="3794760" y="4431649"/>
            <a:ext cx="2340795" cy="1831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/Users/Rachel/AppData/Local/Temp/claude/C--Users-Rachel-Documents-SEAZONE-BOOK-PREMISSAS-FACHADA-EXTERNA-CAMPECHE-SPOT/a62d8e33-2374-48a1-8865-f7b177fbebf6/scratchpad/img/recepcao_e_corredor__corredor_4.jpg" id="838" name="Google Shape;838;p28"/>
          <p:cNvPicPr preferRelativeResize="0"/>
          <p:nvPr/>
        </p:nvPicPr>
        <p:blipFill rotWithShape="1">
          <a:blip r:embed="rId8">
            <a:alphaModFix/>
          </a:blip>
          <a:srcRect b="0" l="14064" r="14064" t="0"/>
          <a:stretch/>
        </p:blipFill>
        <p:spPr>
          <a:xfrm>
            <a:off x="6208707" y="4431649"/>
            <a:ext cx="2340795" cy="18319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/Users/Rachel/AppData/Local/Temp/claude/C--Users-Rachel-Documents-SEAZONE-BOOK-PREMISSAS-FACHADA-EXTERNA-CAMPECHE-SPOT/a62d8e33-2374-48a1-8865-f7b177fbebf6/scratchpad/img/recepcao_e_corredor__planta_baixa.jpg" id="839" name="Google Shape;839;p28"/>
          <p:cNvPicPr preferRelativeResize="0"/>
          <p:nvPr/>
        </p:nvPicPr>
        <p:blipFill rotWithShape="1">
          <a:blip r:embed="rId9">
            <a:alphaModFix/>
          </a:blip>
          <a:srcRect b="0" l="14064" r="14064" t="0"/>
          <a:stretch/>
        </p:blipFill>
        <p:spPr>
          <a:xfrm>
            <a:off x="8622655" y="4431649"/>
            <a:ext cx="3111840" cy="1831991"/>
          </a:xfrm>
          <a:prstGeom prst="rect">
            <a:avLst/>
          </a:prstGeom>
          <a:noFill/>
          <a:ln>
            <a:noFill/>
          </a:ln>
        </p:spPr>
      </p:pic>
      <p:sp>
        <p:nvSpPr>
          <p:cNvPr id="840" name="Google Shape;840;p28"/>
          <p:cNvSpPr txBox="1"/>
          <p:nvPr/>
        </p:nvSpPr>
        <p:spPr>
          <a:xfrm>
            <a:off x="457200" y="1280160"/>
            <a:ext cx="3108960" cy="4983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CONCEITO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Paredes claras, números pretos e arandelas, piso claro 90×90. Os renders de 2023 mostram portas escuras: na obra, portas e rodapés BRANCOS.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FC6058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ITENS DO MEMORIAL DE INTERIORES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Textura velvet cinza · quadros de divulgação Seazone · MDF </a:t>
            </a:r>
            <a:r>
              <a:rPr lang="en-US" sz="1100">
                <a:solidFill>
                  <a:srgbClr val="333333"/>
                </a:solidFill>
              </a:rPr>
              <a:t>Carvalho Treviso Berneck</a:t>
            </a: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· luminária de parede Slide.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FC6058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SITUAÇÃO REGISTRADA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Portas e rodapés BRANCOS: definido (imagens finais 07/10/2026). Forro do corredor em definição.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28"/>
          <p:cNvSpPr/>
          <p:nvPr/>
        </p:nvSpPr>
        <p:spPr>
          <a:xfrm>
            <a:off x="457200" y="3931920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1E7F5C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DEFINIDO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28"/>
          <p:cNvSpPr txBox="1"/>
          <p:nvPr/>
        </p:nvSpPr>
        <p:spPr>
          <a:xfrm>
            <a:off x="457200" y="4343400"/>
            <a:ext cx="31089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900"/>
              <a:buFont typeface="Arial"/>
              <a:buNone/>
            </a:pPr>
            <a:r>
              <a:rPr b="0" i="1" lang="en-US" sz="90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A última imagem é a vista superior (planta) da recepção.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47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p29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 · INTERIORES · RECEPÇÃO E CORREDORES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29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Ficha: recepção (lançamento), hall e corredores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navy_tpl_logo_cover.png" id="850" name="Google Shape;850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icon_footer.png" id="851" name="Google Shape;851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852" name="Google Shape;852;p29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INTERIORES  ·  27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annot__s12_0.jpg" id="853" name="Google Shape;853;p29"/>
          <p:cNvPicPr preferRelativeResize="0"/>
          <p:nvPr/>
        </p:nvPicPr>
        <p:blipFill rotWithShape="1">
          <a:blip r:embed="rId5">
            <a:alphaModFix/>
          </a:blip>
          <a:srcRect b="53" l="0" r="0" t="53"/>
          <a:stretch/>
        </p:blipFill>
        <p:spPr>
          <a:xfrm>
            <a:off x="457200" y="1280160"/>
            <a:ext cx="3840480" cy="2157984"/>
          </a:xfrm>
          <a:prstGeom prst="rect">
            <a:avLst/>
          </a:prstGeom>
          <a:noFill/>
          <a:ln>
            <a:noFill/>
          </a:ln>
        </p:spPr>
      </p:pic>
      <p:sp>
        <p:nvSpPr>
          <p:cNvPr id="854" name="Google Shape;854;p29"/>
          <p:cNvSpPr txBox="1"/>
          <p:nvPr/>
        </p:nvSpPr>
        <p:spPr>
          <a:xfrm>
            <a:off x="548640" y="1371600"/>
            <a:ext cx="15773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CONCEITO · RECEPÇÃO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annot__s12_1.jpg" id="855" name="Google Shape;855;p29"/>
          <p:cNvPicPr preferRelativeResize="0"/>
          <p:nvPr/>
        </p:nvPicPr>
        <p:blipFill rotWithShape="1">
          <a:blip r:embed="rId6">
            <a:alphaModFix/>
          </a:blip>
          <a:srcRect b="53" l="0" r="0" t="53"/>
          <a:stretch/>
        </p:blipFill>
        <p:spPr>
          <a:xfrm>
            <a:off x="457200" y="3511296"/>
            <a:ext cx="3840480" cy="2157984"/>
          </a:xfrm>
          <a:prstGeom prst="rect">
            <a:avLst/>
          </a:prstGeom>
          <a:noFill/>
          <a:ln>
            <a:noFill/>
          </a:ln>
        </p:spPr>
      </p:pic>
      <p:sp>
        <p:nvSpPr>
          <p:cNvPr id="856" name="Google Shape;856;p29"/>
          <p:cNvSpPr txBox="1"/>
          <p:nvPr/>
        </p:nvSpPr>
        <p:spPr>
          <a:xfrm>
            <a:off x="548640" y="3602736"/>
            <a:ext cx="15773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CONCEITO · CORREDOR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7" name="Google Shape;857;p29"/>
          <p:cNvSpPr txBox="1"/>
          <p:nvPr/>
        </p:nvSpPr>
        <p:spPr>
          <a:xfrm>
            <a:off x="457200" y="5760720"/>
            <a:ext cx="3840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950"/>
              <a:buFont typeface="Arial"/>
              <a:buNone/>
            </a:pPr>
            <a:r>
              <a:rPr b="0" i="1" lang="en-US" sz="9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Recepção com pé-direito duplo: painel de cimento queimado com quadros em metalon, biombos de palha e poltronas de corda náutica.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29"/>
          <p:cNvSpPr/>
          <p:nvPr/>
        </p:nvSpPr>
        <p:spPr>
          <a:xfrm>
            <a:off x="4572000" y="128016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59" name="Google Shape;859;p29"/>
          <p:cNvSpPr txBox="1"/>
          <p:nvPr/>
        </p:nvSpPr>
        <p:spPr>
          <a:xfrm>
            <a:off x="4681728" y="128016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Parede-destaque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29"/>
          <p:cNvSpPr txBox="1"/>
          <p:nvPr/>
        </p:nvSpPr>
        <p:spPr>
          <a:xfrm>
            <a:off x="6126480" y="1280160"/>
            <a:ext cx="5470855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Suvinil Cimento Queimado "Túnel de Concreto" com </a:t>
            </a:r>
            <a:r>
              <a:rPr lang="en-US" sz="1000">
                <a:solidFill>
                  <a:srgbClr val="333333"/>
                </a:solidFill>
              </a:rPr>
              <a:t>quadros em MDF preto e metalon preto RAL 9005</a:t>
            </a: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(memorial R01)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1" name="Google Shape;861;p29"/>
          <p:cNvSpPr txBox="1"/>
          <p:nvPr/>
        </p:nvSpPr>
        <p:spPr>
          <a:xfrm>
            <a:off x="4681728" y="183388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Paredes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29"/>
          <p:cNvSpPr txBox="1"/>
          <p:nvPr/>
        </p:nvSpPr>
        <p:spPr>
          <a:xfrm>
            <a:off x="6126480" y="1833880"/>
            <a:ext cx="4556455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Nova recepção (07/10): cimento queimado 56,01 m² + velvet cinza 3,54 m² na parede dos quadros · corredores Outono Gelado (Coral)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3" name="Google Shape;863;p29"/>
          <p:cNvSpPr/>
          <p:nvPr/>
        </p:nvSpPr>
        <p:spPr>
          <a:xfrm>
            <a:off x="10733227" y="2001012"/>
            <a:ext cx="891540" cy="219456"/>
          </a:xfrm>
          <a:prstGeom prst="roundRect">
            <a:avLst>
              <a:gd fmla="val 50000" name="adj"/>
            </a:avLst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VALIDAR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29"/>
          <p:cNvSpPr/>
          <p:nvPr/>
        </p:nvSpPr>
        <p:spPr>
          <a:xfrm>
            <a:off x="4572000" y="238760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5" name="Google Shape;865;p29"/>
          <p:cNvSpPr txBox="1"/>
          <p:nvPr/>
        </p:nvSpPr>
        <p:spPr>
          <a:xfrm>
            <a:off x="4681728" y="238760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Biombos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29"/>
          <p:cNvSpPr txBox="1"/>
          <p:nvPr/>
        </p:nvSpPr>
        <p:spPr>
          <a:xfrm>
            <a:off x="6126480" y="2387600"/>
            <a:ext cx="5470855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Estrutura metálica preta com palha: privacidade em relação à rua (memorial de interiores)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7" name="Google Shape;867;p29"/>
          <p:cNvSpPr txBox="1"/>
          <p:nvPr/>
        </p:nvSpPr>
        <p:spPr>
          <a:xfrm>
            <a:off x="4681728" y="294132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Piso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29"/>
          <p:cNvSpPr txBox="1"/>
          <p:nvPr/>
        </p:nvSpPr>
        <p:spPr>
          <a:xfrm>
            <a:off x="6126480" y="2941320"/>
            <a:ext cx="5470855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Porcelanato Khali Off White 90×90 Eliane (memorial R01)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9" name="Google Shape;869;p29"/>
          <p:cNvSpPr/>
          <p:nvPr/>
        </p:nvSpPr>
        <p:spPr>
          <a:xfrm>
            <a:off x="4572000" y="349504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0" name="Google Shape;870;p29"/>
          <p:cNvSpPr txBox="1"/>
          <p:nvPr/>
        </p:nvSpPr>
        <p:spPr>
          <a:xfrm>
            <a:off x="4681728" y="349504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Teto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1" name="Google Shape;871;p29"/>
          <p:cNvSpPr txBox="1"/>
          <p:nvPr/>
        </p:nvSpPr>
        <p:spPr>
          <a:xfrm>
            <a:off x="6126480" y="3495040"/>
            <a:ext cx="4556455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Recepção: gesso · corredores: V1 modular × V2 gesso liso com spots (nova recepção 07/10)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29"/>
          <p:cNvSpPr/>
          <p:nvPr/>
        </p:nvSpPr>
        <p:spPr>
          <a:xfrm>
            <a:off x="10801807" y="3662172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C982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PENDENTE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3" name="Google Shape;873;p29"/>
          <p:cNvSpPr txBox="1"/>
          <p:nvPr/>
        </p:nvSpPr>
        <p:spPr>
          <a:xfrm>
            <a:off x="4681728" y="404876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Rodapé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29"/>
          <p:cNvSpPr txBox="1"/>
          <p:nvPr/>
        </p:nvSpPr>
        <p:spPr>
          <a:xfrm>
            <a:off x="6126480" y="4048760"/>
            <a:ext cx="5470855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BRANCO em todo o empreendimento (decisão 16/06 confirmada nas imagens finais 07/10/2026)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5" name="Google Shape;875;p29"/>
          <p:cNvSpPr/>
          <p:nvPr/>
        </p:nvSpPr>
        <p:spPr>
          <a:xfrm>
            <a:off x="4572000" y="460248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6" name="Google Shape;876;p29"/>
          <p:cNvSpPr txBox="1"/>
          <p:nvPr/>
        </p:nvSpPr>
        <p:spPr>
          <a:xfrm>
            <a:off x="4681728" y="460248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Mobiliário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7" name="Google Shape;877;p29"/>
          <p:cNvSpPr txBox="1"/>
          <p:nvPr/>
        </p:nvSpPr>
        <p:spPr>
          <a:xfrm>
            <a:off x="6126480" y="4602480"/>
            <a:ext cx="5470855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Poltronas de corda náutica, puffs Aurora/Sampa, luminária Slide (memorial de interiores)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8" name="Google Shape;878;p29"/>
          <p:cNvSpPr txBox="1"/>
          <p:nvPr/>
        </p:nvSpPr>
        <p:spPr>
          <a:xfrm>
            <a:off x="4681728" y="515620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Portas e números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9" name="Google Shape;879;p29"/>
          <p:cNvSpPr txBox="1"/>
          <p:nvPr/>
        </p:nvSpPr>
        <p:spPr>
          <a:xfrm>
            <a:off x="6126480" y="5156200"/>
            <a:ext cx="5470855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Porta lisa BRANCA (folhas e batentes) · números pretos com arandela Slide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0" name="Google Shape;880;p29"/>
          <p:cNvSpPr/>
          <p:nvPr/>
        </p:nvSpPr>
        <p:spPr>
          <a:xfrm>
            <a:off x="4572000" y="570992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1" name="Google Shape;881;p29"/>
          <p:cNvSpPr txBox="1"/>
          <p:nvPr/>
        </p:nvSpPr>
        <p:spPr>
          <a:xfrm>
            <a:off x="4681728" y="570992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Iluminação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2" name="Google Shape;882;p29"/>
          <p:cNvSpPr txBox="1"/>
          <p:nvPr/>
        </p:nvSpPr>
        <p:spPr>
          <a:xfrm>
            <a:off x="6126480" y="5709920"/>
            <a:ext cx="5470855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Pendente de palha no pé-direito duplo · arandelas nos corredores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87" name="Shape 8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Google Shape;888;p30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 · INTERIORES · ROOFTOP INTERNO · MOODBOARD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9" name="Google Shape;889;p30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Rooftop interno: copa, bar e mini market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navy_tpl_logo_cover.png" id="890" name="Google Shape;890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icon_footer.png" id="891" name="Google Shape;891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892" name="Google Shape;892;p30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INTERIORES  ·  28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rooftop__enscape_2023_11_22_17_48_03.jpg" id="893" name="Google Shape;893;p30"/>
          <p:cNvPicPr preferRelativeResize="0"/>
          <p:nvPr/>
        </p:nvPicPr>
        <p:blipFill rotWithShape="1">
          <a:blip r:embed="rId5">
            <a:alphaModFix/>
          </a:blip>
          <a:srcRect b="0" l="4686" r="4686" t="0"/>
          <a:stretch/>
        </p:blipFill>
        <p:spPr>
          <a:xfrm>
            <a:off x="3794760" y="1280160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/Users/Rachel/AppData/Local/Temp/claude/C--Users-Rachel-Documents-SEAZONE-BOOK-PREMISSAS-FACHADA-EXTERNA-CAMPECHE-SPOT/a62d8e33-2374-48a1-8865-f7b177fbebf6/scratchpad/img/rooftop__enscape_2023_11_22_17_49_03.jpg" id="894" name="Google Shape;894;p30"/>
          <p:cNvPicPr preferRelativeResize="0"/>
          <p:nvPr/>
        </p:nvPicPr>
        <p:blipFill rotWithShape="1">
          <a:blip r:embed="rId6">
            <a:alphaModFix/>
          </a:blip>
          <a:srcRect b="0" l="4686" r="4686" t="0"/>
          <a:stretch/>
        </p:blipFill>
        <p:spPr>
          <a:xfrm>
            <a:off x="6465722" y="1280160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/Users/Rachel/AppData/Local/Temp/claude/C--Users-Rachel-Documents-SEAZONE-BOOK-PREMISSAS-FACHADA-EXTERNA-CAMPECHE-SPOT/a62d8e33-2374-48a1-8865-f7b177fbebf6/scratchpad/img/rooftop__enscape_2023_11_22_17_50_02.jpg" id="895" name="Google Shape;895;p30"/>
          <p:cNvPicPr preferRelativeResize="0"/>
          <p:nvPr/>
        </p:nvPicPr>
        <p:blipFill rotWithShape="1">
          <a:blip r:embed="rId7">
            <a:alphaModFix/>
          </a:blip>
          <a:srcRect b="0" l="4686" r="4686" t="0"/>
          <a:stretch/>
        </p:blipFill>
        <p:spPr>
          <a:xfrm>
            <a:off x="9136685" y="1280160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/Users/Rachel/AppData/Local/Temp/claude/C--Users-Rachel-Documents-SEAZONE-BOOK-PREMISSAS-FACHADA-EXTERNA-CAMPECHE-SPOT/a62d8e33-2374-48a1-8865-f7b177fbebf6/scratchpad/img/rooftop__enscape_2023_11_22_17_51_24.jpg" id="896" name="Google Shape;896;p30"/>
          <p:cNvPicPr preferRelativeResize="0"/>
          <p:nvPr/>
        </p:nvPicPr>
        <p:blipFill rotWithShape="1">
          <a:blip r:embed="rId8">
            <a:alphaModFix/>
          </a:blip>
          <a:srcRect b="0" l="4686" r="4686" t="0"/>
          <a:stretch/>
        </p:blipFill>
        <p:spPr>
          <a:xfrm>
            <a:off x="3794760" y="2965704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/Users/Rachel/AppData/Local/Temp/claude/C--Users-Rachel-Documents-SEAZONE-BOOK-PREMISSAS-FACHADA-EXTERNA-CAMPECHE-SPOT/a62d8e33-2374-48a1-8865-f7b177fbebf6/scratchpad/img/rooftop__enscape_2023_11_22_17_52_22.jpg" id="897" name="Google Shape;897;p30"/>
          <p:cNvPicPr preferRelativeResize="0"/>
          <p:nvPr/>
        </p:nvPicPr>
        <p:blipFill rotWithShape="1">
          <a:blip r:embed="rId9">
            <a:alphaModFix/>
          </a:blip>
          <a:srcRect b="0" l="4686" r="4686" t="0"/>
          <a:stretch/>
        </p:blipFill>
        <p:spPr>
          <a:xfrm>
            <a:off x="6465722" y="2965704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/Users/Rachel/AppData/Local/Temp/claude/C--Users-Rachel-Documents-SEAZONE-BOOK-PREMISSAS-FACHADA-EXTERNA-CAMPECHE-SPOT/a62d8e33-2374-48a1-8865-f7b177fbebf6/scratchpad/img/rooftop__enscape_2023_11_22_17_53_41.jpg" id="898" name="Google Shape;898;p30"/>
          <p:cNvPicPr preferRelativeResize="0"/>
          <p:nvPr/>
        </p:nvPicPr>
        <p:blipFill rotWithShape="1">
          <a:blip r:embed="rId10">
            <a:alphaModFix/>
          </a:blip>
          <a:srcRect b="0" l="4686" r="4686" t="0"/>
          <a:stretch/>
        </p:blipFill>
        <p:spPr>
          <a:xfrm>
            <a:off x="9136685" y="2965704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/Users/Rachel/AppData/Local/Temp/claude/C--Users-Rachel-Documents-SEAZONE-BOOK-PREMISSAS-FACHADA-EXTERNA-CAMPECHE-SPOT/a62d8e33-2374-48a1-8865-f7b177fbebf6/scratchpad/img/rooftop__enscape_2023_11_22_17_55_22.jpg" id="899" name="Google Shape;899;p30"/>
          <p:cNvPicPr preferRelativeResize="0"/>
          <p:nvPr/>
        </p:nvPicPr>
        <p:blipFill rotWithShape="1">
          <a:blip r:embed="rId11">
            <a:alphaModFix/>
          </a:blip>
          <a:srcRect b="0" l="4686" r="4686" t="0"/>
          <a:stretch/>
        </p:blipFill>
        <p:spPr>
          <a:xfrm>
            <a:off x="3794760" y="4651248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/Users/Rachel/AppData/Local/Temp/claude/C--Users-Rachel-Documents-SEAZONE-BOOK-PREMISSAS-FACHADA-EXTERNA-CAMPECHE-SPOT/a62d8e33-2374-48a1-8865-f7b177fbebf6/scratchpad/img/rooftop__enscape_2023_11_22_18_04_07.jpg" id="900" name="Google Shape;900;p30"/>
          <p:cNvPicPr preferRelativeResize="0"/>
          <p:nvPr/>
        </p:nvPicPr>
        <p:blipFill rotWithShape="1">
          <a:blip r:embed="rId12">
            <a:alphaModFix/>
          </a:blip>
          <a:srcRect b="0" l="4686" r="4686" t="0"/>
          <a:stretch/>
        </p:blipFill>
        <p:spPr>
          <a:xfrm>
            <a:off x="6465722" y="4651248"/>
            <a:ext cx="2597810" cy="16123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/Users/Rachel/AppData/Local/Temp/claude/C--Users-Rachel-Documents-SEAZONE-BOOK-PREMISSAS-FACHADA-EXTERNA-CAMPECHE-SPOT/a62d8e33-2374-48a1-8865-f7b177fbebf6/scratchpad/img/rooftop__enscape_2023_11_22_18_04_34.jpg" id="901" name="Google Shape;901;p30"/>
          <p:cNvPicPr preferRelativeResize="0"/>
          <p:nvPr/>
        </p:nvPicPr>
        <p:blipFill rotWithShape="1">
          <a:blip r:embed="rId13">
            <a:alphaModFix/>
          </a:blip>
          <a:srcRect b="0" l="4686" r="4686" t="0"/>
          <a:stretch/>
        </p:blipFill>
        <p:spPr>
          <a:xfrm>
            <a:off x="9136685" y="4651248"/>
            <a:ext cx="2597810" cy="1612392"/>
          </a:xfrm>
          <a:prstGeom prst="rect">
            <a:avLst/>
          </a:prstGeom>
          <a:noFill/>
          <a:ln>
            <a:noFill/>
          </a:ln>
        </p:spPr>
      </p:pic>
      <p:sp>
        <p:nvSpPr>
          <p:cNvPr id="902" name="Google Shape;902;p30"/>
          <p:cNvSpPr txBox="1"/>
          <p:nvPr/>
        </p:nvSpPr>
        <p:spPr>
          <a:xfrm>
            <a:off x="457200" y="1280160"/>
            <a:ext cx="3108960" cy="4983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CONCEITO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Forro com ripas pretas em grelha, bancada em cimento queimado com banquetas pretas, pendentes de palha, couro caramelo e vegetação.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FC6058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PAREDE DA PIA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Frase "Seu lugar fora de casa" sobre a parede da pia em Pedra Canjiquinha Cinza (memorial R01).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FC6058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MOBILIÁRIO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Banqueta alta Clarice, cadeira Mara Lofteria, mesa glass, poltrona Disk, MDF </a:t>
            </a:r>
            <a:r>
              <a:rPr lang="en-US" sz="1100">
                <a:solidFill>
                  <a:srgbClr val="333333"/>
                </a:solidFill>
              </a:rPr>
              <a:t>Carvalho Treviso Berneck</a:t>
            </a: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, estrutura metálica com palha.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forro.jpg" id="903" name="Google Shape;903;p30"/>
          <p:cNvPicPr preferRelativeResize="0"/>
          <p:nvPr/>
        </p:nvPicPr>
        <p:blipFill rotWithShape="1">
          <a:blip r:embed="rId14">
            <a:alphaModFix/>
          </a:blip>
          <a:srcRect b="0" l="41562" r="41562" t="0"/>
          <a:stretch/>
        </p:blipFill>
        <p:spPr>
          <a:xfrm>
            <a:off x="457200" y="5120640"/>
            <a:ext cx="658368" cy="658368"/>
          </a:xfrm>
          <a:prstGeom prst="ellipse">
            <a:avLst/>
          </a:prstGeom>
          <a:noFill/>
          <a:ln>
            <a:noFill/>
          </a:ln>
        </p:spPr>
      </p:pic>
      <p:sp>
        <p:nvSpPr>
          <p:cNvPr id="904" name="Google Shape;904;p30"/>
          <p:cNvSpPr txBox="1"/>
          <p:nvPr/>
        </p:nvSpPr>
        <p:spPr>
          <a:xfrm>
            <a:off x="402336" y="5815584"/>
            <a:ext cx="76809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Forro ripado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canjiquinha.jpg" id="905" name="Google Shape;905;p30"/>
          <p:cNvPicPr preferRelativeResize="0"/>
          <p:nvPr/>
        </p:nvPicPr>
        <p:blipFill rotWithShape="1">
          <a:blip r:embed="rId15">
            <a:alphaModFix/>
          </a:blip>
          <a:srcRect b="0" l="25391" r="25391" t="0"/>
          <a:stretch/>
        </p:blipFill>
        <p:spPr>
          <a:xfrm>
            <a:off x="1261872" y="5120640"/>
            <a:ext cx="658368" cy="658368"/>
          </a:xfrm>
          <a:prstGeom prst="ellipse">
            <a:avLst/>
          </a:prstGeom>
          <a:noFill/>
          <a:ln>
            <a:noFill/>
          </a:ln>
        </p:spPr>
      </p:pic>
      <p:sp>
        <p:nvSpPr>
          <p:cNvPr id="906" name="Google Shape;906;p30"/>
          <p:cNvSpPr txBox="1"/>
          <p:nvPr/>
        </p:nvSpPr>
        <p:spPr>
          <a:xfrm>
            <a:off x="1207008" y="5815584"/>
            <a:ext cx="76809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Canjiquinha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minimarket.jpg" id="907" name="Google Shape;907;p30"/>
          <p:cNvPicPr preferRelativeResize="0"/>
          <p:nvPr/>
        </p:nvPicPr>
        <p:blipFill rotWithShape="1">
          <a:blip r:embed="rId16">
            <a:alphaModFix/>
          </a:blip>
          <a:srcRect b="23333" l="0" r="0" t="23333"/>
          <a:stretch/>
        </p:blipFill>
        <p:spPr>
          <a:xfrm>
            <a:off x="2066544" y="5120640"/>
            <a:ext cx="658368" cy="658368"/>
          </a:xfrm>
          <a:prstGeom prst="ellipse">
            <a:avLst/>
          </a:prstGeom>
          <a:noFill/>
          <a:ln>
            <a:noFill/>
          </a:ln>
        </p:spPr>
      </p:pic>
      <p:sp>
        <p:nvSpPr>
          <p:cNvPr id="908" name="Google Shape;908;p30"/>
          <p:cNvSpPr txBox="1"/>
          <p:nvPr/>
        </p:nvSpPr>
        <p:spPr>
          <a:xfrm>
            <a:off x="2011680" y="5815584"/>
            <a:ext cx="76809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Mini market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cimento.jpg" id="909" name="Google Shape;909;p30"/>
          <p:cNvPicPr preferRelativeResize="0"/>
          <p:nvPr/>
        </p:nvPicPr>
        <p:blipFill rotWithShape="1">
          <a:blip r:embed="rId17">
            <a:alphaModFix/>
          </a:blip>
          <a:srcRect b="0" l="12500" r="12500" t="0"/>
          <a:stretch/>
        </p:blipFill>
        <p:spPr>
          <a:xfrm>
            <a:off x="2871216" y="5120640"/>
            <a:ext cx="658368" cy="658368"/>
          </a:xfrm>
          <a:prstGeom prst="ellipse">
            <a:avLst/>
          </a:prstGeom>
          <a:noFill/>
          <a:ln>
            <a:noFill/>
          </a:ln>
        </p:spPr>
      </p:pic>
      <p:sp>
        <p:nvSpPr>
          <p:cNvPr id="910" name="Google Shape;910;p30"/>
          <p:cNvSpPr txBox="1"/>
          <p:nvPr/>
        </p:nvSpPr>
        <p:spPr>
          <a:xfrm>
            <a:off x="2816352" y="5815584"/>
            <a:ext cx="76809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Cimento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p31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 · INTERIORES · ROOFTOP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7" name="Google Shape;917;p31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Rooftop: planta, hall do elevador e lavabo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navy_tpl_logo_cover.png" id="918" name="Google Shape;918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icon_footer.png" id="919" name="Google Shape;919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920" name="Google Shape;920;p31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INTERIORES  ·  29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rooftop__planta_humanizada_r00_rooftop_ed.jpg" id="921" name="Google Shape;921;p31"/>
          <p:cNvPicPr preferRelativeResize="0"/>
          <p:nvPr/>
        </p:nvPicPr>
        <p:blipFill rotWithShape="1">
          <a:blip r:embed="rId5">
            <a:alphaModFix/>
          </a:blip>
          <a:srcRect b="0" l="36" r="36" t="0"/>
          <a:stretch/>
        </p:blipFill>
        <p:spPr>
          <a:xfrm>
            <a:off x="457200" y="1280160"/>
            <a:ext cx="5669280" cy="3191256"/>
          </a:xfrm>
          <a:prstGeom prst="rect">
            <a:avLst/>
          </a:prstGeom>
          <a:noFill/>
          <a:ln>
            <a:noFill/>
          </a:ln>
        </p:spPr>
      </p:pic>
      <p:sp>
        <p:nvSpPr>
          <p:cNvPr id="922" name="Google Shape;922;p31"/>
          <p:cNvSpPr txBox="1"/>
          <p:nvPr/>
        </p:nvSpPr>
        <p:spPr>
          <a:xfrm>
            <a:off x="548640" y="1371600"/>
            <a:ext cx="171450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PLANTA HUMANIZADA R00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3" name="Google Shape;923;p31"/>
          <p:cNvSpPr/>
          <p:nvPr/>
        </p:nvSpPr>
        <p:spPr>
          <a:xfrm>
            <a:off x="457200" y="4544568"/>
            <a:ext cx="2788920" cy="1719072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rooftop__planta_rooftop.jpg" id="924" name="Google Shape;924;p3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948254" y="4544568"/>
            <a:ext cx="1806813" cy="1719072"/>
          </a:xfrm>
          <a:prstGeom prst="rect">
            <a:avLst/>
          </a:prstGeom>
          <a:noFill/>
          <a:ln>
            <a:noFill/>
          </a:ln>
        </p:spPr>
      </p:pic>
      <p:sp>
        <p:nvSpPr>
          <p:cNvPr id="925" name="Google Shape;925;p31"/>
          <p:cNvSpPr txBox="1"/>
          <p:nvPr/>
        </p:nvSpPr>
        <p:spPr>
          <a:xfrm>
            <a:off x="548640" y="4617720"/>
            <a:ext cx="12344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PLANTA ROOFTOP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6" name="Google Shape;926;p31"/>
          <p:cNvSpPr txBox="1"/>
          <p:nvPr/>
        </p:nvSpPr>
        <p:spPr>
          <a:xfrm>
            <a:off x="3383280" y="4572000"/>
            <a:ext cx="274320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Na planta: área interna (copa, bar, mini market) ao centro; terraço com piscina de borda infinita, lounge e espreguiçadeiras voltados para o mar.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rooftop__enscape_2023_11_22_18_05_07.jpg" id="927" name="Google Shape;927;p31"/>
          <p:cNvPicPr preferRelativeResize="0"/>
          <p:nvPr/>
        </p:nvPicPr>
        <p:blipFill rotWithShape="1">
          <a:blip r:embed="rId7">
            <a:alphaModFix/>
          </a:blip>
          <a:srcRect b="0" l="4385" r="4385" t="0"/>
          <a:stretch/>
        </p:blipFill>
        <p:spPr>
          <a:xfrm>
            <a:off x="6400800" y="1280160"/>
            <a:ext cx="2630272" cy="1621742"/>
          </a:xfrm>
          <a:prstGeom prst="rect">
            <a:avLst/>
          </a:prstGeom>
          <a:noFill/>
          <a:ln>
            <a:noFill/>
          </a:ln>
        </p:spPr>
      </p:pic>
      <p:sp>
        <p:nvSpPr>
          <p:cNvPr id="928" name="Google Shape;928;p31"/>
          <p:cNvSpPr txBox="1"/>
          <p:nvPr/>
        </p:nvSpPr>
        <p:spPr>
          <a:xfrm>
            <a:off x="6473952" y="1353312"/>
            <a:ext cx="123444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HALL · BALANÇO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rooftop__enscape_2023_11_20_18_23_45.jpg" id="929" name="Google Shape;929;p31"/>
          <p:cNvPicPr preferRelativeResize="0"/>
          <p:nvPr/>
        </p:nvPicPr>
        <p:blipFill rotWithShape="1">
          <a:blip r:embed="rId8">
            <a:alphaModFix/>
          </a:blip>
          <a:srcRect b="0" l="4385" r="4385" t="0"/>
          <a:stretch/>
        </p:blipFill>
        <p:spPr>
          <a:xfrm>
            <a:off x="9104224" y="1280160"/>
            <a:ext cx="2630272" cy="1621742"/>
          </a:xfrm>
          <a:prstGeom prst="rect">
            <a:avLst/>
          </a:prstGeom>
          <a:noFill/>
          <a:ln>
            <a:noFill/>
          </a:ln>
        </p:spPr>
      </p:pic>
      <p:sp>
        <p:nvSpPr>
          <p:cNvPr id="930" name="Google Shape;930;p31"/>
          <p:cNvSpPr txBox="1"/>
          <p:nvPr/>
        </p:nvSpPr>
        <p:spPr>
          <a:xfrm>
            <a:off x="9177376" y="1353312"/>
            <a:ext cx="82296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LAVABO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rooftop__enscape_2023_11_20_18_25_29.jpg" id="931" name="Google Shape;931;p31"/>
          <p:cNvPicPr preferRelativeResize="0"/>
          <p:nvPr/>
        </p:nvPicPr>
        <p:blipFill rotWithShape="1">
          <a:blip r:embed="rId9">
            <a:alphaModFix/>
          </a:blip>
          <a:srcRect b="0" l="4385" r="4385" t="0"/>
          <a:stretch/>
        </p:blipFill>
        <p:spPr>
          <a:xfrm>
            <a:off x="6400800" y="2975054"/>
            <a:ext cx="5333695" cy="3288586"/>
          </a:xfrm>
          <a:prstGeom prst="rect">
            <a:avLst/>
          </a:prstGeom>
          <a:noFill/>
          <a:ln>
            <a:noFill/>
          </a:ln>
        </p:spPr>
      </p:pic>
      <p:sp>
        <p:nvSpPr>
          <p:cNvPr id="932" name="Google Shape;932;p31"/>
          <p:cNvSpPr txBox="1"/>
          <p:nvPr/>
        </p:nvSpPr>
        <p:spPr>
          <a:xfrm>
            <a:off x="6473952" y="3048206"/>
            <a:ext cx="822960" cy="237744"/>
          </a:xfrm>
          <a:prstGeom prst="rect">
            <a:avLst/>
          </a:prstGeom>
          <a:solidFill>
            <a:srgbClr val="00143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LAVABO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37" name="Shape 9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Google Shape;938;p32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 · INTERIORES · ROOFTOP INTERNO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9" name="Google Shape;939;p32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Ficha de premissas: copa, bar e mini market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navy_tpl_logo_cover.png" id="940" name="Google Shape;940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icon_footer.png" id="941" name="Google Shape;941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942" name="Google Shape;942;p32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INTERIORES  ·  30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annot__s13_0.jpg" id="943" name="Google Shape;943;p32"/>
          <p:cNvPicPr preferRelativeResize="0"/>
          <p:nvPr/>
        </p:nvPicPr>
        <p:blipFill rotWithShape="1">
          <a:blip r:embed="rId5">
            <a:alphaModFix/>
          </a:blip>
          <a:srcRect b="53" l="0" r="0" t="53"/>
          <a:stretch/>
        </p:blipFill>
        <p:spPr>
          <a:xfrm>
            <a:off x="457200" y="1280160"/>
            <a:ext cx="3840480" cy="2157984"/>
          </a:xfrm>
          <a:prstGeom prst="rect">
            <a:avLst/>
          </a:prstGeom>
          <a:noFill/>
          <a:ln>
            <a:noFill/>
          </a:ln>
        </p:spPr>
      </p:pic>
      <p:sp>
        <p:nvSpPr>
          <p:cNvPr id="944" name="Google Shape;944;p32"/>
          <p:cNvSpPr txBox="1"/>
          <p:nvPr/>
        </p:nvSpPr>
        <p:spPr>
          <a:xfrm>
            <a:off x="548640" y="1371600"/>
            <a:ext cx="205740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CONCEITO SEAZONE · ROOFTOP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annot__s13_1.jpg" id="945" name="Google Shape;945;p32"/>
          <p:cNvPicPr preferRelativeResize="0"/>
          <p:nvPr/>
        </p:nvPicPr>
        <p:blipFill rotWithShape="1">
          <a:blip r:embed="rId6">
            <a:alphaModFix/>
          </a:blip>
          <a:srcRect b="53" l="0" r="0" t="53"/>
          <a:stretch/>
        </p:blipFill>
        <p:spPr>
          <a:xfrm>
            <a:off x="457200" y="3511296"/>
            <a:ext cx="3840480" cy="2157984"/>
          </a:xfrm>
          <a:prstGeom prst="rect">
            <a:avLst/>
          </a:prstGeom>
          <a:noFill/>
          <a:ln>
            <a:noFill/>
          </a:ln>
        </p:spPr>
      </p:pic>
      <p:sp>
        <p:nvSpPr>
          <p:cNvPr id="946" name="Google Shape;946;p32"/>
          <p:cNvSpPr txBox="1"/>
          <p:nvPr/>
        </p:nvSpPr>
        <p:spPr>
          <a:xfrm>
            <a:off x="548640" y="3602736"/>
            <a:ext cx="205740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PAREDE CANJIQUINHA + FRASE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7" name="Google Shape;947;p32"/>
          <p:cNvSpPr txBox="1"/>
          <p:nvPr/>
        </p:nvSpPr>
        <p:spPr>
          <a:xfrm>
            <a:off x="457200" y="5760720"/>
            <a:ext cx="3840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950"/>
              <a:buFont typeface="Arial"/>
              <a:buNone/>
            </a:pPr>
            <a:r>
              <a:rPr b="0" i="1" lang="en-US" sz="9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Frase "Seu lugar fora de casa" sobre a parede da pia em Pedra Canjiquinha Cinza (memorial R01).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8" name="Google Shape;948;p32"/>
          <p:cNvSpPr/>
          <p:nvPr/>
        </p:nvSpPr>
        <p:spPr>
          <a:xfrm>
            <a:off x="4572000" y="128016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9" name="Google Shape;949;p32"/>
          <p:cNvSpPr txBox="1"/>
          <p:nvPr/>
        </p:nvSpPr>
        <p:spPr>
          <a:xfrm>
            <a:off x="4681728" y="128016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Forro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0" name="Google Shape;950;p32"/>
          <p:cNvSpPr txBox="1"/>
          <p:nvPr/>
        </p:nvSpPr>
        <p:spPr>
          <a:xfrm>
            <a:off x="6126480" y="1280160"/>
            <a:ext cx="4556455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Gesso com ripas pretas em grelha (memorial) × briefing: modular 2,60 m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1" name="Google Shape;951;p32"/>
          <p:cNvSpPr/>
          <p:nvPr/>
        </p:nvSpPr>
        <p:spPr>
          <a:xfrm>
            <a:off x="10733227" y="1447292"/>
            <a:ext cx="891540" cy="219456"/>
          </a:xfrm>
          <a:prstGeom prst="roundRect">
            <a:avLst>
              <a:gd fmla="val 50000" name="adj"/>
            </a:avLst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VALIDAR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2" name="Google Shape;952;p32"/>
          <p:cNvSpPr txBox="1"/>
          <p:nvPr/>
        </p:nvSpPr>
        <p:spPr>
          <a:xfrm>
            <a:off x="4681728" y="183388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Paredes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3" name="Google Shape;953;p32"/>
          <p:cNvSpPr txBox="1"/>
          <p:nvPr/>
        </p:nvSpPr>
        <p:spPr>
          <a:xfrm>
            <a:off x="6126480" y="1833880"/>
            <a:ext cx="5470855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Decorativas em Suvinil Cimento Queimado "Dias de chuva" · demais claras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4" name="Google Shape;954;p32"/>
          <p:cNvSpPr/>
          <p:nvPr/>
        </p:nvSpPr>
        <p:spPr>
          <a:xfrm>
            <a:off x="4572000" y="238760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5" name="Google Shape;955;p32"/>
          <p:cNvSpPr txBox="1"/>
          <p:nvPr/>
        </p:nvSpPr>
        <p:spPr>
          <a:xfrm>
            <a:off x="4681728" y="238760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Parede da pia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6" name="Google Shape;956;p32"/>
          <p:cNvSpPr txBox="1"/>
          <p:nvPr/>
        </p:nvSpPr>
        <p:spPr>
          <a:xfrm>
            <a:off x="6126480" y="2387600"/>
            <a:ext cx="5470855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Pedra Canjiquinha Cinza com a frase "Seu lugar fora de casa"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7" name="Google Shape;957;p32"/>
          <p:cNvSpPr txBox="1"/>
          <p:nvPr/>
        </p:nvSpPr>
        <p:spPr>
          <a:xfrm>
            <a:off x="4681728" y="294132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Mini market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8" name="Google Shape;958;p32"/>
          <p:cNvSpPr txBox="1"/>
          <p:nvPr/>
        </p:nvSpPr>
        <p:spPr>
          <a:xfrm>
            <a:off x="6126480" y="2941320"/>
            <a:ext cx="5470855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Painel ripado em PVC amadeirado com geladeiras e prateleiras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9" name="Google Shape;959;p32"/>
          <p:cNvSpPr/>
          <p:nvPr/>
        </p:nvSpPr>
        <p:spPr>
          <a:xfrm>
            <a:off x="4572000" y="349504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0" name="Google Shape;960;p32"/>
          <p:cNvSpPr txBox="1"/>
          <p:nvPr/>
        </p:nvSpPr>
        <p:spPr>
          <a:xfrm>
            <a:off x="4681728" y="349504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Bancada / bar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1" name="Google Shape;961;p32"/>
          <p:cNvSpPr txBox="1"/>
          <p:nvPr/>
        </p:nvSpPr>
        <p:spPr>
          <a:xfrm>
            <a:off x="6126480" y="3495040"/>
            <a:ext cx="5470855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Bancada em cimento queimado com banquetas pretas (Clarice)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2" name="Google Shape;962;p32"/>
          <p:cNvSpPr txBox="1"/>
          <p:nvPr/>
        </p:nvSpPr>
        <p:spPr>
          <a:xfrm>
            <a:off x="4681728" y="404876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Painéis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3" name="Google Shape;963;p32"/>
          <p:cNvSpPr txBox="1"/>
          <p:nvPr/>
        </p:nvSpPr>
        <p:spPr>
          <a:xfrm>
            <a:off x="6126480" y="4048760"/>
            <a:ext cx="5470855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Painéis de palha sintética (memorial R01)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4" name="Google Shape;964;p32"/>
          <p:cNvSpPr/>
          <p:nvPr/>
        </p:nvSpPr>
        <p:spPr>
          <a:xfrm>
            <a:off x="4572000" y="460248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5" name="Google Shape;965;p32"/>
          <p:cNvSpPr txBox="1"/>
          <p:nvPr/>
        </p:nvSpPr>
        <p:spPr>
          <a:xfrm>
            <a:off x="4681728" y="460248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Piso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6" name="Google Shape;966;p32"/>
          <p:cNvSpPr txBox="1"/>
          <p:nvPr/>
        </p:nvSpPr>
        <p:spPr>
          <a:xfrm>
            <a:off x="6126480" y="4602480"/>
            <a:ext cx="5470855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Porcelanato Khali Off White 90×90 Eliane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7" name="Google Shape;967;p32"/>
          <p:cNvSpPr txBox="1"/>
          <p:nvPr/>
        </p:nvSpPr>
        <p:spPr>
          <a:xfrm>
            <a:off x="4681728" y="515620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Mobiliário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8" name="Google Shape;968;p32"/>
          <p:cNvSpPr txBox="1"/>
          <p:nvPr/>
        </p:nvSpPr>
        <p:spPr>
          <a:xfrm>
            <a:off x="6126480" y="5156200"/>
            <a:ext cx="5470855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Mesa glass, cadeiras em couro caramelo, poltrona Disk, pendentes de palha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9" name="Google Shape;969;p32"/>
          <p:cNvSpPr/>
          <p:nvPr/>
        </p:nvSpPr>
        <p:spPr>
          <a:xfrm>
            <a:off x="4572000" y="570992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0" name="Google Shape;970;p32"/>
          <p:cNvSpPr txBox="1"/>
          <p:nvPr/>
        </p:nvSpPr>
        <p:spPr>
          <a:xfrm>
            <a:off x="4681728" y="570992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Rodapé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1" name="Google Shape;971;p32"/>
          <p:cNvSpPr txBox="1"/>
          <p:nvPr/>
        </p:nvSpPr>
        <p:spPr>
          <a:xfrm>
            <a:off x="6126480" y="5709920"/>
            <a:ext cx="5470855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BRANCO: todas as portas e rodapés brancos (confirmado 07/10/2026)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76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Google Shape;977;p33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 · INTERIORES · ROOFTOP EXTERNO · MOODBOARD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8" name="Google Shape;978;p33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Rooftop externo e piscina de borda infinita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navy_tpl_logo_cover.png" id="979" name="Google Shape;979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icon_footer.png" id="980" name="Google Shape;980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981" name="Google Shape;981;p33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INTERIORES  ·  31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rooftop__enscape_2023_11_22_18_06_47.jpg" id="982" name="Google Shape;982;p33"/>
          <p:cNvPicPr preferRelativeResize="0"/>
          <p:nvPr/>
        </p:nvPicPr>
        <p:blipFill rotWithShape="1">
          <a:blip r:embed="rId5">
            <a:alphaModFix/>
          </a:blip>
          <a:srcRect b="0" l="11073" r="11073" t="0"/>
          <a:stretch/>
        </p:blipFill>
        <p:spPr>
          <a:xfrm>
            <a:off x="3794760" y="1280160"/>
            <a:ext cx="1930070" cy="13944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/Users/Rachel/AppData/Local/Temp/claude/C--Users-Rachel-Documents-SEAZONE-BOOK-PREMISSAS-FACHADA-EXTERNA-CAMPECHE-SPOT/a62d8e33-2374-48a1-8865-f7b177fbebf6/scratchpad/img/rooftop__enscape_2023_11_22_18_07_19.jpg" id="983" name="Google Shape;983;p33"/>
          <p:cNvPicPr preferRelativeResize="0"/>
          <p:nvPr/>
        </p:nvPicPr>
        <p:blipFill rotWithShape="1">
          <a:blip r:embed="rId6">
            <a:alphaModFix/>
          </a:blip>
          <a:srcRect b="0" l="11073" r="11073" t="0"/>
          <a:stretch/>
        </p:blipFill>
        <p:spPr>
          <a:xfrm>
            <a:off x="5797982" y="1280160"/>
            <a:ext cx="1930070" cy="13944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/Users/Rachel/AppData/Local/Temp/claude/C--Users-Rachel-Documents-SEAZONE-BOOK-PREMISSAS-FACHADA-EXTERNA-CAMPECHE-SPOT/a62d8e33-2374-48a1-8865-f7b177fbebf6/scratchpad/img/rooftop__enscape_2023_11_22_18_07_39.jpg" id="984" name="Google Shape;984;p33"/>
          <p:cNvPicPr preferRelativeResize="0"/>
          <p:nvPr/>
        </p:nvPicPr>
        <p:blipFill rotWithShape="1">
          <a:blip r:embed="rId7">
            <a:alphaModFix/>
          </a:blip>
          <a:srcRect b="0" l="11073" r="11073" t="0"/>
          <a:stretch/>
        </p:blipFill>
        <p:spPr>
          <a:xfrm>
            <a:off x="7801204" y="1280160"/>
            <a:ext cx="1930070" cy="13944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/Users/Rachel/AppData/Local/Temp/claude/C--Users-Rachel-Documents-SEAZONE-BOOK-PREMISSAS-FACHADA-EXTERNA-CAMPECHE-SPOT/a62d8e33-2374-48a1-8865-f7b177fbebf6/scratchpad/img/rooftop__enscape_2023_11_22_18_08_18.jpg" id="985" name="Google Shape;985;p33"/>
          <p:cNvPicPr preferRelativeResize="0"/>
          <p:nvPr/>
        </p:nvPicPr>
        <p:blipFill rotWithShape="1">
          <a:blip r:embed="rId8">
            <a:alphaModFix/>
          </a:blip>
          <a:srcRect b="0" l="11073" r="11073" t="0"/>
          <a:stretch/>
        </p:blipFill>
        <p:spPr>
          <a:xfrm>
            <a:off x="9804425" y="1280160"/>
            <a:ext cx="1930070" cy="139449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/Users/Rachel/AppData/Local/Temp/claude/C--Users-Rachel-Documents-SEAZONE-BOOK-PREMISSAS-FACHADA-EXTERNA-CAMPECHE-SPOT/a62d8e33-2374-48a1-8865-f7b177fbebf6/scratchpad/img/rooftop__enscape_2023_11_22_18_08_53.jpg" id="986" name="Google Shape;986;p33"/>
          <p:cNvPicPr preferRelativeResize="0"/>
          <p:nvPr/>
        </p:nvPicPr>
        <p:blipFill rotWithShape="1">
          <a:blip r:embed="rId9">
            <a:alphaModFix/>
          </a:blip>
          <a:srcRect b="0" l="11073" r="11073" t="0"/>
          <a:stretch/>
        </p:blipFill>
        <p:spPr>
          <a:xfrm>
            <a:off x="3794760" y="2747804"/>
            <a:ext cx="2167096" cy="15657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/Users/Rachel/AppData/Local/Temp/claude/C--Users-Rachel-Documents-SEAZONE-BOOK-PREMISSAS-FACHADA-EXTERNA-CAMPECHE-SPOT/a62d8e33-2374-48a1-8865-f7b177fbebf6/scratchpad/img/rooftop__enscape_2023_11_22_18_09_35_quadrada.jpg" id="987" name="Google Shape;987;p33"/>
          <p:cNvPicPr preferRelativeResize="0"/>
          <p:nvPr/>
        </p:nvPicPr>
        <p:blipFill rotWithShape="1">
          <a:blip r:embed="rId10">
            <a:alphaModFix/>
          </a:blip>
          <a:srcRect b="0" l="11073" r="11073" t="0"/>
          <a:stretch/>
        </p:blipFill>
        <p:spPr>
          <a:xfrm>
            <a:off x="6035008" y="2747804"/>
            <a:ext cx="1218991" cy="15657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/Users/Rachel/AppData/Local/Temp/claude/C--Users-Rachel-Documents-SEAZONE-BOOK-PREMISSAS-FACHADA-EXTERNA-CAMPECHE-SPOT/a62d8e33-2374-48a1-8865-f7b177fbebf6/scratchpad/img/rooftop__enscape_2023_11_22_18_09_35.jpg" id="988" name="Google Shape;988;p33"/>
          <p:cNvPicPr preferRelativeResize="0"/>
          <p:nvPr/>
        </p:nvPicPr>
        <p:blipFill rotWithShape="1">
          <a:blip r:embed="rId11">
            <a:alphaModFix/>
          </a:blip>
          <a:srcRect b="0" l="11073" r="11073" t="0"/>
          <a:stretch/>
        </p:blipFill>
        <p:spPr>
          <a:xfrm>
            <a:off x="7327151" y="2747804"/>
            <a:ext cx="2167096" cy="15657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/Users/Rachel/AppData/Local/Temp/claude/C--Users-Rachel-Documents-SEAZONE-BOOK-PREMISSAS-FACHADA-EXTERNA-CAMPECHE-SPOT/a62d8e33-2374-48a1-8865-f7b177fbebf6/scratchpad/img/rooftop__enscape_2023_11_22_18_10_10.jpg" id="989" name="Google Shape;989;p33"/>
          <p:cNvPicPr preferRelativeResize="0"/>
          <p:nvPr/>
        </p:nvPicPr>
        <p:blipFill rotWithShape="1">
          <a:blip r:embed="rId12">
            <a:alphaModFix/>
          </a:blip>
          <a:srcRect b="0" l="11073" r="11073" t="0"/>
          <a:stretch/>
        </p:blipFill>
        <p:spPr>
          <a:xfrm>
            <a:off x="9567399" y="2747804"/>
            <a:ext cx="2167096" cy="15657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/Users/Rachel/AppData/Local/Temp/claude/C--Users-Rachel-Documents-SEAZONE-BOOK-PREMISSAS-FACHADA-EXTERNA-CAMPECHE-SPOT/a62d8e33-2374-48a1-8865-f7b177fbebf6/scratchpad/img/rooftop__enscape_2023_11_22_18_10_35.jpg" id="990" name="Google Shape;990;p33"/>
          <p:cNvPicPr preferRelativeResize="0"/>
          <p:nvPr/>
        </p:nvPicPr>
        <p:blipFill rotWithShape="1">
          <a:blip r:embed="rId13">
            <a:alphaModFix/>
          </a:blip>
          <a:srcRect b="0" l="11073" r="11073" t="0"/>
          <a:stretch/>
        </p:blipFill>
        <p:spPr>
          <a:xfrm>
            <a:off x="3794760" y="4386700"/>
            <a:ext cx="2597810" cy="18769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/Users/Rachel/AppData/Local/Temp/claude/C--Users-Rachel-Documents-SEAZONE-BOOK-PREMISSAS-FACHADA-EXTERNA-CAMPECHE-SPOT/a62d8e33-2374-48a1-8865-f7b177fbebf6/scratchpad/img/rooftop__enscape_2023_11_22_18_11_07.jpg" id="991" name="Google Shape;991;p33"/>
          <p:cNvPicPr preferRelativeResize="0"/>
          <p:nvPr/>
        </p:nvPicPr>
        <p:blipFill rotWithShape="1">
          <a:blip r:embed="rId14">
            <a:alphaModFix/>
          </a:blip>
          <a:srcRect b="0" l="11073" r="11073" t="0"/>
          <a:stretch/>
        </p:blipFill>
        <p:spPr>
          <a:xfrm>
            <a:off x="6465722" y="4386700"/>
            <a:ext cx="2597810" cy="18769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/Users/Rachel/AppData/Local/Temp/claude/C--Users-Rachel-Documents-SEAZONE-BOOK-PREMISSAS-FACHADA-EXTERNA-CAMPECHE-SPOT/a62d8e33-2374-48a1-8865-f7b177fbebf6/scratchpad/img/rooftop__enscape_2023_11_22_18_11_45.jpg" id="992" name="Google Shape;992;p33"/>
          <p:cNvPicPr preferRelativeResize="0"/>
          <p:nvPr/>
        </p:nvPicPr>
        <p:blipFill rotWithShape="1">
          <a:blip r:embed="rId15">
            <a:alphaModFix/>
          </a:blip>
          <a:srcRect b="0" l="11073" r="11073" t="0"/>
          <a:stretch/>
        </p:blipFill>
        <p:spPr>
          <a:xfrm>
            <a:off x="9136685" y="4386700"/>
            <a:ext cx="2597810" cy="1876940"/>
          </a:xfrm>
          <a:prstGeom prst="rect">
            <a:avLst/>
          </a:prstGeom>
          <a:noFill/>
          <a:ln>
            <a:noFill/>
          </a:ln>
        </p:spPr>
      </p:pic>
      <p:sp>
        <p:nvSpPr>
          <p:cNvPr id="993" name="Google Shape;993;p33"/>
          <p:cNvSpPr txBox="1"/>
          <p:nvPr/>
        </p:nvSpPr>
        <p:spPr>
          <a:xfrm>
            <a:off x="457200" y="1280160"/>
            <a:ext cx="3108960" cy="4983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CONCEITO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Piscina de borda infinita voltada para o mar, lounge amadeirado com floreira, pergolado escuro e espreguiçadeiras.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FC6058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LOUNGE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Lounge com floreira, parede texturizada "Baú de Madeira" e balanço Acapulco (conceito Seazone).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FC6058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MOBILIÁRIO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Clr>
                <a:srgbClr val="333333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Espreguiçadeira com estofado, poltrona Acapulco, mesinha lateral Vulcan, poltrona com corda náutica, balanço Acapulco suspenso.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pastilha.jpg" id="994" name="Google Shape;994;p33"/>
          <p:cNvPicPr preferRelativeResize="0"/>
          <p:nvPr/>
        </p:nvPicPr>
        <p:blipFill rotWithShape="1">
          <a:blip r:embed="rId16">
            <a:alphaModFix/>
          </a:blip>
          <a:srcRect b="0" l="35938" r="35938" t="0"/>
          <a:stretch/>
        </p:blipFill>
        <p:spPr>
          <a:xfrm>
            <a:off x="457200" y="5120640"/>
            <a:ext cx="658368" cy="658368"/>
          </a:xfrm>
          <a:prstGeom prst="ellipse">
            <a:avLst/>
          </a:prstGeom>
          <a:noFill/>
          <a:ln>
            <a:noFill/>
          </a:ln>
        </p:spPr>
      </p:pic>
      <p:sp>
        <p:nvSpPr>
          <p:cNvPr id="995" name="Google Shape;995;p33"/>
          <p:cNvSpPr txBox="1"/>
          <p:nvPr/>
        </p:nvSpPr>
        <p:spPr>
          <a:xfrm>
            <a:off x="402336" y="5815584"/>
            <a:ext cx="76809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Pastilha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lounge.jpg" id="996" name="Google Shape;996;p33"/>
          <p:cNvPicPr preferRelativeResize="0"/>
          <p:nvPr/>
        </p:nvPicPr>
        <p:blipFill rotWithShape="1">
          <a:blip r:embed="rId17">
            <a:alphaModFix/>
          </a:blip>
          <a:srcRect b="0" l="28875" r="28875" t="0"/>
          <a:stretch/>
        </p:blipFill>
        <p:spPr>
          <a:xfrm>
            <a:off x="1261872" y="5120640"/>
            <a:ext cx="658368" cy="658368"/>
          </a:xfrm>
          <a:prstGeom prst="ellipse">
            <a:avLst/>
          </a:prstGeom>
          <a:noFill/>
          <a:ln>
            <a:noFill/>
          </a:ln>
        </p:spPr>
      </p:pic>
      <p:sp>
        <p:nvSpPr>
          <p:cNvPr id="997" name="Google Shape;997;p33"/>
          <p:cNvSpPr txBox="1"/>
          <p:nvPr/>
        </p:nvSpPr>
        <p:spPr>
          <a:xfrm>
            <a:off x="1207008" y="5815584"/>
            <a:ext cx="76809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Carvalho Arbo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perg.jpg" id="998" name="Google Shape;998;p33"/>
          <p:cNvPicPr preferRelativeResize="0"/>
          <p:nvPr/>
        </p:nvPicPr>
        <p:blipFill rotWithShape="1">
          <a:blip r:embed="rId18">
            <a:alphaModFix/>
          </a:blip>
          <a:srcRect b="0" l="30625" r="30625" t="0"/>
          <a:stretch/>
        </p:blipFill>
        <p:spPr>
          <a:xfrm>
            <a:off x="2066544" y="5120640"/>
            <a:ext cx="658368" cy="658368"/>
          </a:xfrm>
          <a:prstGeom prst="ellipse">
            <a:avLst/>
          </a:prstGeom>
          <a:noFill/>
          <a:ln>
            <a:noFill/>
          </a:ln>
        </p:spPr>
      </p:pic>
      <p:sp>
        <p:nvSpPr>
          <p:cNvPr id="999" name="Google Shape;999;p33"/>
          <p:cNvSpPr txBox="1"/>
          <p:nvPr/>
        </p:nvSpPr>
        <p:spPr>
          <a:xfrm>
            <a:off x="2011680" y="5815584"/>
            <a:ext cx="76809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Pergolado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khali.jpg" id="1000" name="Google Shape;1000;p33"/>
          <p:cNvPicPr preferRelativeResize="0"/>
          <p:nvPr/>
        </p:nvPicPr>
        <p:blipFill rotWithShape="1">
          <a:blip r:embed="rId19">
            <a:alphaModFix/>
          </a:blip>
          <a:srcRect b="0" l="32437" r="32437" t="0"/>
          <a:stretch/>
        </p:blipFill>
        <p:spPr>
          <a:xfrm>
            <a:off x="2871216" y="5120640"/>
            <a:ext cx="658368" cy="658368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01" name="Google Shape;1001;p33"/>
          <p:cNvSpPr txBox="1"/>
          <p:nvPr/>
        </p:nvSpPr>
        <p:spPr>
          <a:xfrm>
            <a:off x="2816352" y="5815584"/>
            <a:ext cx="76809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Khali EXT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06" name="Shape 10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Google Shape;1007;p34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02 · INTERIORES · ROOFTOP EXTERNO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8" name="Google Shape;1008;p34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Ficha de premissas: rooftop externo e piscina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navy_tpl_logo_cover.png" id="1009" name="Google Shape;100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icon_footer.png" id="1010" name="Google Shape;1010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011" name="Google Shape;1011;p34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INTERIORES  ·  32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annot__s14_0.jpg" id="1012" name="Google Shape;1012;p34"/>
          <p:cNvPicPr preferRelativeResize="0"/>
          <p:nvPr/>
        </p:nvPicPr>
        <p:blipFill rotWithShape="1">
          <a:blip r:embed="rId5">
            <a:alphaModFix/>
          </a:blip>
          <a:srcRect b="53" l="0" r="0" t="53"/>
          <a:stretch/>
        </p:blipFill>
        <p:spPr>
          <a:xfrm>
            <a:off x="457200" y="1280160"/>
            <a:ext cx="3840480" cy="2157984"/>
          </a:xfrm>
          <a:prstGeom prst="rect">
            <a:avLst/>
          </a:prstGeom>
          <a:noFill/>
          <a:ln>
            <a:noFill/>
          </a:ln>
        </p:spPr>
      </p:pic>
      <p:sp>
        <p:nvSpPr>
          <p:cNvPr id="1013" name="Google Shape;1013;p34"/>
          <p:cNvSpPr txBox="1"/>
          <p:nvPr/>
        </p:nvSpPr>
        <p:spPr>
          <a:xfrm>
            <a:off x="548640" y="1371600"/>
            <a:ext cx="253746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CONCEITO · PISCINA BORDA INFINITA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annot__s14_1.jpg" id="1014" name="Google Shape;1014;p34"/>
          <p:cNvPicPr preferRelativeResize="0"/>
          <p:nvPr/>
        </p:nvPicPr>
        <p:blipFill rotWithShape="1">
          <a:blip r:embed="rId6">
            <a:alphaModFix/>
          </a:blip>
          <a:srcRect b="53" l="0" r="0" t="53"/>
          <a:stretch/>
        </p:blipFill>
        <p:spPr>
          <a:xfrm>
            <a:off x="457200" y="3511296"/>
            <a:ext cx="3840480" cy="2157984"/>
          </a:xfrm>
          <a:prstGeom prst="rect">
            <a:avLst/>
          </a:prstGeom>
          <a:noFill/>
          <a:ln>
            <a:noFill/>
          </a:ln>
        </p:spPr>
      </p:pic>
      <p:sp>
        <p:nvSpPr>
          <p:cNvPr id="1015" name="Google Shape;1015;p34"/>
          <p:cNvSpPr txBox="1"/>
          <p:nvPr/>
        </p:nvSpPr>
        <p:spPr>
          <a:xfrm>
            <a:off x="548640" y="3602736"/>
            <a:ext cx="212598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CONCEITO · LOUNGE E BALANÇO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6" name="Google Shape;1016;p34"/>
          <p:cNvSpPr txBox="1"/>
          <p:nvPr/>
        </p:nvSpPr>
        <p:spPr>
          <a:xfrm>
            <a:off x="457200" y="5760720"/>
            <a:ext cx="3840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950"/>
              <a:buFont typeface="Arial"/>
              <a:buNone/>
            </a:pPr>
            <a:r>
              <a:rPr b="0" i="1" lang="en-US" sz="9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Lounge com floreira, parede texturizada "Baú de Madeira" e balanço Acapulco (conceito Seazone).</a:t>
            </a:r>
            <a:endParaRPr b="0" i="0" sz="9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7" name="Google Shape;1017;p34"/>
          <p:cNvSpPr/>
          <p:nvPr/>
        </p:nvSpPr>
        <p:spPr>
          <a:xfrm>
            <a:off x="4572000" y="128016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8" name="Google Shape;1018;p34"/>
          <p:cNvSpPr txBox="1"/>
          <p:nvPr/>
        </p:nvSpPr>
        <p:spPr>
          <a:xfrm>
            <a:off x="4681728" y="128016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Piscina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9" name="Google Shape;1019;p34"/>
          <p:cNvSpPr txBox="1"/>
          <p:nvPr/>
        </p:nvSpPr>
        <p:spPr>
          <a:xfrm>
            <a:off x="6126480" y="1280160"/>
            <a:ext cx="4556455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Pastilha Eliane Noronha Mar Mesh 10×10 (memorial) × briefing: esverdeado 20×20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0" name="Google Shape;1020;p34"/>
          <p:cNvSpPr/>
          <p:nvPr/>
        </p:nvSpPr>
        <p:spPr>
          <a:xfrm>
            <a:off x="10733227" y="1447292"/>
            <a:ext cx="891540" cy="219456"/>
          </a:xfrm>
          <a:prstGeom prst="roundRect">
            <a:avLst>
              <a:gd fmla="val 50000" name="adj"/>
            </a:avLst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VALIDAR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1" name="Google Shape;1021;p34"/>
          <p:cNvSpPr txBox="1"/>
          <p:nvPr/>
        </p:nvSpPr>
        <p:spPr>
          <a:xfrm>
            <a:off x="4681728" y="183388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Borda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2" name="Google Shape;1022;p34"/>
          <p:cNvSpPr txBox="1"/>
          <p:nvPr/>
        </p:nvSpPr>
        <p:spPr>
          <a:xfrm>
            <a:off x="6126480" y="1833880"/>
            <a:ext cx="5470855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Borda infinita voltada para o mar (conceito) · acabamento da borda sem especificação no executivo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3" name="Google Shape;1023;p34"/>
          <p:cNvSpPr/>
          <p:nvPr/>
        </p:nvSpPr>
        <p:spPr>
          <a:xfrm>
            <a:off x="4572000" y="238760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4" name="Google Shape;1024;p34"/>
          <p:cNvSpPr txBox="1"/>
          <p:nvPr/>
        </p:nvSpPr>
        <p:spPr>
          <a:xfrm>
            <a:off x="4681728" y="238760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Aquecimento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5" name="Google Shape;1025;p34"/>
          <p:cNvSpPr txBox="1"/>
          <p:nvPr/>
        </p:nvSpPr>
        <p:spPr>
          <a:xfrm>
            <a:off x="6126480" y="2387600"/>
            <a:ext cx="5470855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Solar (memorial R01) · pendente de definição no executivo (análise comparativa)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6" name="Google Shape;1026;p34"/>
          <p:cNvSpPr txBox="1"/>
          <p:nvPr/>
        </p:nvSpPr>
        <p:spPr>
          <a:xfrm>
            <a:off x="4681728" y="294132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Piso externo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7" name="Google Shape;1027;p34"/>
          <p:cNvSpPr txBox="1"/>
          <p:nvPr/>
        </p:nvSpPr>
        <p:spPr>
          <a:xfrm>
            <a:off x="6126480" y="2941320"/>
            <a:ext cx="5470855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Porcelanato Khali Off White 90×90 EXT (antiderrapante)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8" name="Google Shape;1028;p34"/>
          <p:cNvSpPr/>
          <p:nvPr/>
        </p:nvSpPr>
        <p:spPr>
          <a:xfrm>
            <a:off x="4572000" y="349504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9" name="Google Shape;1029;p34"/>
          <p:cNvSpPr txBox="1"/>
          <p:nvPr/>
        </p:nvSpPr>
        <p:spPr>
          <a:xfrm>
            <a:off x="4681728" y="349504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Lounge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0" name="Google Shape;1030;p34"/>
          <p:cNvSpPr txBox="1"/>
          <p:nvPr/>
        </p:nvSpPr>
        <p:spPr>
          <a:xfrm>
            <a:off x="6126480" y="3495040"/>
            <a:ext cx="5470855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Porcelanato Portinari Carvalho Arbo 20×120 aplicado na horizontal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1" name="Google Shape;1031;p34"/>
          <p:cNvSpPr txBox="1"/>
          <p:nvPr/>
        </p:nvSpPr>
        <p:spPr>
          <a:xfrm>
            <a:off x="4681728" y="404876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Parede do balanço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2" name="Google Shape;1032;p34"/>
          <p:cNvSpPr txBox="1"/>
          <p:nvPr/>
        </p:nvSpPr>
        <p:spPr>
          <a:xfrm>
            <a:off x="6126480" y="4048760"/>
            <a:ext cx="5470855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Textura Suvinil Granulado "Baú de Madeira" com floreira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3" name="Google Shape;1033;p34"/>
          <p:cNvSpPr/>
          <p:nvPr/>
        </p:nvSpPr>
        <p:spPr>
          <a:xfrm>
            <a:off x="4572000" y="460248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Google Shape;1034;p34"/>
          <p:cNvSpPr txBox="1"/>
          <p:nvPr/>
        </p:nvSpPr>
        <p:spPr>
          <a:xfrm>
            <a:off x="4681728" y="460248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Balanço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5" name="Google Shape;1035;p34"/>
          <p:cNvSpPr txBox="1"/>
          <p:nvPr/>
        </p:nvSpPr>
        <p:spPr>
          <a:xfrm>
            <a:off x="6126480" y="4602480"/>
            <a:ext cx="4556455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Acapulco suspenso (conceito) · briefing: fixar na laje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6" name="Google Shape;1036;p34"/>
          <p:cNvSpPr/>
          <p:nvPr/>
        </p:nvSpPr>
        <p:spPr>
          <a:xfrm>
            <a:off x="10801807" y="4769612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C982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PENDENTE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7" name="Google Shape;1037;p34"/>
          <p:cNvSpPr txBox="1"/>
          <p:nvPr/>
        </p:nvSpPr>
        <p:spPr>
          <a:xfrm>
            <a:off x="4681728" y="515620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Ducha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8" name="Google Shape;1038;p34"/>
          <p:cNvSpPr txBox="1"/>
          <p:nvPr/>
        </p:nvSpPr>
        <p:spPr>
          <a:xfrm>
            <a:off x="6126480" y="5156200"/>
            <a:ext cx="4556455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Ducha junto à piscina (conceito e briefing)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9" name="Google Shape;1039;p34"/>
          <p:cNvSpPr/>
          <p:nvPr/>
        </p:nvSpPr>
        <p:spPr>
          <a:xfrm>
            <a:off x="10801807" y="5323332"/>
            <a:ext cx="822960" cy="219456"/>
          </a:xfrm>
          <a:prstGeom prst="roundRect">
            <a:avLst>
              <a:gd fmla="val 50000" name="adj"/>
            </a:avLst>
          </a:prstGeom>
          <a:solidFill>
            <a:srgbClr val="C982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PENDENTE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0" name="Google Shape;1040;p34"/>
          <p:cNvSpPr/>
          <p:nvPr/>
        </p:nvSpPr>
        <p:spPr>
          <a:xfrm>
            <a:off x="4572000" y="5709920"/>
            <a:ext cx="7162495" cy="55372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1" name="Google Shape;1041;p34"/>
          <p:cNvSpPr txBox="1"/>
          <p:nvPr/>
        </p:nvSpPr>
        <p:spPr>
          <a:xfrm>
            <a:off x="4681728" y="5709920"/>
            <a:ext cx="1417320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Mobiliário</a:t>
            </a:r>
            <a:endParaRPr b="0" i="0" sz="10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2" name="Google Shape;1042;p34"/>
          <p:cNvSpPr txBox="1"/>
          <p:nvPr/>
        </p:nvSpPr>
        <p:spPr>
          <a:xfrm>
            <a:off x="6126480" y="5709920"/>
            <a:ext cx="5470855" cy="553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Espreguiçadeiras Rivage, poltronas Acapulco, mesinha Vulcan, poltrona Stack (PAI-12 a 15)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143D"/>
        </a:solidFill>
      </p:bgPr>
    </p:bg>
    <p:spTree>
      <p:nvGrpSpPr>
        <p:cNvPr id="1047" name="Shape 10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:/Users/Rachel/AppData/Local/Temp/claude/C--Users-Rachel-Documents-SEAZONE-BOOK-PREMISSAS-FACHADA-EXTERNA-CAMPECHE-SPOT/a62d8e33-2374-48a1-8865-f7b177fbebf6/scratchpad/img/rooftop__enscape_2023_11_22_18_04_34.jpg" id="1048" name="Google Shape;1048;p35"/>
          <p:cNvPicPr preferRelativeResize="0"/>
          <p:nvPr/>
        </p:nvPicPr>
        <p:blipFill rotWithShape="1">
          <a:blip r:embed="rId3">
            <a:alphaModFix/>
          </a:blip>
          <a:srcRect b="0" l="19501" r="19501" t="0"/>
          <a:stretch/>
        </p:blipFill>
        <p:spPr>
          <a:xfrm>
            <a:off x="4754880" y="0"/>
            <a:ext cx="7436815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logo_cover.png" id="1049" name="Google Shape;10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502920"/>
            <a:ext cx="1645920" cy="270780"/>
          </a:xfrm>
          <a:prstGeom prst="rect">
            <a:avLst/>
          </a:prstGeom>
          <a:noFill/>
          <a:ln>
            <a:noFill/>
          </a:ln>
        </p:spPr>
      </p:pic>
      <p:sp>
        <p:nvSpPr>
          <p:cNvPr id="1050" name="Google Shape;1050;p35"/>
          <p:cNvSpPr txBox="1"/>
          <p:nvPr/>
        </p:nvSpPr>
        <p:spPr>
          <a:xfrm>
            <a:off x="457200" y="2377440"/>
            <a:ext cx="39319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7200"/>
              <a:buFont typeface="Arial"/>
              <a:buNone/>
            </a:pPr>
            <a:r>
              <a:rPr b="1" lang="en-US" sz="7200">
                <a:solidFill>
                  <a:srgbClr val="FC6058"/>
                </a:solidFill>
              </a:rPr>
              <a:t>03</a:t>
            </a:r>
            <a:endParaRPr b="0" i="0" sz="7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1" name="Google Shape;1051;p35"/>
          <p:cNvSpPr txBox="1"/>
          <p:nvPr/>
        </p:nvSpPr>
        <p:spPr>
          <a:xfrm>
            <a:off x="457200" y="3383280"/>
            <a:ext cx="39319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Arial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Materiais de interiores</a:t>
            </a:r>
            <a:endParaRPr b="0" i="0" sz="3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2" name="Google Shape;1052;p35"/>
          <p:cNvSpPr txBox="1"/>
          <p:nvPr/>
        </p:nvSpPr>
        <p:spPr>
          <a:xfrm>
            <a:off x="457200" y="4526280"/>
            <a:ext cx="393192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D3EA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C9D3EA"/>
                </a:solidFill>
                <a:latin typeface="Arial"/>
                <a:ea typeface="Arial"/>
                <a:cs typeface="Arial"/>
                <a:sym typeface="Arial"/>
              </a:rPr>
              <a:t>Mapa de materialidade </a:t>
            </a:r>
            <a:r>
              <a:rPr lang="en-US" sz="1300">
                <a:solidFill>
                  <a:srgbClr val="C9D3EA"/>
                </a:solidFill>
              </a:rPr>
              <a:t>T13–T28</a:t>
            </a:r>
            <a:r>
              <a:rPr b="0" i="0" lang="en-US" sz="1300" u="none" cap="none" strike="noStrike">
                <a:solidFill>
                  <a:srgbClr val="C9D3EA"/>
                </a:solidFill>
                <a:latin typeface="Arial"/>
                <a:ea typeface="Arial"/>
                <a:cs typeface="Arial"/>
                <a:sym typeface="Arial"/>
              </a:rPr>
              <a:t>: amostras tiradas dos renders Seazone para compra e aprovação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tpl_icon_footer.png" id="1053" name="Google Shape;1053;p3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054" name="Google Shape;1054;p35"/>
          <p:cNvSpPr txBox="1"/>
          <p:nvPr/>
        </p:nvSpPr>
        <p:spPr>
          <a:xfrm>
            <a:off x="731520" y="6382512"/>
            <a:ext cx="4023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D4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9FB0D4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</a:t>
            </a:r>
            <a:r>
              <a:rPr lang="en-US" sz="750">
                <a:solidFill>
                  <a:srgbClr val="9FB0D4"/>
                </a:solidFill>
              </a:rPr>
              <a:t>INTERIORES  ·  33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59" name="Shape 10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Google Shape;1060;p36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FC6058"/>
                </a:solidFill>
              </a:rPr>
              <a:t>03 · INTERIORES · MAPA DE MATERIALIDADE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1" name="Google Shape;1061;p36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Materiais · paredes e recepção </a:t>
            </a:r>
            <a:r>
              <a:rPr b="1" lang="en-US" sz="2600">
                <a:solidFill>
                  <a:srgbClr val="00143D"/>
                </a:solidFill>
              </a:rPr>
              <a:t>(1/4)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navy_tpl_logo_cover.png" id="1062" name="Google Shape;1062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icon_footer.png" id="1063" name="Google Shape;1063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064" name="Google Shape;1064;p36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</a:t>
            </a:r>
            <a:r>
              <a:rPr lang="en-US" sz="750">
                <a:solidFill>
                  <a:srgbClr val="6F7891"/>
                </a:solidFill>
              </a:rPr>
              <a:t>INTERIORES  ·  34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5" name="Google Shape;1065;p36"/>
          <p:cNvSpPr txBox="1"/>
          <p:nvPr/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Amostras extraídas dos renders de interiores Seazone. Referência visual, não substitui amostra física.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6" name="Google Shape;1066;p36"/>
          <p:cNvSpPr/>
          <p:nvPr/>
        </p:nvSpPr>
        <p:spPr>
          <a:xfrm>
            <a:off x="457200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velvet.jpg" id="1067" name="Google Shape;1067;p36"/>
          <p:cNvPicPr preferRelativeResize="0"/>
          <p:nvPr/>
        </p:nvPicPr>
        <p:blipFill rotWithShape="1">
          <a:blip r:embed="rId5">
            <a:alphaModFix/>
          </a:blip>
          <a:srcRect b="0" l="12500" r="12500" t="0"/>
          <a:stretch/>
        </p:blipFill>
        <p:spPr>
          <a:xfrm>
            <a:off x="685800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68" name="Google Shape;1068;p36"/>
          <p:cNvSpPr txBox="1"/>
          <p:nvPr/>
        </p:nvSpPr>
        <p:spPr>
          <a:xfrm>
            <a:off x="1211580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T13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9" name="Google Shape;1069;p36"/>
          <p:cNvSpPr txBox="1"/>
          <p:nvPr/>
        </p:nvSpPr>
        <p:spPr>
          <a:xfrm>
            <a:off x="2514600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Textura velvet cinza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Recepção e parede da cama das unidades.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Textura velvet cinza (briefing e memorial de interiores).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Memorial R01 indica Crômio na recepção: fechar a referência antes da compra. A VALIDAR.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0" name="Google Shape;1070;p36"/>
          <p:cNvSpPr/>
          <p:nvPr/>
        </p:nvSpPr>
        <p:spPr>
          <a:xfrm>
            <a:off x="6233008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palha.jpg" id="1071" name="Google Shape;1071;p36"/>
          <p:cNvPicPr preferRelativeResize="0"/>
          <p:nvPr/>
        </p:nvPicPr>
        <p:blipFill rotWithShape="1">
          <a:blip r:embed="rId6">
            <a:alphaModFix/>
          </a:blip>
          <a:srcRect b="35542" l="0" r="0" t="35542"/>
          <a:stretch/>
        </p:blipFill>
        <p:spPr>
          <a:xfrm>
            <a:off x="6461608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72" name="Google Shape;1072;p36"/>
          <p:cNvSpPr txBox="1"/>
          <p:nvPr/>
        </p:nvSpPr>
        <p:spPr>
          <a:xfrm>
            <a:off x="6987388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T14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3" name="Google Shape;1073;p36"/>
          <p:cNvSpPr txBox="1"/>
          <p:nvPr/>
        </p:nvSpPr>
        <p:spPr>
          <a:xfrm>
            <a:off x="8290408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Biombo de palha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Recepção, voltado para a rua.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Estrutura metálica preta com palha (memorial de interiores) · painéis de palha sintética no rooftop.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Garantir a privacidade da recepção em relação à rua; detalhar fixação.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4" name="Google Shape;1074;p36"/>
          <p:cNvSpPr/>
          <p:nvPr/>
        </p:nvSpPr>
        <p:spPr>
          <a:xfrm>
            <a:off x="457200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cimento.jpg" id="1075" name="Google Shape;1075;p36"/>
          <p:cNvPicPr preferRelativeResize="0"/>
          <p:nvPr/>
        </p:nvPicPr>
        <p:blipFill rotWithShape="1">
          <a:blip r:embed="rId7">
            <a:alphaModFix/>
          </a:blip>
          <a:srcRect b="0" l="12500" r="12500" t="0"/>
          <a:stretch/>
        </p:blipFill>
        <p:spPr>
          <a:xfrm>
            <a:off x="685800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76" name="Google Shape;1076;p36"/>
          <p:cNvSpPr txBox="1"/>
          <p:nvPr/>
        </p:nvSpPr>
        <p:spPr>
          <a:xfrm>
            <a:off x="1211580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T15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7" name="Google Shape;1077;p36"/>
          <p:cNvSpPr txBox="1"/>
          <p:nvPr/>
        </p:nvSpPr>
        <p:spPr>
          <a:xfrm>
            <a:off x="2514600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Cimento queimado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Parede-destaque da recepção e paredes do rooftop.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Suvinil Cimento Queimado "Túnel de Concreto" (recepção) e "Dias de chuva" (rooftop).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Aplicação por equipe única; aprovar painel-teste no local.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8" name="Google Shape;1078;p36"/>
          <p:cNvSpPr/>
          <p:nvPr/>
        </p:nvSpPr>
        <p:spPr>
          <a:xfrm>
            <a:off x="6233008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forro.jpg" id="1079" name="Google Shape;1079;p36"/>
          <p:cNvPicPr preferRelativeResize="0"/>
          <p:nvPr/>
        </p:nvPicPr>
        <p:blipFill rotWithShape="1">
          <a:blip r:embed="rId8">
            <a:alphaModFix/>
          </a:blip>
          <a:srcRect b="0" l="41562" r="41562" t="0"/>
          <a:stretch/>
        </p:blipFill>
        <p:spPr>
          <a:xfrm>
            <a:off x="6461608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80" name="Google Shape;1080;p36"/>
          <p:cNvSpPr txBox="1"/>
          <p:nvPr/>
        </p:nvSpPr>
        <p:spPr>
          <a:xfrm>
            <a:off x="6987388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T16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1" name="Google Shape;1081;p36"/>
          <p:cNvSpPr txBox="1"/>
          <p:nvPr/>
        </p:nvSpPr>
        <p:spPr>
          <a:xfrm>
            <a:off x="8290408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Forro com ripas pretas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Rooftop interno.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Forro de gesso com ripas pretas em grelha (memorial R01).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Briefing marca forro modular 2,60 m: confirmar solução. A VALIDAR.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86" name="Shape 10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7" name="Google Shape;1087;p37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FC6058"/>
                </a:solidFill>
              </a:rPr>
              <a:t>03 · INTERIORES · MAPA DE MATERIALIDADE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8" name="Google Shape;1088;p37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Materiais · pisos e rooftop </a:t>
            </a:r>
            <a:r>
              <a:rPr b="1" lang="en-US" sz="2600">
                <a:solidFill>
                  <a:srgbClr val="00143D"/>
                </a:solidFill>
              </a:rPr>
              <a:t>(2/4)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navy_tpl_logo_cover.png" id="1089" name="Google Shape;1089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icon_footer.png" id="1090" name="Google Shape;1090;p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091" name="Google Shape;1091;p37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</a:t>
            </a:r>
            <a:r>
              <a:rPr lang="en-US" sz="750">
                <a:solidFill>
                  <a:srgbClr val="6F7891"/>
                </a:solidFill>
              </a:rPr>
              <a:t>INTERIORES  ·  35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2" name="Google Shape;1092;p37"/>
          <p:cNvSpPr txBox="1"/>
          <p:nvPr/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Amostras extraídas dos renders de interiores Seazone. Referência visual, não substitui amostra física.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3" name="Google Shape;1093;p37"/>
          <p:cNvSpPr/>
          <p:nvPr/>
        </p:nvSpPr>
        <p:spPr>
          <a:xfrm>
            <a:off x="457200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khali.jpg" id="1094" name="Google Shape;1094;p37"/>
          <p:cNvPicPr preferRelativeResize="0"/>
          <p:nvPr/>
        </p:nvPicPr>
        <p:blipFill rotWithShape="1">
          <a:blip r:embed="rId5">
            <a:alphaModFix/>
          </a:blip>
          <a:srcRect b="0" l="32438" r="32438" t="0"/>
          <a:stretch/>
        </p:blipFill>
        <p:spPr>
          <a:xfrm>
            <a:off x="685800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95" name="Google Shape;1095;p37"/>
          <p:cNvSpPr txBox="1"/>
          <p:nvPr/>
        </p:nvSpPr>
        <p:spPr>
          <a:xfrm>
            <a:off x="1211580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T17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6" name="Google Shape;1096;p37"/>
          <p:cNvSpPr txBox="1"/>
          <p:nvPr/>
        </p:nvSpPr>
        <p:spPr>
          <a:xfrm>
            <a:off x="2514600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Khali Off White 90×90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Recepção, corredores, rooftop e unidades.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Porcelanato Eliane Khali Off White 90×90 · versão EXT nas áreas externas (memorial R01).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Conferir lote e tonalidade antes do assentamento.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7" name="Google Shape;1097;p37"/>
          <p:cNvSpPr/>
          <p:nvPr/>
        </p:nvSpPr>
        <p:spPr>
          <a:xfrm>
            <a:off x="6233008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canjiquinha.jpg" id="1098" name="Google Shape;1098;p37"/>
          <p:cNvPicPr preferRelativeResize="0"/>
          <p:nvPr/>
        </p:nvPicPr>
        <p:blipFill rotWithShape="1">
          <a:blip r:embed="rId6">
            <a:alphaModFix/>
          </a:blip>
          <a:srcRect b="0" l="25391" r="25391" t="0"/>
          <a:stretch/>
        </p:blipFill>
        <p:spPr>
          <a:xfrm>
            <a:off x="6461608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099" name="Google Shape;1099;p37"/>
          <p:cNvSpPr txBox="1"/>
          <p:nvPr/>
        </p:nvSpPr>
        <p:spPr>
          <a:xfrm>
            <a:off x="6987388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T18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0" name="Google Shape;1100;p37"/>
          <p:cNvSpPr txBox="1"/>
          <p:nvPr/>
        </p:nvSpPr>
        <p:spPr>
          <a:xfrm>
            <a:off x="8290408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Pedra Canjiquinha Cinza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Parede da pia do rooftop.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Pedra Canjiquinha Cinza com a frase "Seu lugar fora de casa" (memorial R01).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Prever fixação e iluminação da frase antes do revestimento.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1" name="Google Shape;1101;p37"/>
          <p:cNvSpPr/>
          <p:nvPr/>
        </p:nvSpPr>
        <p:spPr>
          <a:xfrm>
            <a:off x="457200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minimarket.jpg" id="1102" name="Google Shape;1102;p37"/>
          <p:cNvPicPr preferRelativeResize="0"/>
          <p:nvPr/>
        </p:nvPicPr>
        <p:blipFill rotWithShape="1">
          <a:blip r:embed="rId7">
            <a:alphaModFix/>
          </a:blip>
          <a:srcRect b="23333" l="0" r="0" t="23333"/>
          <a:stretch/>
        </p:blipFill>
        <p:spPr>
          <a:xfrm>
            <a:off x="685800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103" name="Google Shape;1103;p37"/>
          <p:cNvSpPr txBox="1"/>
          <p:nvPr/>
        </p:nvSpPr>
        <p:spPr>
          <a:xfrm>
            <a:off x="1211580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T19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4" name="Google Shape;1104;p37"/>
          <p:cNvSpPr txBox="1"/>
          <p:nvPr/>
        </p:nvSpPr>
        <p:spPr>
          <a:xfrm>
            <a:off x="2514600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Mini market ripado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Rooftop interno.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Painel ripado em PVC amadeirado (memorial R01).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Conferir pontos elétricos das geladeiras antes do painel.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5" name="Google Shape;1105;p37"/>
          <p:cNvSpPr/>
          <p:nvPr/>
        </p:nvSpPr>
        <p:spPr>
          <a:xfrm>
            <a:off x="6233008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lounge.jpg" id="1106" name="Google Shape;1106;p37"/>
          <p:cNvPicPr preferRelativeResize="0"/>
          <p:nvPr/>
        </p:nvPicPr>
        <p:blipFill rotWithShape="1">
          <a:blip r:embed="rId8">
            <a:alphaModFix/>
          </a:blip>
          <a:srcRect b="0" l="28875" r="28875" t="0"/>
          <a:stretch/>
        </p:blipFill>
        <p:spPr>
          <a:xfrm>
            <a:off x="6461608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107" name="Google Shape;1107;p37"/>
          <p:cNvSpPr txBox="1"/>
          <p:nvPr/>
        </p:nvSpPr>
        <p:spPr>
          <a:xfrm>
            <a:off x="6987388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T20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8" name="Google Shape;1108;p37"/>
          <p:cNvSpPr txBox="1"/>
          <p:nvPr/>
        </p:nvSpPr>
        <p:spPr>
          <a:xfrm>
            <a:off x="8290408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Carvalho Arbo 20×120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Lounge do rooftop externo.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Porcelanato Portinari Carvalho Arbo 20×120, paginação horizontal (memorial R01).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Peça externa antiderrapante; conferir caimento para ralos.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13" name="Shape 1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4" name="Google Shape;1114;p38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FC6058"/>
                </a:solidFill>
              </a:rPr>
              <a:t>03 · INTERIORES · MAPA DE MATERIALIDADE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5" name="Google Shape;1115;p38"/>
          <p:cNvSpPr txBox="1"/>
          <p:nvPr/>
        </p:nvSpPr>
        <p:spPr>
          <a:xfrm>
            <a:off x="457200" y="512064"/>
            <a:ext cx="9326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Materiais · piscina e unidades </a:t>
            </a:r>
            <a:r>
              <a:rPr b="1" lang="en-US" sz="2600">
                <a:solidFill>
                  <a:srgbClr val="00143D"/>
                </a:solidFill>
              </a:rPr>
              <a:t>(3/4)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navy_tpl_logo_cover.png" id="1116" name="Google Shape;1116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icon_footer.png" id="1117" name="Google Shape;1117;p3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118" name="Google Shape;1118;p38"/>
          <p:cNvSpPr txBox="1"/>
          <p:nvPr/>
        </p:nvSpPr>
        <p:spPr>
          <a:xfrm>
            <a:off x="5760720" y="6382512"/>
            <a:ext cx="5973775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</a:t>
            </a:r>
            <a:r>
              <a:rPr lang="en-US" sz="750">
                <a:solidFill>
                  <a:srgbClr val="6F7891"/>
                </a:solidFill>
              </a:rPr>
              <a:t>INTERIORES  ·  36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9" name="Google Shape;1119;p38"/>
          <p:cNvSpPr txBox="1"/>
          <p:nvPr/>
        </p:nvSpPr>
        <p:spPr>
          <a:xfrm>
            <a:off x="457200" y="111556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Amostras extraídas dos renders de interiores Seazone. Referência visual, não substitui amostra física.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0" name="Google Shape;1120;p38"/>
          <p:cNvSpPr/>
          <p:nvPr/>
        </p:nvSpPr>
        <p:spPr>
          <a:xfrm>
            <a:off x="457200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pastilha.jpg" id="1121" name="Google Shape;1121;p38"/>
          <p:cNvPicPr preferRelativeResize="0"/>
          <p:nvPr/>
        </p:nvPicPr>
        <p:blipFill rotWithShape="1">
          <a:blip r:embed="rId5">
            <a:alphaModFix/>
          </a:blip>
          <a:srcRect b="0" l="35938" r="35938" t="0"/>
          <a:stretch/>
        </p:blipFill>
        <p:spPr>
          <a:xfrm>
            <a:off x="685800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122" name="Google Shape;1122;p38"/>
          <p:cNvSpPr txBox="1"/>
          <p:nvPr/>
        </p:nvSpPr>
        <p:spPr>
          <a:xfrm>
            <a:off x="1211580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T21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3" name="Google Shape;1123;p38"/>
          <p:cNvSpPr txBox="1"/>
          <p:nvPr/>
        </p:nvSpPr>
        <p:spPr>
          <a:xfrm>
            <a:off x="2514600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Pastilha da piscina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Piscina do rooftop.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Eliane Noronha Mar Mesh 10×10 (memorial R01).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Briefing marca esverdeado 20×20: fechar referência antes do pedido. A VALIDAR.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4" name="Google Shape;1124;p38"/>
          <p:cNvSpPr/>
          <p:nvPr/>
        </p:nvSpPr>
        <p:spPr>
          <a:xfrm>
            <a:off x="6233008" y="14630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25" name="Google Shape;1125;p3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61608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126" name="Google Shape;1126;p38"/>
          <p:cNvSpPr txBox="1"/>
          <p:nvPr/>
        </p:nvSpPr>
        <p:spPr>
          <a:xfrm>
            <a:off x="6987388" y="34107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T22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7" name="Google Shape;1127;p38"/>
          <p:cNvSpPr txBox="1"/>
          <p:nvPr/>
        </p:nvSpPr>
        <p:spPr>
          <a:xfrm>
            <a:off x="8290408" y="16459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MDF </a:t>
            </a:r>
            <a:r>
              <a:rPr b="1" lang="en-US">
                <a:solidFill>
                  <a:srgbClr val="00143D"/>
                </a:solidFill>
              </a:rPr>
              <a:t>Carvalho Treviso</a:t>
            </a:r>
            <a:endParaRPr b="1" i="0" sz="1400" u="none" cap="none" strike="noStrike">
              <a:solidFill>
                <a:srgbClr val="00143D"/>
              </a:solidFill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Marcenaria das unidades (cabeceira, bancada, painéis).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lang="en-US" sz="1000">
                <a:solidFill>
                  <a:srgbClr val="333333"/>
                </a:solidFill>
              </a:rPr>
              <a:t>MDF Carvalho Treviso Berneck com MDF Ópera Berneck e metal preto</a:t>
            </a: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(memorial de interiores).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lang="en-US" sz="1000">
                <a:solidFill>
                  <a:schemeClr val="dk1"/>
                </a:solidFill>
              </a:rPr>
              <a:t>Padrões Berneck do catálogo Industrial (rev. 13/10/2026) substituem o Jequitibá e o Beton Matt Arauco dos renders de 2023.</a:t>
            </a:r>
            <a:r>
              <a:rPr b="1" lang="en-US" sz="1000">
                <a:solidFill>
                  <a:srgbClr val="00143D"/>
                </a:solidFill>
              </a:rPr>
              <a:t> Escopo conforme memorial de unidades.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8" name="Google Shape;1128;p38"/>
          <p:cNvSpPr/>
          <p:nvPr/>
        </p:nvSpPr>
        <p:spPr>
          <a:xfrm>
            <a:off x="457200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saogabriel.jpg" id="1129" name="Google Shape;1129;p38"/>
          <p:cNvPicPr preferRelativeResize="0"/>
          <p:nvPr/>
        </p:nvPicPr>
        <p:blipFill rotWithShape="1">
          <a:blip r:embed="rId7">
            <a:alphaModFix/>
          </a:blip>
          <a:srcRect b="0" l="34202" r="34202" t="0"/>
          <a:stretch/>
        </p:blipFill>
        <p:spPr>
          <a:xfrm>
            <a:off x="685800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130" name="Google Shape;1130;p38"/>
          <p:cNvSpPr txBox="1"/>
          <p:nvPr/>
        </p:nvSpPr>
        <p:spPr>
          <a:xfrm>
            <a:off x="1211580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T23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1" name="Google Shape;1131;p38"/>
          <p:cNvSpPr txBox="1"/>
          <p:nvPr/>
        </p:nvSpPr>
        <p:spPr>
          <a:xfrm>
            <a:off x="2514600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Granito Preto São Gabriel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Bancadas das unidades e dos banheiros.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Granito Preto São Gabriel polido (memorial de interiores).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Cubas de apoio brancas sobre tampo preto (renders).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2" name="Google Shape;1132;p38"/>
          <p:cNvSpPr/>
          <p:nvPr/>
        </p:nvSpPr>
        <p:spPr>
          <a:xfrm>
            <a:off x="6233008" y="3977640"/>
            <a:ext cx="5501488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C:/Users/Rachel/AppData/Local/Temp/claude/C--Users-Rachel-Documents-SEAZONE-BOOK-PREMISSAS-FACHADA-EXTERNA-CAMPECHE-SPOT/a62d8e33-2374-48a1-8865-f7b177fbebf6/scratchpad/img/sw__mezanino.jpg" id="1133" name="Google Shape;1133;p38"/>
          <p:cNvPicPr preferRelativeResize="0"/>
          <p:nvPr/>
        </p:nvPicPr>
        <p:blipFill rotWithShape="1">
          <a:blip r:embed="rId8">
            <a:alphaModFix/>
          </a:blip>
          <a:srcRect b="0" l="21875" r="21875" t="0"/>
          <a:stretch/>
        </p:blipFill>
        <p:spPr>
          <a:xfrm>
            <a:off x="6461608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134" name="Google Shape;1134;p38"/>
          <p:cNvSpPr txBox="1"/>
          <p:nvPr/>
        </p:nvSpPr>
        <p:spPr>
          <a:xfrm>
            <a:off x="6987388" y="5925312"/>
            <a:ext cx="548640" cy="237744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T24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5" name="Google Shape;1135;p38"/>
          <p:cNvSpPr txBox="1"/>
          <p:nvPr/>
        </p:nvSpPr>
        <p:spPr>
          <a:xfrm>
            <a:off x="8290408" y="4160520"/>
            <a:ext cx="3261208" cy="1920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Guarda-corpo cor madeira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Mezanino das unidades.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Serralheria com painel de alumínio cor madeira · escada metálica preta.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Aprovar amostra da cor madeira do painel antes da fabricação.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40" name="Shape 1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1" name="Google Shape;1141;p39"/>
          <p:cNvSpPr txBox="1"/>
          <p:nvPr/>
        </p:nvSpPr>
        <p:spPr>
          <a:xfrm>
            <a:off x="457200" y="292608"/>
            <a:ext cx="8229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900"/>
              <a:buFont typeface="Arial"/>
              <a:buNone/>
            </a:pPr>
            <a:r>
              <a:rPr b="1" lang="en-US" sz="900">
                <a:solidFill>
                  <a:srgbClr val="FC6058"/>
                </a:solidFill>
              </a:rPr>
              <a:t>03 · INTERIORES · MAPA DE MATERIALIDADE</a:t>
            </a:r>
            <a:endParaRPr b="0" i="0" sz="9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2" name="Google Shape;1142;p39"/>
          <p:cNvSpPr txBox="1"/>
          <p:nvPr/>
        </p:nvSpPr>
        <p:spPr>
          <a:xfrm>
            <a:off x="457200" y="512064"/>
            <a:ext cx="93270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2600"/>
              <a:buFont typeface="Arial"/>
              <a:buNone/>
            </a:pPr>
            <a:r>
              <a:rPr b="1" i="0" lang="en-US" sz="26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Materiais · MDFs e metais (4/4)</a:t>
            </a:r>
            <a:endParaRPr b="0" i="0" sz="2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navy_tpl_logo_cover.png" id="1143" name="Google Shape;1143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457200"/>
            <a:ext cx="1463040" cy="24069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icon_footer.png" id="1144" name="Google Shape;1144;p3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145" name="Google Shape;1145;p39"/>
          <p:cNvSpPr txBox="1"/>
          <p:nvPr/>
        </p:nvSpPr>
        <p:spPr>
          <a:xfrm>
            <a:off x="5760720" y="6382512"/>
            <a:ext cx="59739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</a:t>
            </a:r>
            <a:r>
              <a:rPr lang="en-US" sz="750">
                <a:solidFill>
                  <a:srgbClr val="6F7891"/>
                </a:solidFill>
              </a:rPr>
              <a:t>INTERIORES  ·  37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6" name="Google Shape;1146;p39"/>
          <p:cNvSpPr txBox="1"/>
          <p:nvPr/>
        </p:nvSpPr>
        <p:spPr>
          <a:xfrm>
            <a:off x="457200" y="1115568"/>
            <a:ext cx="11277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F7891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rgbClr val="6F7891"/>
                </a:solidFill>
                <a:latin typeface="Arial"/>
                <a:ea typeface="Arial"/>
                <a:cs typeface="Arial"/>
                <a:sym typeface="Arial"/>
              </a:rPr>
              <a:t>Padrões Berneck e cores de metal do catálogo Industrial Seazone (rev. 13/10/2026). Referência visual, não substitui amostra física.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7" name="Google Shape;1147;p39"/>
          <p:cNvSpPr/>
          <p:nvPr/>
        </p:nvSpPr>
        <p:spPr>
          <a:xfrm>
            <a:off x="457200" y="1463040"/>
            <a:ext cx="5501400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48" name="Google Shape;1148;p3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85800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149" name="Google Shape;1149;p39"/>
          <p:cNvSpPr txBox="1"/>
          <p:nvPr/>
        </p:nvSpPr>
        <p:spPr>
          <a:xfrm>
            <a:off x="1211580" y="3410712"/>
            <a:ext cx="548700" cy="237600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T25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0" name="Google Shape;1150;p39"/>
          <p:cNvSpPr txBox="1"/>
          <p:nvPr/>
        </p:nvSpPr>
        <p:spPr>
          <a:xfrm>
            <a:off x="2514600" y="1645920"/>
            <a:ext cx="32613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MDF Carvalho Treviso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Ripado do corredor (PAV 1), marcenaria do rooftop e das unidades.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MDF Berneck Carvalho Treviso, padrão Design (catálogo Industrial). Substitui o Jequitibá Arauco dos renders de 2023.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Aprovar amostra física antes da compra: tom mais claro e acinzentado que o Jequitibá dos renders.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1" name="Google Shape;1151;p39"/>
          <p:cNvSpPr/>
          <p:nvPr/>
        </p:nvSpPr>
        <p:spPr>
          <a:xfrm>
            <a:off x="6233008" y="1463040"/>
            <a:ext cx="5501400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52" name="Google Shape;1152;p3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61608" y="17373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153" name="Google Shape;1153;p39"/>
          <p:cNvSpPr txBox="1"/>
          <p:nvPr/>
        </p:nvSpPr>
        <p:spPr>
          <a:xfrm>
            <a:off x="6987388" y="3410712"/>
            <a:ext cx="548700" cy="237600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T26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4" name="Google Shape;1154;p39"/>
          <p:cNvSpPr txBox="1"/>
          <p:nvPr/>
        </p:nvSpPr>
        <p:spPr>
          <a:xfrm>
            <a:off x="8290408" y="1645920"/>
            <a:ext cx="32613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lang="en-US">
                <a:solidFill>
                  <a:srgbClr val="00143D"/>
                </a:solidFill>
              </a:rPr>
              <a:t>MDF Ópera</a:t>
            </a:r>
            <a:endParaRPr b="1" i="0" sz="1400" u="none" cap="none" strike="noStrike">
              <a:solidFill>
                <a:srgbClr val="00143D"/>
              </a:solidFill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Marcenaria das unidades, em composição com o Carvalho Treviso (memorial de interiores).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MDF Berneck Ópera, padrão Micro (catálogo Industrial). Substitui o Beton Matt Arauco.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lang="en-US" sz="1000">
                <a:solidFill>
                  <a:srgbClr val="00143D"/>
                </a:solidFill>
              </a:rPr>
              <a:t>Cinza concreto médio: não trocar por Chumbo (mais escuro) sem validação registrada.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5" name="Google Shape;1155;p39"/>
          <p:cNvSpPr/>
          <p:nvPr/>
        </p:nvSpPr>
        <p:spPr>
          <a:xfrm>
            <a:off x="457200" y="3977640"/>
            <a:ext cx="5501400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56" name="Google Shape;1156;p3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85800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157" name="Google Shape;1157;p39"/>
          <p:cNvSpPr txBox="1"/>
          <p:nvPr/>
        </p:nvSpPr>
        <p:spPr>
          <a:xfrm>
            <a:off x="1211580" y="5925312"/>
            <a:ext cx="548700" cy="237600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T27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8" name="Google Shape;1158;p39"/>
          <p:cNvSpPr txBox="1"/>
          <p:nvPr/>
        </p:nvSpPr>
        <p:spPr>
          <a:xfrm>
            <a:off x="2514600" y="4160520"/>
            <a:ext cx="32613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Metal preto RAL 9005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Grelha de metalon da recepção, perfis do muxarabi, estruturas de poltronas e banquetas, arandelas e metal da marcenaria.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Metal pintado preto fosco, ref. RAL 9005 (catálogo Industrial). Grelha em tubo 30×30 mm (memorial da nova recepção).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Acabamento fosco em todas as peças: alinhar o mesmo padrão entre serralheiro e marcenaria.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9" name="Google Shape;1159;p39"/>
          <p:cNvSpPr/>
          <p:nvPr/>
        </p:nvSpPr>
        <p:spPr>
          <a:xfrm>
            <a:off x="6233008" y="3977640"/>
            <a:ext cx="5501400" cy="2286000"/>
          </a:xfrm>
          <a:prstGeom prst="rect">
            <a:avLst/>
          </a:prstGeom>
          <a:solidFill>
            <a:srgbClr val="F7F9FC"/>
          </a:solidFill>
          <a:ln cap="flat" cmpd="sng" w="9525">
            <a:solidFill>
              <a:srgbClr val="D9DEE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60" name="Google Shape;1160;p3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461608" y="4251960"/>
            <a:ext cx="1600200" cy="16002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161" name="Google Shape;1161;p39"/>
          <p:cNvSpPr txBox="1"/>
          <p:nvPr/>
        </p:nvSpPr>
        <p:spPr>
          <a:xfrm>
            <a:off x="6987388" y="5925312"/>
            <a:ext cx="548700" cy="237600"/>
          </a:xfrm>
          <a:prstGeom prst="rect">
            <a:avLst/>
          </a:prstGeom>
          <a:solidFill>
            <a:srgbClr val="FC605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T28</a:t>
            </a:r>
            <a:endParaRPr b="0" i="0" sz="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2" name="Google Shape;1162;p39"/>
          <p:cNvSpPr txBox="1"/>
          <p:nvPr/>
        </p:nvSpPr>
        <p:spPr>
          <a:xfrm>
            <a:off x="8290408" y="4160520"/>
            <a:ext cx="32613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143D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Metal grafite RAL 7024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ONDE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Segunda cor de metal do catálogo Industrial. Sem uso definido no projeto atual.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ESPECIFICAÇÃO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Metal pintado grafite, ref. RAL 7024 (catálogo Industrial).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FC6058"/>
              </a:buClr>
              <a:buSzPts val="750"/>
              <a:buFont typeface="Arial"/>
              <a:buNone/>
            </a:pPr>
            <a:r>
              <a:rPr b="1" i="0" lang="en-US" sz="75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ATENÇÃO NA OBRA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Clr>
                <a:srgbClr val="00143D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00143D"/>
                </a:solidFill>
                <a:latin typeface="Arial"/>
                <a:ea typeface="Arial"/>
                <a:cs typeface="Arial"/>
                <a:sym typeface="Arial"/>
              </a:rPr>
              <a:t>Usar só como alternativa ao preto em peças soltas, com validação registrada. A VALIDAR.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0143D"/>
        </a:solidFill>
      </p:bgPr>
    </p:bg>
    <p:spTree>
      <p:nvGrpSpPr>
        <p:cNvPr id="1167" name="Shape 1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:/Users/Rachel/AppData/Local/Temp/claude/C--Users-Rachel-Documents-SEAZONE-BOOK-PREMISSAS-FACHADA-EXTERNA-CAMPECHE-SPOT/a62d8e33-2374-48a1-8865-f7b177fbebf6/scratchpad/img/ext__rooftop_2.jpg" id="1168" name="Google Shape;1168;p40"/>
          <p:cNvPicPr preferRelativeResize="0"/>
          <p:nvPr/>
        </p:nvPicPr>
        <p:blipFill rotWithShape="1">
          <a:blip r:embed="rId3">
            <a:alphaModFix/>
          </a:blip>
          <a:srcRect b="0" l="23251" r="23251" t="0"/>
          <a:stretch/>
        </p:blipFill>
        <p:spPr>
          <a:xfrm>
            <a:off x="5669280" y="0"/>
            <a:ext cx="6522415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:\Users\Rachel\AppData\Local\Temp\claude\C--Users-Rachel-Documents-SEAZONE-BOOK-PREMISSAS-FACHADA-EXTERNA-CAMPECHE-SPOT\a62d8e33-2374-48a1-8865-f7b177fbebf6\scratchpad\img\tpl_logo_cover.png" id="1169" name="Google Shape;1169;p4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548640"/>
            <a:ext cx="1645920" cy="270780"/>
          </a:xfrm>
          <a:prstGeom prst="rect">
            <a:avLst/>
          </a:prstGeom>
          <a:noFill/>
          <a:ln>
            <a:noFill/>
          </a:ln>
        </p:spPr>
      </p:pic>
      <p:sp>
        <p:nvSpPr>
          <p:cNvPr id="1170" name="Google Shape;1170;p40"/>
          <p:cNvSpPr txBox="1"/>
          <p:nvPr/>
        </p:nvSpPr>
        <p:spPr>
          <a:xfrm>
            <a:off x="457200" y="2743200"/>
            <a:ext cx="4846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C6058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C6058"/>
                </a:solidFill>
                <a:latin typeface="Arial"/>
                <a:ea typeface="Arial"/>
                <a:cs typeface="Arial"/>
                <a:sym typeface="Arial"/>
              </a:rPr>
              <a:t>CAMPECHE SPOT</a:t>
            </a:r>
            <a:endParaRPr b="0" i="0" sz="1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1" name="Google Shape;1171;p40"/>
          <p:cNvSpPr txBox="1"/>
          <p:nvPr/>
        </p:nvSpPr>
        <p:spPr>
          <a:xfrm>
            <a:off x="457200" y="3063240"/>
            <a:ext cx="484632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Book de Premissas de Fachada e Interiores</a:t>
            </a:r>
            <a:endParaRPr b="0" i="0" sz="3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2" name="Google Shape;1172;p40"/>
          <p:cNvSpPr txBox="1"/>
          <p:nvPr/>
        </p:nvSpPr>
        <p:spPr>
          <a:xfrm>
            <a:off x="457200" y="4343400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D3EA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C9D3EA"/>
                </a:solidFill>
                <a:latin typeface="Arial"/>
                <a:ea typeface="Arial"/>
                <a:cs typeface="Arial"/>
                <a:sym typeface="Arial"/>
              </a:rPr>
              <a:t>Lançamento × Executivo  ·  Seazone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C:\Users\Rachel\AppData\Local\Temp\claude\C--Users-Rachel-Documents-SEAZONE-BOOK-PREMISSAS-FACHADA-EXTERNA-CAMPECHE-SPOT\a62d8e33-2374-48a1-8865-f7b177fbebf6\scratchpad\img\tpl_icon_footer.png" id="1173" name="Google Shape;1173;p4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7200" y="6400800"/>
            <a:ext cx="182880" cy="182880"/>
          </a:xfrm>
          <a:prstGeom prst="rect">
            <a:avLst/>
          </a:prstGeom>
          <a:noFill/>
          <a:ln>
            <a:noFill/>
          </a:ln>
        </p:spPr>
      </p:pic>
      <p:sp>
        <p:nvSpPr>
          <p:cNvPr id="1174" name="Google Shape;1174;p40"/>
          <p:cNvSpPr txBox="1"/>
          <p:nvPr/>
        </p:nvSpPr>
        <p:spPr>
          <a:xfrm>
            <a:off x="731520" y="6382512"/>
            <a:ext cx="4023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0D4"/>
              </a:buClr>
              <a:buSzPts val="750"/>
              <a:buFont typeface="Arial"/>
              <a:buNone/>
            </a:pPr>
            <a:r>
              <a:rPr b="0" i="0" lang="en-US" sz="750" u="none" cap="none" strike="noStrike">
                <a:solidFill>
                  <a:srgbClr val="9FB0D4"/>
                </a:solidFill>
                <a:latin typeface="Arial"/>
                <a:ea typeface="Arial"/>
                <a:cs typeface="Arial"/>
                <a:sym typeface="Arial"/>
              </a:rPr>
              <a:t>CAMPECHE SPOT  ·  BOOK DE PREMISSAS DE FACHADA E </a:t>
            </a:r>
            <a:r>
              <a:rPr lang="en-US" sz="750">
                <a:solidFill>
                  <a:srgbClr val="9FB0D4"/>
                </a:solidFill>
              </a:rPr>
              <a:t>INTERIORES  ·  38</a:t>
            </a:r>
            <a:endParaRPr b="0" i="0" sz="7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