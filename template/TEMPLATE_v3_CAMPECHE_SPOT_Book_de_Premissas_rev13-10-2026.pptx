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ianca Carina Valent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3T17:26:06.146">
    <p:pos x="5518" y="2903"/>
    <p:text>trocar por imagem externa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2mdf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p52mdf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52mdf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3.jpg"/><Relationship Id="rId5" Type="http://schemas.openxmlformats.org/officeDocument/2006/relationships/image" Target="../media/image2.jpg"/><Relationship Id="rId6" Type="http://schemas.openxmlformats.org/officeDocument/2006/relationships/image" Target="../media/image4.jpg"/><Relationship Id="rId7" Type="http://schemas.openxmlformats.org/officeDocument/2006/relationships/image" Target="../media/image241.jp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jpg"/><Relationship Id="rId6" Type="http://schemas.openxmlformats.org/officeDocument/2006/relationships/image" Target="../media/image6.jpg"/><Relationship Id="rId7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2.jpg"/><Relationship Id="rId8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0" Type="http://schemas.openxmlformats.org/officeDocument/2006/relationships/image" Target="../media/image28.jpg"/><Relationship Id="rId9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4.jpg"/><Relationship Id="rId7" Type="http://schemas.openxmlformats.org/officeDocument/2006/relationships/image" Target="../media/image27.jpg"/><Relationship Id="rId8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0" Type="http://schemas.openxmlformats.org/officeDocument/2006/relationships/image" Target="../media/image34.jpg"/><Relationship Id="rId9" Type="http://schemas.openxmlformats.org/officeDocument/2006/relationships/image" Target="../media/image33.jpg"/><Relationship Id="rId5" Type="http://schemas.openxmlformats.org/officeDocument/2006/relationships/image" Target="../media/image39.jpg"/><Relationship Id="rId6" Type="http://schemas.openxmlformats.org/officeDocument/2006/relationships/image" Target="../media/image29.jpg"/><Relationship Id="rId7" Type="http://schemas.openxmlformats.org/officeDocument/2006/relationships/image" Target="../media/image6.jpg"/><Relationship Id="rId8" Type="http://schemas.openxmlformats.org/officeDocument/2006/relationships/image" Target="../media/image3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9.jpg"/><Relationship Id="rId6" Type="http://schemas.openxmlformats.org/officeDocument/2006/relationships/image" Target="../media/image6.jpg"/><Relationship Id="rId7" Type="http://schemas.openxmlformats.org/officeDocument/2006/relationships/image" Target="../media/image29.jpg"/><Relationship Id="rId8" Type="http://schemas.openxmlformats.org/officeDocument/2006/relationships/image" Target="../media/image3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3.jpg"/><Relationship Id="rId6" Type="http://schemas.openxmlformats.org/officeDocument/2006/relationships/image" Target="../media/image47.jpg"/><Relationship Id="rId7" Type="http://schemas.openxmlformats.org/officeDocument/2006/relationships/image" Target="../media/image34.jpg"/><Relationship Id="rId8" Type="http://schemas.openxmlformats.org/officeDocument/2006/relationships/image" Target="../media/image5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52.jpg"/><Relationship Id="rId6" Type="http://schemas.openxmlformats.org/officeDocument/2006/relationships/image" Target="../media/image57.jpg"/><Relationship Id="rId7" Type="http://schemas.openxmlformats.org/officeDocument/2006/relationships/image" Target="../media/image55.jpg"/><Relationship Id="rId8" Type="http://schemas.openxmlformats.org/officeDocument/2006/relationships/image" Target="../media/image5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jpg"/><Relationship Id="rId6" Type="http://schemas.openxmlformats.org/officeDocument/2006/relationships/image" Target="../media/image39.jpg"/><Relationship Id="rId7" Type="http://schemas.openxmlformats.org/officeDocument/2006/relationships/image" Target="../media/image29.jpg"/><Relationship Id="rId8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7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1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81.jpg"/><Relationship Id="rId5" Type="http://schemas.openxmlformats.org/officeDocument/2006/relationships/image" Target="../media/image73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8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78.jpg"/><Relationship Id="rId6" Type="http://schemas.openxmlformats.org/officeDocument/2006/relationships/image" Target="../media/image82.jpg"/><Relationship Id="rId7" Type="http://schemas.openxmlformats.org/officeDocument/2006/relationships/image" Target="../media/image94.jpg"/><Relationship Id="rId8" Type="http://schemas.openxmlformats.org/officeDocument/2006/relationships/image" Target="../media/image10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73.jpg"/><Relationship Id="rId6" Type="http://schemas.openxmlformats.org/officeDocument/2006/relationships/image" Target="../media/image105.jp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jpg"/><Relationship Id="rId10" Type="http://schemas.openxmlformats.org/officeDocument/2006/relationships/image" Target="../media/image90.jpg"/><Relationship Id="rId13" Type="http://schemas.openxmlformats.org/officeDocument/2006/relationships/image" Target="../media/image92.jpg"/><Relationship Id="rId12" Type="http://schemas.openxmlformats.org/officeDocument/2006/relationships/image" Target="../media/image9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0.jpg"/><Relationship Id="rId15" Type="http://schemas.openxmlformats.org/officeDocument/2006/relationships/image" Target="../media/image98.jpg"/><Relationship Id="rId14" Type="http://schemas.openxmlformats.org/officeDocument/2006/relationships/image" Target="../media/image95.png"/><Relationship Id="rId5" Type="http://schemas.openxmlformats.org/officeDocument/2006/relationships/image" Target="../media/image105.jpg"/><Relationship Id="rId6" Type="http://schemas.openxmlformats.org/officeDocument/2006/relationships/image" Target="../media/image82.jpg"/><Relationship Id="rId7" Type="http://schemas.openxmlformats.org/officeDocument/2006/relationships/image" Target="../media/image87.jpg"/><Relationship Id="rId8" Type="http://schemas.openxmlformats.org/officeDocument/2006/relationships/image" Target="../media/image91.jp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jpg"/><Relationship Id="rId10" Type="http://schemas.openxmlformats.org/officeDocument/2006/relationships/image" Target="../media/image87.jpg"/><Relationship Id="rId12" Type="http://schemas.openxmlformats.org/officeDocument/2006/relationships/image" Target="../media/image172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9.jpg"/><Relationship Id="rId5" Type="http://schemas.openxmlformats.org/officeDocument/2006/relationships/image" Target="../media/image100.jpg"/><Relationship Id="rId6" Type="http://schemas.openxmlformats.org/officeDocument/2006/relationships/image" Target="../media/image101.jpg"/><Relationship Id="rId7" Type="http://schemas.openxmlformats.org/officeDocument/2006/relationships/image" Target="../media/image91.jpg"/><Relationship Id="rId8" Type="http://schemas.openxmlformats.org/officeDocument/2006/relationships/image" Target="../media/image102.jp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1.jpg"/><Relationship Id="rId10" Type="http://schemas.openxmlformats.org/officeDocument/2006/relationships/image" Target="../media/image124.jpg"/><Relationship Id="rId12" Type="http://schemas.openxmlformats.org/officeDocument/2006/relationships/image" Target="../media/image12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7.jpg"/><Relationship Id="rId5" Type="http://schemas.openxmlformats.org/officeDocument/2006/relationships/image" Target="../media/image90.jpg"/><Relationship Id="rId6" Type="http://schemas.openxmlformats.org/officeDocument/2006/relationships/image" Target="../media/image93.jpg"/><Relationship Id="rId7" Type="http://schemas.openxmlformats.org/officeDocument/2006/relationships/image" Target="../media/image113.jpg"/><Relationship Id="rId8" Type="http://schemas.openxmlformats.org/officeDocument/2006/relationships/image" Target="../media/image8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09.jpg"/><Relationship Id="rId5" Type="http://schemas.openxmlformats.org/officeDocument/2006/relationships/image" Target="../media/image135.jpg"/><Relationship Id="rId6" Type="http://schemas.openxmlformats.org/officeDocument/2006/relationships/image" Target="../media/image119.jpg"/><Relationship Id="rId7" Type="http://schemas.openxmlformats.org/officeDocument/2006/relationships/image" Target="../media/image92.jpg"/><Relationship Id="rId8" Type="http://schemas.openxmlformats.org/officeDocument/2006/relationships/image" Target="../media/image9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29.jpg"/><Relationship Id="rId6" Type="http://schemas.openxmlformats.org/officeDocument/2006/relationships/image" Target="../media/image16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4.jpg"/><Relationship Id="rId6" Type="http://schemas.openxmlformats.org/officeDocument/2006/relationships/image" Target="../media/image133.jpg"/><Relationship Id="rId7" Type="http://schemas.openxmlformats.org/officeDocument/2006/relationships/image" Target="../media/image13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2.jp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jpg"/><Relationship Id="rId10" Type="http://schemas.openxmlformats.org/officeDocument/2006/relationships/image" Target="../media/image71.jpg"/><Relationship Id="rId13" Type="http://schemas.openxmlformats.org/officeDocument/2006/relationships/image" Target="../media/image155.jpg"/><Relationship Id="rId12" Type="http://schemas.openxmlformats.org/officeDocument/2006/relationships/image" Target="../media/image15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6.jpg"/><Relationship Id="rId15" Type="http://schemas.openxmlformats.org/officeDocument/2006/relationships/image" Target="../media/image152.jpg"/><Relationship Id="rId14" Type="http://schemas.openxmlformats.org/officeDocument/2006/relationships/image" Target="../media/image15.jpg"/><Relationship Id="rId17" Type="http://schemas.openxmlformats.org/officeDocument/2006/relationships/image" Target="../media/image154.jpg"/><Relationship Id="rId16" Type="http://schemas.openxmlformats.org/officeDocument/2006/relationships/image" Target="../media/image13.jpg"/><Relationship Id="rId5" Type="http://schemas.openxmlformats.org/officeDocument/2006/relationships/image" Target="../media/image73.jpg"/><Relationship Id="rId6" Type="http://schemas.openxmlformats.org/officeDocument/2006/relationships/image" Target="../media/image4.jpg"/><Relationship Id="rId7" Type="http://schemas.openxmlformats.org/officeDocument/2006/relationships/image" Target="../media/image143.jpg"/><Relationship Id="rId8" Type="http://schemas.openxmlformats.org/officeDocument/2006/relationships/image" Target="../media/image14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67.jpg"/><Relationship Id="rId5" Type="http://schemas.openxmlformats.org/officeDocument/2006/relationships/image" Target="../media/image151.jpg"/><Relationship Id="rId6" Type="http://schemas.openxmlformats.org/officeDocument/2006/relationships/image" Target="../media/image156.jpg"/><Relationship Id="rId7" Type="http://schemas.openxmlformats.org/officeDocument/2006/relationships/image" Target="../media/image76.jpg"/><Relationship Id="rId8" Type="http://schemas.openxmlformats.org/officeDocument/2006/relationships/image" Target="../media/image15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64.jpg"/><Relationship Id="rId6" Type="http://schemas.openxmlformats.org/officeDocument/2006/relationships/image" Target="../media/image193.jp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6.jpg"/><Relationship Id="rId10" Type="http://schemas.openxmlformats.org/officeDocument/2006/relationships/image" Target="../media/image168.jpg"/><Relationship Id="rId13" Type="http://schemas.openxmlformats.org/officeDocument/2006/relationships/image" Target="../media/image179.jpg"/><Relationship Id="rId12" Type="http://schemas.openxmlformats.org/officeDocument/2006/relationships/image" Target="../media/image17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70.jpg"/><Relationship Id="rId15" Type="http://schemas.openxmlformats.org/officeDocument/2006/relationships/image" Target="../media/image175.jpg"/><Relationship Id="rId14" Type="http://schemas.openxmlformats.org/officeDocument/2006/relationships/image" Target="../media/image183.jpg"/><Relationship Id="rId17" Type="http://schemas.openxmlformats.org/officeDocument/2006/relationships/image" Target="../media/image15.jpg"/><Relationship Id="rId16" Type="http://schemas.openxmlformats.org/officeDocument/2006/relationships/image" Target="../media/image182.jpg"/><Relationship Id="rId5" Type="http://schemas.openxmlformats.org/officeDocument/2006/relationships/image" Target="../media/image166.jpg"/><Relationship Id="rId6" Type="http://schemas.openxmlformats.org/officeDocument/2006/relationships/image" Target="../media/image77.jpg"/><Relationship Id="rId7" Type="http://schemas.openxmlformats.org/officeDocument/2006/relationships/image" Target="../media/image169.jpg"/><Relationship Id="rId8" Type="http://schemas.openxmlformats.org/officeDocument/2006/relationships/image" Target="../media/image17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86.jpg"/><Relationship Id="rId5" Type="http://schemas.openxmlformats.org/officeDocument/2006/relationships/image" Target="../media/image81.jpg"/><Relationship Id="rId6" Type="http://schemas.openxmlformats.org/officeDocument/2006/relationships/image" Target="../media/image181.jpg"/><Relationship Id="rId7" Type="http://schemas.openxmlformats.org/officeDocument/2006/relationships/image" Target="../media/image184.jpg"/><Relationship Id="rId8" Type="http://schemas.openxmlformats.org/officeDocument/2006/relationships/image" Target="../media/image18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91.jpg"/><Relationship Id="rId6" Type="http://schemas.openxmlformats.org/officeDocument/2006/relationships/image" Target="../media/image194.jp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200.jpg"/><Relationship Id="rId13" Type="http://schemas.openxmlformats.org/officeDocument/2006/relationships/image" Target="../media/image202.jpg"/><Relationship Id="rId12" Type="http://schemas.openxmlformats.org/officeDocument/2006/relationships/image" Target="../media/image20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89.jpg"/><Relationship Id="rId15" Type="http://schemas.openxmlformats.org/officeDocument/2006/relationships/image" Target="../media/image208.jpg"/><Relationship Id="rId14" Type="http://schemas.openxmlformats.org/officeDocument/2006/relationships/image" Target="../media/image220.jpg"/><Relationship Id="rId17" Type="http://schemas.openxmlformats.org/officeDocument/2006/relationships/image" Target="../media/image207.jpg"/><Relationship Id="rId16" Type="http://schemas.openxmlformats.org/officeDocument/2006/relationships/image" Target="../media/image209.jpg"/><Relationship Id="rId5" Type="http://schemas.openxmlformats.org/officeDocument/2006/relationships/image" Target="../media/image199.jpg"/><Relationship Id="rId19" Type="http://schemas.openxmlformats.org/officeDocument/2006/relationships/image" Target="../media/image154.jpg"/><Relationship Id="rId6" Type="http://schemas.openxmlformats.org/officeDocument/2006/relationships/image" Target="../media/image195.jpg"/><Relationship Id="rId18" Type="http://schemas.openxmlformats.org/officeDocument/2006/relationships/image" Target="../media/image57.jpg"/><Relationship Id="rId7" Type="http://schemas.openxmlformats.org/officeDocument/2006/relationships/image" Target="../media/image196.jpg"/><Relationship Id="rId8" Type="http://schemas.openxmlformats.org/officeDocument/2006/relationships/image" Target="../media/image19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17.jpg"/><Relationship Id="rId6" Type="http://schemas.openxmlformats.org/officeDocument/2006/relationships/image" Target="../media/image22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jpg"/><Relationship Id="rId6" Type="http://schemas.openxmlformats.org/officeDocument/2006/relationships/image" Target="../media/image152.jpg"/><Relationship Id="rId7" Type="http://schemas.openxmlformats.org/officeDocument/2006/relationships/image" Target="../media/image15.jpg"/><Relationship Id="rId8" Type="http://schemas.openxmlformats.org/officeDocument/2006/relationships/image" Target="../media/image18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54.jpg"/><Relationship Id="rId6" Type="http://schemas.openxmlformats.org/officeDocument/2006/relationships/image" Target="../media/image175.jpg"/><Relationship Id="rId7" Type="http://schemas.openxmlformats.org/officeDocument/2006/relationships/image" Target="../media/image182.jpg"/><Relationship Id="rId8" Type="http://schemas.openxmlformats.org/officeDocument/2006/relationships/image" Target="../media/image20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09.jpg"/><Relationship Id="rId6" Type="http://schemas.openxmlformats.org/officeDocument/2006/relationships/image" Target="../media/image236.png"/><Relationship Id="rId7" Type="http://schemas.openxmlformats.org/officeDocument/2006/relationships/image" Target="../media/image240.jpg"/><Relationship Id="rId8" Type="http://schemas.openxmlformats.org/officeDocument/2006/relationships/image" Target="../media/image23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5.png"/><Relationship Id="rId6" Type="http://schemas.openxmlformats.org/officeDocument/2006/relationships/image" Target="../media/image231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4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Rachel/AppData/Local/Temp/claude/C--Users-Rachel-Documents-SEAZONE-BOOK-PREMISSAS-FACHADA-EXTERNA-CAMPECHE-SPOT/a62d8e33-2374-48a1-8865-f7b177fbebf6/scratchpad/img/annot__s1_0.jp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17504" r="17504" t="0"/>
          <a:stretch/>
        </p:blipFill>
        <p:spPr>
          <a:xfrm>
            <a:off x="5120640" y="0"/>
            <a:ext cx="35661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ext__rooftop01.jpg" id="17" name="Google Shape;17;p3"/>
          <p:cNvPicPr preferRelativeResize="0"/>
          <p:nvPr/>
        </p:nvPicPr>
        <p:blipFill rotWithShape="1">
          <a:blip r:embed="rId5">
            <a:alphaModFix/>
          </a:blip>
          <a:srcRect b="0" l="7092" r="7092" t="0"/>
          <a:stretch/>
        </p:blipFill>
        <p:spPr>
          <a:xfrm>
            <a:off x="8759952" y="0"/>
            <a:ext cx="3431743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2.jpg" id="18" name="Google Shape;18;p3"/>
          <p:cNvPicPr preferRelativeResize="0"/>
          <p:nvPr/>
        </p:nvPicPr>
        <p:blipFill rotWithShape="1">
          <a:blip r:embed="rId6">
            <a:alphaModFix/>
          </a:blip>
          <a:srcRect b="0" l="7092" r="7092" t="0"/>
          <a:stretch/>
        </p:blipFill>
        <p:spPr>
          <a:xfrm>
            <a:off x="8759952" y="2304288"/>
            <a:ext cx="3431743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title="002.jpg"/>
          <p:cNvPicPr preferRelativeResize="0"/>
          <p:nvPr/>
        </p:nvPicPr>
        <p:blipFill rotWithShape="1">
          <a:blip r:embed="rId7">
            <a:alphaModFix/>
          </a:blip>
          <a:srcRect b="0" l="7088" r="7097" t="0"/>
          <a:stretch/>
        </p:blipFill>
        <p:spPr>
          <a:xfrm>
            <a:off x="8759952" y="4608576"/>
            <a:ext cx="3431741" cy="2249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logo_cover.png" id="20" name="Google Shape;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548640"/>
            <a:ext cx="1828800" cy="3008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457200" y="21031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BOOK DE PREMISSAS DE FACHADA E INTERIORES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57200" y="242316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Campeche Spot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324612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Moodboard de premissas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57200" y="3840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Lançamento  ×  Executivo  ·  Fachada  ·  Interiores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57200" y="56692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Campeche · Florianópolis/SC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FB0D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DOCUMENTO TÉCNICO INTERNO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O objetivo deste material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457200" y="1325880"/>
            <a:ext cx="5577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Consolidar as </a:t>
            </a:r>
            <a:r>
              <a:rPr lang="en-US" sz="1500">
                <a:solidFill>
                  <a:srgbClr val="333333"/>
                </a:solidFill>
              </a:rPr>
              <a:t>premissas de fachada e de interiores das áreas comuns do Campeche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Spot a partir da leitura cruzada entre as imagens de lançamento, o projeto executivo da ROVE e o projeto de interiores da Seazone: o que a imagem vendeu, o que o executivo especifica, onde divergem e o que validar antes da compra e da execução.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_001.jpg" id="37" name="Google Shape;37;p4"/>
          <p:cNvPicPr preferRelativeResize="0"/>
          <p:nvPr/>
        </p:nvPicPr>
        <p:blipFill rotWithShape="1">
          <a:blip r:embed="rId5">
            <a:alphaModFix/>
          </a:blip>
          <a:srcRect b="0" l="21875" r="21875" t="0"/>
          <a:stretch/>
        </p:blipFill>
        <p:spPr>
          <a:xfrm>
            <a:off x="45720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82880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45720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VEJA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imagem de lançamento ou o conceito Seazone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6.jpg" id="40" name="Google Shape;40;p4"/>
          <p:cNvPicPr preferRelativeResize="0"/>
          <p:nvPr/>
        </p:nvPicPr>
        <p:blipFill rotWithShape="1">
          <a:blip r:embed="rId6">
            <a:alphaModFix/>
          </a:blip>
          <a:srcRect b="23312" l="0" r="0" t="23312"/>
          <a:stretch/>
        </p:blipFill>
        <p:spPr>
          <a:xfrm>
            <a:off x="237744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374904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237744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ENTENDA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material e a especificação de cada parte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002.jpg" id="43" name="Google Shape;43;p4"/>
          <p:cNvPicPr preferRelativeResize="0"/>
          <p:nvPr/>
        </p:nvPicPr>
        <p:blipFill rotWithShape="1">
          <a:blip r:embed="rId7">
            <a:alphaModFix/>
          </a:blip>
          <a:srcRect b="0" l="21875" r="21875" t="0"/>
          <a:stretch/>
        </p:blipFill>
        <p:spPr>
          <a:xfrm>
            <a:off x="4297680" y="2971800"/>
            <a:ext cx="1737360" cy="173736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669280" y="3017520"/>
            <a:ext cx="347472" cy="34747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297680" y="48006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CONFIRA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a obra precisa observar ou validar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92240" y="1325880"/>
            <a:ext cx="5242255" cy="48463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766560" y="1508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AO ABRIR ESTE BOOK, OBRAS DEVE CONSEGUIR RESPONDER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66560" y="19202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7178040" y="18745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as imagens de lançamento mostram na fachada?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23774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178040" y="23317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cor e textura o executivo define para cada plano?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766560" y="28346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178040" y="27889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o executivo diverge da imagem vendida?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766560" y="32918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78040" y="32461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precisa de errata antes da compra da tinta?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766560" y="37490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78040" y="37033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o conceito de interiores das áreas comuns que deve ser seguido?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766560" y="42062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78040" y="41605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não pode ser alterado sem validação?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766560" y="4663440"/>
            <a:ext cx="274320" cy="274320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78040" y="46177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pontos ainda precisam ser validados?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766560" y="51663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Regra do material: nenhuma informação foi inventada. Fontes (Campeche Spot / 02 - Projetos): imagens de lançamento, executivo de arquitetura ROVE, Memorial Descritivo R01, projeto de interiores Seazone e 00 - Premissas de Projeto. Foco: imagens externas, </a:t>
            </a:r>
            <a:r>
              <a:rPr lang="en-US" sz="850">
                <a:solidFill>
                  <a:srgbClr val="9FB0D4"/>
                </a:solidFill>
              </a:rPr>
              <a:t>texturas e interiores das áreas comuns. Interiores das unidades, índices urbanísticos</a:t>
            </a:r>
            <a:r>
              <a:rPr b="0" i="0" lang="en-US" sz="8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, áreas e custos não fazem parte deste Book.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COMO USAR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Como ler este book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143000" y="13716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Número na imagem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número na foto corresponde a um item da lista ao lado.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velvet.jp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12500" r="12500" t="0"/>
          <a:stretch/>
        </p:blipFill>
        <p:spPr>
          <a:xfrm>
            <a:off x="502920" y="2194560"/>
            <a:ext cx="384048" cy="384048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1143000" y="21488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Amostra circular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Recorte do material tirado da própria imagem: referência visual, não substitui amostra física.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411480" y="3035808"/>
            <a:ext cx="566928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43000" y="292608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Código do executivo/memorial (ex.: REV-05, BR-01, T07) para achar o item no projeto.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457200" y="3840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STATUS DOS ITENS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206240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508760" y="416966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premissa fechada: seguir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4663440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508760" y="462686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há divergência entre fontes: confirmar antes de comprar/executar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5120640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508760" y="508406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solução ainda não definida no projeto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309360" y="1325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 QUE VOCÊ VAI ENCONTRAR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_0003.jpg" id="87" name="Google Shape;87;p5"/>
          <p:cNvPicPr preferRelativeResize="0"/>
          <p:nvPr/>
        </p:nvPicPr>
        <p:blipFill rotWithShape="1">
          <a:blip r:embed="rId6">
            <a:alphaModFix/>
          </a:blip>
          <a:srcRect b="0" l="4464" r="4464" t="0"/>
          <a:stretch/>
        </p:blipFill>
        <p:spPr>
          <a:xfrm>
            <a:off x="6309360" y="1691640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8001000" y="1691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8641080" y="1691640"/>
            <a:ext cx="30934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imagens de lançamento · paleta · leitura geral · texturas T01–T12 · vistas frontal, lateral e acesso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8_09_35.jpg" id="90" name="Google Shape;90;p5"/>
          <p:cNvPicPr preferRelativeResize="0"/>
          <p:nvPr/>
        </p:nvPicPr>
        <p:blipFill rotWithShape="1">
          <a:blip r:embed="rId7">
            <a:alphaModFix/>
          </a:blip>
          <a:srcRect b="0" l="4464" r="4464" t="0"/>
          <a:stretch/>
        </p:blipFill>
        <p:spPr>
          <a:xfrm>
            <a:off x="6309360" y="2807208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8001000" y="280720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641080" y="2807208"/>
            <a:ext cx="30934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143D"/>
                </a:solidFill>
              </a:rPr>
              <a:t>Interiores das áreas comuns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conceito × situação · portas e rodapés brancos · NOVA RECEPÇÃO (rev. 07/10) · recepção de lançamento · rooftop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imento.jpg" id="93" name="Google Shape;93;p5"/>
          <p:cNvPicPr preferRelativeResize="0"/>
          <p:nvPr/>
        </p:nvPicPr>
        <p:blipFill rotWithShape="1">
          <a:blip r:embed="rId8">
            <a:alphaModFix/>
          </a:blip>
          <a:srcRect b="8824" l="0" r="0" t="8824"/>
          <a:stretch/>
        </p:blipFill>
        <p:spPr>
          <a:xfrm>
            <a:off x="6309360" y="3922776"/>
            <a:ext cx="155448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8001000" y="3922776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C6058"/>
                </a:solidFill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8641080" y="3922776"/>
            <a:ext cx="3093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de interiores das áreas comuns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texturas </a:t>
            </a:r>
            <a:r>
              <a:rPr lang="en-US" sz="1000">
                <a:solidFill>
                  <a:srgbClr val="333333"/>
                </a:solidFill>
              </a:rPr>
              <a:t>T13–T28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para compra e aprovação de amostras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43D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Rachel/AppData/Local/Temp/claude/C--Users-Rachel-Documents-SEAZONE-BOOK-PREMISSAS-FACHADA-EXTERNA-CAMPECHE-SPOT/a62d8e33-2374-48a1-8865-f7b177fbebf6/scratchpad/img/ext__drone_00.jpg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19501" r="19501" t="0"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logo_cover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Imagens de lançamento  ·  paleta  ·  leitura geral  ·  texturas  ·  vistas com marcação e especificação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tpl_icon_footer.png" id="106" name="Google Shape;10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Imagens de lançamento da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16" name="Google Shape;1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_001.jpg"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12239" r="12239" t="0"/>
          <a:stretch/>
        </p:blipFill>
        <p:spPr>
          <a:xfrm>
            <a:off x="457200" y="1280160"/>
            <a:ext cx="3895344" cy="290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 txBox="1"/>
          <p:nvPr/>
        </p:nvSpPr>
        <p:spPr>
          <a:xfrm>
            <a:off x="530352" y="1353312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 001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_0003.jpg" id="120" name="Google Shape;120;p7"/>
          <p:cNvPicPr preferRelativeResize="0"/>
          <p:nvPr/>
        </p:nvPicPr>
        <p:blipFill rotWithShape="1">
          <a:blip r:embed="rId6">
            <a:alphaModFix/>
          </a:blip>
          <a:srcRect b="0" l="12239" r="12239" t="0"/>
          <a:stretch/>
        </p:blipFill>
        <p:spPr>
          <a:xfrm>
            <a:off x="4425696" y="1280160"/>
            <a:ext cx="3895344" cy="290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4498848" y="1353312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 0003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002.jpg" id="122" name="Google Shape;122;p7"/>
          <p:cNvPicPr preferRelativeResize="0"/>
          <p:nvPr/>
        </p:nvPicPr>
        <p:blipFill rotWithShape="1">
          <a:blip r:embed="rId7">
            <a:alphaModFix/>
          </a:blip>
          <a:srcRect b="0" l="12239" r="12239" t="0"/>
          <a:stretch/>
        </p:blipFill>
        <p:spPr>
          <a:xfrm>
            <a:off x="457200" y="4254604"/>
            <a:ext cx="1186198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530352" y="4327756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 002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cam_006.jpg" id="124" name="Google Shape;124;p7"/>
          <p:cNvPicPr preferRelativeResize="0"/>
          <p:nvPr/>
        </p:nvPicPr>
        <p:blipFill rotWithShape="1">
          <a:blip r:embed="rId8">
            <a:alphaModFix/>
          </a:blip>
          <a:srcRect b="0" l="12239" r="12239" t="0"/>
          <a:stretch/>
        </p:blipFill>
        <p:spPr>
          <a:xfrm>
            <a:off x="1716550" y="4254604"/>
            <a:ext cx="1186198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 txBox="1"/>
          <p:nvPr/>
        </p:nvSpPr>
        <p:spPr>
          <a:xfrm>
            <a:off x="1789702" y="4327756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 006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002.jpg" id="126" name="Google Shape;126;p7"/>
          <p:cNvPicPr preferRelativeResize="0"/>
          <p:nvPr/>
        </p:nvPicPr>
        <p:blipFill rotWithShape="1">
          <a:blip r:embed="rId9">
            <a:alphaModFix/>
          </a:blip>
          <a:srcRect b="0" l="12239" r="12239" t="0"/>
          <a:stretch/>
        </p:blipFill>
        <p:spPr>
          <a:xfrm>
            <a:off x="2975899" y="4254604"/>
            <a:ext cx="2635994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3049051" y="4327756"/>
            <a:ext cx="109728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002 · ACESSO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ext__rooftop_2.jpg" id="128" name="Google Shape;128;p7"/>
          <p:cNvPicPr preferRelativeResize="0"/>
          <p:nvPr/>
        </p:nvPicPr>
        <p:blipFill rotWithShape="1">
          <a:blip r:embed="rId10">
            <a:alphaModFix/>
          </a:blip>
          <a:srcRect b="0" l="12239" r="12239" t="0"/>
          <a:stretch/>
        </p:blipFill>
        <p:spPr>
          <a:xfrm>
            <a:off x="5685046" y="4254604"/>
            <a:ext cx="2635994" cy="196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5758198" y="4327756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8595360" y="12801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COMPOSIÇÃO DA FACHADA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595360" y="16459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8732520" y="16459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Grelha clara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pilares e lajes claros (REV-05 e Papel de Presente) desenhando a malha das varandas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595360" y="2560320"/>
            <a:ext cx="3139135" cy="804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8732520" y="25603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Volumes escuros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empenas, base e pano sobre as lojas em cinza escuro (REV-06)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595360" y="34747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732520" y="34747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e vasos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brises ripados amadeirados e vasos com vegetação em todas as varandas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595360" y="4389120"/>
            <a:ext cx="3139135" cy="804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8732520" y="43891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fita de LED nas marquises e floreiras, logo-casinha iluminado no acesso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595360" y="5303520"/>
            <a:ext cx="3139135" cy="80467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8732520" y="5303520"/>
            <a:ext cx="2864815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de borda infinita e pergolado escuro com forro amadeirado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PALETA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Paleta de materiais da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5.jpg" id="151" name="Google Shape;151;p8"/>
          <p:cNvPicPr preferRelativeResize="0"/>
          <p:nvPr/>
        </p:nvPicPr>
        <p:blipFill rotWithShape="1">
          <a:blip r:embed="rId5">
            <a:alphaModFix/>
          </a:blip>
          <a:srcRect b="31803" l="0" r="0" t="31803"/>
          <a:stretch/>
        </p:blipFill>
        <p:spPr>
          <a:xfrm>
            <a:off x="457200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457200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57200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Cinza claro Nanquim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grelha das varandas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7.jpg" id="154" name="Google Shape;154;p8"/>
          <p:cNvPicPr preferRelativeResize="0"/>
          <p:nvPr/>
        </p:nvPicPr>
        <p:blipFill rotWithShape="1">
          <a:blip r:embed="rId6">
            <a:alphaModFix/>
          </a:blip>
          <a:srcRect b="4893" l="0" r="0" t="4893"/>
          <a:stretch/>
        </p:blipFill>
        <p:spPr>
          <a:xfrm>
            <a:off x="2367229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2367229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PAPEL DE PRESENTE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2367229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Suvinil B208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frentes de laje e empenas claras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6.jpg" id="157" name="Google Shape;157;p8"/>
          <p:cNvPicPr preferRelativeResize="0"/>
          <p:nvPr/>
        </p:nvPicPr>
        <p:blipFill rotWithShape="1">
          <a:blip r:embed="rId7">
            <a:alphaModFix/>
          </a:blip>
          <a:srcRect b="4787" l="0" r="0" t="4787"/>
          <a:stretch/>
        </p:blipFill>
        <p:spPr>
          <a:xfrm>
            <a:off x="4277258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4277258" y="4343400"/>
            <a:ext cx="1727149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REV-06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4277258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Cinza escuro Rock'n Roll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empenas, base e pano das lojas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br01.jpg" id="160" name="Google Shape;160;p8"/>
          <p:cNvPicPr preferRelativeResize="0"/>
          <p:nvPr/>
        </p:nvPicPr>
        <p:blipFill rotWithShape="1">
          <a:blip r:embed="rId8">
            <a:alphaModFix/>
          </a:blip>
          <a:srcRect b="1685" l="0" r="0" t="1685"/>
          <a:stretch/>
        </p:blipFill>
        <p:spPr>
          <a:xfrm>
            <a:off x="6187288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6187288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BR-01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187288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 / ripado amêndoa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frente das varandas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esq2.jpg" id="163" name="Google Shape;163;p8"/>
          <p:cNvPicPr preferRelativeResize="0"/>
          <p:nvPr/>
        </p:nvPicPr>
        <p:blipFill rotWithShape="1">
          <a:blip r:embed="rId9">
            <a:alphaModFix/>
          </a:blip>
          <a:srcRect b="0" l="20487" r="20487" t="0"/>
          <a:stretch/>
        </p:blipFill>
        <p:spPr>
          <a:xfrm>
            <a:off x="8097317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8097317" y="4343400"/>
            <a:ext cx="1727149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ESQUADRIAS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097317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Alumínio preto fosco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 e vitrines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vaso.jpg" id="166" name="Google Shape;166;p8"/>
          <p:cNvPicPr preferRelativeResize="0"/>
          <p:nvPr/>
        </p:nvPicPr>
        <p:blipFill rotWithShape="1">
          <a:blip r:embed="rId10">
            <a:alphaModFix/>
          </a:blip>
          <a:srcRect b="0" l="37552" r="37552" t="0"/>
          <a:stretch/>
        </p:blipFill>
        <p:spPr>
          <a:xfrm>
            <a:off x="10007346" y="1325880"/>
            <a:ext cx="1727149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0007346" y="4343400"/>
            <a:ext cx="1727149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PAI-08 / PAI-11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0007346" y="4663440"/>
            <a:ext cx="172714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 de fachada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varandas e floreiras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5532120"/>
            <a:ext cx="11277295" cy="713232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640080" y="5623560"/>
            <a:ext cx="1091153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COMO LER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Fachada = grelha clara (REV-05) + lajes Papel de Presente + volumes escuros (REV-06) + brise amadeirado + esquadria preta + vegetação. Detalhe de cada material nas páginas de texturas T01–T12.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LEITURA GERAL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O que compõe a fachada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4_0.jpg" id="181" name="Google Shape;181;p9"/>
          <p:cNvPicPr preferRelativeResize="0"/>
          <p:nvPr/>
        </p:nvPicPr>
        <p:blipFill rotWithShape="1">
          <a:blip r:embed="rId5">
            <a:alphaModFix/>
          </a:blip>
          <a:srcRect b="14" l="0" r="0" t="14"/>
          <a:stretch/>
        </p:blipFill>
        <p:spPr>
          <a:xfrm>
            <a:off x="457200" y="1280160"/>
            <a:ext cx="7040880" cy="3959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566928" y="1389888"/>
            <a:ext cx="233172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CAM 001 (ESQUINA)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44568" y="177649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389474" y="209324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643530" y="233080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453232" y="233080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2009851" y="244958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474159" y="280592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952744" y="341962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136392" y="403332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065983" y="450844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671109" y="423129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457200" y="534924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fachada combina uma grelha clara (REV-05) de pilares e lajes na cor Papel de Presente (REV-07) com volumes escuros (REV-06) nas empenas e na base. Nas varandas, brises ripados verticais amadeirados e vasos com vegetação; na base, pano escuro contínuo sobre as vitrines, fita de LED nas marquises e o logo-casinha iluminado no acesso.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7863840" y="1280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LEGENDA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863840" y="162763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8229600" y="1600200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 da cobertura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escura com forro amadeirado no tom amêndoa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863840" y="209397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229600" y="2066544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da cobertura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vidro · GC-01 alumínio/vidro h=1,10 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863840" y="256032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229600" y="2532888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Volume escuro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REV-06 pintura cinza escuro Rock'n Roll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863840" y="30266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8229600" y="299923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 ripado vertical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 madeira na imagem · BR-01 no executivo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863840" y="349300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229600" y="3465576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 das varandas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PAI-08 Japi Floreira Flat · 36 un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863840" y="395935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229600" y="3931920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Grelha das varandas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REV-05 pintura cinza claro Nanquim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863840" y="442569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8229600" y="4398264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Frentes de laje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ref. cor Papel de Presente Suvinil papel-de-presente-b208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863840" y="489204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229600" y="4864608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Fita de LED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marquises e floreiras · luz âmbar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863840" y="53583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229600" y="533095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Logo-casinha iluminada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pilastra escura do acesso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863840" y="582472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8229600" y="5797296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Pano escuro sobre as lojas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faixa única REV-06 até o vidro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cores e fechamentos </a:t>
            </a:r>
            <a:r>
              <a:rPr b="1" lang="en-US" sz="2600">
                <a:solidFill>
                  <a:srgbClr val="00143D"/>
                </a:solidFill>
              </a:rPr>
              <a:t>(1/4)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legenda das elevações 028 a 031, executivo, Memorial Descritivo R01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5.jpg" id="227" name="Google Shape;227;p10"/>
          <p:cNvPicPr preferRelativeResize="0"/>
          <p:nvPr/>
        </p:nvPicPr>
        <p:blipFill rotWithShape="1">
          <a:blip r:embed="rId5">
            <a:alphaModFix/>
          </a:blip>
          <a:srcRect b="39259" l="0" r="0" t="39259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REV-05 · Cinza claro Nanquim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Grelha das varandas, torre do duto e paredes entre vitrines do térreo.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cinza claro, ref. cor Nanquim Suvinil, sobre textura Texturatto Efeito Suave (legenda 028).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No térreo o executivo trocou REV-05 e REV-06 (conferência itens 2 e 3). Errata R02.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6.jpg" id="231" name="Google Shape;231;p10"/>
          <p:cNvPicPr preferRelativeResize="0"/>
          <p:nvPr/>
        </p:nvPicPr>
        <p:blipFill rotWithShape="1">
          <a:blip r:embed="rId6">
            <a:alphaModFix/>
          </a:blip>
          <a:srcRect b="23313" l="0" r="0" t="23313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2" name="Google Shape;232;p10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REV-06 · Cinza escuro Rock'n Roll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Empenas escuras, bandas das floreiras e pano sobre as lojas.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 cinza escuro, ref. cor Rock'n Roll Suvinil (legenda 028).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Faixa do letreiro sobre as lojas deve ser REV-06 (pano único escuro). A VALIDAR na errata.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7.jpg" id="235" name="Google Shape;235;p10"/>
          <p:cNvPicPr preferRelativeResize="0"/>
          <p:nvPr/>
        </p:nvPicPr>
        <p:blipFill rotWithShape="1">
          <a:blip r:embed="rId7">
            <a:alphaModFix/>
          </a:blip>
          <a:srcRect b="23375" l="0" r="0" t="23375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 Papel de Presente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Frentes de laje, empenas claras, reservatório e mureta.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Pintura, ref. cor Papel de Presente Suvinil papel-de-presente-b208.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Conforme a imagem de venda (conferência). Aprovar painel-teste antes da compra.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br01.jpg" id="239" name="Google Shape;239;p10"/>
          <p:cNvPicPr preferRelativeResize="0"/>
          <p:nvPr/>
        </p:nvPicPr>
        <p:blipFill rotWithShape="1">
          <a:blip r:embed="rId8">
            <a:alphaModFix/>
          </a:blip>
          <a:srcRect b="21481" l="0" r="0" t="21481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BR-01 · Brise das varandas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Frente das janelas e varandas dos pavimentos tipo.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Executivo: brise de correr em alumínio, lâminas horizontais · memorial: "horizontais em alumínio na cor amêndoa".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Imagem vendeu ripado vertical cor madeira. ROVE: troca inviável. CRÍTICO ·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esquadrias, vasos e luz </a:t>
            </a:r>
            <a:r>
              <a:rPr b="1" lang="en-US" sz="2200">
                <a:solidFill>
                  <a:srgbClr val="00143D"/>
                </a:solidFill>
              </a:rPr>
              <a:t>(2/4)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250" name="Google Shape;2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09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legenda das elevações 028 a 031, executivo, Memorial Descritivo R01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esq2.jpg" id="254" name="Google Shape;25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5" name="Google Shape;255;p11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Esquadrias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 e porta-janelas de todas as fachadas.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Linha 32 (gold) nas fachadas frontais e linha 25 nos fundos, alumínio preto fosco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Confirmar linha por fachada no caderno de esquadrias (pranchas 032 e 033).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gc.jpg" id="258" name="Google Shape;258;p11"/>
          <p:cNvPicPr preferRelativeResize="0"/>
          <p:nvPr/>
        </p:nvPicPr>
        <p:blipFill rotWithShape="1">
          <a:blip r:embed="rId6">
            <a:alphaModFix/>
          </a:blip>
          <a:srcRect b="0" l="29688" r="29688" t="0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9" name="Google Shape;259;p11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GC-01 · Guarda-corpo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Cobertura, rooftop e varandas.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Guarda-corpo em alumínio e vidro, h=1,10 m (legenda executivo).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Briefing: privativo alumínio anodizado com montante; comum vidro perfil U inox.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vaso.jpg" id="262" name="Google Shape;262;p11"/>
          <p:cNvPicPr preferRelativeResize="0"/>
          <p:nvPr/>
        </p:nvPicPr>
        <p:blipFill rotWithShape="1">
          <a:blip r:embed="rId7">
            <a:alphaModFix/>
          </a:blip>
          <a:srcRect b="0" l="28910" r="28910" t="0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3" name="Google Shape;263;p11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 de fachada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Varandas e floreiras dos pavimentos.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PAI-08 Japi Floreira Flat 29×77 h=29, cimento queimado, 36 un · PAI-11 Gardeno M 50×100 h=60, chumbo fosco, 12 un.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Constam na legenda, mas não estão desenhados nas elevações (conferência item 7).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led.jpg" id="266" name="Google Shape;266;p11"/>
          <p:cNvPicPr preferRelativeResize="0"/>
          <p:nvPr/>
        </p:nvPicPr>
        <p:blipFill rotWithShape="1">
          <a:blip r:embed="rId8">
            <a:alphaModFix/>
          </a:blip>
          <a:srcRect b="0" l="35938" r="35938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7" name="Google Shape;267;p11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Fita de LED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Marquises, floreiras e coroamento.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Memorial R01: fita de LED na marquise e no coroamento · imagens: luz âmbar contínua.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Ausente nas elevações (conferência item 6): prever pontos antes do revestimento.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MAPA DE TEXTURAS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Texturas da fachada · identidade, rooftop e lojas </a:t>
            </a:r>
            <a:r>
              <a:rPr b="1" lang="en-US" sz="2200">
                <a:solidFill>
                  <a:srgbClr val="00143D"/>
                </a:solidFill>
              </a:rPr>
              <a:t>(3/4)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277" name="Google Shape;27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lançamento: referência visual, não substitui amostra física. Especificação: legenda das elevações 028 a 031, executivo, Memorial Descritivo R01 e Briefing.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logo.jpg" id="281" name="Google Shape;281;p12"/>
          <p:cNvPicPr preferRelativeResize="0"/>
          <p:nvPr/>
        </p:nvPicPr>
        <p:blipFill rotWithShape="1">
          <a:blip r:embed="rId5">
            <a:alphaModFix/>
          </a:blip>
          <a:srcRect b="0" l="1952" r="1952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2" name="Google Shape;282;p12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Logo-casinha + letreiro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Pilastra do acesso principal.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Imagem: pilastra escura REV-06 com logo-casinha iluminado e "Campeche SPOT" · executivo: CV-01 letreiro PVC/aço inox com LED.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mostra pilastra clara e só texto (conferência item 4).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erg.jpg" id="285" name="Google Shape;285;p12"/>
          <p:cNvPicPr preferRelativeResize="0"/>
          <p:nvPr/>
        </p:nvPicPr>
        <p:blipFill rotWithShape="1">
          <a:blip r:embed="rId6">
            <a:alphaModFix/>
          </a:blip>
          <a:srcRect b="0" l="30625" r="30625" t="0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6" name="Google Shape;286;p12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 da cobertura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Terraço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metálica escura com réguas amadeiradas (imagem) · memorial: aço corten + madeira · FR-03 madeira "a definir".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Madeira do forro ainda "a definir" no executivo: fechar referência. PENDENTE.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isc.jpg" id="289" name="Google Shape;289;p12"/>
          <p:cNvPicPr preferRelativeResize="0"/>
          <p:nvPr/>
        </p:nvPicPr>
        <p:blipFill rotWithShape="1">
          <a:blip r:embed="rId7">
            <a:alphaModFix/>
          </a:blip>
          <a:srcRect b="0" l="39875" r="39875" t="0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0" name="Google Shape;290;p12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Piscina com borda infinita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Rooftop, voltada para o mar.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Pastilha Eliane Noronha Mar Mesh 10×10 (memorial R01) · aquecimento solar.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Briefing: esverdeado 20×20 · borda não especificada no executivo.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lojas2.jpg" id="293" name="Google Shape;29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Lojas e vitrines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Térreo, fachada sudeste.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Vitrines com esquadria preta sob pano escuro contínuo; paredes entre vitrines claras (imagem).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Excluir o letreiro "seazone café" da prancha 028 (conferência item 5).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 frontal: lojas e varandas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304" name="Google Shape;3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3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7_0.jpg" id="306" name="Google Shape;306;p13"/>
          <p:cNvPicPr preferRelativeResize="0"/>
          <p:nvPr/>
        </p:nvPicPr>
        <p:blipFill rotWithShape="1">
          <a:blip r:embed="rId5">
            <a:alphaModFix/>
          </a:blip>
          <a:srcRect b="30" l="0" r="0" t="30"/>
          <a:stretch/>
        </p:blipFill>
        <p:spPr>
          <a:xfrm>
            <a:off x="457200" y="1280160"/>
            <a:ext cx="6766560" cy="38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 txBox="1"/>
          <p:nvPr/>
        </p:nvSpPr>
        <p:spPr>
          <a:xfrm>
            <a:off x="566928" y="1389888"/>
            <a:ext cx="24003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CAM 0003 (FRONTAL)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3500323" y="1523390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906317" y="171358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214677" y="2170054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297326" y="209397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176979" y="2664562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718304" y="372965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259629" y="399592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733288" y="445239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808683" y="433827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57200" y="5230368"/>
            <a:ext cx="6766560" cy="100584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640080" y="5321808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LEITURA DA FACHADA FRONTAL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imagem vendida mostra a base com um pano escuro contínuo até o vidro e paredes claras entre as vitrines. O executivo inverteu as cores (REV-05 × REV-06): corrigir na errata R02 antes da compra da tinta.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754380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781812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754380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7909560" y="164592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Pergolado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Aço corten no tom chumbo escuro + madeira (memorial) · FR-03 madeira "amêndoa"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1496751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7543800" y="22138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7909560" y="215900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GC-01 alumínio e vidro, h=1,10 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1496751" y="22138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543800" y="27269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7909560" y="267208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PAI-08 (36 un) e PAI-11 (12 un) · não desenhados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1496751" y="27269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7543800" y="324002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7909560" y="318516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BR-01 ACM × ripado vertical madeira amêndoa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1496751" y="324002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543800" y="375310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7909560" y="369824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Grelha das varandas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REV-05 cinza claro Nanquim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1496751" y="375310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543800" y="42661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7909560" y="421132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Frentes de laje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ref. cor Papel de Presente Suvinil papel-de-presente-b208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1496751" y="42661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543800" y="47792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7909560" y="472440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Pano sobre as lojas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 ser REV-06 único · executivo marca REV-05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496751" y="47792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543800" y="52923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7909560" y="523748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Vitrines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entre vitrines REV-05 · executivo marca REV-06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1496751" y="52923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543800" y="580542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7909560" y="5750560"/>
            <a:ext cx="350489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Logo na empena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Logo "C" Seazone na empena (imagem) · sem detalhe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1496751" y="580542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 lateral e base comercial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355" name="Google Shape;3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356" name="Google Shape;3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8_0.jpg" id="358" name="Google Shape;358;p14"/>
          <p:cNvPicPr preferRelativeResize="0"/>
          <p:nvPr/>
        </p:nvPicPr>
        <p:blipFill rotWithShape="1">
          <a:blip r:embed="rId5">
            <a:alphaModFix/>
          </a:blip>
          <a:srcRect b="40" l="0" r="0" t="40"/>
          <a:stretch/>
        </p:blipFill>
        <p:spPr>
          <a:xfrm>
            <a:off x="457200" y="1280160"/>
            <a:ext cx="3931920" cy="491032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 txBox="1"/>
          <p:nvPr/>
        </p:nvSpPr>
        <p:spPr>
          <a:xfrm>
            <a:off x="566928" y="1389888"/>
            <a:ext cx="164592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CAM 002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3237525" y="153582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525847" y="217416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3237525" y="229692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832537" y="310713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810238" y="3770025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2856128" y="396643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524555" y="453112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134002" y="310713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94628" y="4531126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70916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 txBox="1"/>
          <p:nvPr/>
        </p:nvSpPr>
        <p:spPr>
          <a:xfrm>
            <a:off x="498348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70916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5074920" y="164592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cobertura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GC-01 alumínio e vidro h=1,10 m · briefing: áreas comuns vidro perfil U inox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677656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709160" y="22138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5074920" y="215900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BR-01 brise de correr em alumínio, lâminas horizontais × ripado vertical madeira (imagem)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8677656" y="22138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709160" y="27269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5074920" y="267208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 das varandas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PAI-08 Japi Floreira Flat, cimento queimado · incluir nas elevações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8677656" y="27269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709160" y="324002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5074920" y="318516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Pilares da grelha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REV-05 pintura cinza claro Nanquim Suvinil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8677656" y="324002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709160" y="375310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5074920" y="369824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Frentes de laje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ref. cor Papel de Presente Suvinil papel-de-presente-b208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677656" y="375310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709160" y="42661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5074920" y="421132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Pano sobre as lojas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REV-06 cinza escuro Rock'n Roll, faixa única até o vidro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8677656" y="42661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709160" y="477926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5074920" y="472440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Vitrines das lojas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Esquadria preta · paredes entre vitrines REV-05 (errata R02)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677656" y="477926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709160" y="52923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5074920" y="523748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Empena clara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ref. cor Papel de Presente Suvinil papel-de-presente-b208 (empenas claras, reservatório e mureta)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8677656" y="52923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709160" y="580542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5074920" y="5750560"/>
            <a:ext cx="35204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Base e paisagismo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Floreira com vegetação e LED na base · paisagismo conforme projeto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8677656" y="580542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rev05.jpg" id="398" name="Google Shape;398;p14"/>
          <p:cNvPicPr preferRelativeResize="0"/>
          <p:nvPr/>
        </p:nvPicPr>
        <p:blipFill rotWithShape="1">
          <a:blip r:embed="rId6">
            <a:alphaModFix/>
          </a:blip>
          <a:srcRect b="39259" l="0" r="0" t="39259"/>
          <a:stretch/>
        </p:blipFill>
        <p:spPr>
          <a:xfrm>
            <a:off x="928116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sw__rev07.jpg" id="399" name="Google Shape;399;p14"/>
          <p:cNvPicPr preferRelativeResize="0"/>
          <p:nvPr/>
        </p:nvPicPr>
        <p:blipFill rotWithShape="1">
          <a:blip r:embed="rId7">
            <a:alphaModFix/>
          </a:blip>
          <a:srcRect b="23375" l="0" r="0" t="23375"/>
          <a:stretch/>
        </p:blipFill>
        <p:spPr>
          <a:xfrm>
            <a:off x="1005840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sw__rev06.jpg" id="400" name="Google Shape;400;p14"/>
          <p:cNvPicPr preferRelativeResize="0"/>
          <p:nvPr/>
        </p:nvPicPr>
        <p:blipFill rotWithShape="1">
          <a:blip r:embed="rId8">
            <a:alphaModFix/>
          </a:blip>
          <a:srcRect b="23312" l="0" r="0" t="23312"/>
          <a:stretch/>
        </p:blipFill>
        <p:spPr>
          <a:xfrm>
            <a:off x="10835640" y="1325880"/>
            <a:ext cx="731520" cy="7315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1" name="Google Shape;401;p14"/>
          <p:cNvSpPr txBox="1"/>
          <p:nvPr/>
        </p:nvSpPr>
        <p:spPr>
          <a:xfrm>
            <a:off x="9235440" y="21214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REV-05 · Papel de Presente · REV-06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9235440" y="2606040"/>
            <a:ext cx="2499055" cy="365760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 txBox="1"/>
          <p:nvPr/>
        </p:nvSpPr>
        <p:spPr>
          <a:xfrm>
            <a:off x="9418320" y="2697480"/>
            <a:ext cx="2133295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NAS QUATRO ELEVAÇÕES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elevações 028 Sudeste, 029 Sul, 030 Oeste e 031 Norte repetem os códigos REV-05, REV-06 e REV-07. A errata R02 das pranchas 28 a 30 foi solicitada em 28/07/2026.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01 · FACHADA · VISTA + ESPECIFICAÇÃO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Térreo: acesso e identidade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411" name="Google Shape;4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412" name="Google Shape;4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9_0.jpg" id="414" name="Google Shape;414;p15"/>
          <p:cNvPicPr preferRelativeResize="0"/>
          <p:nvPr/>
        </p:nvPicPr>
        <p:blipFill rotWithShape="1">
          <a:blip r:embed="rId5">
            <a:alphaModFix/>
          </a:blip>
          <a:srcRect b="30" l="0" r="0" t="30"/>
          <a:stretch/>
        </p:blipFill>
        <p:spPr>
          <a:xfrm>
            <a:off x="457200" y="1280160"/>
            <a:ext cx="6766560" cy="38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 txBox="1"/>
          <p:nvPr/>
        </p:nvSpPr>
        <p:spPr>
          <a:xfrm>
            <a:off x="566928" y="1389888"/>
            <a:ext cx="198882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002 (ACESSO)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2417674" y="323514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3161995" y="3539460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011680" y="1979859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335024" y="2208093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891333" y="4186123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1132027" y="3881811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109314" y="239828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5191963" y="3121030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056632" y="3995928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515307" y="3235147"/>
            <a:ext cx="274320" cy="274320"/>
          </a:xfrm>
          <a:prstGeom prst="ellipse">
            <a:avLst/>
          </a:prstGeom>
          <a:solidFill>
            <a:srgbClr val="FC605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57200" y="5230368"/>
            <a:ext cx="6766560" cy="100584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640080" y="5321808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 · IDENTIDADE DO ACESSO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Pilastra escura com o logo-casinha iluminado, letreiro Campeche SPOT e LED na marquise são a "cara" do empreendimento no lançamento. O executivo mostra pilastra clara e só o texto CV-01: corrigir na errata e detalhar elétrica e fixação.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543800" y="1298448"/>
            <a:ext cx="201168" cy="201168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7818120" y="12801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Status do item: DEFINIDO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543800" y="170078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7909560" y="164592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Logo-casinha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Iluminado na pilastra escura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11496751" y="170078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7543800" y="216255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7909560" y="210769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"Campeche SPOT" · CV-01 PVC/aço inox com LED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1496751" y="216255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7543800" y="262432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 txBox="1"/>
          <p:nvPr/>
        </p:nvSpPr>
        <p:spPr>
          <a:xfrm>
            <a:off x="7909560" y="256946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LED da marquise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Fita de LED âmbar · ausente nas elevações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1496751" y="262432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7543800" y="308610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7909560" y="303123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da marquise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FR-03 forro de madeira / teto vinílico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1496751" y="308610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543800" y="354787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7909560" y="349300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Escada de acesso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Degraus com LED embutido (imagem)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1496751" y="354787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7543800" y="4009644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7909560" y="3954780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rampa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Metálico preto (imagem) · NBR 9050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1496751" y="4009644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7543800" y="4471416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7909560" y="4416552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Ripado vertical no tom amêndoa × BR-01 horizontal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11496751" y="4471416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543800" y="4933188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7909560" y="4878324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Vitrines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Esquadria preta, vidro incolor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11496751" y="4933188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7543800" y="5394960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7909560" y="5340096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Paisagismo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Vegetação tropical com iluminação de piso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1496751" y="5394960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543800" y="5856732"/>
            <a:ext cx="256032" cy="256032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7909560" y="5801868"/>
            <a:ext cx="3504895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Pilastra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REV-06 escura · executivo mostra clara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1496751" y="5856732"/>
            <a:ext cx="219456" cy="219456"/>
          </a:xfrm>
          <a:prstGeom prst="ellipse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43D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Rachel/AppData/Local/Temp/claude/C--Users-Rachel-Documents-SEAZONE-BOOK-PREMISSAS-FACHADA-EXTERNA-CAMPECHE-SPOT/a62d8e33-2374-48a1-8865-f7b177fbebf6/scratchpad/img/recepcao_e_corredor__recepcao_6.jpg" id="465" name="Google Shape;465;p16"/>
          <p:cNvPicPr preferRelativeResize="0"/>
          <p:nvPr/>
        </p:nvPicPr>
        <p:blipFill rotWithShape="1">
          <a:blip r:embed="rId3">
            <a:alphaModFix/>
          </a:blip>
          <a:srcRect b="0" l="19501" r="19501" t="0"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logo_cover.png" id="466" name="Google Shape;4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6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Interiores · áreas comuns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Conceito Seazone  ·  portas e rodapés brancos  ·  nova recepção (rev. 07/10/2026)  ·  rooftop interno  ·  rooftop externo e piscina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tpl_icon_footer.png" id="470" name="Google Shape;4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Conceito Seazone × situação do projeto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479" name="Google Shape;4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480" name="Google Shape;4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45720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ecepcao_e_corredor__recepcao_1.jpg" id="483" name="Google Shape;483;p17"/>
          <p:cNvPicPr preferRelativeResize="0"/>
          <p:nvPr/>
        </p:nvPicPr>
        <p:blipFill rotWithShape="1">
          <a:blip r:embed="rId5">
            <a:alphaModFix/>
          </a:blip>
          <a:srcRect b="0" l="1946" r="1946" t="0"/>
          <a:stretch/>
        </p:blipFill>
        <p:spPr>
          <a:xfrm>
            <a:off x="45720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7"/>
          <p:cNvSpPr txBox="1"/>
          <p:nvPr/>
        </p:nvSpPr>
        <p:spPr>
          <a:xfrm>
            <a:off x="56692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Recepção / hall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56692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Pé-direito duplo, painel cimento queimado com quadros em metalon preto, biombos de palha, poltronas de corda náutica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Substituída pela NOVA RECEPÇÃO (rev. 07/10/2026): cimento queimado + grelha de metalon, muxarabi e letreiro. Ver páginas seguintes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566928" y="482803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2749235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ecepcao_e_corredor__corredor_3.jpg" id="488" name="Google Shape;488;p17"/>
          <p:cNvPicPr preferRelativeResize="0"/>
          <p:nvPr/>
        </p:nvPicPr>
        <p:blipFill rotWithShape="1">
          <a:blip r:embed="rId6">
            <a:alphaModFix/>
          </a:blip>
          <a:srcRect b="0" l="1946" r="1946" t="0"/>
          <a:stretch/>
        </p:blipFill>
        <p:spPr>
          <a:xfrm>
            <a:off x="2749235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7"/>
          <p:cNvSpPr txBox="1"/>
          <p:nvPr/>
        </p:nvSpPr>
        <p:spPr>
          <a:xfrm>
            <a:off x="2858963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Corredores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2858963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claras, portas escuras com números pretos e arandelas, piso claro 90×90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rodapés BRANCOS (imagens finais 07/10/2026) · forro em definição (V1 × V2)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2858963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504127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7_49_03.jpg" id="493" name="Google Shape;493;p17"/>
          <p:cNvPicPr preferRelativeResize="0"/>
          <p:nvPr/>
        </p:nvPicPr>
        <p:blipFill rotWithShape="1">
          <a:blip r:embed="rId7">
            <a:alphaModFix/>
          </a:blip>
          <a:srcRect b="0" l="1946" r="1946" t="0"/>
          <a:stretch/>
        </p:blipFill>
        <p:spPr>
          <a:xfrm>
            <a:off x="504127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7"/>
          <p:cNvSpPr txBox="1"/>
          <p:nvPr/>
        </p:nvSpPr>
        <p:spPr>
          <a:xfrm>
            <a:off x="515099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interno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515099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Forro com ripas pretas, bancada em cimento, parede Canjiquinha com "Seu lugar fora de casa", mini market ripado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modular × gesso não confirmado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150998" y="482803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7333305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8_08_53.jpg" id="498" name="Google Shape;498;p17"/>
          <p:cNvPicPr preferRelativeResize="0"/>
          <p:nvPr/>
        </p:nvPicPr>
        <p:blipFill rotWithShape="1">
          <a:blip r:embed="rId8">
            <a:alphaModFix/>
          </a:blip>
          <a:srcRect b="0" l="1946" r="1946" t="0"/>
          <a:stretch/>
        </p:blipFill>
        <p:spPr>
          <a:xfrm>
            <a:off x="7333305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7"/>
          <p:cNvSpPr txBox="1"/>
          <p:nvPr/>
        </p:nvSpPr>
        <p:spPr>
          <a:xfrm>
            <a:off x="7443033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externo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7443033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de borda infinita, lounge amadeirado, balanço suspenso, pergolado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Balanço suspenso não executável · briefing: fixar na laje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7443033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625340" y="1280160"/>
            <a:ext cx="2109155" cy="38862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planta_humanizada_r00_rooftop_ed.jpg" id="503" name="Google Shape;503;p17"/>
          <p:cNvPicPr preferRelativeResize="0"/>
          <p:nvPr/>
        </p:nvPicPr>
        <p:blipFill rotWithShape="1">
          <a:blip r:embed="rId9">
            <a:alphaModFix/>
          </a:blip>
          <a:srcRect b="0" l="1946" r="1946" t="0"/>
          <a:stretch/>
        </p:blipFill>
        <p:spPr>
          <a:xfrm>
            <a:off x="9625340" y="1280160"/>
            <a:ext cx="2109155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7"/>
          <p:cNvSpPr txBox="1"/>
          <p:nvPr/>
        </p:nvSpPr>
        <p:spPr>
          <a:xfrm>
            <a:off x="9735068" y="2606040"/>
            <a:ext cx="18896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Projeto executivo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9735068" y="2944368"/>
            <a:ext cx="18896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 SEAZONE (SEGUIR)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Interiores a partir dos renders Seazone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Executivo de interiores nunca contratado (ACA indicada)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9735068" y="48280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457200" y="5230368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Renders Seazone (Enscape, nov/2023) × Memorial R01, Relatório de Pendências e Comunicações e Análise Comparativa (00 - Premissas de Projeto).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 · REGRA PARA A OBRA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Vale o conceito Seazone (04 INTERIORES / 02 - Imagens e memoriais de Unidades e Áreas comuns). Sem executivo de interiores contratado, qualquer troca de material ou mobiliário precisa de validação registrada.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DECISÃO DE PROJETO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rodapés: de pretos para BRANCOS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517" name="Google Shape;5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518" name="Google Shape;5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8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2_preto.jpg" id="520" name="Google Shape;520;p18"/>
          <p:cNvPicPr preferRelativeResize="0"/>
          <p:nvPr/>
        </p:nvPicPr>
        <p:blipFill rotWithShape="1">
          <a:blip r:embed="rId5">
            <a:alphaModFix/>
          </a:blip>
          <a:srcRect b="0" l="12200" r="12200" t="0"/>
          <a:stretch/>
        </p:blipFill>
        <p:spPr>
          <a:xfrm>
            <a:off x="457200" y="1280160"/>
            <a:ext cx="270502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8"/>
          <p:cNvSpPr txBox="1"/>
          <p:nvPr/>
        </p:nvSpPr>
        <p:spPr>
          <a:xfrm>
            <a:off x="530352" y="1353312"/>
            <a:ext cx="10515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· PRETO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2_branco.jpg" id="522" name="Google Shape;522;p18"/>
          <p:cNvPicPr preferRelativeResize="0"/>
          <p:nvPr/>
        </p:nvPicPr>
        <p:blipFill rotWithShape="1">
          <a:blip r:embed="rId6">
            <a:alphaModFix/>
          </a:blip>
          <a:srcRect b="0" l="12200" r="12200" t="0"/>
          <a:stretch/>
        </p:blipFill>
        <p:spPr>
          <a:xfrm>
            <a:off x="3253664" y="1280160"/>
            <a:ext cx="270502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8"/>
          <p:cNvSpPr txBox="1"/>
          <p:nvPr/>
        </p:nvSpPr>
        <p:spPr>
          <a:xfrm>
            <a:off x="3326816" y="1353312"/>
            <a:ext cx="1097280" cy="237744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AGORA · BRANCO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457200" y="3337560"/>
            <a:ext cx="55014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IMAGEM 2 · imagens finais da nova recepção (07/10/2026)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1_preto.jpg" id="525" name="Google Shape;525;p18"/>
          <p:cNvPicPr preferRelativeResize="0"/>
          <p:nvPr/>
        </p:nvPicPr>
        <p:blipFill rotWithShape="1">
          <a:blip r:embed="rId7">
            <a:alphaModFix/>
          </a:blip>
          <a:srcRect b="0" l="12200" r="12200" t="0"/>
          <a:stretch/>
        </p:blipFill>
        <p:spPr>
          <a:xfrm>
            <a:off x="6233008" y="1280160"/>
            <a:ext cx="270502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8"/>
          <p:cNvSpPr txBox="1"/>
          <p:nvPr/>
        </p:nvSpPr>
        <p:spPr>
          <a:xfrm>
            <a:off x="6306160" y="1353312"/>
            <a:ext cx="10515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· PRETO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1_branco.jpg" id="527" name="Google Shape;527;p18"/>
          <p:cNvPicPr preferRelativeResize="0"/>
          <p:nvPr/>
        </p:nvPicPr>
        <p:blipFill rotWithShape="1">
          <a:blip r:embed="rId8">
            <a:alphaModFix/>
          </a:blip>
          <a:srcRect b="0" l="12200" r="12200" t="0"/>
          <a:stretch/>
        </p:blipFill>
        <p:spPr>
          <a:xfrm>
            <a:off x="9029471" y="1280160"/>
            <a:ext cx="270502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 txBox="1"/>
          <p:nvPr/>
        </p:nvSpPr>
        <p:spPr>
          <a:xfrm>
            <a:off x="9102623" y="1353312"/>
            <a:ext cx="1097280" cy="237744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AGORA · BRANCO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 txBox="1"/>
          <p:nvPr/>
        </p:nvSpPr>
        <p:spPr>
          <a:xfrm>
            <a:off x="6233008" y="3337560"/>
            <a:ext cx="55014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IMAGEM 01 · imagens finais da nova recepção (07/10/2026)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457200" y="3794760"/>
            <a:ext cx="11277295" cy="1143000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685800" y="404164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F5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7F5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 txBox="1"/>
          <p:nvPr/>
        </p:nvSpPr>
        <p:spPr>
          <a:xfrm>
            <a:off x="1554480" y="3886200"/>
            <a:ext cx="999713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BD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DEBDD"/>
                </a:solidFill>
                <a:latin typeface="Arial"/>
                <a:ea typeface="Arial"/>
                <a:cs typeface="Arial"/>
                <a:sym typeface="Arial"/>
              </a:rPr>
              <a:t>DEFINIDO · VALE PARA TODO O EMPREENDIMENTO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TODAS as portas e rodapés serão BRANCOS: recepção, corredores, rooftop e unidades.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5120640"/>
            <a:ext cx="3576218" cy="1143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 txBox="1"/>
          <p:nvPr/>
        </p:nvSpPr>
        <p:spPr>
          <a:xfrm>
            <a:off x="594360" y="5166360"/>
            <a:ext cx="33018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 QUE MUDA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Folhas, batentes e rodapés passam de preto para branco. Números das unidades continuam pretos, com arandela.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4307738" y="5120640"/>
            <a:ext cx="3576218" cy="1143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4444898" y="5166360"/>
            <a:ext cx="33018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 JÁ ESTÁ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Hall da nova recepção: rodapé ≈24,9 m lineares + folhas e batentes do hall (memorial 07/10: "já in loco").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8158277" y="5120640"/>
            <a:ext cx="3576218" cy="1143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 txBox="1"/>
          <p:nvPr/>
        </p:nvSpPr>
        <p:spPr>
          <a:xfrm>
            <a:off x="8295437" y="5166360"/>
            <a:ext cx="33018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renders de lançamento (2023) mostram portas escuras: nas páginas de lançamento, ler sempre como BRANCO.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Nova recepção: o que mudou em relação ao lançamento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546" name="Google Shape;5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547" name="Google Shape;5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9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ecepcao_e_corredor__recepcao_1.jpg" id="549" name="Google Shape;5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280160"/>
            <a:ext cx="3931920" cy="221170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9"/>
          <p:cNvSpPr txBox="1"/>
          <p:nvPr/>
        </p:nvSpPr>
        <p:spPr>
          <a:xfrm>
            <a:off x="530352" y="1353312"/>
            <a:ext cx="132588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LANÇAMENTO · 2023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1_branco.jpg" id="551" name="Google Shape;551;p19"/>
          <p:cNvPicPr preferRelativeResize="0"/>
          <p:nvPr/>
        </p:nvPicPr>
        <p:blipFill rotWithShape="1">
          <a:blip r:embed="rId6">
            <a:alphaModFix/>
          </a:blip>
          <a:srcRect b="0" l="25" r="25" t="0"/>
          <a:stretch/>
        </p:blipFill>
        <p:spPr>
          <a:xfrm>
            <a:off x="4599432" y="1280160"/>
            <a:ext cx="7132320" cy="401193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9"/>
          <p:cNvSpPr txBox="1"/>
          <p:nvPr/>
        </p:nvSpPr>
        <p:spPr>
          <a:xfrm>
            <a:off x="4672584" y="1353312"/>
            <a:ext cx="31089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NOVA RECEPÇÃO · IMAGEM FINAL 07/10/2026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 txBox="1"/>
          <p:nvPr/>
        </p:nvSpPr>
        <p:spPr>
          <a:xfrm>
            <a:off x="4599432" y="5401818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O lançamento tinha painel de cimento queimado com quadros em metalon, biombos de palha e o vão do pé-direito duplo aberto. A nova recepção segue o que foi executado na obra.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457200" y="37033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 QUE MUDOU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457200" y="4114800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9"/>
          <p:cNvSpPr txBox="1"/>
          <p:nvPr/>
        </p:nvSpPr>
        <p:spPr>
          <a:xfrm>
            <a:off x="822960" y="402336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Vão do pé-direito duplo: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fechado em alvenaria (prancha DT.01)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457200" y="4562856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822960" y="447141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 do letreiro: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cimento queimado + grelha de metalon preta + letreiro luminoso Campeche SPOT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457200" y="5010912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9"/>
          <p:cNvSpPr txBox="1"/>
          <p:nvPr/>
        </p:nvSpPr>
        <p:spPr>
          <a:xfrm>
            <a:off x="822960" y="491947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Divisa recepção / corredor: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muxarabi com palha, 900 × 2880 mm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457200" y="5458968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9"/>
          <p:cNvSpPr txBox="1"/>
          <p:nvPr/>
        </p:nvSpPr>
        <p:spPr>
          <a:xfrm>
            <a:off x="822960" y="5367528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rodapés: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 pretos para BRANCOS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457200" y="5907024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9"/>
          <p:cNvSpPr txBox="1"/>
          <p:nvPr/>
        </p:nvSpPr>
        <p:spPr>
          <a:xfrm>
            <a:off x="822960" y="581558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do corredor: 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definição: V1 modular × V2 gesso liso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Moodboard da nova recepção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572" name="Google Shape;5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573" name="Google Shape;5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1_branco.jpg" id="575" name="Google Shape;575;p20"/>
          <p:cNvPicPr preferRelativeResize="0"/>
          <p:nvPr/>
        </p:nvPicPr>
        <p:blipFill rotWithShape="1">
          <a:blip r:embed="rId5">
            <a:alphaModFix/>
          </a:blip>
          <a:srcRect b="0" l="56" r="56" t="0"/>
          <a:stretch/>
        </p:blipFill>
        <p:spPr>
          <a:xfrm>
            <a:off x="457200" y="1280160"/>
            <a:ext cx="6400800" cy="360273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0"/>
          <p:cNvSpPr txBox="1"/>
          <p:nvPr/>
        </p:nvSpPr>
        <p:spPr>
          <a:xfrm>
            <a:off x="530352" y="1353312"/>
            <a:ext cx="12801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01 · FINAL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2_branco.jpg" id="577" name="Google Shape;577;p20"/>
          <p:cNvPicPr preferRelativeResize="0"/>
          <p:nvPr/>
        </p:nvPicPr>
        <p:blipFill rotWithShape="1">
          <a:blip r:embed="rId6">
            <a:alphaModFix/>
          </a:blip>
          <a:srcRect b="128" l="0" r="0" t="128"/>
          <a:stretch/>
        </p:blipFill>
        <p:spPr>
          <a:xfrm>
            <a:off x="457200" y="4956048"/>
            <a:ext cx="2331720" cy="130759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0"/>
          <p:cNvSpPr txBox="1"/>
          <p:nvPr/>
        </p:nvSpPr>
        <p:spPr>
          <a:xfrm>
            <a:off x="512064" y="5010912"/>
            <a:ext cx="12801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02 · FINAL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2926080" y="4956048"/>
            <a:ext cx="393192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COMPOSIÇÃO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 do letreiro em cimento queimado com grelha de metalon preta e letreiro luminoso (LED 3000K); painel muxarabi com palha; ripado MDF </a:t>
            </a:r>
            <a:r>
              <a:rPr lang="en-US" sz="1000">
                <a:solidFill>
                  <a:srgbClr val="333333"/>
                </a:solidFill>
              </a:rPr>
              <a:t>Carvalho Treviso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no corredor; poltronas de corda náutica; plantas artificiais; portas e rodapés brancos.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11.jpg" id="580" name="Google Shape;580;p20"/>
          <p:cNvPicPr preferRelativeResize="0"/>
          <p:nvPr/>
        </p:nvPicPr>
        <p:blipFill rotWithShape="1">
          <a:blip r:embed="rId7">
            <a:alphaModFix/>
          </a:blip>
          <a:srcRect b="0" l="26748" r="26748" t="0"/>
          <a:stretch/>
        </p:blipFill>
        <p:spPr>
          <a:xfrm>
            <a:off x="7086600" y="128016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0"/>
          <p:cNvSpPr txBox="1"/>
          <p:nvPr/>
        </p:nvSpPr>
        <p:spPr>
          <a:xfrm>
            <a:off x="7086600" y="262432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Letreiro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17.jpg" id="582" name="Google Shape;582;p20"/>
          <p:cNvPicPr preferRelativeResize="0"/>
          <p:nvPr/>
        </p:nvPicPr>
        <p:blipFill rotWithShape="1">
          <a:blip r:embed="rId8">
            <a:alphaModFix/>
          </a:blip>
          <a:srcRect b="0" l="3495" r="3495" t="0"/>
          <a:stretch/>
        </p:blipFill>
        <p:spPr>
          <a:xfrm>
            <a:off x="8666378" y="128016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0"/>
          <p:cNvSpPr txBox="1"/>
          <p:nvPr/>
        </p:nvSpPr>
        <p:spPr>
          <a:xfrm>
            <a:off x="8666378" y="262432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Cimento queimado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5.jpg" id="584" name="Google Shape;584;p20"/>
          <p:cNvPicPr preferRelativeResize="0"/>
          <p:nvPr/>
        </p:nvPicPr>
        <p:blipFill rotWithShape="1">
          <a:blip r:embed="rId9">
            <a:alphaModFix/>
          </a:blip>
          <a:srcRect b="26974" l="0" r="0" t="26974"/>
          <a:stretch/>
        </p:blipFill>
        <p:spPr>
          <a:xfrm>
            <a:off x="10246157" y="128016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0"/>
          <p:cNvSpPr txBox="1"/>
          <p:nvPr/>
        </p:nvSpPr>
        <p:spPr>
          <a:xfrm>
            <a:off x="10246157" y="262432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Muxarabi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35.jpg" id="586" name="Google Shape;586;p20"/>
          <p:cNvPicPr preferRelativeResize="0"/>
          <p:nvPr/>
        </p:nvPicPr>
        <p:blipFill rotWithShape="1">
          <a:blip r:embed="rId10">
            <a:alphaModFix/>
          </a:blip>
          <a:srcRect b="9620" l="0" r="0" t="9620"/>
          <a:stretch/>
        </p:blipFill>
        <p:spPr>
          <a:xfrm>
            <a:off x="7086600" y="297180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0"/>
          <p:cNvSpPr txBox="1"/>
          <p:nvPr/>
        </p:nvSpPr>
        <p:spPr>
          <a:xfrm>
            <a:off x="7086600" y="431596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Poltrona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23.jpg" id="588" name="Google Shape;588;p20"/>
          <p:cNvPicPr preferRelativeResize="0"/>
          <p:nvPr/>
        </p:nvPicPr>
        <p:blipFill rotWithShape="1">
          <a:blip r:embed="rId11">
            <a:alphaModFix/>
          </a:blip>
          <a:srcRect b="0" l="25290" r="25290" t="0"/>
          <a:stretch/>
        </p:blipFill>
        <p:spPr>
          <a:xfrm>
            <a:off x="8666378" y="297180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0"/>
          <p:cNvSpPr txBox="1"/>
          <p:nvPr/>
        </p:nvSpPr>
        <p:spPr>
          <a:xfrm>
            <a:off x="8666378" y="431596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Quadros praia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5.jpg" id="590" name="Google Shape;590;p20"/>
          <p:cNvPicPr preferRelativeResize="0"/>
          <p:nvPr/>
        </p:nvPicPr>
        <p:blipFill rotWithShape="1">
          <a:blip r:embed="rId12">
            <a:alphaModFix/>
          </a:blip>
          <a:srcRect b="29997" l="0" r="0" t="29997"/>
          <a:stretch/>
        </p:blipFill>
        <p:spPr>
          <a:xfrm>
            <a:off x="10246157" y="297180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0"/>
          <p:cNvSpPr txBox="1"/>
          <p:nvPr/>
        </p:nvSpPr>
        <p:spPr>
          <a:xfrm>
            <a:off x="10246157" y="431596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Mesa cesto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0_5.jpg" id="592" name="Google Shape;592;p20"/>
          <p:cNvPicPr preferRelativeResize="0"/>
          <p:nvPr/>
        </p:nvPicPr>
        <p:blipFill rotWithShape="1">
          <a:blip r:embed="rId13">
            <a:alphaModFix/>
          </a:blip>
          <a:srcRect b="25300" l="0" r="0" t="25300"/>
          <a:stretch/>
        </p:blipFill>
        <p:spPr>
          <a:xfrm>
            <a:off x="7086600" y="466344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0"/>
          <p:cNvSpPr txBox="1"/>
          <p:nvPr/>
        </p:nvSpPr>
        <p:spPr>
          <a:xfrm>
            <a:off x="7086600" y="600760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Arandela Slide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20"/>
          <p:cNvPicPr preferRelativeResize="0"/>
          <p:nvPr/>
        </p:nvPicPr>
        <p:blipFill rotWithShape="1">
          <a:blip r:embed="rId14">
            <a:alphaModFix/>
          </a:blip>
          <a:srcRect b="0" l="3497" r="3497" t="0"/>
          <a:stretch/>
        </p:blipFill>
        <p:spPr>
          <a:xfrm>
            <a:off x="8666378" y="466344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0"/>
          <p:cNvSpPr txBox="1"/>
          <p:nvPr/>
        </p:nvSpPr>
        <p:spPr>
          <a:xfrm>
            <a:off x="8666378" y="600760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Ripado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0_11.jpg" id="596" name="Google Shape;596;p20"/>
          <p:cNvPicPr preferRelativeResize="0"/>
          <p:nvPr/>
        </p:nvPicPr>
        <p:blipFill rotWithShape="1">
          <a:blip r:embed="rId15">
            <a:alphaModFix/>
          </a:blip>
          <a:srcRect b="0" l="26748" r="26748" t="0"/>
          <a:stretch/>
        </p:blipFill>
        <p:spPr>
          <a:xfrm>
            <a:off x="10246157" y="4663440"/>
            <a:ext cx="148833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0"/>
          <p:cNvSpPr txBox="1"/>
          <p:nvPr/>
        </p:nvSpPr>
        <p:spPr>
          <a:xfrm>
            <a:off x="10246157" y="6007608"/>
            <a:ext cx="1488338" cy="256032"/>
          </a:xfrm>
          <a:prstGeom prst="rect">
            <a:avLst/>
          </a:prstGeom>
          <a:solidFill>
            <a:srgbClr val="00143D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Itens da recepção · letreiro, revestimentos e serviços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605" name="Google Shape;6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606" name="Google Shape;6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1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19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1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Fonte: memorial descritivo da nova recepção (rev. 07/10/2026) · modelo Revit + imagens finais. Sem etiqueta = especificado no memorial.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457200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5.jpg" id="610" name="Google Shape;610;p21"/>
          <p:cNvPicPr preferRelativeResize="0"/>
          <p:nvPr/>
        </p:nvPicPr>
        <p:blipFill rotWithShape="1">
          <a:blip r:embed="rId5">
            <a:alphaModFix/>
          </a:blip>
          <a:srcRect b="41603" l="0" r="0" t="41603"/>
          <a:stretch/>
        </p:blipFill>
        <p:spPr>
          <a:xfrm>
            <a:off x="457200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1"/>
          <p:cNvSpPr txBox="1"/>
          <p:nvPr/>
        </p:nvSpPr>
        <p:spPr>
          <a:xfrm>
            <a:off x="530352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2174672" y="1545336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1"/>
          <p:cNvSpPr txBox="1"/>
          <p:nvPr/>
        </p:nvSpPr>
        <p:spPr>
          <a:xfrm>
            <a:off x="548640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MARCENARIA / SERRALHARIA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muxarabi com palha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900 × 2880 mm (piso +1,08 ao forro +3,96), moldura 30 mm. Palha quadriculada natural + quadro em madeira. Fixação proposta na DT.01: validar com a obra.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3322244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11.jpg" id="615" name="Google Shape;615;p21"/>
          <p:cNvPicPr preferRelativeResize="0"/>
          <p:nvPr/>
        </p:nvPicPr>
        <p:blipFill rotWithShape="1">
          <a:blip r:embed="rId6">
            <a:alphaModFix/>
          </a:blip>
          <a:srcRect b="28458" l="0" r="0" t="28458"/>
          <a:stretch/>
        </p:blipFill>
        <p:spPr>
          <a:xfrm>
            <a:off x="3322244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1"/>
          <p:cNvSpPr txBox="1"/>
          <p:nvPr/>
        </p:nvSpPr>
        <p:spPr>
          <a:xfrm>
            <a:off x="3395396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1"/>
          <p:cNvSpPr txBox="1"/>
          <p:nvPr/>
        </p:nvSpPr>
        <p:spPr>
          <a:xfrm>
            <a:off x="3413684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MARCENARIA / SERRALHARIA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Grelha em metalon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 do letreiro (2,88 m) até +6,69. Tubo 30×30 mm preto fosco: 5 montantes de 5,61 m + 2 de 2,73 m + 5 travessas de 0,83 m (≈37,7 m).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6187288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17.jpg" id="619" name="Google Shape;619;p21"/>
          <p:cNvPicPr preferRelativeResize="0"/>
          <p:nvPr/>
        </p:nvPicPr>
        <p:blipFill rotWithShape="1">
          <a:blip r:embed="rId7">
            <a:alphaModFix/>
          </a:blip>
          <a:srcRect b="30397" l="0" r="0" t="30397"/>
          <a:stretch/>
        </p:blipFill>
        <p:spPr>
          <a:xfrm>
            <a:off x="6187288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1"/>
          <p:cNvSpPr txBox="1"/>
          <p:nvPr/>
        </p:nvSpPr>
        <p:spPr>
          <a:xfrm>
            <a:off x="6260440" y="1536192"/>
            <a:ext cx="10515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56,01 M²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1"/>
          <p:cNvSpPr txBox="1"/>
          <p:nvPr/>
        </p:nvSpPr>
        <p:spPr>
          <a:xfrm>
            <a:off x="6278728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REVESTIMENTO / PINTURA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Cimento queimado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 do letreiro e contíguas: letreiro 19,10 + contígua 16,80 + demais faces 20,11 m² (7 faces, inclui pé-direito duplo). Cinza, efeito.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9052331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23.jpg" id="623" name="Google Shape;623;p21"/>
          <p:cNvPicPr preferRelativeResize="0"/>
          <p:nvPr/>
        </p:nvPicPr>
        <p:blipFill rotWithShape="1">
          <a:blip r:embed="rId8">
            <a:alphaModFix/>
          </a:blip>
          <a:srcRect b="10704" l="0" r="0" t="10704"/>
          <a:stretch/>
        </p:blipFill>
        <p:spPr>
          <a:xfrm>
            <a:off x="9052331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1"/>
          <p:cNvSpPr txBox="1"/>
          <p:nvPr/>
        </p:nvSpPr>
        <p:spPr>
          <a:xfrm>
            <a:off x="9125483" y="1536192"/>
            <a:ext cx="98298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3,54 M²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10769803" y="1545336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1"/>
          <p:cNvSpPr txBox="1"/>
          <p:nvPr/>
        </p:nvSpPr>
        <p:spPr>
          <a:xfrm>
            <a:off x="9143771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REVESTIMENTO / PINTURA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 velvet cinza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Face pintada da parede dos quadros (2,09 × 2,88 m), hall 107. Conferir se o velvet cobre mais paredes do corredor.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457200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29.jpg" id="628" name="Google Shape;628;p21"/>
          <p:cNvPicPr preferRelativeResize="0"/>
          <p:nvPr/>
        </p:nvPicPr>
        <p:blipFill rotWithShape="1">
          <a:blip r:embed="rId9">
            <a:alphaModFix/>
          </a:blip>
          <a:srcRect b="42096" l="0" r="0" t="42096"/>
          <a:stretch/>
        </p:blipFill>
        <p:spPr>
          <a:xfrm>
            <a:off x="457200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1"/>
          <p:cNvSpPr txBox="1"/>
          <p:nvPr/>
        </p:nvSpPr>
        <p:spPr>
          <a:xfrm>
            <a:off x="530352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1"/>
          <p:cNvSpPr/>
          <p:nvPr/>
        </p:nvSpPr>
        <p:spPr>
          <a:xfrm>
            <a:off x="2243252" y="4037076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1"/>
          <p:cNvSpPr txBox="1"/>
          <p:nvPr/>
        </p:nvSpPr>
        <p:spPr>
          <a:xfrm>
            <a:off x="548640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REVESTIMENTO / PINTURA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rodapés brancos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Rodapé ≈24,9 m lineares; folhas e batentes do hall. Alterado de preto para branco nas imagens finais. Já in loco.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3322244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11.jpg" id="633" name="Google Shape;633;p21"/>
          <p:cNvPicPr preferRelativeResize="0"/>
          <p:nvPr/>
        </p:nvPicPr>
        <p:blipFill rotWithShape="1">
          <a:blip r:embed="rId10">
            <a:alphaModFix/>
          </a:blip>
          <a:srcRect b="10794" l="0" r="0" t="10794"/>
          <a:stretch/>
        </p:blipFill>
        <p:spPr>
          <a:xfrm>
            <a:off x="3322244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1"/>
          <p:cNvSpPr txBox="1"/>
          <p:nvPr/>
        </p:nvSpPr>
        <p:spPr>
          <a:xfrm>
            <a:off x="3395396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5176876" y="4037076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1"/>
          <p:cNvSpPr txBox="1"/>
          <p:nvPr/>
        </p:nvSpPr>
        <p:spPr>
          <a:xfrm>
            <a:off x="3413684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 luminoso Campeche SPOT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≈970 × 610 mm, letra caixa com LED quente 3000K, aplicada sobre a grelha / cimento queimado. Cotação Rove.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6187288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17.jpg" id="638" name="Google Shape;638;p21"/>
          <p:cNvPicPr preferRelativeResize="0"/>
          <p:nvPr/>
        </p:nvPicPr>
        <p:blipFill rotWithShape="1">
          <a:blip r:embed="rId11">
            <a:alphaModFix/>
          </a:blip>
          <a:srcRect b="6159" l="0" r="0" t="6159"/>
          <a:stretch/>
        </p:blipFill>
        <p:spPr>
          <a:xfrm>
            <a:off x="6187288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1"/>
          <p:cNvSpPr txBox="1"/>
          <p:nvPr/>
        </p:nvSpPr>
        <p:spPr>
          <a:xfrm>
            <a:off x="6260440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8041919" y="4037076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1"/>
          <p:cNvSpPr txBox="1"/>
          <p:nvPr/>
        </p:nvSpPr>
        <p:spPr>
          <a:xfrm>
            <a:off x="6278728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TAPETES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Capacho de alumínio (entrada)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2200 × 497 mm, rebaixo de 12 mm no piso. Treadmaster Alpha Step 2 (TMAS2C102): alumínio anodizado + carpete preto.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9052331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23.jpg" id="643" name="Google Shape;643;p21"/>
          <p:cNvPicPr preferRelativeResize="0"/>
          <p:nvPr/>
        </p:nvPicPr>
        <p:blipFill rotWithShape="1">
          <a:blip r:embed="rId12">
            <a:alphaModFix/>
          </a:blip>
          <a:srcRect b="29220" l="0" r="0" t="29220"/>
          <a:stretch/>
        </p:blipFill>
        <p:spPr>
          <a:xfrm>
            <a:off x="9052331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1"/>
          <p:cNvSpPr txBox="1"/>
          <p:nvPr/>
        </p:nvSpPr>
        <p:spPr>
          <a:xfrm>
            <a:off x="9125483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10906963" y="4037076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1"/>
          <p:cNvSpPr txBox="1"/>
          <p:nvPr/>
        </p:nvSpPr>
        <p:spPr>
          <a:xfrm>
            <a:off x="9143771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Alvenaria de fechamento do vão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Bloco cerâmico 19 cm, rebocado 2 faces, encunhado no topo. Fundo 2,88 m e lateral 1,95 m, de ±0,00 a +6,76 (DT.01).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2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Itens da recepção · mobiliário, luz e decoração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654" name="Google Shape;6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655" name="Google Shape;6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2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2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Fonte: memorial descritivo da nova recepção (rev. 07/10/2026) · modelo Revit + imagens finais. Sem etiqueta = especificado no memorial.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457200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7_35.jpg" id="659" name="Google Shape;659;p22"/>
          <p:cNvPicPr preferRelativeResize="0"/>
          <p:nvPr/>
        </p:nvPicPr>
        <p:blipFill rotWithShape="1">
          <a:blip r:embed="rId5">
            <a:alphaModFix/>
          </a:blip>
          <a:srcRect b="35275" l="0" r="0" t="35275"/>
          <a:stretch/>
        </p:blipFill>
        <p:spPr>
          <a:xfrm>
            <a:off x="457200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2"/>
          <p:cNvSpPr txBox="1"/>
          <p:nvPr/>
        </p:nvSpPr>
        <p:spPr>
          <a:xfrm>
            <a:off x="530352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548640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Poltrona corda náutica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≈800 × 780 × 850 mm. Estrutura preta, corda náutica natural, estofado impermeável cinza grafite + almofada terracota.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3322244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5.jpg" id="663" name="Google Shape;663;p22"/>
          <p:cNvPicPr preferRelativeResize="0"/>
          <p:nvPr/>
        </p:nvPicPr>
        <p:blipFill rotWithShape="1">
          <a:blip r:embed="rId6">
            <a:alphaModFix/>
          </a:blip>
          <a:srcRect b="42706" l="0" r="0" t="42706"/>
          <a:stretch/>
        </p:blipFill>
        <p:spPr>
          <a:xfrm>
            <a:off x="3322244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2"/>
          <p:cNvSpPr txBox="1"/>
          <p:nvPr/>
        </p:nvSpPr>
        <p:spPr>
          <a:xfrm>
            <a:off x="3395396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2"/>
          <p:cNvSpPr txBox="1"/>
          <p:nvPr/>
        </p:nvSpPr>
        <p:spPr>
          <a:xfrm>
            <a:off x="3413684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Mesa lateral cesto em fibra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Puff Seat Garden, 420 × 440 × 420 mm. Fibra natural com base branca.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6187288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17.jpg" id="667" name="Google Shape;667;p22"/>
          <p:cNvPicPr preferRelativeResize="0"/>
          <p:nvPr/>
        </p:nvPicPr>
        <p:blipFill rotWithShape="1">
          <a:blip r:embed="rId7">
            <a:alphaModFix/>
          </a:blip>
          <a:srcRect b="30397" l="0" r="0" t="30397"/>
          <a:stretch/>
        </p:blipFill>
        <p:spPr>
          <a:xfrm>
            <a:off x="6187288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2"/>
          <p:cNvSpPr txBox="1"/>
          <p:nvPr/>
        </p:nvSpPr>
        <p:spPr>
          <a:xfrm>
            <a:off x="6260440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7904759" y="1545336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2"/>
          <p:cNvSpPr txBox="1"/>
          <p:nvPr/>
        </p:nvSpPr>
        <p:spPr>
          <a:xfrm>
            <a:off x="6278728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Pendente Bulan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Rattan e fibra sintética branca. Consta no Revit, mas não aparece nas imagens: confirmar se entra.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9052331" y="146304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23.jpg" id="672" name="Google Shape;672;p22"/>
          <p:cNvPicPr preferRelativeResize="0"/>
          <p:nvPr/>
        </p:nvPicPr>
        <p:blipFill rotWithShape="1">
          <a:blip r:embed="rId8">
            <a:alphaModFix/>
          </a:blip>
          <a:srcRect b="13106" l="0" r="0" t="13106"/>
          <a:stretch/>
        </p:blipFill>
        <p:spPr>
          <a:xfrm>
            <a:off x="9052331" y="146304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2"/>
          <p:cNvSpPr txBox="1"/>
          <p:nvPr/>
        </p:nvSpPr>
        <p:spPr>
          <a:xfrm>
            <a:off x="9125483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2"/>
          <p:cNvSpPr txBox="1"/>
          <p:nvPr/>
        </p:nvSpPr>
        <p:spPr>
          <a:xfrm>
            <a:off x="9143771" y="256946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Quadros fotografia praia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500 × 700 × 15 mm. Moldura preta, paspatur branco, impressão fine art.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457200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29.jpg" id="676" name="Google Shape;676;p22"/>
          <p:cNvPicPr preferRelativeResize="0"/>
          <p:nvPr/>
        </p:nvPicPr>
        <p:blipFill rotWithShape="1">
          <a:blip r:embed="rId9">
            <a:alphaModFix/>
          </a:blip>
          <a:srcRect b="35919" l="0" r="0" t="35919"/>
          <a:stretch/>
        </p:blipFill>
        <p:spPr>
          <a:xfrm>
            <a:off x="457200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2"/>
          <p:cNvSpPr txBox="1"/>
          <p:nvPr/>
        </p:nvSpPr>
        <p:spPr>
          <a:xfrm>
            <a:off x="530352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2311832" y="4037076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 txBox="1"/>
          <p:nvPr/>
        </p:nvSpPr>
        <p:spPr>
          <a:xfrm>
            <a:off x="548640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Quadro grande abstrato azul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570 × 870 mm. Moldura preta fina, arte abstrata azul e areia.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3322244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8_35.jpg" id="681" name="Google Shape;681;p22"/>
          <p:cNvPicPr preferRelativeResize="0"/>
          <p:nvPr/>
        </p:nvPicPr>
        <p:blipFill rotWithShape="1">
          <a:blip r:embed="rId10">
            <a:alphaModFix/>
          </a:blip>
          <a:srcRect b="40754" l="0" r="0" t="40754"/>
          <a:stretch/>
        </p:blipFill>
        <p:spPr>
          <a:xfrm>
            <a:off x="3322244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2"/>
          <p:cNvSpPr txBox="1"/>
          <p:nvPr/>
        </p:nvSpPr>
        <p:spPr>
          <a:xfrm>
            <a:off x="3395396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2"/>
          <p:cNvSpPr txBox="1"/>
          <p:nvPr/>
        </p:nvSpPr>
        <p:spPr>
          <a:xfrm>
            <a:off x="3413684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Bananeira / estrelítzia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Planta artificial alta (≈1,6 m).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6187288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5.jpg" id="685" name="Google Shape;685;p22"/>
          <p:cNvPicPr preferRelativeResize="0"/>
          <p:nvPr/>
        </p:nvPicPr>
        <p:blipFill rotWithShape="1">
          <a:blip r:embed="rId11">
            <a:alphaModFix/>
          </a:blip>
          <a:srcRect b="15305" l="0" r="0" t="15305"/>
          <a:stretch/>
        </p:blipFill>
        <p:spPr>
          <a:xfrm>
            <a:off x="6187288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2"/>
          <p:cNvSpPr txBox="1"/>
          <p:nvPr/>
        </p:nvSpPr>
        <p:spPr>
          <a:xfrm>
            <a:off x="6260440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2"/>
          <p:cNvSpPr txBox="1"/>
          <p:nvPr/>
        </p:nvSpPr>
        <p:spPr>
          <a:xfrm>
            <a:off x="6278728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Costela-de-adão / palmeira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Artificiais: costela-de-adão no hall + palmeira no vaso de vidro.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9052331" y="3954780"/>
            <a:ext cx="2682164" cy="230886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11.jpg" id="689" name="Google Shape;689;p22"/>
          <p:cNvPicPr preferRelativeResize="0"/>
          <p:nvPr/>
        </p:nvPicPr>
        <p:blipFill rotWithShape="1">
          <a:blip r:embed="rId12">
            <a:alphaModFix/>
          </a:blip>
          <a:srcRect b="27947" l="0" r="0" t="27947"/>
          <a:stretch/>
        </p:blipFill>
        <p:spPr>
          <a:xfrm>
            <a:off x="9052331" y="3954780"/>
            <a:ext cx="2682164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2"/>
          <p:cNvSpPr txBox="1"/>
          <p:nvPr/>
        </p:nvSpPr>
        <p:spPr>
          <a:xfrm>
            <a:off x="9125483" y="402793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2"/>
          <p:cNvSpPr txBox="1"/>
          <p:nvPr/>
        </p:nvSpPr>
        <p:spPr>
          <a:xfrm>
            <a:off x="9143771" y="5061204"/>
            <a:ext cx="2499284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Vasos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 em cerâmica branco fosco alto, 1 cuia em fibra natural, 1 em vidro transparente.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3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3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Itens do corredor (PAV 1)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699" name="Google Shape;6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700" name="Google Shape;7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23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3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Fonte: memorial descritivo do corredor PAV 1 (rev. 07/10/2026). Escopo: corredor do PAV 1 do modelo (10 unidades); os demais pavimentos seguem o memorial anterior.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457200" y="1463040"/>
            <a:ext cx="2109155" cy="48006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29.jpg" id="704" name="Google Shape;704;p23"/>
          <p:cNvPicPr preferRelativeResize="0"/>
          <p:nvPr/>
        </p:nvPicPr>
        <p:blipFill rotWithShape="1">
          <a:blip r:embed="rId5">
            <a:alphaModFix/>
          </a:blip>
          <a:srcRect b="6871" l="0" r="0" t="6871"/>
          <a:stretch/>
        </p:blipFill>
        <p:spPr>
          <a:xfrm>
            <a:off x="457200" y="1463040"/>
            <a:ext cx="210915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3"/>
          <p:cNvSpPr txBox="1"/>
          <p:nvPr/>
        </p:nvSpPr>
        <p:spPr>
          <a:xfrm>
            <a:off x="530352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548640" y="3621024"/>
            <a:ext cx="192627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MARCENARIA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MDF </a:t>
            </a:r>
            <a:r>
              <a:rPr b="1" lang="en-US" sz="1050">
                <a:solidFill>
                  <a:srgbClr val="00143D"/>
                </a:solidFill>
              </a:rPr>
              <a:t>Carvalho Treviso</a:t>
            </a:r>
            <a:endParaRPr b="1" i="0" sz="700" u="none" cap="none" strike="noStrike">
              <a:solidFill>
                <a:srgbClr val="00143D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Ripas de 200 mm, h 2780 mm, 18 mm: painéis verticais entre as portas.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2749235" y="1463040"/>
            <a:ext cx="2109155" cy="48006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9_35.jpg" id="708" name="Google Shape;708;p23"/>
          <p:cNvPicPr preferRelativeResize="0"/>
          <p:nvPr/>
        </p:nvPicPr>
        <p:blipFill rotWithShape="1">
          <a:blip r:embed="rId6">
            <a:alphaModFix/>
          </a:blip>
          <a:srcRect b="0" l="25130" r="25130" t="0"/>
          <a:stretch/>
        </p:blipFill>
        <p:spPr>
          <a:xfrm>
            <a:off x="2749235" y="1463040"/>
            <a:ext cx="210915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23"/>
          <p:cNvSpPr txBox="1"/>
          <p:nvPr/>
        </p:nvSpPr>
        <p:spPr>
          <a:xfrm>
            <a:off x="2822387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3"/>
          <p:cNvSpPr/>
          <p:nvPr/>
        </p:nvSpPr>
        <p:spPr>
          <a:xfrm>
            <a:off x="3962278" y="1545336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3"/>
          <p:cNvSpPr txBox="1"/>
          <p:nvPr/>
        </p:nvSpPr>
        <p:spPr>
          <a:xfrm>
            <a:off x="2840675" y="3621024"/>
            <a:ext cx="192627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FORRO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do corredor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definição: V1 modular × V2 gesso liso com spots. Depende do mapa de visitas da obra.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5041270" y="1463040"/>
            <a:ext cx="2109155" cy="48006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0_5.jpg" id="713" name="Google Shape;713;p23"/>
          <p:cNvPicPr preferRelativeResize="0"/>
          <p:nvPr/>
        </p:nvPicPr>
        <p:blipFill rotWithShape="1">
          <a:blip r:embed="rId7">
            <a:alphaModFix/>
          </a:blip>
          <a:srcRect b="48555" l="1900" r="-1900" t="5631"/>
          <a:stretch/>
        </p:blipFill>
        <p:spPr>
          <a:xfrm>
            <a:off x="5041270" y="1463040"/>
            <a:ext cx="210915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23"/>
          <p:cNvSpPr txBox="1"/>
          <p:nvPr/>
        </p:nvSpPr>
        <p:spPr>
          <a:xfrm>
            <a:off x="5114422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3"/>
          <p:cNvSpPr txBox="1"/>
          <p:nvPr/>
        </p:nvSpPr>
        <p:spPr>
          <a:xfrm>
            <a:off x="5132710" y="3621024"/>
            <a:ext cx="192627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Arandela Slide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Preta com haste de madeira, luz quente.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7333305" y="1463040"/>
            <a:ext cx="2109155" cy="48006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0_11.jpg" id="717" name="Google Shape;717;p23"/>
          <p:cNvPicPr preferRelativeResize="0"/>
          <p:nvPr/>
        </p:nvPicPr>
        <p:blipFill rotWithShape="1">
          <a:blip r:embed="rId8">
            <a:alphaModFix/>
          </a:blip>
          <a:srcRect b="0" l="24928" r="24928" t="0"/>
          <a:stretch/>
        </p:blipFill>
        <p:spPr>
          <a:xfrm>
            <a:off x="7333305" y="1463040"/>
            <a:ext cx="210915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3"/>
          <p:cNvSpPr txBox="1"/>
          <p:nvPr/>
        </p:nvSpPr>
        <p:spPr>
          <a:xfrm>
            <a:off x="7406457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3"/>
          <p:cNvSpPr txBox="1"/>
          <p:nvPr/>
        </p:nvSpPr>
        <p:spPr>
          <a:xfrm>
            <a:off x="7424745" y="3621024"/>
            <a:ext cx="192627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Número da unidade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Preto, junto à arandela, sobre porta branca.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9625340" y="1463040"/>
            <a:ext cx="2109155" cy="48006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0_17.jpg" id="721" name="Google Shape;721;p23"/>
          <p:cNvPicPr preferRelativeResize="0"/>
          <p:nvPr/>
        </p:nvPicPr>
        <p:blipFill rotWithShape="1">
          <a:blip r:embed="rId9">
            <a:alphaModFix/>
          </a:blip>
          <a:srcRect b="29898" l="0" r="0" t="29898"/>
          <a:stretch/>
        </p:blipFill>
        <p:spPr>
          <a:xfrm>
            <a:off x="9625340" y="1463040"/>
            <a:ext cx="210915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3"/>
          <p:cNvSpPr txBox="1"/>
          <p:nvPr/>
        </p:nvSpPr>
        <p:spPr>
          <a:xfrm>
            <a:off x="9698492" y="1536192"/>
            <a:ext cx="6858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QTD 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10906963" y="1545336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3"/>
          <p:cNvSpPr txBox="1"/>
          <p:nvPr/>
        </p:nvSpPr>
        <p:spPr>
          <a:xfrm>
            <a:off x="9716780" y="3621024"/>
            <a:ext cx="192627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DECORAÇÃO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Capacho Seazone (portas)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450 × 600 mm, azul com logo Seazone, um por porta.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do corredor: V1 modular × V2 gesso liso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732" name="Google Shape;7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733" name="Google Shape;7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2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5_4.jpg" id="735" name="Google Shape;735;p24"/>
          <p:cNvPicPr preferRelativeResize="0"/>
          <p:nvPr/>
        </p:nvPicPr>
        <p:blipFill rotWithShape="1">
          <a:blip r:embed="rId5">
            <a:alphaModFix/>
          </a:blip>
          <a:srcRect b="6237" l="0" r="0" t="6237"/>
          <a:stretch/>
        </p:blipFill>
        <p:spPr>
          <a:xfrm>
            <a:off x="457200" y="1280160"/>
            <a:ext cx="5501488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4"/>
          <p:cNvSpPr txBox="1"/>
          <p:nvPr/>
        </p:nvSpPr>
        <p:spPr>
          <a:xfrm>
            <a:off x="548640" y="1371600"/>
            <a:ext cx="146304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 · FORRO MODULAR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5_6.jpg" id="737" name="Google Shape;737;p24"/>
          <p:cNvPicPr preferRelativeResize="0"/>
          <p:nvPr/>
        </p:nvPicPr>
        <p:blipFill rotWithShape="1">
          <a:blip r:embed="rId6">
            <a:alphaModFix/>
          </a:blip>
          <a:srcRect b="6237" l="0" r="0" t="6237"/>
          <a:stretch/>
        </p:blipFill>
        <p:spPr>
          <a:xfrm>
            <a:off x="6233008" y="1280160"/>
            <a:ext cx="5501488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4"/>
          <p:cNvSpPr txBox="1"/>
          <p:nvPr/>
        </p:nvSpPr>
        <p:spPr>
          <a:xfrm>
            <a:off x="6324448" y="1371600"/>
            <a:ext cx="178308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V2 · FORRO DE GESSO LISO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4"/>
          <p:cNvSpPr/>
          <p:nvPr/>
        </p:nvSpPr>
        <p:spPr>
          <a:xfrm>
            <a:off x="457200" y="4937760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4"/>
          <p:cNvSpPr txBox="1"/>
          <p:nvPr/>
        </p:nvSpPr>
        <p:spPr>
          <a:xfrm>
            <a:off x="1463040" y="4892040"/>
            <a:ext cx="102714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Decisão pendente: depende do mapa de visitas da obra. A V2 é a mesma imagem 01, só com o forro do corredor trocado por gesso liso; spots embutidos na mesma posição.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4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 OBRA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Rachel avisa a Alice no suporte quando o forro for definido. Até lá, o memorial mantém o forro do corredor como "a cotar (Rove)".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5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Muxarabi e fechamento do vão · prancha DT.01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750" name="Google Shape;7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751" name="Google Shape;7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5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3_5.jpg" id="753" name="Google Shape;753;p25"/>
          <p:cNvPicPr preferRelativeResize="0"/>
          <p:nvPr/>
        </p:nvPicPr>
        <p:blipFill rotWithShape="1">
          <a:blip r:embed="rId5">
            <a:alphaModFix/>
          </a:blip>
          <a:srcRect b="50" l="0" r="0" t="50"/>
          <a:stretch/>
        </p:blipFill>
        <p:spPr>
          <a:xfrm>
            <a:off x="457200" y="1280160"/>
            <a:ext cx="2194560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5"/>
          <p:cNvSpPr txBox="1"/>
          <p:nvPr/>
        </p:nvSpPr>
        <p:spPr>
          <a:xfrm>
            <a:off x="530352" y="1353312"/>
            <a:ext cx="10058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FINAL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2834640" y="1280160"/>
            <a:ext cx="2194560" cy="4937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3_4.jpg" id="756" name="Google Shape;75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0360" y="1854337"/>
            <a:ext cx="2103120" cy="378940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25"/>
          <p:cNvSpPr txBox="1"/>
          <p:nvPr/>
        </p:nvSpPr>
        <p:spPr>
          <a:xfrm>
            <a:off x="2907792" y="1353312"/>
            <a:ext cx="114300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 CC · 1:35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5212080" y="1280160"/>
            <a:ext cx="6522415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s12_4.jpg" id="759" name="Google Shape;75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8592" y="1325880"/>
            <a:ext cx="4009392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25"/>
          <p:cNvSpPr txBox="1"/>
          <p:nvPr/>
        </p:nvSpPr>
        <p:spPr>
          <a:xfrm>
            <a:off x="5285232" y="1353312"/>
            <a:ext cx="86868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DT.01 · A3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5"/>
          <p:cNvSpPr txBox="1"/>
          <p:nvPr/>
        </p:nvSpPr>
        <p:spPr>
          <a:xfrm>
            <a:off x="5212080" y="4343400"/>
            <a:ext cx="6522415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MUXARABI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Palha quadriculada natural com quadro em madeira (moldura 30 mm), 900 × 2880 mm, do piso da recepção (+1,08) ao forro (+3,96). Acima de +3,96 segue a grelha de metalon 30×30 preto fosco até +6,69.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FIXAÇÃO PROPOSTA · A VALIDAR COM A OBRA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Perfil U metálico 20×20 preto fosco no piso e no forro, com parafuso e bucha 6 mm · cantoneira L 20×20 a cada 60 cm na lateral, na alvenaria.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FECHAMENTO DO VÃO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alvenaria, como já definido: bloco cerâmico 19 cm, rebocado nas 2 faces, encunhado no topo e amarrado às alvenarias existentes (planta do vão em 1:25 na DT.01).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NOVA RECEPÇÃO · REV. 07/10/2026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Nova recepção: pendências e pontos a confirmar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769" name="Google Shape;7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770" name="Google Shape;7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nr__img02_branco.jpg" id="772" name="Google Shape;772;p26"/>
          <p:cNvPicPr preferRelativeResize="0"/>
          <p:nvPr/>
        </p:nvPicPr>
        <p:blipFill rotWithShape="1">
          <a:blip r:embed="rId5">
            <a:alphaModFix/>
          </a:blip>
          <a:srcRect b="0" l="28336" r="28336" t="0"/>
          <a:stretch/>
        </p:blipFill>
        <p:spPr>
          <a:xfrm>
            <a:off x="457200" y="1280160"/>
            <a:ext cx="384048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6"/>
          <p:cNvSpPr txBox="1"/>
          <p:nvPr/>
        </p:nvSpPr>
        <p:spPr>
          <a:xfrm>
            <a:off x="530352" y="1353312"/>
            <a:ext cx="12801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02 · FINAL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4572000" y="128016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 txBox="1"/>
          <p:nvPr/>
        </p:nvSpPr>
        <p:spPr>
          <a:xfrm>
            <a:off x="4663440" y="1417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5074920" y="12801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do corredor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Modular (V1) ou gesso liso (V2). Depende do mapa de visitas; a Rachel avisa a Alice no suporte.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10801807" y="15857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4663440" y="22479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5074920" y="211074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Cotação da Rove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Letreiro luminoso, quadro grande, capacho de alumínio, capachos Seazone e alvenaria do vão.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10870387" y="2416302"/>
            <a:ext cx="754380" cy="219456"/>
          </a:xfrm>
          <a:prstGeom prst="roundRect">
            <a:avLst>
              <a:gd fmla="val 50000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COTAR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4572000" y="294132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6"/>
          <p:cNvSpPr txBox="1"/>
          <p:nvPr/>
        </p:nvSpPr>
        <p:spPr>
          <a:xfrm>
            <a:off x="4663440" y="3078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 txBox="1"/>
          <p:nvPr/>
        </p:nvSpPr>
        <p:spPr>
          <a:xfrm>
            <a:off x="5074920" y="294132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Pendente Bulan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Está no Revit (2 un.), mas não aparece nas imagens. Entra ou sai?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10733227" y="324688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4663440" y="39090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6"/>
          <p:cNvSpPr txBox="1"/>
          <p:nvPr/>
        </p:nvSpPr>
        <p:spPr>
          <a:xfrm>
            <a:off x="5074920" y="377190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Cimento queimado e velvet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Áreas do Revit (56,01 m² e 3,54 m²): conferir se o velvet cobre mais paredes do corredor.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10733227" y="407746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4572000" y="4602480"/>
            <a:ext cx="7162495" cy="8305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 txBox="1"/>
          <p:nvPr/>
        </p:nvSpPr>
        <p:spPr>
          <a:xfrm>
            <a:off x="4663440" y="4739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 txBox="1"/>
          <p:nvPr/>
        </p:nvSpPr>
        <p:spPr>
          <a:xfrm>
            <a:off x="5074920" y="460248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Fixação do muxarabi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Proposta de detalhe (DT.01), a validar com a obra.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10733227" y="490804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6"/>
          <p:cNvSpPr txBox="1"/>
          <p:nvPr/>
        </p:nvSpPr>
        <p:spPr>
          <a:xfrm>
            <a:off x="4663440" y="55702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6"/>
          <p:cNvSpPr txBox="1"/>
          <p:nvPr/>
        </p:nvSpPr>
        <p:spPr>
          <a:xfrm>
            <a:off x="5074920" y="5433060"/>
            <a:ext cx="5470855" cy="830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Escopo do corredor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memorial novo cobre o corredor do PAV 1 do modelo (10 unidades). Os demais pavimentos seguem o memorial anterior.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10801807" y="573862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RECEPÇÃO DE LANÇAMENTO (2023) · REFERÊNCIA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Recepção de lançamento: cimento e palha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802" name="Google Shape;8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803" name="Google Shape;8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ecepcao_e_corredor__recepcao_1.jpg" id="805" name="Google Shape;805;p27"/>
          <p:cNvPicPr preferRelativeResize="0"/>
          <p:nvPr/>
        </p:nvPicPr>
        <p:blipFill rotWithShape="1">
          <a:blip r:embed="rId5">
            <a:alphaModFix/>
          </a:blip>
          <a:srcRect b="0" l="4686" r="4686" t="0"/>
          <a:stretch/>
        </p:blipFill>
        <p:spPr>
          <a:xfrm>
            <a:off x="3794760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2.jpg" id="806" name="Google Shape;806;p27"/>
          <p:cNvPicPr preferRelativeResize="0"/>
          <p:nvPr/>
        </p:nvPicPr>
        <p:blipFill rotWithShape="1">
          <a:blip r:embed="rId6">
            <a:alphaModFix/>
          </a:blip>
          <a:srcRect b="0" l="4686" r="4686" t="0"/>
          <a:stretch/>
        </p:blipFill>
        <p:spPr>
          <a:xfrm>
            <a:off x="6465722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3.jpg" id="807" name="Google Shape;807;p27"/>
          <p:cNvPicPr preferRelativeResize="0"/>
          <p:nvPr/>
        </p:nvPicPr>
        <p:blipFill rotWithShape="1">
          <a:blip r:embed="rId7">
            <a:alphaModFix/>
          </a:blip>
          <a:srcRect b="0" l="4686" r="4686" t="0"/>
          <a:stretch/>
        </p:blipFill>
        <p:spPr>
          <a:xfrm>
            <a:off x="9136685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4.jpg" id="808" name="Google Shape;808;p27"/>
          <p:cNvPicPr preferRelativeResize="0"/>
          <p:nvPr/>
        </p:nvPicPr>
        <p:blipFill rotWithShape="1">
          <a:blip r:embed="rId8">
            <a:alphaModFix/>
          </a:blip>
          <a:srcRect b="0" l="4686" r="4686" t="0"/>
          <a:stretch/>
        </p:blipFill>
        <p:spPr>
          <a:xfrm>
            <a:off x="3794760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5.jpg" id="809" name="Google Shape;809;p27"/>
          <p:cNvPicPr preferRelativeResize="0"/>
          <p:nvPr/>
        </p:nvPicPr>
        <p:blipFill rotWithShape="1">
          <a:blip r:embed="rId9">
            <a:alphaModFix/>
          </a:blip>
          <a:srcRect b="0" l="4686" r="4686" t="0"/>
          <a:stretch/>
        </p:blipFill>
        <p:spPr>
          <a:xfrm>
            <a:off x="6465722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6.jpg" id="810" name="Google Shape;810;p27"/>
          <p:cNvPicPr preferRelativeResize="0"/>
          <p:nvPr/>
        </p:nvPicPr>
        <p:blipFill rotWithShape="1">
          <a:blip r:embed="rId10">
            <a:alphaModFix/>
          </a:blip>
          <a:srcRect b="0" l="4686" r="4686" t="0"/>
          <a:stretch/>
        </p:blipFill>
        <p:spPr>
          <a:xfrm>
            <a:off x="9136685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7.jpg" id="811" name="Google Shape;811;p27"/>
          <p:cNvPicPr preferRelativeResize="0"/>
          <p:nvPr/>
        </p:nvPicPr>
        <p:blipFill rotWithShape="1">
          <a:blip r:embed="rId11">
            <a:alphaModFix/>
          </a:blip>
          <a:srcRect b="0" l="4686" r="4686" t="0"/>
          <a:stretch/>
        </p:blipFill>
        <p:spPr>
          <a:xfrm>
            <a:off x="3794760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8.jpg" id="812" name="Google Shape;812;p27"/>
          <p:cNvPicPr preferRelativeResize="0"/>
          <p:nvPr/>
        </p:nvPicPr>
        <p:blipFill rotWithShape="1">
          <a:blip r:embed="rId12">
            <a:alphaModFix/>
          </a:blip>
          <a:srcRect b="0" l="4686" r="4686" t="0"/>
          <a:stretch/>
        </p:blipFill>
        <p:spPr>
          <a:xfrm>
            <a:off x="6465722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recepcao_9.jpg" id="813" name="Google Shape;813;p27"/>
          <p:cNvPicPr preferRelativeResize="0"/>
          <p:nvPr/>
        </p:nvPicPr>
        <p:blipFill rotWithShape="1">
          <a:blip r:embed="rId13">
            <a:alphaModFix/>
          </a:blip>
          <a:srcRect b="0" l="4686" r="4686" t="0"/>
          <a:stretch/>
        </p:blipFill>
        <p:spPr>
          <a:xfrm>
            <a:off x="9136685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27"/>
          <p:cNvSpPr/>
          <p:nvPr/>
        </p:nvSpPr>
        <p:spPr>
          <a:xfrm>
            <a:off x="457200" y="3977640"/>
            <a:ext cx="3108960" cy="9144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"/>
          <p:cNvSpPr txBox="1"/>
          <p:nvPr/>
        </p:nvSpPr>
        <p:spPr>
          <a:xfrm>
            <a:off x="640080" y="406908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REFERÊNCIA DE LANÇAMENTO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 obra vale a NOVA RECEPÇÃO (rev. 07/10/2026). Portas e rodapés: BRANCOS.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7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 com pé-direito duplo: painel de cimento queimado com quadros em metalon, biombos de palha e poltronas de corda náutica.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BIOMBOS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 estruturas metálicas com palha dão privacidade a quem circula nos corredores, já que da rua se tem visão da recepção (memorial de interiores).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Poltrona com corda náutica, poltrona Acapulco, puff seat garden, puffs Aurora cinza e Sampa, mesinha lateral Vulcan.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imento.jpg" id="817" name="Google Shape;817;p27"/>
          <p:cNvPicPr preferRelativeResize="0"/>
          <p:nvPr/>
        </p:nvPicPr>
        <p:blipFill rotWithShape="1">
          <a:blip r:embed="rId14">
            <a:alphaModFix/>
          </a:blip>
          <a:srcRect b="0" l="12500" r="12500" t="0"/>
          <a:stretch/>
        </p:blipFill>
        <p:spPr>
          <a:xfrm>
            <a:off x="457200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8" name="Google Shape;818;p27"/>
          <p:cNvSpPr txBox="1"/>
          <p:nvPr/>
        </p:nvSpPr>
        <p:spPr>
          <a:xfrm>
            <a:off x="402336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Cimento queimado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alha.jpg" id="819" name="Google Shape;819;p27"/>
          <p:cNvPicPr preferRelativeResize="0"/>
          <p:nvPr/>
        </p:nvPicPr>
        <p:blipFill rotWithShape="1">
          <a:blip r:embed="rId15">
            <a:alphaModFix/>
          </a:blip>
          <a:srcRect b="35542" l="0" r="0" t="35542"/>
          <a:stretch/>
        </p:blipFill>
        <p:spPr>
          <a:xfrm>
            <a:off x="1261872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0" name="Google Shape;820;p27"/>
          <p:cNvSpPr txBox="1"/>
          <p:nvPr/>
        </p:nvSpPr>
        <p:spPr>
          <a:xfrm>
            <a:off x="1207008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Palha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velvet.jpg" id="821" name="Google Shape;821;p27"/>
          <p:cNvPicPr preferRelativeResize="0"/>
          <p:nvPr/>
        </p:nvPicPr>
        <p:blipFill rotWithShape="1">
          <a:blip r:embed="rId16">
            <a:alphaModFix/>
          </a:blip>
          <a:srcRect b="0" l="12500" r="12500" t="0"/>
          <a:stretch/>
        </p:blipFill>
        <p:spPr>
          <a:xfrm>
            <a:off x="2066544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2" name="Google Shape;822;p27"/>
          <p:cNvSpPr txBox="1"/>
          <p:nvPr/>
        </p:nvSpPr>
        <p:spPr>
          <a:xfrm>
            <a:off x="2011680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Velvet cinza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khali.jpg" id="823" name="Google Shape;823;p27"/>
          <p:cNvPicPr preferRelativeResize="0"/>
          <p:nvPr/>
        </p:nvPicPr>
        <p:blipFill rotWithShape="1">
          <a:blip r:embed="rId17">
            <a:alphaModFix/>
          </a:blip>
          <a:srcRect b="0" l="32437" r="32437" t="0"/>
          <a:stretch/>
        </p:blipFill>
        <p:spPr>
          <a:xfrm>
            <a:off x="2871216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4" name="Google Shape;824;p27"/>
          <p:cNvSpPr txBox="1"/>
          <p:nvPr/>
        </p:nvSpPr>
        <p:spPr>
          <a:xfrm>
            <a:off x="2816352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Khali 90×90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CORREDORES DE LANÇAMENTO (2023) · REFERÊNCIA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8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Corredores e vista superior da recepção (lançamento)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832" name="Google Shape;8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833" name="Google Shape;8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28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ecepcao_e_corredor__corredor_1.jpg" id="835" name="Google Shape;835;p28"/>
          <p:cNvPicPr preferRelativeResize="0"/>
          <p:nvPr/>
        </p:nvPicPr>
        <p:blipFill rotWithShape="1">
          <a:blip r:embed="rId5">
            <a:alphaModFix/>
          </a:blip>
          <a:srcRect b="0" l="14064" r="14064" t="0"/>
          <a:stretch/>
        </p:blipFill>
        <p:spPr>
          <a:xfrm>
            <a:off x="3794760" y="1280160"/>
            <a:ext cx="3933292" cy="307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corredor_2.jpg" id="836" name="Google Shape;836;p28"/>
          <p:cNvPicPr preferRelativeResize="0"/>
          <p:nvPr/>
        </p:nvPicPr>
        <p:blipFill rotWithShape="1">
          <a:blip r:embed="rId6">
            <a:alphaModFix/>
          </a:blip>
          <a:srcRect b="0" l="14064" r="14064" t="0"/>
          <a:stretch/>
        </p:blipFill>
        <p:spPr>
          <a:xfrm>
            <a:off x="7801204" y="1280160"/>
            <a:ext cx="3933292" cy="307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corredor_3.jpg" id="837" name="Google Shape;837;p28"/>
          <p:cNvPicPr preferRelativeResize="0"/>
          <p:nvPr/>
        </p:nvPicPr>
        <p:blipFill rotWithShape="1">
          <a:blip r:embed="rId7">
            <a:alphaModFix/>
          </a:blip>
          <a:srcRect b="0" l="14064" r="14064" t="0"/>
          <a:stretch/>
        </p:blipFill>
        <p:spPr>
          <a:xfrm>
            <a:off x="3794760" y="4431649"/>
            <a:ext cx="2340795" cy="1831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corredor_4.jpg" id="838" name="Google Shape;838;p28"/>
          <p:cNvPicPr preferRelativeResize="0"/>
          <p:nvPr/>
        </p:nvPicPr>
        <p:blipFill rotWithShape="1">
          <a:blip r:embed="rId8">
            <a:alphaModFix/>
          </a:blip>
          <a:srcRect b="0" l="14064" r="14064" t="0"/>
          <a:stretch/>
        </p:blipFill>
        <p:spPr>
          <a:xfrm>
            <a:off x="6208707" y="4431649"/>
            <a:ext cx="2340795" cy="1831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ecepcao_e_corredor__planta_baixa.jpg" id="839" name="Google Shape;839;p28"/>
          <p:cNvPicPr preferRelativeResize="0"/>
          <p:nvPr/>
        </p:nvPicPr>
        <p:blipFill rotWithShape="1">
          <a:blip r:embed="rId9">
            <a:alphaModFix/>
          </a:blip>
          <a:srcRect b="0" l="14064" r="14064" t="0"/>
          <a:stretch/>
        </p:blipFill>
        <p:spPr>
          <a:xfrm>
            <a:off x="8622655" y="4431649"/>
            <a:ext cx="3111840" cy="1831991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28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claras, números pretos e arandelas, piso claro 90×90. Os renders de 2023 mostram portas escuras: na obra, portas e rodapés BRANCOS.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ITENS DO MEMORIAL DE INTERIORES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 velvet cinza · quadros de divulgação Seazone · MDF </a:t>
            </a:r>
            <a:r>
              <a:rPr lang="en-US" sz="1100">
                <a:solidFill>
                  <a:srgbClr val="333333"/>
                </a:solidFill>
              </a:rPr>
              <a:t>Carvalho Treviso Berneck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luminária de parede Slide.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SITUAÇÃO REGISTRADA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Portas e rodapés BRANCOS: definido (imagens finais 07/10/2026). Forro do corredor em definição.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457200" y="3931920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1E7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8"/>
          <p:cNvSpPr txBox="1"/>
          <p:nvPr/>
        </p:nvSpPr>
        <p:spPr>
          <a:xfrm>
            <a:off x="457200" y="4343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 última imagem é a vista superior (planta) da recepção.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RECEPÇÃO E CORREDORES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Ficha: recepção (lançamento), hall e corredores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850" name="Google Shape;8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851" name="Google Shape;8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29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2_0.jpg" id="853" name="Google Shape;853;p29"/>
          <p:cNvPicPr preferRelativeResize="0"/>
          <p:nvPr/>
        </p:nvPicPr>
        <p:blipFill rotWithShape="1">
          <a:blip r:embed="rId5">
            <a:alphaModFix/>
          </a:blip>
          <a:srcRect b="53" l="0" r="0" t="53"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29"/>
          <p:cNvSpPr txBox="1"/>
          <p:nvPr/>
        </p:nvSpPr>
        <p:spPr>
          <a:xfrm>
            <a:off x="548640" y="1371600"/>
            <a:ext cx="15773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RECEPÇÃO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2_1.jpg" id="855" name="Google Shape;855;p29"/>
          <p:cNvPicPr preferRelativeResize="0"/>
          <p:nvPr/>
        </p:nvPicPr>
        <p:blipFill rotWithShape="1">
          <a:blip r:embed="rId6">
            <a:alphaModFix/>
          </a:blip>
          <a:srcRect b="53" l="0" r="0" t="53"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29"/>
          <p:cNvSpPr txBox="1"/>
          <p:nvPr/>
        </p:nvSpPr>
        <p:spPr>
          <a:xfrm>
            <a:off x="548640" y="3602736"/>
            <a:ext cx="15773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CORREDOR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9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Recepção com pé-direito duplo: painel de cimento queimado com quadros em metalon, biombos de palha e poltronas de corda náutica.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9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Parede-destaque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9"/>
          <p:cNvSpPr txBox="1"/>
          <p:nvPr/>
        </p:nvSpPr>
        <p:spPr>
          <a:xfrm>
            <a:off x="6126480" y="128016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Suvinil Cimento Queimado "Túnel de Concreto" com </a:t>
            </a:r>
            <a:r>
              <a:rPr lang="en-US" sz="1000">
                <a:solidFill>
                  <a:srgbClr val="333333"/>
                </a:solidFill>
              </a:rPr>
              <a:t>quadros em MDF preto e metalon preto RAL 9005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(memorial R01)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9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9"/>
          <p:cNvSpPr txBox="1"/>
          <p:nvPr/>
        </p:nvSpPr>
        <p:spPr>
          <a:xfrm>
            <a:off x="6126480" y="183388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Nova recepção (07/10): cimento queimado 56,01 m² + velvet cinza 3,54 m² na parede dos quadros · corredores Outono Gelado (Coral)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9"/>
          <p:cNvSpPr/>
          <p:nvPr/>
        </p:nvSpPr>
        <p:spPr>
          <a:xfrm>
            <a:off x="10733227" y="200101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9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Biombos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9"/>
          <p:cNvSpPr txBox="1"/>
          <p:nvPr/>
        </p:nvSpPr>
        <p:spPr>
          <a:xfrm>
            <a:off x="6126480" y="238760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metálica preta com palha: privacidade em relação à rua (memorial de interiores)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9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9"/>
          <p:cNvSpPr txBox="1"/>
          <p:nvPr/>
        </p:nvSpPr>
        <p:spPr>
          <a:xfrm>
            <a:off x="6126480" y="29413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Khali Off White 90×90 Eliane (memorial R01)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9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9"/>
          <p:cNvSpPr txBox="1"/>
          <p:nvPr/>
        </p:nvSpPr>
        <p:spPr>
          <a:xfrm>
            <a:off x="6126480" y="349504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Recepção: gesso · corredores: V1 modular × V2 gesso liso com spots (nova recepção 07/10)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9"/>
          <p:cNvSpPr/>
          <p:nvPr/>
        </p:nvSpPr>
        <p:spPr>
          <a:xfrm>
            <a:off x="10801807" y="366217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9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9"/>
          <p:cNvSpPr txBox="1"/>
          <p:nvPr/>
        </p:nvSpPr>
        <p:spPr>
          <a:xfrm>
            <a:off x="6126480" y="404876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BRANCO em todo o empreendimento (decisão 16/06 confirmada nas imagens finais 07/10/2026)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9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9"/>
          <p:cNvSpPr txBox="1"/>
          <p:nvPr/>
        </p:nvSpPr>
        <p:spPr>
          <a:xfrm>
            <a:off x="6126480" y="460248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Poltronas de corda náutica, puffs Aurora/Sampa, luminária Slide (memorial de interiores)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Portas e números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9"/>
          <p:cNvSpPr txBox="1"/>
          <p:nvPr/>
        </p:nvSpPr>
        <p:spPr>
          <a:xfrm>
            <a:off x="6126480" y="515620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Porta lisa BRANCA (folhas e batentes) · números pretos com arandela Slide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Iluminação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9"/>
          <p:cNvSpPr txBox="1"/>
          <p:nvPr/>
        </p:nvSpPr>
        <p:spPr>
          <a:xfrm>
            <a:off x="6126480" y="57099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Pendente de palha no pé-direito duplo · arandelas nos corredores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INTERNO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0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interno: copa, bar e mini market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890" name="Google Shape;8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891" name="Google Shape;8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0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7_48_03.jpg" id="893" name="Google Shape;893;p30"/>
          <p:cNvPicPr preferRelativeResize="0"/>
          <p:nvPr/>
        </p:nvPicPr>
        <p:blipFill rotWithShape="1">
          <a:blip r:embed="rId5">
            <a:alphaModFix/>
          </a:blip>
          <a:srcRect b="0" l="4686" r="4686" t="0"/>
          <a:stretch/>
        </p:blipFill>
        <p:spPr>
          <a:xfrm>
            <a:off x="3794760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49_03.jpg" id="894" name="Google Shape;894;p30"/>
          <p:cNvPicPr preferRelativeResize="0"/>
          <p:nvPr/>
        </p:nvPicPr>
        <p:blipFill rotWithShape="1">
          <a:blip r:embed="rId6">
            <a:alphaModFix/>
          </a:blip>
          <a:srcRect b="0" l="4686" r="4686" t="0"/>
          <a:stretch/>
        </p:blipFill>
        <p:spPr>
          <a:xfrm>
            <a:off x="6465722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50_02.jpg" id="895" name="Google Shape;895;p30"/>
          <p:cNvPicPr preferRelativeResize="0"/>
          <p:nvPr/>
        </p:nvPicPr>
        <p:blipFill rotWithShape="1">
          <a:blip r:embed="rId7">
            <a:alphaModFix/>
          </a:blip>
          <a:srcRect b="0" l="4686" r="4686" t="0"/>
          <a:stretch/>
        </p:blipFill>
        <p:spPr>
          <a:xfrm>
            <a:off x="9136685" y="1280160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51_24.jpg" id="896" name="Google Shape;896;p30"/>
          <p:cNvPicPr preferRelativeResize="0"/>
          <p:nvPr/>
        </p:nvPicPr>
        <p:blipFill rotWithShape="1">
          <a:blip r:embed="rId8">
            <a:alphaModFix/>
          </a:blip>
          <a:srcRect b="0" l="4686" r="4686" t="0"/>
          <a:stretch/>
        </p:blipFill>
        <p:spPr>
          <a:xfrm>
            <a:off x="3794760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52_22.jpg" id="897" name="Google Shape;897;p30"/>
          <p:cNvPicPr preferRelativeResize="0"/>
          <p:nvPr/>
        </p:nvPicPr>
        <p:blipFill rotWithShape="1">
          <a:blip r:embed="rId9">
            <a:alphaModFix/>
          </a:blip>
          <a:srcRect b="0" l="4686" r="4686" t="0"/>
          <a:stretch/>
        </p:blipFill>
        <p:spPr>
          <a:xfrm>
            <a:off x="6465722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53_41.jpg" id="898" name="Google Shape;898;p30"/>
          <p:cNvPicPr preferRelativeResize="0"/>
          <p:nvPr/>
        </p:nvPicPr>
        <p:blipFill rotWithShape="1">
          <a:blip r:embed="rId10">
            <a:alphaModFix/>
          </a:blip>
          <a:srcRect b="0" l="4686" r="4686" t="0"/>
          <a:stretch/>
        </p:blipFill>
        <p:spPr>
          <a:xfrm>
            <a:off x="9136685" y="2965704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7_55_22.jpg" id="899" name="Google Shape;899;p30"/>
          <p:cNvPicPr preferRelativeResize="0"/>
          <p:nvPr/>
        </p:nvPicPr>
        <p:blipFill rotWithShape="1">
          <a:blip r:embed="rId11">
            <a:alphaModFix/>
          </a:blip>
          <a:srcRect b="0" l="4686" r="4686" t="0"/>
          <a:stretch/>
        </p:blipFill>
        <p:spPr>
          <a:xfrm>
            <a:off x="3794760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4_07.jpg" id="900" name="Google Shape;900;p30"/>
          <p:cNvPicPr preferRelativeResize="0"/>
          <p:nvPr/>
        </p:nvPicPr>
        <p:blipFill rotWithShape="1">
          <a:blip r:embed="rId12">
            <a:alphaModFix/>
          </a:blip>
          <a:srcRect b="0" l="4686" r="4686" t="0"/>
          <a:stretch/>
        </p:blipFill>
        <p:spPr>
          <a:xfrm>
            <a:off x="6465722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4_34.jpg" id="901" name="Google Shape;901;p30"/>
          <p:cNvPicPr preferRelativeResize="0"/>
          <p:nvPr/>
        </p:nvPicPr>
        <p:blipFill rotWithShape="1">
          <a:blip r:embed="rId13">
            <a:alphaModFix/>
          </a:blip>
          <a:srcRect b="0" l="4686" r="4686" t="0"/>
          <a:stretch/>
        </p:blipFill>
        <p:spPr>
          <a:xfrm>
            <a:off x="9136685" y="4651248"/>
            <a:ext cx="2597810" cy="1612392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0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Forro com ripas pretas em grelha, bancada em cimento queimado com banquetas pretas, pendentes de palha, couro caramelo e vegetação.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PAREDE DA PIA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Frase "Seu lugar fora de casa" sobre a parede da pia em Pedra Canjiquinha Cinza (memorial R01).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Banqueta alta Clarice, cadeira Mara Lofteria, mesa glass, poltrona Disk, MDF </a:t>
            </a:r>
            <a:r>
              <a:rPr lang="en-US" sz="1100">
                <a:solidFill>
                  <a:srgbClr val="333333"/>
                </a:solidFill>
              </a:rPr>
              <a:t>Carvalho Treviso Berneck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estrutura metálica com palha.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forro.jpg" id="903" name="Google Shape;903;p30"/>
          <p:cNvPicPr preferRelativeResize="0"/>
          <p:nvPr/>
        </p:nvPicPr>
        <p:blipFill rotWithShape="1">
          <a:blip r:embed="rId14">
            <a:alphaModFix/>
          </a:blip>
          <a:srcRect b="0" l="41562" r="41562" t="0"/>
          <a:stretch/>
        </p:blipFill>
        <p:spPr>
          <a:xfrm>
            <a:off x="457200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4" name="Google Shape;904;p30"/>
          <p:cNvSpPr txBox="1"/>
          <p:nvPr/>
        </p:nvSpPr>
        <p:spPr>
          <a:xfrm>
            <a:off x="402336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Forro ripado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anjiquinha.jpg" id="905" name="Google Shape;905;p30"/>
          <p:cNvPicPr preferRelativeResize="0"/>
          <p:nvPr/>
        </p:nvPicPr>
        <p:blipFill rotWithShape="1">
          <a:blip r:embed="rId15">
            <a:alphaModFix/>
          </a:blip>
          <a:srcRect b="0" l="25391" r="25391" t="0"/>
          <a:stretch/>
        </p:blipFill>
        <p:spPr>
          <a:xfrm>
            <a:off x="1261872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6" name="Google Shape;906;p30"/>
          <p:cNvSpPr txBox="1"/>
          <p:nvPr/>
        </p:nvSpPr>
        <p:spPr>
          <a:xfrm>
            <a:off x="1207008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Canjiquinha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minimarket.jpg" id="907" name="Google Shape;907;p30"/>
          <p:cNvPicPr preferRelativeResize="0"/>
          <p:nvPr/>
        </p:nvPicPr>
        <p:blipFill rotWithShape="1">
          <a:blip r:embed="rId16">
            <a:alphaModFix/>
          </a:blip>
          <a:srcRect b="23333" l="0" r="0" t="23333"/>
          <a:stretch/>
        </p:blipFill>
        <p:spPr>
          <a:xfrm>
            <a:off x="2066544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8" name="Google Shape;908;p30"/>
          <p:cNvSpPr txBox="1"/>
          <p:nvPr/>
        </p:nvSpPr>
        <p:spPr>
          <a:xfrm>
            <a:off x="2011680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Mini market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imento.jpg" id="909" name="Google Shape;909;p30"/>
          <p:cNvPicPr preferRelativeResize="0"/>
          <p:nvPr/>
        </p:nvPicPr>
        <p:blipFill rotWithShape="1">
          <a:blip r:embed="rId17">
            <a:alphaModFix/>
          </a:blip>
          <a:srcRect b="0" l="12500" r="12500" t="0"/>
          <a:stretch/>
        </p:blipFill>
        <p:spPr>
          <a:xfrm>
            <a:off x="2871216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10" name="Google Shape;910;p30"/>
          <p:cNvSpPr txBox="1"/>
          <p:nvPr/>
        </p:nvSpPr>
        <p:spPr>
          <a:xfrm>
            <a:off x="2816352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Cimento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Rooftop: planta, hall do elevador e lavabo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918" name="Google Shape;9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919" name="Google Shape;9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1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29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planta_humanizada_r00_rooftop_ed.jpg" id="921" name="Google Shape;921;p31"/>
          <p:cNvPicPr preferRelativeResize="0"/>
          <p:nvPr/>
        </p:nvPicPr>
        <p:blipFill rotWithShape="1">
          <a:blip r:embed="rId5">
            <a:alphaModFix/>
          </a:blip>
          <a:srcRect b="0" l="36" r="36" t="0"/>
          <a:stretch/>
        </p:blipFill>
        <p:spPr>
          <a:xfrm>
            <a:off x="457200" y="1280160"/>
            <a:ext cx="5669280" cy="3191256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1"/>
          <p:cNvSpPr txBox="1"/>
          <p:nvPr/>
        </p:nvSpPr>
        <p:spPr>
          <a:xfrm>
            <a:off x="548640" y="1371600"/>
            <a:ext cx="17145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PLANTA HUMANIZADA R00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457200" y="4544568"/>
            <a:ext cx="2788920" cy="17190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planta_rooftop.jpg" id="924" name="Google Shape;92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254" y="4544568"/>
            <a:ext cx="1806813" cy="1719072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31"/>
          <p:cNvSpPr txBox="1"/>
          <p:nvPr/>
        </p:nvSpPr>
        <p:spPr>
          <a:xfrm>
            <a:off x="548640" y="4617720"/>
            <a:ext cx="12344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PLANTA ROOFTOP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1"/>
          <p:cNvSpPr txBox="1"/>
          <p:nvPr/>
        </p:nvSpPr>
        <p:spPr>
          <a:xfrm>
            <a:off x="3383280" y="457200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Na planta: área interna (copa, bar, mini market) ao centro; terraço com piscina de borda infinita, lounge e espreguiçadeiras voltados para o mar.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8_05_07.jpg" id="927" name="Google Shape;927;p31"/>
          <p:cNvPicPr preferRelativeResize="0"/>
          <p:nvPr/>
        </p:nvPicPr>
        <p:blipFill rotWithShape="1">
          <a:blip r:embed="rId7">
            <a:alphaModFix/>
          </a:blip>
          <a:srcRect b="0" l="4385" r="4385" t="0"/>
          <a:stretch/>
        </p:blipFill>
        <p:spPr>
          <a:xfrm>
            <a:off x="6400800" y="1280160"/>
            <a:ext cx="2630272" cy="16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31"/>
          <p:cNvSpPr txBox="1"/>
          <p:nvPr/>
        </p:nvSpPr>
        <p:spPr>
          <a:xfrm>
            <a:off x="6473952" y="1353312"/>
            <a:ext cx="123444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HALL · BALANÇO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0_18_23_45.jpg" id="929" name="Google Shape;929;p31"/>
          <p:cNvPicPr preferRelativeResize="0"/>
          <p:nvPr/>
        </p:nvPicPr>
        <p:blipFill rotWithShape="1">
          <a:blip r:embed="rId8">
            <a:alphaModFix/>
          </a:blip>
          <a:srcRect b="0" l="4385" r="4385" t="0"/>
          <a:stretch/>
        </p:blipFill>
        <p:spPr>
          <a:xfrm>
            <a:off x="9104224" y="1280160"/>
            <a:ext cx="2630272" cy="16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31"/>
          <p:cNvSpPr txBox="1"/>
          <p:nvPr/>
        </p:nvSpPr>
        <p:spPr>
          <a:xfrm>
            <a:off x="9177376" y="1353312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LAVABO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0_18_25_29.jpg" id="931" name="Google Shape;931;p31"/>
          <p:cNvPicPr preferRelativeResize="0"/>
          <p:nvPr/>
        </p:nvPicPr>
        <p:blipFill rotWithShape="1">
          <a:blip r:embed="rId9">
            <a:alphaModFix/>
          </a:blip>
          <a:srcRect b="0" l="4385" r="4385" t="0"/>
          <a:stretch/>
        </p:blipFill>
        <p:spPr>
          <a:xfrm>
            <a:off x="6400800" y="2975054"/>
            <a:ext cx="5333695" cy="3288586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31"/>
          <p:cNvSpPr txBox="1"/>
          <p:nvPr/>
        </p:nvSpPr>
        <p:spPr>
          <a:xfrm>
            <a:off x="6473952" y="3048206"/>
            <a:ext cx="82296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LAVABO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INTERNO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 de premissas: copa, bar e mini market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940" name="Google Shape;9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941" name="Google Shape;9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32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30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3_0.jpg" id="943" name="Google Shape;943;p32"/>
          <p:cNvPicPr preferRelativeResize="0"/>
          <p:nvPr/>
        </p:nvPicPr>
        <p:blipFill rotWithShape="1">
          <a:blip r:embed="rId5">
            <a:alphaModFix/>
          </a:blip>
          <a:srcRect b="53" l="0" r="0" t="53"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32"/>
          <p:cNvSpPr txBox="1"/>
          <p:nvPr/>
        </p:nvSpPr>
        <p:spPr>
          <a:xfrm>
            <a:off x="548640" y="1371600"/>
            <a:ext cx="20574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SEAZONE · ROOFTOP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3_1.jpg" id="945" name="Google Shape;945;p32"/>
          <p:cNvPicPr preferRelativeResize="0"/>
          <p:nvPr/>
        </p:nvPicPr>
        <p:blipFill rotWithShape="1">
          <a:blip r:embed="rId6">
            <a:alphaModFix/>
          </a:blip>
          <a:srcRect b="53" l="0" r="0" t="53"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32"/>
          <p:cNvSpPr txBox="1"/>
          <p:nvPr/>
        </p:nvSpPr>
        <p:spPr>
          <a:xfrm>
            <a:off x="548640" y="3602736"/>
            <a:ext cx="205740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PAREDE CANJIQUINHA + FRASE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2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Frase "Seu lugar fora de casa" sobre a parede da pia em Pedra Canjiquinha Cinza (memorial R01).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2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6126480" y="128016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Gesso com ripas pretas em grelha (memorial) × briefing: modular 2,60 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2"/>
          <p:cNvSpPr/>
          <p:nvPr/>
        </p:nvSpPr>
        <p:spPr>
          <a:xfrm>
            <a:off x="10733227" y="144729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6126480" y="183388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Decorativas em Suvinil Cimento Queimado "Dias de chuva" · demais claras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2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 da pia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2"/>
          <p:cNvSpPr txBox="1"/>
          <p:nvPr/>
        </p:nvSpPr>
        <p:spPr>
          <a:xfrm>
            <a:off x="6126480" y="238760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Canjiquinha Cinza com a frase "Seu lugar fora de casa"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2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Mini market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6126480" y="29413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ripado em PVC amadeirado com geladeiras e prateleiras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2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2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Bancada / bar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2"/>
          <p:cNvSpPr txBox="1"/>
          <p:nvPr/>
        </p:nvSpPr>
        <p:spPr>
          <a:xfrm>
            <a:off x="6126480" y="349504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Bancada em cimento queimado com banquetas pretas (Clarice)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2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Painéis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2"/>
          <p:cNvSpPr txBox="1"/>
          <p:nvPr/>
        </p:nvSpPr>
        <p:spPr>
          <a:xfrm>
            <a:off x="6126480" y="404876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Painéis de palha sintética (memorial R01)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2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2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2"/>
          <p:cNvSpPr txBox="1"/>
          <p:nvPr/>
        </p:nvSpPr>
        <p:spPr>
          <a:xfrm>
            <a:off x="6126480" y="460248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Khali Off White 90×90 Eliane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2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2"/>
          <p:cNvSpPr txBox="1"/>
          <p:nvPr/>
        </p:nvSpPr>
        <p:spPr>
          <a:xfrm>
            <a:off x="6126480" y="515620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Mesa glass, cadeiras em couro caramelo, poltrona Disk, pendentes de palha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2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2"/>
          <p:cNvSpPr txBox="1"/>
          <p:nvPr/>
        </p:nvSpPr>
        <p:spPr>
          <a:xfrm>
            <a:off x="6126480" y="57099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BRANCO: todas as portas e rodapés brancos (confirmado 07/10/2026)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3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EXTERNO · MOODBOARD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Rooftop externo e piscina de borda infinita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979" name="Google Shape;9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980" name="Google Shape;9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33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31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rooftop__enscape_2023_11_22_18_06_47.jpg" id="982" name="Google Shape;982;p33"/>
          <p:cNvPicPr preferRelativeResize="0"/>
          <p:nvPr/>
        </p:nvPicPr>
        <p:blipFill rotWithShape="1">
          <a:blip r:embed="rId5">
            <a:alphaModFix/>
          </a:blip>
          <a:srcRect b="0" l="11073" r="11073" t="0"/>
          <a:stretch/>
        </p:blipFill>
        <p:spPr>
          <a:xfrm>
            <a:off x="3794760" y="1280160"/>
            <a:ext cx="1930070" cy="1394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7_19.jpg" id="983" name="Google Shape;983;p33"/>
          <p:cNvPicPr preferRelativeResize="0"/>
          <p:nvPr/>
        </p:nvPicPr>
        <p:blipFill rotWithShape="1">
          <a:blip r:embed="rId6">
            <a:alphaModFix/>
          </a:blip>
          <a:srcRect b="0" l="11073" r="11073" t="0"/>
          <a:stretch/>
        </p:blipFill>
        <p:spPr>
          <a:xfrm>
            <a:off x="5797982" y="1280160"/>
            <a:ext cx="1930070" cy="1394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7_39.jpg" id="984" name="Google Shape;984;p33"/>
          <p:cNvPicPr preferRelativeResize="0"/>
          <p:nvPr/>
        </p:nvPicPr>
        <p:blipFill rotWithShape="1">
          <a:blip r:embed="rId7">
            <a:alphaModFix/>
          </a:blip>
          <a:srcRect b="0" l="11073" r="11073" t="0"/>
          <a:stretch/>
        </p:blipFill>
        <p:spPr>
          <a:xfrm>
            <a:off x="7801204" y="1280160"/>
            <a:ext cx="1930070" cy="1394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8_18.jpg" id="985" name="Google Shape;985;p33"/>
          <p:cNvPicPr preferRelativeResize="0"/>
          <p:nvPr/>
        </p:nvPicPr>
        <p:blipFill rotWithShape="1">
          <a:blip r:embed="rId8">
            <a:alphaModFix/>
          </a:blip>
          <a:srcRect b="0" l="11073" r="11073" t="0"/>
          <a:stretch/>
        </p:blipFill>
        <p:spPr>
          <a:xfrm>
            <a:off x="9804425" y="1280160"/>
            <a:ext cx="1930070" cy="1394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8_53.jpg" id="986" name="Google Shape;986;p33"/>
          <p:cNvPicPr preferRelativeResize="0"/>
          <p:nvPr/>
        </p:nvPicPr>
        <p:blipFill rotWithShape="1">
          <a:blip r:embed="rId9">
            <a:alphaModFix/>
          </a:blip>
          <a:srcRect b="0" l="11073" r="11073" t="0"/>
          <a:stretch/>
        </p:blipFill>
        <p:spPr>
          <a:xfrm>
            <a:off x="3794760" y="2747804"/>
            <a:ext cx="2167096" cy="1565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9_35_quadrada.jpg" id="987" name="Google Shape;987;p33"/>
          <p:cNvPicPr preferRelativeResize="0"/>
          <p:nvPr/>
        </p:nvPicPr>
        <p:blipFill rotWithShape="1">
          <a:blip r:embed="rId10">
            <a:alphaModFix/>
          </a:blip>
          <a:srcRect b="0" l="11073" r="11073" t="0"/>
          <a:stretch/>
        </p:blipFill>
        <p:spPr>
          <a:xfrm>
            <a:off x="6035008" y="2747804"/>
            <a:ext cx="1218991" cy="1565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09_35.jpg" id="988" name="Google Shape;988;p33"/>
          <p:cNvPicPr preferRelativeResize="0"/>
          <p:nvPr/>
        </p:nvPicPr>
        <p:blipFill rotWithShape="1">
          <a:blip r:embed="rId11">
            <a:alphaModFix/>
          </a:blip>
          <a:srcRect b="0" l="11073" r="11073" t="0"/>
          <a:stretch/>
        </p:blipFill>
        <p:spPr>
          <a:xfrm>
            <a:off x="7327151" y="2747804"/>
            <a:ext cx="2167096" cy="1565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10_10.jpg" id="989" name="Google Shape;989;p33"/>
          <p:cNvPicPr preferRelativeResize="0"/>
          <p:nvPr/>
        </p:nvPicPr>
        <p:blipFill rotWithShape="1">
          <a:blip r:embed="rId12">
            <a:alphaModFix/>
          </a:blip>
          <a:srcRect b="0" l="11073" r="11073" t="0"/>
          <a:stretch/>
        </p:blipFill>
        <p:spPr>
          <a:xfrm>
            <a:off x="9567399" y="2747804"/>
            <a:ext cx="2167096" cy="1565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10_35.jpg" id="990" name="Google Shape;990;p33"/>
          <p:cNvPicPr preferRelativeResize="0"/>
          <p:nvPr/>
        </p:nvPicPr>
        <p:blipFill rotWithShape="1">
          <a:blip r:embed="rId13">
            <a:alphaModFix/>
          </a:blip>
          <a:srcRect b="0" l="11073" r="11073" t="0"/>
          <a:stretch/>
        </p:blipFill>
        <p:spPr>
          <a:xfrm>
            <a:off x="3794760" y="4386700"/>
            <a:ext cx="2597810" cy="1876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11_07.jpg" id="991" name="Google Shape;991;p33"/>
          <p:cNvPicPr preferRelativeResize="0"/>
          <p:nvPr/>
        </p:nvPicPr>
        <p:blipFill rotWithShape="1">
          <a:blip r:embed="rId14">
            <a:alphaModFix/>
          </a:blip>
          <a:srcRect b="0" l="11073" r="11073" t="0"/>
          <a:stretch/>
        </p:blipFill>
        <p:spPr>
          <a:xfrm>
            <a:off x="6465722" y="4386700"/>
            <a:ext cx="2597810" cy="1876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Rachel/AppData/Local/Temp/claude/C--Users-Rachel-Documents-SEAZONE-BOOK-PREMISSAS-FACHADA-EXTERNA-CAMPECHE-SPOT/a62d8e33-2374-48a1-8865-f7b177fbebf6/scratchpad/img/rooftop__enscape_2023_11_22_18_11_45.jpg" id="992" name="Google Shape;992;p33"/>
          <p:cNvPicPr preferRelativeResize="0"/>
          <p:nvPr/>
        </p:nvPicPr>
        <p:blipFill rotWithShape="1">
          <a:blip r:embed="rId15">
            <a:alphaModFix/>
          </a:blip>
          <a:srcRect b="0" l="11073" r="11073" t="0"/>
          <a:stretch/>
        </p:blipFill>
        <p:spPr>
          <a:xfrm>
            <a:off x="9136685" y="4386700"/>
            <a:ext cx="2597810" cy="18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33"/>
          <p:cNvSpPr txBox="1"/>
          <p:nvPr/>
        </p:nvSpPr>
        <p:spPr>
          <a:xfrm>
            <a:off x="457200" y="1280160"/>
            <a:ext cx="310896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de borda infinita voltada para o mar, lounge amadeirado com floreira, pergolado escuro e espreguiçadeiras.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LOUNGE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Lounge com floreira, parede texturizada "Baú de Madeira" e balanço Acapulco (conceito Seazone).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C605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Espreguiçadeira com estofado, poltrona Acapulco, mesinha lateral Vulcan, poltrona com corda náutica, balanço Acapulco suspenso.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astilha.jpg" id="994" name="Google Shape;994;p33"/>
          <p:cNvPicPr preferRelativeResize="0"/>
          <p:nvPr/>
        </p:nvPicPr>
        <p:blipFill rotWithShape="1">
          <a:blip r:embed="rId16">
            <a:alphaModFix/>
          </a:blip>
          <a:srcRect b="0" l="35938" r="35938" t="0"/>
          <a:stretch/>
        </p:blipFill>
        <p:spPr>
          <a:xfrm>
            <a:off x="457200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95" name="Google Shape;995;p33"/>
          <p:cNvSpPr txBox="1"/>
          <p:nvPr/>
        </p:nvSpPr>
        <p:spPr>
          <a:xfrm>
            <a:off x="402336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Pastilha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lounge.jpg" id="996" name="Google Shape;996;p33"/>
          <p:cNvPicPr preferRelativeResize="0"/>
          <p:nvPr/>
        </p:nvPicPr>
        <p:blipFill rotWithShape="1">
          <a:blip r:embed="rId17">
            <a:alphaModFix/>
          </a:blip>
          <a:srcRect b="0" l="28875" r="28875" t="0"/>
          <a:stretch/>
        </p:blipFill>
        <p:spPr>
          <a:xfrm>
            <a:off x="1261872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97" name="Google Shape;997;p33"/>
          <p:cNvSpPr txBox="1"/>
          <p:nvPr/>
        </p:nvSpPr>
        <p:spPr>
          <a:xfrm>
            <a:off x="1207008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Carvalho Arbo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erg.jpg" id="998" name="Google Shape;998;p33"/>
          <p:cNvPicPr preferRelativeResize="0"/>
          <p:nvPr/>
        </p:nvPicPr>
        <p:blipFill rotWithShape="1">
          <a:blip r:embed="rId18">
            <a:alphaModFix/>
          </a:blip>
          <a:srcRect b="0" l="30625" r="30625" t="0"/>
          <a:stretch/>
        </p:blipFill>
        <p:spPr>
          <a:xfrm>
            <a:off x="2066544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999" name="Google Shape;999;p33"/>
          <p:cNvSpPr txBox="1"/>
          <p:nvPr/>
        </p:nvSpPr>
        <p:spPr>
          <a:xfrm>
            <a:off x="2011680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Pergolado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khali.jpg" id="1000" name="Google Shape;1000;p33"/>
          <p:cNvPicPr preferRelativeResize="0"/>
          <p:nvPr/>
        </p:nvPicPr>
        <p:blipFill rotWithShape="1">
          <a:blip r:embed="rId19">
            <a:alphaModFix/>
          </a:blip>
          <a:srcRect b="0" l="32437" r="32437" t="0"/>
          <a:stretch/>
        </p:blipFill>
        <p:spPr>
          <a:xfrm>
            <a:off x="2871216" y="5120640"/>
            <a:ext cx="658368" cy="6583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01" name="Google Shape;1001;p33"/>
          <p:cNvSpPr txBox="1"/>
          <p:nvPr/>
        </p:nvSpPr>
        <p:spPr>
          <a:xfrm>
            <a:off x="2816352" y="58155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Khali EXT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4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02 · INTERIORES · ROOFTOP EXTERNO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4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Ficha de premissas: rooftop externo e piscina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009" name="Google Shape;10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010" name="Google Shape;101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34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INTERIORES  ·  32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4_0.jpg" id="1012" name="Google Shape;1012;p34"/>
          <p:cNvPicPr preferRelativeResize="0"/>
          <p:nvPr/>
        </p:nvPicPr>
        <p:blipFill rotWithShape="1">
          <a:blip r:embed="rId5">
            <a:alphaModFix/>
          </a:blip>
          <a:srcRect b="53" l="0" r="0" t="53"/>
          <a:stretch/>
        </p:blipFill>
        <p:spPr>
          <a:xfrm>
            <a:off x="457200" y="1280160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34"/>
          <p:cNvSpPr txBox="1"/>
          <p:nvPr/>
        </p:nvSpPr>
        <p:spPr>
          <a:xfrm>
            <a:off x="548640" y="1371600"/>
            <a:ext cx="253746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PISCINA BORDA INFINITA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annot__s14_1.jpg" id="1014" name="Google Shape;1014;p34"/>
          <p:cNvPicPr preferRelativeResize="0"/>
          <p:nvPr/>
        </p:nvPicPr>
        <p:blipFill rotWithShape="1">
          <a:blip r:embed="rId6">
            <a:alphaModFix/>
          </a:blip>
          <a:srcRect b="53" l="0" r="0" t="53"/>
          <a:stretch/>
        </p:blipFill>
        <p:spPr>
          <a:xfrm>
            <a:off x="457200" y="3511296"/>
            <a:ext cx="3840480" cy="21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34"/>
          <p:cNvSpPr txBox="1"/>
          <p:nvPr/>
        </p:nvSpPr>
        <p:spPr>
          <a:xfrm>
            <a:off x="548640" y="3602736"/>
            <a:ext cx="212598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 · LOUNGE E BALANÇO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 txBox="1"/>
          <p:nvPr/>
        </p:nvSpPr>
        <p:spPr>
          <a:xfrm>
            <a:off x="457200" y="5760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Lounge com floreira, parede texturizada "Baú de Madeira" e balanço Acapulco (conceito Seazone).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4572000" y="128016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4"/>
          <p:cNvSpPr txBox="1"/>
          <p:nvPr/>
        </p:nvSpPr>
        <p:spPr>
          <a:xfrm>
            <a:off x="4681728" y="12801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Piscina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 txBox="1"/>
          <p:nvPr/>
        </p:nvSpPr>
        <p:spPr>
          <a:xfrm>
            <a:off x="6126480" y="128016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Pastilha Eliane Noronha Mar Mesh 10×10 (memorial) × briefing: esverdeado 20×20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10733227" y="1447292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4"/>
          <p:cNvSpPr txBox="1"/>
          <p:nvPr/>
        </p:nvSpPr>
        <p:spPr>
          <a:xfrm>
            <a:off x="4681728" y="18338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4"/>
          <p:cNvSpPr txBox="1"/>
          <p:nvPr/>
        </p:nvSpPr>
        <p:spPr>
          <a:xfrm>
            <a:off x="6126480" y="183388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Borda infinita voltada para o mar (conceito) · acabamento da borda sem especificação no executivo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4572000" y="238760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4"/>
          <p:cNvSpPr txBox="1"/>
          <p:nvPr/>
        </p:nvSpPr>
        <p:spPr>
          <a:xfrm>
            <a:off x="4681728" y="23876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Aquecimento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4"/>
          <p:cNvSpPr txBox="1"/>
          <p:nvPr/>
        </p:nvSpPr>
        <p:spPr>
          <a:xfrm>
            <a:off x="6126480" y="238760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Solar (memorial R01) · pendente de definição no executivo (análise comparativa)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4"/>
          <p:cNvSpPr txBox="1"/>
          <p:nvPr/>
        </p:nvSpPr>
        <p:spPr>
          <a:xfrm>
            <a:off x="4681728" y="29413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 externo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4"/>
          <p:cNvSpPr txBox="1"/>
          <p:nvPr/>
        </p:nvSpPr>
        <p:spPr>
          <a:xfrm>
            <a:off x="6126480" y="29413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Khali Off White 90×90 EXT (antiderrapante)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4572000" y="349504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4"/>
          <p:cNvSpPr txBox="1"/>
          <p:nvPr/>
        </p:nvSpPr>
        <p:spPr>
          <a:xfrm>
            <a:off x="4681728" y="349504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Lounge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4"/>
          <p:cNvSpPr txBox="1"/>
          <p:nvPr/>
        </p:nvSpPr>
        <p:spPr>
          <a:xfrm>
            <a:off x="6126480" y="349504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Portinari Carvalho Arbo 20×120 aplicado na horizontal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4"/>
          <p:cNvSpPr txBox="1"/>
          <p:nvPr/>
        </p:nvSpPr>
        <p:spPr>
          <a:xfrm>
            <a:off x="4681728" y="404876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Parede do balanço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6126480" y="404876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 Suvinil Granulado "Baú de Madeira" com floreira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4572000" y="460248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4"/>
          <p:cNvSpPr txBox="1"/>
          <p:nvPr/>
        </p:nvSpPr>
        <p:spPr>
          <a:xfrm>
            <a:off x="4681728" y="460248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Balanço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6126480" y="460248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Acapulco suspenso (conceito) · briefing: fixar na laje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4"/>
          <p:cNvSpPr/>
          <p:nvPr/>
        </p:nvSpPr>
        <p:spPr>
          <a:xfrm>
            <a:off x="10801807" y="476961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4"/>
          <p:cNvSpPr txBox="1"/>
          <p:nvPr/>
        </p:nvSpPr>
        <p:spPr>
          <a:xfrm>
            <a:off x="4681728" y="515620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Ducha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6126480" y="5156200"/>
            <a:ext cx="45564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Ducha junto à piscina (conceito e briefing)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4"/>
          <p:cNvSpPr/>
          <p:nvPr/>
        </p:nvSpPr>
        <p:spPr>
          <a:xfrm>
            <a:off x="10801807" y="5323332"/>
            <a:ext cx="822960" cy="219456"/>
          </a:xfrm>
          <a:prstGeom prst="roundRect">
            <a:avLst>
              <a:gd fmla="val 50000" name="adj"/>
            </a:avLst>
          </a:prstGeom>
          <a:solidFill>
            <a:srgbClr val="C98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4572000" y="5709920"/>
            <a:ext cx="7162495" cy="5537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4"/>
          <p:cNvSpPr txBox="1"/>
          <p:nvPr/>
        </p:nvSpPr>
        <p:spPr>
          <a:xfrm>
            <a:off x="4681728" y="5709920"/>
            <a:ext cx="1417320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Mobiliário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4"/>
          <p:cNvSpPr txBox="1"/>
          <p:nvPr/>
        </p:nvSpPr>
        <p:spPr>
          <a:xfrm>
            <a:off x="6126480" y="5709920"/>
            <a:ext cx="5470855" cy="55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Espreguiçadeiras Rivage, poltronas Acapulco, mesinha Vulcan, poltrona Stack (PAI-12 a 15)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43D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Rachel/AppData/Local/Temp/claude/C--Users-Rachel-Documents-SEAZONE-BOOK-PREMISSAS-FACHADA-EXTERNA-CAMPECHE-SPOT/a62d8e33-2374-48a1-8865-f7b177fbebf6/scratchpad/img/rooftop__enscape_2023_11_22_18_04_34.jpg" id="1048" name="Google Shape;1048;p35"/>
          <p:cNvPicPr preferRelativeResize="0"/>
          <p:nvPr/>
        </p:nvPicPr>
        <p:blipFill rotWithShape="1">
          <a:blip r:embed="rId3">
            <a:alphaModFix/>
          </a:blip>
          <a:srcRect b="0" l="19501" r="19501" t="0"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logo_cover.png" id="1049" name="Google Shape;10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0292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35"/>
          <p:cNvSpPr txBox="1"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FC6058"/>
                </a:solidFill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5"/>
          <p:cNvSpPr txBox="1"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Materiais de interiores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5"/>
          <p:cNvSpPr txBox="1"/>
          <p:nvPr/>
        </p:nvSpPr>
        <p:spPr>
          <a:xfrm>
            <a:off x="457200" y="45262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Mapa de materialidade </a:t>
            </a:r>
            <a:r>
              <a:rPr lang="en-US" sz="1300">
                <a:solidFill>
                  <a:srgbClr val="C9D3EA"/>
                </a:solidFill>
              </a:rPr>
              <a:t>T13–T28</a:t>
            </a: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: amostras tiradas dos renders Seazone para compra e aprovação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tpl_icon_footer.png" id="1053" name="Google Shape;105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35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9FB0D4"/>
                </a:solidFill>
              </a:rPr>
              <a:t>INTERIORES  ·  33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6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6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paredes e recepção </a:t>
            </a:r>
            <a:r>
              <a:rPr b="1" lang="en-US" sz="2600">
                <a:solidFill>
                  <a:srgbClr val="00143D"/>
                </a:solidFill>
              </a:rPr>
              <a:t>(1/4)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062" name="Google Shape;10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063" name="Google Shape;106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36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6F7891"/>
                </a:solidFill>
              </a:rPr>
              <a:t>INTERIORES  ·  34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dos renders de interiores Seazone. Referência visual, não substitui amostra física.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velvet.jpg" id="1067" name="Google Shape;1067;p36"/>
          <p:cNvPicPr preferRelativeResize="0"/>
          <p:nvPr/>
        </p:nvPicPr>
        <p:blipFill rotWithShape="1">
          <a:blip r:embed="rId5">
            <a:alphaModFix/>
          </a:blip>
          <a:srcRect b="0" l="12500" r="12500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68" name="Google Shape;1068;p36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Textura velvet cinza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 e parede da cama das unidades.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 velvet cinza (briefing e memorial de interiores).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Memorial R01 indica Crômio na recepção: fechar a referência antes da compra.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alha.jpg" id="1071" name="Google Shape;1071;p36"/>
          <p:cNvPicPr preferRelativeResize="0"/>
          <p:nvPr/>
        </p:nvPicPr>
        <p:blipFill rotWithShape="1">
          <a:blip r:embed="rId6">
            <a:alphaModFix/>
          </a:blip>
          <a:srcRect b="35542" l="0" r="0" t="35542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2" name="Google Shape;1072;p36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6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Biombo de palha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Recepção, voltado para a rua.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Estrutura metálica preta com palha (memorial de interiores) · painéis de palha sintética no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Garantir a privacidade da recepção em relação à rua; detalhar fixação.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imento.jpg" id="1075" name="Google Shape;1075;p36"/>
          <p:cNvPicPr preferRelativeResize="0"/>
          <p:nvPr/>
        </p:nvPicPr>
        <p:blipFill rotWithShape="1">
          <a:blip r:embed="rId7">
            <a:alphaModFix/>
          </a:blip>
          <a:srcRect b="0" l="12500" r="12500" t="0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6" name="Google Shape;1076;p36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6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Cimento queimado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Parede-destaque da recepção e paredes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Suvinil Cimento Queimado "Túnel de Concreto" (recepção) e "Dias de chuva" (rooftop).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Aplicação por equipe única; aprovar painel-teste no local.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forro.jpg" id="1079" name="Google Shape;1079;p36"/>
          <p:cNvPicPr preferRelativeResize="0"/>
          <p:nvPr/>
        </p:nvPicPr>
        <p:blipFill rotWithShape="1">
          <a:blip r:embed="rId8">
            <a:alphaModFix/>
          </a:blip>
          <a:srcRect b="0" l="41562" r="41562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0" name="Google Shape;1080;p36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Forro com ripas pretas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Rooftop interno.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Forro de gesso com ripas pretas em grelha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Briefing marca forro modular 2,60 m: confirmar solução.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7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7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pisos e rooftop </a:t>
            </a:r>
            <a:r>
              <a:rPr b="1" lang="en-US" sz="2600">
                <a:solidFill>
                  <a:srgbClr val="00143D"/>
                </a:solidFill>
              </a:rPr>
              <a:t>(2/4)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089" name="Google Shape;10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090" name="Google Shape;109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37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6F7891"/>
                </a:solidFill>
              </a:rPr>
              <a:t>INTERIORES  ·  35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7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dos renders de interiores Seazone. Referência visual, não substitui amostra física.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7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khali.jpg" id="1094" name="Google Shape;1094;p37"/>
          <p:cNvPicPr preferRelativeResize="0"/>
          <p:nvPr/>
        </p:nvPicPr>
        <p:blipFill rotWithShape="1">
          <a:blip r:embed="rId5">
            <a:alphaModFix/>
          </a:blip>
          <a:srcRect b="0" l="32438" r="32438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95" name="Google Shape;1095;p37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7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Khali Off White 90×90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Recepção, corredores, rooftop e unidades.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Eliane Khali Off White 90×90 · versão EXT nas áreas externas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Conferir lote e tonalidade antes do assentamento.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7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canjiquinha.jpg" id="1098" name="Google Shape;1098;p37"/>
          <p:cNvPicPr preferRelativeResize="0"/>
          <p:nvPr/>
        </p:nvPicPr>
        <p:blipFill rotWithShape="1">
          <a:blip r:embed="rId6">
            <a:alphaModFix/>
          </a:blip>
          <a:srcRect b="0" l="25391" r="25391" t="0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99" name="Google Shape;1099;p37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7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Pedra Canjiquinha Cinza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 da pia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Canjiquinha Cinza com a frase "Seu lugar fora de casa"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Prever fixação e iluminação da frase antes do revestimento.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7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minimarket.jpg" id="1102" name="Google Shape;1102;p37"/>
          <p:cNvPicPr preferRelativeResize="0"/>
          <p:nvPr/>
        </p:nvPicPr>
        <p:blipFill rotWithShape="1">
          <a:blip r:embed="rId7">
            <a:alphaModFix/>
          </a:blip>
          <a:srcRect b="23333" l="0" r="0" t="23333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03" name="Google Shape;1103;p37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7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Mini market ripado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Rooftop interno.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ripado em PVC amadeirado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Conferir pontos elétricos das geladeiras antes do painel.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7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lounge.jpg" id="1106" name="Google Shape;1106;p37"/>
          <p:cNvPicPr preferRelativeResize="0"/>
          <p:nvPr/>
        </p:nvPicPr>
        <p:blipFill rotWithShape="1">
          <a:blip r:embed="rId8">
            <a:alphaModFix/>
          </a:blip>
          <a:srcRect b="0" l="28875" r="28875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07" name="Google Shape;1107;p37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7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Carvalho Arbo 20×120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Lounge do rooftop externo.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Porcelanato Portinari Carvalho Arbo 20×120, paginação horizontal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Peça externa antiderrapante; conferir caimento para ralos.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8"/>
          <p:cNvSpPr txBox="1"/>
          <p:nvPr/>
        </p:nvSpPr>
        <p:spPr>
          <a:xfrm>
            <a:off x="457200" y="512064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piscina e unidades </a:t>
            </a:r>
            <a:r>
              <a:rPr b="1" lang="en-US" sz="2600">
                <a:solidFill>
                  <a:srgbClr val="00143D"/>
                </a:solidFill>
              </a:rPr>
              <a:t>(3/4)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116" name="Google Shape;11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117" name="Google Shape;111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38"/>
          <p:cNvSpPr txBox="1"/>
          <p:nvPr/>
        </p:nvSpPr>
        <p:spPr>
          <a:xfrm>
            <a:off x="5760720" y="6382512"/>
            <a:ext cx="5973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6F7891"/>
                </a:solidFill>
              </a:rPr>
              <a:t>INTERIORES  ·  36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8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dos renders de interiores Seazone. Referência visual, não substitui amostra física.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8"/>
          <p:cNvSpPr/>
          <p:nvPr/>
        </p:nvSpPr>
        <p:spPr>
          <a:xfrm>
            <a:off x="457200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pastilha.jpg" id="1121" name="Google Shape;1121;p38"/>
          <p:cNvPicPr preferRelativeResize="0"/>
          <p:nvPr/>
        </p:nvPicPr>
        <p:blipFill rotWithShape="1">
          <a:blip r:embed="rId5">
            <a:alphaModFix/>
          </a:blip>
          <a:srcRect b="0" l="35938" r="35938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22" name="Google Shape;1122;p38"/>
          <p:cNvSpPr txBox="1"/>
          <p:nvPr/>
        </p:nvSpPr>
        <p:spPr>
          <a:xfrm>
            <a:off x="1211580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8"/>
          <p:cNvSpPr txBox="1"/>
          <p:nvPr/>
        </p:nvSpPr>
        <p:spPr>
          <a:xfrm>
            <a:off x="2514600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Pastilha da piscina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Piscina do rooftop.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Eliane Noronha Mar Mesh 10×10 (memorial R01).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Briefing marca esverdeado 20×20: fechar referência antes do pedido.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8"/>
          <p:cNvSpPr/>
          <p:nvPr/>
        </p:nvSpPr>
        <p:spPr>
          <a:xfrm>
            <a:off x="6233008" y="14630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5" name="Google Shape;112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26" name="Google Shape;1126;p38"/>
          <p:cNvSpPr txBox="1"/>
          <p:nvPr/>
        </p:nvSpPr>
        <p:spPr>
          <a:xfrm>
            <a:off x="6987388" y="34107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8"/>
          <p:cNvSpPr txBox="1"/>
          <p:nvPr/>
        </p:nvSpPr>
        <p:spPr>
          <a:xfrm>
            <a:off x="8290408" y="16459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MDF </a:t>
            </a:r>
            <a:r>
              <a:rPr b="1" lang="en-US">
                <a:solidFill>
                  <a:srgbClr val="00143D"/>
                </a:solidFill>
              </a:rPr>
              <a:t>Carvalho Treviso</a:t>
            </a:r>
            <a:endParaRPr b="1" i="0" sz="1400" u="none" cap="none" strike="noStrike">
              <a:solidFill>
                <a:srgbClr val="00143D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Marcenaria das unidades (cabeceira, bancada, painéis).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</a:rPr>
              <a:t>MDF Carvalho Treviso Berneck com MDF Ópera Berneck e metal preto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(memorial de interiores).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Padrões Berneck do catálogo Industrial (rev. 13/10/2026) substituem o Jequitibá e o Beton Matt Arauco dos renders de 2023.</a:t>
            </a:r>
            <a:r>
              <a:rPr b="1" lang="en-US" sz="1000">
                <a:solidFill>
                  <a:srgbClr val="00143D"/>
                </a:solidFill>
              </a:rPr>
              <a:t> Escopo conforme memorial de unidades.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8"/>
          <p:cNvSpPr/>
          <p:nvPr/>
        </p:nvSpPr>
        <p:spPr>
          <a:xfrm>
            <a:off x="457200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saogabriel.jpg" id="1129" name="Google Shape;1129;p38"/>
          <p:cNvPicPr preferRelativeResize="0"/>
          <p:nvPr/>
        </p:nvPicPr>
        <p:blipFill rotWithShape="1">
          <a:blip r:embed="rId7">
            <a:alphaModFix/>
          </a:blip>
          <a:srcRect b="0" l="34202" r="34202" t="0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30" name="Google Shape;1130;p38"/>
          <p:cNvSpPr txBox="1"/>
          <p:nvPr/>
        </p:nvSpPr>
        <p:spPr>
          <a:xfrm>
            <a:off x="1211580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8"/>
          <p:cNvSpPr txBox="1"/>
          <p:nvPr/>
        </p:nvSpPr>
        <p:spPr>
          <a:xfrm>
            <a:off x="2514600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Granito Preto São Gabriel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Bancadas das unidades e dos banheiros.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Granito Preto São Gabriel polido (memorial de interiores).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Cubas de apoio brancas sobre tampo preto (renders).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8"/>
          <p:cNvSpPr/>
          <p:nvPr/>
        </p:nvSpPr>
        <p:spPr>
          <a:xfrm>
            <a:off x="6233008" y="3977640"/>
            <a:ext cx="5501488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Rachel/AppData/Local/Temp/claude/C--Users-Rachel-Documents-SEAZONE-BOOK-PREMISSAS-FACHADA-EXTERNA-CAMPECHE-SPOT/a62d8e33-2374-48a1-8865-f7b177fbebf6/scratchpad/img/sw__mezanino.jpg" id="1133" name="Google Shape;1133;p38"/>
          <p:cNvPicPr preferRelativeResize="0"/>
          <p:nvPr/>
        </p:nvPicPr>
        <p:blipFill rotWithShape="1">
          <a:blip r:embed="rId8">
            <a:alphaModFix/>
          </a:blip>
          <a:srcRect b="0" l="21875" r="21875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34" name="Google Shape;1134;p38"/>
          <p:cNvSpPr txBox="1"/>
          <p:nvPr/>
        </p:nvSpPr>
        <p:spPr>
          <a:xfrm>
            <a:off x="6987388" y="5925312"/>
            <a:ext cx="548640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8"/>
          <p:cNvSpPr txBox="1"/>
          <p:nvPr/>
        </p:nvSpPr>
        <p:spPr>
          <a:xfrm>
            <a:off x="8290408" y="4160520"/>
            <a:ext cx="32612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cor madeira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Mezanino das unidades.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Serralheria com painel de alumínio cor madeira · escada metálica preta.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Aprovar amostra da cor madeira do painel antes da fabricação.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39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C6058"/>
                </a:solidFill>
              </a:rPr>
              <a:t>03 · INTERIORES · MAPA DE MATERIALIDADE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9"/>
          <p:cNvSpPr txBox="1"/>
          <p:nvPr/>
        </p:nvSpPr>
        <p:spPr>
          <a:xfrm>
            <a:off x="457200" y="512064"/>
            <a:ext cx="932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Materiais · MDFs e metais (4/4)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navy_tpl_logo_cover.png" id="1143" name="Google Shape;114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457200"/>
            <a:ext cx="1463040" cy="24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icon_footer.png" id="1144" name="Google Shape;114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39"/>
          <p:cNvSpPr txBox="1"/>
          <p:nvPr/>
        </p:nvSpPr>
        <p:spPr>
          <a:xfrm>
            <a:off x="5760720" y="6382512"/>
            <a:ext cx="597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6F7891"/>
                </a:solidFill>
              </a:rPr>
              <a:t>INTERIORES  ·  37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9"/>
          <p:cNvSpPr txBox="1"/>
          <p:nvPr/>
        </p:nvSpPr>
        <p:spPr>
          <a:xfrm>
            <a:off x="457200" y="1115568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89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Padrões Berneck e cores de metal do catálogo Industrial Seazone (rev. 13/10/2026). Referência visual, não substitui amostra física.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9"/>
          <p:cNvSpPr/>
          <p:nvPr/>
        </p:nvSpPr>
        <p:spPr>
          <a:xfrm>
            <a:off x="457200" y="1463040"/>
            <a:ext cx="5501400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8" name="Google Shape;114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49" name="Google Shape;1149;p39"/>
          <p:cNvSpPr txBox="1"/>
          <p:nvPr/>
        </p:nvSpPr>
        <p:spPr>
          <a:xfrm>
            <a:off x="1211580" y="3410712"/>
            <a:ext cx="548700" cy="2376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9"/>
          <p:cNvSpPr txBox="1"/>
          <p:nvPr/>
        </p:nvSpPr>
        <p:spPr>
          <a:xfrm>
            <a:off x="2514600" y="1645920"/>
            <a:ext cx="3261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MDF Carvalho Treviso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Ripado do corredor (PAV 1), marcenaria do rooftop e das unidades.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MDF Berneck Carvalho Treviso, padrão Design (catálogo Industrial). Substitui o Jequitibá Arauco dos renders de 2023.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Aprovar amostra física antes da compra: tom mais claro e acinzentado que o Jequitibá dos renders.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9"/>
          <p:cNvSpPr/>
          <p:nvPr/>
        </p:nvSpPr>
        <p:spPr>
          <a:xfrm>
            <a:off x="6233008" y="1463040"/>
            <a:ext cx="5501400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2" name="Google Shape;115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1608" y="17373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3" name="Google Shape;1153;p39"/>
          <p:cNvSpPr txBox="1"/>
          <p:nvPr/>
        </p:nvSpPr>
        <p:spPr>
          <a:xfrm>
            <a:off x="6987388" y="3410712"/>
            <a:ext cx="548700" cy="2376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9"/>
          <p:cNvSpPr txBox="1"/>
          <p:nvPr/>
        </p:nvSpPr>
        <p:spPr>
          <a:xfrm>
            <a:off x="8290408" y="1645920"/>
            <a:ext cx="3261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143D"/>
                </a:solidFill>
              </a:rPr>
              <a:t>MDF Ópera</a:t>
            </a:r>
            <a:endParaRPr b="1" i="0" sz="1400" u="none" cap="none" strike="noStrike">
              <a:solidFill>
                <a:srgbClr val="00143D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Marcenaria das unidades, em composição com o Carvalho Treviso (memorial de interiores).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MDF Berneck Ópera, padrão Micro (catálogo Industrial). Substitui o Beton Matt Arauco.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143D"/>
                </a:solidFill>
              </a:rPr>
              <a:t>Cinza concreto médio: não trocar por Chumbo (mais escuro) sem validação registrada.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9"/>
          <p:cNvSpPr/>
          <p:nvPr/>
        </p:nvSpPr>
        <p:spPr>
          <a:xfrm>
            <a:off x="457200" y="3977640"/>
            <a:ext cx="5501400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6" name="Google Shape;1156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7" name="Google Shape;1157;p39"/>
          <p:cNvSpPr txBox="1"/>
          <p:nvPr/>
        </p:nvSpPr>
        <p:spPr>
          <a:xfrm>
            <a:off x="1211580" y="5925312"/>
            <a:ext cx="548700" cy="2376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9"/>
          <p:cNvSpPr txBox="1"/>
          <p:nvPr/>
        </p:nvSpPr>
        <p:spPr>
          <a:xfrm>
            <a:off x="2514600" y="4160520"/>
            <a:ext cx="3261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Metal preto RAL 9005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Grelha de metalon da recepção, perfis do muxarabi, estruturas de poltronas e banquetas, arandelas e metal da marcenaria.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Metal pintado preto fosco, ref. RAL 9005 (catálogo Industrial). Grelha em tubo 30×30 mm (memorial da nova recepção).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Acabamento fosco em todas as peças: alinhar o mesmo padrão entre serralheiro e marcenaria.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9"/>
          <p:cNvSpPr/>
          <p:nvPr/>
        </p:nvSpPr>
        <p:spPr>
          <a:xfrm>
            <a:off x="6233008" y="3977640"/>
            <a:ext cx="5501400" cy="22860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0" name="Google Shape;1160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61608" y="4251960"/>
            <a:ext cx="1600200" cy="1600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1" name="Google Shape;1161;p39"/>
          <p:cNvSpPr txBox="1"/>
          <p:nvPr/>
        </p:nvSpPr>
        <p:spPr>
          <a:xfrm>
            <a:off x="6987388" y="5925312"/>
            <a:ext cx="548700" cy="2376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9"/>
          <p:cNvSpPr txBox="1"/>
          <p:nvPr/>
        </p:nvSpPr>
        <p:spPr>
          <a:xfrm>
            <a:off x="8290408" y="4160520"/>
            <a:ext cx="3261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4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Metal grafite RAL 7024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Segunda cor de metal do catálogo Industrial. Sem uso definido no projeto atual.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Metal pintado grafite, ref. RAL 7024 (catálogo Industrial).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C605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ATENÇÃO NA OBRA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14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Usar só como alternativa ao preto em peças soltas, com validação registrada. A VALIDAR.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43D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Rachel/AppData/Local/Temp/claude/C--Users-Rachel-Documents-SEAZONE-BOOK-PREMISSAS-FACHADA-EXTERNA-CAMPECHE-SPOT/a62d8e33-2374-48a1-8865-f7b177fbebf6/scratchpad/img/ext__rooftop_2.jpg" id="1168" name="Google Shape;1168;p40"/>
          <p:cNvPicPr preferRelativeResize="0"/>
          <p:nvPr/>
        </p:nvPicPr>
        <p:blipFill rotWithShape="1">
          <a:blip r:embed="rId3">
            <a:alphaModFix/>
          </a:blip>
          <a:srcRect b="0" l="23251" r="23251" t="0"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achel\AppData\Local\Temp\claude\C--Users-Rachel-Documents-SEAZONE-BOOK-PREMISSAS-FACHADA-EXTERNA-CAMPECHE-SPOT\a62d8e33-2374-48a1-8865-f7b177fbebf6\scratchpad\img\tpl_logo_cover.png" id="1169" name="Google Shape;116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48640"/>
            <a:ext cx="1645920" cy="27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40"/>
          <p:cNvSpPr txBox="1"/>
          <p:nvPr/>
        </p:nvSpPr>
        <p:spPr>
          <a:xfrm>
            <a:off x="457200" y="27432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0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CAMPECHE SPOT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0"/>
          <p:cNvSpPr txBox="1"/>
          <p:nvPr/>
        </p:nvSpPr>
        <p:spPr>
          <a:xfrm>
            <a:off x="457200" y="306324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de Premissas de Fachada e Interiores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0"/>
          <p:cNvSpPr txBox="1"/>
          <p:nvPr/>
        </p:nvSpPr>
        <p:spPr>
          <a:xfrm>
            <a:off x="457200" y="4343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9D3EA"/>
                </a:solidFill>
                <a:latin typeface="Arial"/>
                <a:ea typeface="Arial"/>
                <a:cs typeface="Arial"/>
                <a:sym typeface="Arial"/>
              </a:rPr>
              <a:t>Lançamento × Executivo  ·  Seazone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Rachel\AppData\Local\Temp\claude\C--Users-Rachel-Documents-SEAZONE-BOOK-PREMISSAS-FACHADA-EXTERNA-CAMPECHE-SPOT\a62d8e33-2374-48a1-8865-f7b177fbebf6\scratchpad\img\tpl_icon_footer.png" id="1173" name="Google Shape;117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6400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40"/>
          <p:cNvSpPr txBox="1"/>
          <p:nvPr/>
        </p:nvSpPr>
        <p:spPr>
          <a:xfrm>
            <a:off x="731520" y="638251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CAMPECHE SPOT  ·  BOOK DE PREMISSAS DE FACHADA E </a:t>
            </a:r>
            <a:r>
              <a:rPr lang="en-US" sz="750">
                <a:solidFill>
                  <a:srgbClr val="9FB0D4"/>
                </a:solidFill>
              </a:rPr>
              <a:t>INTERIORES  ·  38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