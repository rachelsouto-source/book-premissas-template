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8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google.com/spreadsheets/d/10zk6lROUcvN23TJJ3pKijnORZ96VsKtAhZpwcqJDulw/edit?gid=913808395#gid=913808395" TargetMode="External"/><Relationship Id="rId5" Type="http://schemas.openxmlformats.org/officeDocument/2006/relationships/hyperlink" Target="https://docs.google.com/spreadsheets/d/19rxdfTdQ4o_XCd6YHThASGFJ5OTXirVdWoV4ZOU4b0U/edit?usp=drive_link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10" Type="http://schemas.openxmlformats.org/officeDocument/2006/relationships/image" Target="../media/image14.jpg"/><Relationship Id="rId4" Type="http://schemas.openxmlformats.org/officeDocument/2006/relationships/image" Target="../media/image3.png"/><Relationship Id="rId9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2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10" Type="http://schemas.openxmlformats.org/officeDocument/2006/relationships/image" Target="../media/image20.jpg"/><Relationship Id="rId4" Type="http://schemas.openxmlformats.org/officeDocument/2006/relationships/image" Target="../media/image3.png"/><Relationship Id="rId9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jp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jpg"/><Relationship Id="rId4" Type="http://schemas.openxmlformats.org/officeDocument/2006/relationships/image" Target="../media/image3.png"/><Relationship Id="rId9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2.png"/><Relationship Id="rId7" Type="http://schemas.openxmlformats.org/officeDocument/2006/relationships/image" Target="../media/image38.jp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g"/><Relationship Id="rId11" Type="http://schemas.openxmlformats.org/officeDocument/2006/relationships/image" Target="../media/image42.png"/><Relationship Id="rId5" Type="http://schemas.openxmlformats.org/officeDocument/2006/relationships/image" Target="../media/image36.jpg"/><Relationship Id="rId10" Type="http://schemas.openxmlformats.org/officeDocument/2006/relationships/image" Target="../media/image41.png"/><Relationship Id="rId4" Type="http://schemas.openxmlformats.org/officeDocument/2006/relationships/image" Target="../media/image3.png"/><Relationship Id="rId9" Type="http://schemas.openxmlformats.org/officeDocument/2006/relationships/image" Target="../media/image4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 descr="FACHADA_FRONTAL_PRINCIPAL_01_cover_4.45x5.62_0.3__0.0__0.76__1.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4920" y="0"/>
            <a:ext cx="406908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 descr="s01_2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566928"/>
            <a:ext cx="1783080" cy="29334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BOOK DE PREMISSAS DE PROJETO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Novo Campeche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Spot III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2920" y="3291843"/>
            <a:ext cx="44805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Passagem de Bastão  ·  Projetos  →  Obra</a:t>
            </a:r>
            <a:r>
              <a:rPr lang="en-US" sz="1250">
                <a:solidFill>
                  <a:srgbClr val="9FB0D4"/>
                </a:solidFill>
              </a:rPr>
              <a:t>s</a:t>
            </a:r>
            <a:endParaRPr sz="1250">
              <a:solidFill>
                <a:srgbClr val="9FB0D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50" b="0" i="0" u="none" strike="noStrike" cap="non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 i="0" u="sng" strike="noStrike" cap="non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Log de Considerações</a:t>
            </a:r>
            <a:br>
              <a:rPr lang="en-US">
                <a:solidFill>
                  <a:srgbClr val="9FB0D4"/>
                </a:solidFill>
              </a:rPr>
            </a:br>
            <a:r>
              <a:rPr lang="en-US" sz="1200" u="sng">
                <a:solidFill>
                  <a:srgbClr val="9FB0D4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Premissas de Projetos</a:t>
            </a:r>
            <a:br>
              <a:rPr lang="en-US" sz="1200">
                <a:solidFill>
                  <a:schemeClr val="lt1"/>
                </a:solidFill>
              </a:rPr>
            </a:br>
            <a:endParaRPr sz="1200">
              <a:solidFill>
                <a:schemeClr val="lt1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02920" y="4331158"/>
            <a:ext cx="44805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R. Gilmar Darli Viêira, 106 · Lagoa Pequena · Florianópolis/SC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02920" y="4754880"/>
            <a:ext cx="44805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 i="0" u="none" strike="noStrike" cap="none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DOCUMENTO TÉCNICO INTERNO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CONTEXTUALIZAÇÃO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objetivo deste material</a:t>
            </a:r>
            <a:endParaRPr/>
          </a:p>
        </p:txBody>
      </p:sp>
      <p:pic>
        <p:nvPicPr>
          <p:cNvPr id="103" name="Google Shape;103;p14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486400" y="4864608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02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02920" y="1170432"/>
            <a:ext cx="3840480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Consolidar as premissas, decisões de projeto, especificações e pontos de atenção do Novo Campeche Spot III para que o time de Obras dê continuidade à execução sem perda de informação. É um guia de referência: registra o que foi definido em Projetos e o que precisa ser respeitado, ou validado, durante a </a:t>
            </a:r>
            <a:r>
              <a:rPr lang="en-US" sz="95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etapa de aprovação e obra</a:t>
            </a:r>
            <a:r>
              <a:rPr lang="en-US" sz="9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Visão geral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empreendimento, implantação, pavimentos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Índices urbanísticos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quadro de áreas R05 e premissas legais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Sistema construtivo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paredes externas 20 cm · internas drywall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Fachada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leitura, texturas e vistas especificadas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Interiores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premissas com impacto na obra</a:t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Pontos de atenção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o que gera retrabalho se não observado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Não alterar sem validação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premissas travadas</a:t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Pendências e checklist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definido · a validar · pendente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AO ABRIR ESTE BOOK, OBRAS DEVE CONSEGUIR RESPONDER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foi definido neste projeto?</a:t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Quais materiais foram especificados?</a:t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a fachada deve ser executada?</a:t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Quais são as premissas construtivas?</a:t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Quais índices urbanísticos foram considerados?</a:t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não pode ser alterado sem validação?</a:t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Quais pontos ainda precisam ser validados?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4754880" y="4069080"/>
            <a:ext cx="374903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Regra do material: nenhuma informação foi inventada. Onde os documentos divergem ou não definem, o item está marcado como A VALIDAR ou PENDENTE — nunca foi escolhida uma versão arbitrariamente.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19" descr="s01_2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6440" y="685800"/>
            <a:ext cx="3749039" cy="3861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9" descr="s01_2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9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502920" y="228600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03 · SISTEMA CONSTRUTIVO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Premissas de paredes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502920" y="3310128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Externas em alvenaria 20 cm  ·  Internas das unidades em drywall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5486400" y="4864608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 u="none" strike="noStrike" cap="none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07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03 · SISTEMA CONSTRUTIVO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Paredes: externas 20 cm · internas em drywall</a:t>
            </a:r>
            <a:endParaRPr/>
          </a:p>
        </p:txBody>
      </p:sp>
      <p:pic>
        <p:nvPicPr>
          <p:cNvPr id="328" name="Google Shape;328;p20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0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0"/>
          <p:cNvSpPr txBox="1"/>
          <p:nvPr/>
        </p:nvSpPr>
        <p:spPr>
          <a:xfrm>
            <a:off x="502920" y="111556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Indicação 06 do Log de Considerações (22/09/2026): as espessuras são FINAIS — parede acabada, já com revestimento.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5486400" y="4864608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08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475488" y="1453896"/>
            <a:ext cx="2752344" cy="3054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20" descr="image3_cover_2.95x3.28_Non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1481328"/>
            <a:ext cx="2697480" cy="299923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0"/>
          <p:cNvSpPr/>
          <p:nvPr/>
        </p:nvSpPr>
        <p:spPr>
          <a:xfrm>
            <a:off x="594360" y="1572768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 · INDICAÇÃO 06 · PLANTA COTADA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502920" y="4553712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1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Cotas da indicação: 0,20 (externa) · 0,14 (geminação) · 0,12 (banheiro).</a:t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3383280" y="1408176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ESPESSURAS FINAIS (escala relativa)</a:t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3383280" y="1627632"/>
            <a:ext cx="1417320" cy="23774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4864608" y="16459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20 cm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3383280" y="1901952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Externa · alvenaria convencional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3383280" y="2057400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log · IND 06</a:t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>
            <a:off x="3383280" y="2359152"/>
            <a:ext cx="992124" cy="237744"/>
          </a:xfrm>
          <a:prstGeom prst="rect">
            <a:avLst/>
          </a:prstGeom>
          <a:solidFill>
            <a:srgbClr val="B28F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4439412" y="23774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B28F36"/>
                </a:solidFill>
                <a:latin typeface="Arial"/>
                <a:ea typeface="Arial"/>
                <a:cs typeface="Arial"/>
                <a:sym typeface="Arial"/>
              </a:rPr>
              <a:t>14 cm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3383280" y="2633472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Geminação · drywall acústico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3383280" y="2788920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log · IND 06</a:t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3383280" y="3090672"/>
            <a:ext cx="850392" cy="237744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4297680" y="310896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12 cm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3383280" y="3364991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Banheiro · drywall RU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3383280" y="3520439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log · IND 06</a:t>
            </a:r>
            <a:endParaRPr/>
          </a:p>
        </p:txBody>
      </p:sp>
      <p:sp>
        <p:nvSpPr>
          <p:cNvPr id="349" name="Google Shape;349;p20"/>
          <p:cNvSpPr/>
          <p:nvPr/>
        </p:nvSpPr>
        <p:spPr>
          <a:xfrm>
            <a:off x="5760720" y="1481328"/>
            <a:ext cx="2880360" cy="11887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 txBox="1"/>
          <p:nvPr/>
        </p:nvSpPr>
        <p:spPr>
          <a:xfrm>
            <a:off x="5897880" y="1563624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PAREDES EXTERNAS (FACHADA · UNIDADE × COMUM)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5897880" y="1755648"/>
            <a:ext cx="260604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Alvenaria convencional · 20 cm de espessura FINAL.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Confirmado pela Indicação 06 do log. O memorial (9.1) remetia a espessura ao projeto executivo; o log fixa o valor.</a:t>
            </a:r>
            <a:endParaRPr/>
          </a:p>
        </p:txBody>
      </p:sp>
      <p:sp>
        <p:nvSpPr>
          <p:cNvPr id="352" name="Google Shape;352;p20"/>
          <p:cNvSpPr/>
          <p:nvPr/>
        </p:nvSpPr>
        <p:spPr>
          <a:xfrm>
            <a:off x="5760720" y="2761488"/>
            <a:ext cx="2880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 txBox="1"/>
          <p:nvPr/>
        </p:nvSpPr>
        <p:spPr>
          <a:xfrm>
            <a:off x="5897880" y="2843784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PAREDES INTERNAS DAS UNIDADES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5897880" y="3035808"/>
            <a:ext cx="260604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247A"/>
                </a:solidFill>
                <a:latin typeface="Arial"/>
                <a:ea typeface="Arial"/>
                <a:cs typeface="Arial"/>
                <a:sym typeface="Arial"/>
              </a:rPr>
              <a:t>Drywall, espessuras finais (log · IND 06 e memorial 9.3):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247A"/>
                </a:solidFill>
                <a:latin typeface="Arial"/>
                <a:ea typeface="Arial"/>
                <a:cs typeface="Arial"/>
                <a:sym typeface="Arial"/>
              </a:rPr>
              <a:t>• Geminação entre unidades: 14 cm, com tratamento acústico</a:t>
            </a:r>
            <a:endParaRPr sz="800" b="0" i="0" u="none" strike="noStrike" cap="none">
              <a:solidFill>
                <a:srgbClr val="00247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247A"/>
                </a:solidFill>
                <a:latin typeface="Arial"/>
                <a:ea typeface="Arial"/>
                <a:cs typeface="Arial"/>
                <a:sym typeface="Arial"/>
              </a:rPr>
              <a:t>• Banheiro: 12 cm (parede + revestimento), chapas RU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24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5760720" y="4041648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 txBox="1"/>
          <p:nvPr/>
        </p:nvSpPr>
        <p:spPr>
          <a:xfrm>
            <a:off x="5897880" y="4123944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ÁREAS COMUNS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5897880" y="4315968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247A"/>
                </a:solidFill>
                <a:latin typeface="Arial"/>
                <a:ea typeface="Arial"/>
                <a:cs typeface="Arial"/>
                <a:sym typeface="Arial"/>
              </a:rPr>
              <a:t>Alvenaria convencional 20 cm em osso (premissas v00). Mini market da recepção/garagem em drywall.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3310128" y="4553712"/>
            <a:ext cx="2267712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3383280" y="4581144"/>
            <a:ext cx="502920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ATENÇÃO</a:t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3950208" y="459028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ESPESSURA FINAL ≠ EM OSSO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03 · SISTEMA CONSTRUTIVO</a:t>
            </a:r>
            <a:endParaRPr/>
          </a:p>
        </p:txBody>
      </p:sp>
      <p:sp>
        <p:nvSpPr>
          <p:cNvPr id="369" name="Google Shape;369;p21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Drywall: composições e regras de execução</a:t>
            </a:r>
            <a:endParaRPr/>
          </a:p>
        </p:txBody>
      </p:sp>
      <p:pic>
        <p:nvPicPr>
          <p:cNvPr id="370" name="Google Shape;370;p21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1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1"/>
          <p:cNvSpPr txBox="1"/>
          <p:nvPr/>
        </p:nvSpPr>
        <p:spPr>
          <a:xfrm>
            <a:off x="5486400" y="4864608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09</a:t>
            </a:r>
            <a:endParaRPr/>
          </a:p>
        </p:txBody>
      </p:sp>
      <p:graphicFrame>
        <p:nvGraphicFramePr>
          <p:cNvPr id="373" name="Google Shape;373;p21"/>
          <p:cNvGraphicFramePr/>
          <p:nvPr/>
        </p:nvGraphicFramePr>
        <p:xfrm>
          <a:off x="50292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32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Parede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Espessura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Composição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Requisito de desempenho / observação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Geminação entre unidades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cm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chapas standard 12,5 mm por face · montantes 90 mm · lã mineral ≥ 50 mm preenchendo toda a cavidade · executada de laje a laje, sem interrupção no forro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DnT,w ≥ 45 dB (NBR 15575-4, critério de dormitório — studios), verificado por ensaio de campo. Só em algumas unidades, conforme projeto.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Banheiro interno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cm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Chapas 12,5 mm por face, RU (resistentes à umidade) nas faces do banheiro e áreas molhadas · montantes dimensionados · lã mineral ≥ 50 mm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Box: impermeabilização com membrana + tela de reforço nos cantos e rodapé antes do revestimento. Reforço para bancada, louças, metais, AC e suspensos.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4" name="Google Shape;374;p21"/>
          <p:cNvSpPr/>
          <p:nvPr/>
        </p:nvSpPr>
        <p:spPr>
          <a:xfrm>
            <a:off x="502920" y="3154680"/>
            <a:ext cx="3977639" cy="1618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640080" y="3227832"/>
            <a:ext cx="37490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REGRAS DE EXECUÇÃO (MEMORIAL 9.3)</a:t>
            </a: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640080" y="351129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786384" y="3456432"/>
            <a:ext cx="3602735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Banda acústica nas guias e montantes de contorno; selante acústico em todo o perímetro.</a:t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640080" y="3758183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786384" y="3703320"/>
            <a:ext cx="3602735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Caixas elétricas não espelhadas entre faces.</a:t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640080" y="40050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786384" y="3950208"/>
            <a:ext cx="3602735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Tubulações hidráulicas fora das paredes de geminação — alojadas em shafts.</a:t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640080" y="425195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786384" y="4197096"/>
            <a:ext cx="3602735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Composição validada pelo projetista de acústica e ensaiada in loco na 1ª unidade concluída, antes de replicar.</a:t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40080" y="449884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86384" y="4443983"/>
            <a:ext cx="3602735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Normas: NBR 15758-1 · 14715-1 · 16831 · 15217 · 15575-4.</a:t>
            </a:r>
            <a:endParaRPr/>
          </a:p>
        </p:txBody>
      </p:sp>
      <p:sp>
        <p:nvSpPr>
          <p:cNvPr id="386" name="Google Shape;386;p21"/>
          <p:cNvSpPr/>
          <p:nvPr/>
        </p:nvSpPr>
        <p:spPr>
          <a:xfrm>
            <a:off x="4599432" y="3154680"/>
            <a:ext cx="4041648" cy="161848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4754880" y="32644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ATENÇÃO</a:t>
            </a:r>
            <a:endParaRPr/>
          </a:p>
        </p:txBody>
      </p:sp>
      <p:sp>
        <p:nvSpPr>
          <p:cNvPr id="388" name="Google Shape;388;p21"/>
          <p:cNvSpPr txBox="1"/>
          <p:nvPr/>
        </p:nvSpPr>
        <p:spPr>
          <a:xfrm>
            <a:off x="5413248" y="3255264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SEQUÊNCIA CRÍTICA PARA A OBRA</a:t>
            </a:r>
            <a:endParaRPr/>
          </a:p>
        </p:txBody>
      </p:sp>
      <p:sp>
        <p:nvSpPr>
          <p:cNvPr id="389" name="Google Shape;389;p21"/>
          <p:cNvSpPr txBox="1"/>
          <p:nvPr/>
        </p:nvSpPr>
        <p:spPr>
          <a:xfrm>
            <a:off x="4754880" y="3474720"/>
            <a:ext cx="3749039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espessuras da Indicação 06 são FINAIS (parede + revestimento) — dimensionar montantes e chapas para chegar a 20 / 14 / 12 cm acabados.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Locar shafts e prumadas antes do drywall — nenhuma hidráulica passa na geminação.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Executar a 1ª unidade completa e ensaiar acústica (DnT,w ≥ 45 dB) antes de liberar as demais.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Reforços (TV na laje, bancadas, AC, marcenaria) definidos antes do fechamento das chapas.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03 · SISTEMA CONSTRUTIVO</a:t>
            </a:r>
            <a:endParaRPr/>
          </a:p>
        </p:txBody>
      </p:sp>
      <p:sp>
        <p:nvSpPr>
          <p:cNvPr id="398" name="Google Shape;398;p22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Climatização: posição das condensadoras</a:t>
            </a:r>
            <a:endParaRPr/>
          </a:p>
        </p:txBody>
      </p:sp>
      <p:pic>
        <p:nvPicPr>
          <p:cNvPr id="399" name="Google Shape;399;p22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2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2"/>
          <p:cNvSpPr txBox="1"/>
          <p:nvPr/>
        </p:nvSpPr>
        <p:spPr>
          <a:xfrm>
            <a:off x="502920" y="111556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Indicação 07 do Log de Considerações (22/09/2026). Define onde ficam as máquinas e por onde sobe a tubulação.</a:t>
            </a:r>
            <a:endParaRPr/>
          </a:p>
        </p:txBody>
      </p:sp>
      <p:sp>
        <p:nvSpPr>
          <p:cNvPr id="402" name="Google Shape;402;p22"/>
          <p:cNvSpPr txBox="1"/>
          <p:nvPr/>
        </p:nvSpPr>
        <p:spPr>
          <a:xfrm>
            <a:off x="5486400" y="4864608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10</a:t>
            </a: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475488" y="1453896"/>
            <a:ext cx="4032503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22" descr="image6_cover_4.35x1.66_Non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1481328"/>
            <a:ext cx="3977639" cy="151790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2"/>
          <p:cNvSpPr/>
          <p:nvPr/>
        </p:nvSpPr>
        <p:spPr>
          <a:xfrm>
            <a:off x="594360" y="1572768"/>
            <a:ext cx="2148840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 · IND 07 · PASSAGEM A.C. NA CIRCULAÇÃO</a:t>
            </a: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475488" y="3127248"/>
            <a:ext cx="4032503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22" descr="image1_cover_4.35x1.66_None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920" y="3154680"/>
            <a:ext cx="3977639" cy="151790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2"/>
          <p:cNvSpPr/>
          <p:nvPr/>
        </p:nvSpPr>
        <p:spPr>
          <a:xfrm>
            <a:off x="594360" y="3246120"/>
            <a:ext cx="2011680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 · IND 07 · PASSAGEM A.C. NO PILOTIS</a:t>
            </a:r>
            <a:endParaRPr/>
          </a:p>
        </p:txBody>
      </p:sp>
      <p:sp>
        <p:nvSpPr>
          <p:cNvPr id="409" name="Google Shape;409;p22"/>
          <p:cNvSpPr txBox="1"/>
          <p:nvPr/>
        </p:nvSpPr>
        <p:spPr>
          <a:xfrm>
            <a:off x="502920" y="4700016"/>
            <a:ext cx="39776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1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Cotas indicadas no log: 1,20 · 1,50 · 1,34 m (larguras de passagem na circulação).</a:t>
            </a:r>
            <a:endParaRPr/>
          </a:p>
        </p:txBody>
      </p:sp>
      <p:sp>
        <p:nvSpPr>
          <p:cNvPr id="410" name="Google Shape;410;p22"/>
          <p:cNvSpPr/>
          <p:nvPr/>
        </p:nvSpPr>
        <p:spPr>
          <a:xfrm>
            <a:off x="4663440" y="1481328"/>
            <a:ext cx="397763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4800600" y="1581912"/>
            <a:ext cx="237744" cy="237744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12" name="Google Shape;412;p22"/>
          <p:cNvSpPr txBox="1"/>
          <p:nvPr/>
        </p:nvSpPr>
        <p:spPr>
          <a:xfrm>
            <a:off x="5138928" y="1572768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LOJAS E RECEPÇÃO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5138928" y="1773936"/>
            <a:ext cx="33832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Condensadoras no próprio pavimento pilotis.</a:t>
            </a: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4663440" y="2267712"/>
            <a:ext cx="397763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4800600" y="2368296"/>
            <a:ext cx="237744" cy="237744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16" name="Google Shape;416;p22"/>
          <p:cNvSpPr txBox="1"/>
          <p:nvPr/>
        </p:nvSpPr>
        <p:spPr>
          <a:xfrm>
            <a:off x="5138928" y="2359152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1º AO 4º PAVIMENTO</a:t>
            </a:r>
            <a:endParaRPr/>
          </a:p>
        </p:txBody>
      </p:sp>
      <p:sp>
        <p:nvSpPr>
          <p:cNvPr id="417" name="Google Shape;417;p22"/>
          <p:cNvSpPr txBox="1"/>
          <p:nvPr/>
        </p:nvSpPr>
        <p:spPr>
          <a:xfrm>
            <a:off x="5138928" y="25603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Condensadoras também alocadas no pilotis; a tubulação desce por shafts até o local.</a:t>
            </a:r>
            <a:endParaRPr/>
          </a:p>
        </p:txBody>
      </p:sp>
      <p:sp>
        <p:nvSpPr>
          <p:cNvPr id="418" name="Google Shape;418;p22"/>
          <p:cNvSpPr/>
          <p:nvPr/>
        </p:nvSpPr>
        <p:spPr>
          <a:xfrm>
            <a:off x="4663440" y="3054096"/>
            <a:ext cx="397763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4800600" y="3154679"/>
            <a:ext cx="237744" cy="237744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20" name="Google Shape;420;p22"/>
          <p:cNvSpPr txBox="1"/>
          <p:nvPr/>
        </p:nvSpPr>
        <p:spPr>
          <a:xfrm>
            <a:off x="5138928" y="314553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PAVIMENTO ROOFTOP</a:t>
            </a:r>
            <a:endParaRPr/>
          </a:p>
        </p:txBody>
      </p:sp>
      <p:sp>
        <p:nvSpPr>
          <p:cNvPr id="421" name="Google Shape;421;p22"/>
          <p:cNvSpPr txBox="1"/>
          <p:nvPr/>
        </p:nvSpPr>
        <p:spPr>
          <a:xfrm>
            <a:off x="5138928" y="3346703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Condensadoras alocadas na laje de cobertura.</a:t>
            </a: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4663440" y="3858768"/>
            <a:ext cx="3977639" cy="91440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4800600" y="396849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ATENÇÃO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5458968" y="3959352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IMPACTO DIRETO NA ESTRUTURA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4800600" y="4187952"/>
            <a:ext cx="3703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Concentrar as condensadoras de 4 pavimentos no pilotis exige shafts verticais dimensionados e área técnica reservada no térreo, além de reforço e dreno na laje de cobertura para as máquinas do rooftop. Definir antes da estrutura e da alvenaria.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03 · SISTEMA CONSTRUTIVO</a:t>
            </a:r>
            <a:endParaRPr/>
          </a:p>
        </p:txBody>
      </p:sp>
      <p:sp>
        <p:nvSpPr>
          <p:cNvPr id="434" name="Google Shape;434;p23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Demais premissas construtivas</a:t>
            </a:r>
            <a:endParaRPr/>
          </a:p>
        </p:txBody>
      </p:sp>
      <p:pic>
        <p:nvPicPr>
          <p:cNvPr id="435" name="Google Shape;435;p23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3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3"/>
          <p:cNvSpPr txBox="1"/>
          <p:nvPr/>
        </p:nvSpPr>
        <p:spPr>
          <a:xfrm>
            <a:off x="5486400" y="4864608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11</a:t>
            </a:r>
            <a:endParaRPr/>
          </a:p>
        </p:txBody>
      </p:sp>
      <p:sp>
        <p:nvSpPr>
          <p:cNvPr id="438" name="Google Shape;438;p23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3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CONTRAPISO E DESNÍVEIS</a:t>
            </a:r>
            <a:endParaRPr/>
          </a:p>
        </p:txBody>
      </p:sp>
      <p:sp>
        <p:nvSpPr>
          <p:cNvPr id="440" name="Google Shape;440;p23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 txBox="1"/>
          <p:nvPr/>
        </p:nvSpPr>
        <p:spPr>
          <a:xfrm>
            <a:off x="786384" y="1499616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Contrapiso mín. 5 cm onde houver instalações passantes.</a:t>
            </a:r>
            <a:endParaRPr/>
          </a:p>
        </p:txBody>
      </p:sp>
      <p:sp>
        <p:nvSpPr>
          <p:cNvPr id="442" name="Google Shape;442;p2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3"/>
          <p:cNvSpPr txBox="1"/>
          <p:nvPr/>
        </p:nvSpPr>
        <p:spPr>
          <a:xfrm>
            <a:off x="786384" y="1956816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Unidade × varanda e unidade × área comum: desnível 2,5 cm com perfil J ou baguete.</a:t>
            </a:r>
            <a:endParaRPr/>
          </a:p>
        </p:txBody>
      </p:sp>
      <p:sp>
        <p:nvSpPr>
          <p:cNvPr id="444" name="Google Shape;444;p23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3"/>
          <p:cNvSpPr txBox="1"/>
          <p:nvPr/>
        </p:nvSpPr>
        <p:spPr>
          <a:xfrm>
            <a:off x="786384" y="2414016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Banheiros: contrapiso nivelado com tropeço de 5 cm.</a:t>
            </a:r>
            <a:endParaRPr/>
          </a:p>
        </p:txBody>
      </p:sp>
      <p:sp>
        <p:nvSpPr>
          <p:cNvPr id="446" name="Google Shape;446;p23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SACADAS, TERRAÇOS E ESQUADRIAS</a:t>
            </a:r>
            <a:endParaRPr/>
          </a:p>
        </p:txBody>
      </p:sp>
      <p:sp>
        <p:nvSpPr>
          <p:cNvPr id="448" name="Google Shape;448;p23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 txBox="1"/>
          <p:nvPr/>
        </p:nvSpPr>
        <p:spPr>
          <a:xfrm>
            <a:off x="3529584" y="1499616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Sacada: estrutura com espaço mínimo só para manta + revestimento; guarda-corpo instalado acima dessa estrutura.</a:t>
            </a:r>
            <a:endParaRPr/>
          </a:p>
        </p:txBody>
      </p:sp>
      <p:sp>
        <p:nvSpPr>
          <p:cNvPr id="450" name="Google Shape;450;p23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 txBox="1"/>
          <p:nvPr/>
        </p:nvSpPr>
        <p:spPr>
          <a:xfrm>
            <a:off x="3529584" y="1956816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Instalação das esquadrias: garantir boneca mín. 10 cm.</a:t>
            </a:r>
            <a:endParaRPr/>
          </a:p>
        </p:txBody>
      </p:sp>
      <p:sp>
        <p:nvSpPr>
          <p:cNvPr id="452" name="Google Shape;452;p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 txBox="1"/>
          <p:nvPr/>
        </p:nvSpPr>
        <p:spPr>
          <a:xfrm>
            <a:off x="3529584" y="2414016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Ralos externos embutidos com tampa invisível 15×15 cm, junto à parede.</a:t>
            </a:r>
            <a:endParaRPr/>
          </a:p>
        </p:txBody>
      </p:sp>
      <p:sp>
        <p:nvSpPr>
          <p:cNvPr id="454" name="Google Shape;454;p23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3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IMPERMEABILIZAÇÃO (MEMORIAL 17)</a:t>
            </a:r>
            <a:endParaRPr/>
          </a:p>
        </p:txBody>
      </p:sp>
      <p:sp>
        <p:nvSpPr>
          <p:cNvPr id="456" name="Google Shape;456;p23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 txBox="1"/>
          <p:nvPr/>
        </p:nvSpPr>
        <p:spPr>
          <a:xfrm>
            <a:off x="6272784" y="1499616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Baldrames impermeabilizados.</a:t>
            </a:r>
            <a:endParaRPr/>
          </a:p>
        </p:txBody>
      </p:sp>
      <p:sp>
        <p:nvSpPr>
          <p:cNvPr id="458" name="Google Shape;458;p23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"/>
          <p:cNvSpPr txBox="1"/>
          <p:nvPr/>
        </p:nvSpPr>
        <p:spPr>
          <a:xfrm>
            <a:off x="6272784" y="1956816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Coberturas: primer + manta asfáltica ou manta líquida, teste de estanqueidade ≥ 72 h e proteção mecânica.</a:t>
            </a:r>
            <a:endParaRPr/>
          </a:p>
        </p:txBody>
      </p:sp>
      <p:sp>
        <p:nvSpPr>
          <p:cNvPr id="460" name="Google Shape;460;p23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 txBox="1"/>
          <p:nvPr/>
        </p:nvSpPr>
        <p:spPr>
          <a:xfrm>
            <a:off x="6272784" y="2414016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BWC, reservatórios, poço do elevador e floreiras: pintura cristalizante, teste ≥ 48 h. Empresa especializada.</a:t>
            </a:r>
            <a:endParaRPr/>
          </a:p>
        </p:txBody>
      </p:sp>
      <p:sp>
        <p:nvSpPr>
          <p:cNvPr id="462" name="Google Shape;462;p2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INSTALAÇÕES E EQUIPAMENTOS</a:t>
            </a:r>
            <a:endParaRPr/>
          </a:p>
        </p:txBody>
      </p:sp>
      <p:sp>
        <p:nvSpPr>
          <p:cNvPr id="464" name="Google Shape;464;p23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3"/>
          <p:cNvSpPr txBox="1"/>
          <p:nvPr/>
        </p:nvSpPr>
        <p:spPr>
          <a:xfrm>
            <a:off x="786384" y="3310127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Sem abastecimento de gás: água quente por boiler + solar com apoio elétrico; copas com aparelhos elétricos.</a:t>
            </a:r>
            <a:endParaRPr/>
          </a:p>
        </p:txBody>
      </p:sp>
      <p:sp>
        <p:nvSpPr>
          <p:cNvPr id="466" name="Google Shape;466;p23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 txBox="1"/>
          <p:nvPr/>
        </p:nvSpPr>
        <p:spPr>
          <a:xfrm>
            <a:off x="786384" y="3767327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Medição individual de água fria/quente (no pavimento, em frente à porta) e de energia por unidade.</a:t>
            </a:r>
            <a:endParaRPr/>
          </a:p>
        </p:txBody>
      </p:sp>
      <p:sp>
        <p:nvSpPr>
          <p:cNvPr id="468" name="Google Shape;468;p23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 txBox="1"/>
          <p:nvPr/>
        </p:nvSpPr>
        <p:spPr>
          <a:xfrm>
            <a:off x="786384" y="4224527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Gerador só para emergência (portas do térreo e pressurização da escada) · 1 elevador, mín. 8 pessoas, cabine ≥ 2,60 m.</a:t>
            </a:r>
            <a:endParaRPr/>
          </a:p>
        </p:txBody>
      </p:sp>
      <p:sp>
        <p:nvSpPr>
          <p:cNvPr id="470" name="Google Shape;470;p23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3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ACESSIBILIDADE, SPDA E CANTEIRO</a:t>
            </a:r>
            <a:endParaRPr/>
          </a:p>
        </p:txBody>
      </p:sp>
      <p:sp>
        <p:nvSpPr>
          <p:cNvPr id="472" name="Google Shape;472;p2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 txBox="1"/>
          <p:nvPr/>
        </p:nvSpPr>
        <p:spPr>
          <a:xfrm>
            <a:off x="3529584" y="3310127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Projeto e execução conforme NBR 9050 (WC acessível de uso comum adaptado).</a:t>
            </a:r>
            <a:endParaRPr/>
          </a:p>
        </p:txBody>
      </p:sp>
      <p:sp>
        <p:nvSpPr>
          <p:cNvPr id="474" name="Google Shape;474;p23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3"/>
          <p:cNvSpPr txBox="1"/>
          <p:nvPr/>
        </p:nvSpPr>
        <p:spPr>
          <a:xfrm>
            <a:off x="3529584" y="3767327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Para-raios conforme projeto preventivo; isolamento de silicone haste/cordoalha; medição por empresa especializada.</a:t>
            </a:r>
            <a:endParaRPr/>
          </a:p>
        </p:txBody>
      </p:sp>
      <p:sp>
        <p:nvSpPr>
          <p:cNvPr id="476" name="Google Shape;476;p23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 txBox="1"/>
          <p:nvPr/>
        </p:nvSpPr>
        <p:spPr>
          <a:xfrm>
            <a:off x="3529584" y="4224527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Fechamento do terreno (tapume/muro) na cor Seazone com logo e nome.</a:t>
            </a:r>
            <a:endParaRPr/>
          </a:p>
        </p:txBody>
      </p:sp>
      <p:sp>
        <p:nvSpPr>
          <p:cNvPr id="478" name="Google Shape;478;p23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PAISAGISMO E DRENAGEM</a:t>
            </a:r>
            <a:endParaRPr/>
          </a:p>
        </p:txBody>
      </p:sp>
      <p:sp>
        <p:nvSpPr>
          <p:cNvPr id="480" name="Google Shape;480;p23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3"/>
          <p:cNvSpPr txBox="1"/>
          <p:nvPr/>
        </p:nvSpPr>
        <p:spPr>
          <a:xfrm>
            <a:off x="6272784" y="3310127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Floreiras, canteiros e pátios com grama natural / ornamentais, por empresa especializada (memorial 24.1).</a:t>
            </a:r>
            <a:endParaRPr/>
          </a:p>
        </p:txBody>
      </p:sp>
      <p:sp>
        <p:nvSpPr>
          <p:cNvPr id="482" name="Google Shape;482;p2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3"/>
          <p:cNvSpPr txBox="1"/>
          <p:nvPr/>
        </p:nvSpPr>
        <p:spPr>
          <a:xfrm>
            <a:off x="6272784" y="3767327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Vegetação na calçada em frente à recepção e lojas (log fachada).</a:t>
            </a:r>
            <a:endParaRPr/>
          </a:p>
        </p:txBody>
      </p:sp>
      <p:sp>
        <p:nvSpPr>
          <p:cNvPr id="484" name="Google Shape;484;p23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 txBox="1"/>
          <p:nvPr/>
        </p:nvSpPr>
        <p:spPr>
          <a:xfrm>
            <a:off x="6272784" y="4224527"/>
            <a:ext cx="22311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Captação da água da chuva para limpeza de calçada e áreas comuns.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24" descr="s01_2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6440" y="685800"/>
            <a:ext cx="3749039" cy="3861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4" descr="s01_2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 txBox="1"/>
          <p:nvPr/>
        </p:nvSpPr>
        <p:spPr>
          <a:xfrm>
            <a:off x="502920" y="228600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04 · FACHADA</a:t>
            </a:r>
            <a:endParaRPr/>
          </a:p>
        </p:txBody>
      </p:sp>
      <p:sp>
        <p:nvSpPr>
          <p:cNvPr id="495" name="Google Shape;495;p24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Premissas e especificações</a:t>
            </a:r>
            <a:endParaRPr/>
          </a:p>
        </p:txBody>
      </p:sp>
      <p:sp>
        <p:nvSpPr>
          <p:cNvPr id="496" name="Google Shape;496;p24"/>
          <p:cNvSpPr txBox="1"/>
          <p:nvPr/>
        </p:nvSpPr>
        <p:spPr>
          <a:xfrm>
            <a:off x="502920" y="3310128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Leitura geral  ·  mapa de texturas  ·  vistas com marcação e legenda técnica</a:t>
            </a:r>
            <a:endParaRPr/>
          </a:p>
        </p:txBody>
      </p:sp>
      <p:sp>
        <p:nvSpPr>
          <p:cNvPr id="497" name="Google Shape;497;p24"/>
          <p:cNvSpPr txBox="1"/>
          <p:nvPr/>
        </p:nvSpPr>
        <p:spPr>
          <a:xfrm>
            <a:off x="5486400" y="4864608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 u="none" strike="noStrike" cap="none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12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04 · FACHADA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502920" y="365760"/>
            <a:ext cx="667512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geral: o que compõe a fachada</a:t>
            </a:r>
            <a:endParaRPr sz="21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7" name="Google Shape;507;p25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25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5"/>
          <p:cNvSpPr txBox="1"/>
          <p:nvPr/>
        </p:nvSpPr>
        <p:spPr>
          <a:xfrm>
            <a:off x="5486400" y="4864608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13</a:t>
            </a:r>
            <a:endParaRPr/>
          </a:p>
        </p:txBody>
      </p:sp>
      <p:sp>
        <p:nvSpPr>
          <p:cNvPr id="510" name="Google Shape;510;p25"/>
          <p:cNvSpPr/>
          <p:nvPr/>
        </p:nvSpPr>
        <p:spPr>
          <a:xfrm>
            <a:off x="475488" y="1143000"/>
            <a:ext cx="5129783" cy="2889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25" descr="FACHADA_FRONTAL_PRINCIPAL_01_cover_5.55x3.10_Non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1170432"/>
            <a:ext cx="507492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5"/>
          <p:cNvSpPr/>
          <p:nvPr/>
        </p:nvSpPr>
        <p:spPr>
          <a:xfrm>
            <a:off x="594360" y="1261872"/>
            <a:ext cx="2651760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RENDER · FACHADA FRONTAL (R. GILMAR DARLI VIÊIRA)</a:t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3186912" y="12362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3209772" y="12591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3136163" y="205831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3159023" y="208117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17" name="Google Shape;517;p25"/>
          <p:cNvSpPr/>
          <p:nvPr/>
        </p:nvSpPr>
        <p:spPr>
          <a:xfrm>
            <a:off x="3592906" y="224256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3615766" y="226542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2577922" y="204414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2600782" y="206700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21" name="Google Shape;521;p25"/>
          <p:cNvSpPr/>
          <p:nvPr/>
        </p:nvSpPr>
        <p:spPr>
          <a:xfrm>
            <a:off x="3516782" y="173233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3539642" y="175519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23" name="Google Shape;523;p25"/>
          <p:cNvSpPr/>
          <p:nvPr/>
        </p:nvSpPr>
        <p:spPr>
          <a:xfrm>
            <a:off x="2476423" y="251185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2499283" y="253471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525" name="Google Shape;525;p25"/>
          <p:cNvSpPr/>
          <p:nvPr/>
        </p:nvSpPr>
        <p:spPr>
          <a:xfrm>
            <a:off x="2501798" y="329138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5"/>
          <p:cNvSpPr/>
          <p:nvPr/>
        </p:nvSpPr>
        <p:spPr>
          <a:xfrm>
            <a:off x="2524658" y="331424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527" name="Google Shape;527;p25"/>
          <p:cNvSpPr/>
          <p:nvPr/>
        </p:nvSpPr>
        <p:spPr>
          <a:xfrm>
            <a:off x="2907792" y="350398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5"/>
          <p:cNvSpPr/>
          <p:nvPr/>
        </p:nvSpPr>
        <p:spPr>
          <a:xfrm>
            <a:off x="2930652" y="352684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3364534" y="350398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3387394" y="352684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531" name="Google Shape;531;p25"/>
          <p:cNvSpPr/>
          <p:nvPr/>
        </p:nvSpPr>
        <p:spPr>
          <a:xfrm>
            <a:off x="3745153" y="346146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3768013" y="348432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533" name="Google Shape;533;p25"/>
          <p:cNvSpPr/>
          <p:nvPr/>
        </p:nvSpPr>
        <p:spPr>
          <a:xfrm>
            <a:off x="5760720" y="1170432"/>
            <a:ext cx="2880360" cy="3602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 txBox="1"/>
          <p:nvPr/>
        </p:nvSpPr>
        <p:spPr>
          <a:xfrm>
            <a:off x="5897880" y="1243584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LEGENDA</a:t>
            </a:r>
            <a:endParaRPr/>
          </a:p>
        </p:txBody>
      </p:sp>
      <p:sp>
        <p:nvSpPr>
          <p:cNvPr id="535" name="Google Shape;535;p25"/>
          <p:cNvSpPr/>
          <p:nvPr/>
        </p:nvSpPr>
        <p:spPr>
          <a:xfrm>
            <a:off x="5897880" y="146304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36" name="Google Shape;536;p25"/>
          <p:cNvSpPr txBox="1"/>
          <p:nvPr/>
        </p:nvSpPr>
        <p:spPr>
          <a:xfrm>
            <a:off x="6172200" y="1444752"/>
            <a:ext cx="242316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Platibanda técnica</a:t>
            </a:r>
            <a:endParaRPr sz="750" b="1" i="0" u="none" strike="noStrike" cap="none">
              <a:solidFill>
                <a:srgbClr val="0014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letreiro SEAZONE em letras-caixa e iluminação de led</a:t>
            </a:r>
            <a:endParaRPr sz="650" b="0" i="0" u="none" strike="noStrike" cap="none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5897880" y="178765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38" name="Google Shape;538;p25"/>
          <p:cNvSpPr txBox="1"/>
          <p:nvPr/>
        </p:nvSpPr>
        <p:spPr>
          <a:xfrm>
            <a:off x="6172200" y="1769364"/>
            <a:ext cx="242316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verticais</a:t>
            </a:r>
            <a:endParaRPr sz="750" b="1" i="0" u="none" strike="noStrike" cap="none">
              <a:solidFill>
                <a:srgbClr val="0014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 u="none" strike="noStrike" cap="none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cimento queimado off-white texturizado</a:t>
            </a:r>
            <a:endParaRPr/>
          </a:p>
        </p:txBody>
      </p:sp>
      <p:sp>
        <p:nvSpPr>
          <p:cNvPr id="539" name="Google Shape;539;p25"/>
          <p:cNvSpPr/>
          <p:nvPr/>
        </p:nvSpPr>
        <p:spPr>
          <a:xfrm>
            <a:off x="5897880" y="21122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40" name="Google Shape;540;p25"/>
          <p:cNvSpPr txBox="1"/>
          <p:nvPr/>
        </p:nvSpPr>
        <p:spPr>
          <a:xfrm>
            <a:off x="6172200" y="209397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Lajes de borda curvas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cimento queimado off-white texturizado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5897880" y="243687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42" name="Google Shape;542;p25"/>
          <p:cNvSpPr txBox="1"/>
          <p:nvPr/>
        </p:nvSpPr>
        <p:spPr>
          <a:xfrm>
            <a:off x="6172200" y="2418588"/>
            <a:ext cx="2423160" cy="315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Esquadrias</a:t>
            </a:r>
            <a:endParaRPr sz="750" b="1" i="0">
              <a:solidFill>
                <a:srgbClr val="0014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Esquadria meálica na textura chumbo claro com acabamento fosco/texturizado</a:t>
            </a: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 · moldura/faixa amadeirada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5897880" y="276148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44" name="Google Shape;544;p25"/>
          <p:cNvSpPr txBox="1"/>
          <p:nvPr/>
        </p:nvSpPr>
        <p:spPr>
          <a:xfrm>
            <a:off x="6172200" y="2743200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Guarda-corpo do rooftop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vidro · perfil metálico</a:t>
            </a:r>
            <a:endParaRPr/>
          </a:p>
        </p:txBody>
      </p:sp>
      <p:sp>
        <p:nvSpPr>
          <p:cNvPr id="545" name="Google Shape;545;p25"/>
          <p:cNvSpPr/>
          <p:nvPr/>
        </p:nvSpPr>
        <p:spPr>
          <a:xfrm>
            <a:off x="5897880" y="30861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546" name="Google Shape;546;p25"/>
          <p:cNvSpPr txBox="1"/>
          <p:nvPr/>
        </p:nvSpPr>
        <p:spPr>
          <a:xfrm>
            <a:off x="6172200" y="3067812"/>
            <a:ext cx="24231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Floreiras / vegetação</a:t>
            </a:r>
            <a:endParaRPr sz="750" b="1" i="0">
              <a:solidFill>
                <a:srgbClr val="0014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nas sacadas e lajes na </a:t>
            </a:r>
            <a:r>
              <a:rPr lang="en-US" sz="65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cor cimento queimado off-white texturizado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5"/>
          <p:cNvSpPr/>
          <p:nvPr/>
        </p:nvSpPr>
        <p:spPr>
          <a:xfrm>
            <a:off x="5897880" y="34107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548" name="Google Shape;548;p25"/>
          <p:cNvSpPr txBox="1"/>
          <p:nvPr/>
        </p:nvSpPr>
        <p:spPr>
          <a:xfrm>
            <a:off x="6172200" y="3392424"/>
            <a:ext cx="2423160" cy="315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Pórtico de acesso</a:t>
            </a:r>
            <a:endParaRPr sz="750" b="1" i="0">
              <a:solidFill>
                <a:srgbClr val="0014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Pergolado estrutura metálica na textura chumbo claro com acabamento fosco/texturizado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5"/>
          <p:cNvSpPr/>
          <p:nvPr/>
        </p:nvSpPr>
        <p:spPr>
          <a:xfrm>
            <a:off x="5897880" y="373532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550" name="Google Shape;550;p25"/>
          <p:cNvSpPr txBox="1"/>
          <p:nvPr/>
        </p:nvSpPr>
        <p:spPr>
          <a:xfrm>
            <a:off x="6172200" y="3717036"/>
            <a:ext cx="242316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Painel Ripado</a:t>
            </a:r>
            <a:endParaRPr sz="750" b="1" i="0">
              <a:solidFill>
                <a:srgbClr val="0014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Painel Ripado para Área Externa Fendi Claro</a:t>
            </a:r>
            <a:endParaRPr/>
          </a:p>
        </p:txBody>
      </p:sp>
      <p:sp>
        <p:nvSpPr>
          <p:cNvPr id="551" name="Google Shape;551;p25"/>
          <p:cNvSpPr/>
          <p:nvPr/>
        </p:nvSpPr>
        <p:spPr>
          <a:xfrm>
            <a:off x="5897880" y="405993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552" name="Google Shape;552;p25"/>
          <p:cNvSpPr txBox="1"/>
          <p:nvPr/>
        </p:nvSpPr>
        <p:spPr>
          <a:xfrm>
            <a:off x="6172200" y="4041648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Logo iluminado</a:t>
            </a:r>
            <a:endParaRPr sz="750" b="1" i="0">
              <a:solidFill>
                <a:srgbClr val="0014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sobre painel ripado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5897880" y="43845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554" name="Google Shape;554;p25"/>
          <p:cNvSpPr txBox="1"/>
          <p:nvPr/>
        </p:nvSpPr>
        <p:spPr>
          <a:xfrm>
            <a:off x="6172200" y="4366260"/>
            <a:ext cx="242316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Cobogó e muro</a:t>
            </a:r>
            <a:endParaRPr sz="750" b="1" i="0">
              <a:solidFill>
                <a:srgbClr val="00143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fecho da servidão / lixo e lojas, cobogó </a:t>
            </a:r>
            <a:r>
              <a:rPr lang="en-US" sz="65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na cor cimento queimado off-white texturizado, modelo 1 furo vazado e outro modelo elemento cheio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5"/>
          <p:cNvSpPr txBox="1"/>
          <p:nvPr/>
        </p:nvSpPr>
        <p:spPr>
          <a:xfrm>
            <a:off x="502920" y="4069080"/>
            <a:ext cx="50749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fachada tem como base</a:t>
            </a:r>
            <a:r>
              <a:rPr lang="en-US" sz="7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75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três camadas: base do térreo em ripado </a:t>
            </a:r>
            <a:r>
              <a:rPr lang="en-US" sz="750">
                <a:solidFill>
                  <a:srgbClr val="333333"/>
                </a:solidFill>
              </a:rPr>
              <a:t>para área externa fendi claro</a:t>
            </a:r>
            <a:r>
              <a:rPr lang="en-US" sz="75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+ pedra + cobogó; corpo da torre com esquadrias emolduradas e lajes de borda curvas contínuas; coroamento com guarda-corpo de vidro e platibanda técnica com a marca. A identidade do volume está nas quinas curvas de TODAS as lajes e no detalhe corrido das vigas de borda (devolutiva 12/09).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04 · FACHADA · MAPA DE TEXTURAS</a:t>
            </a:r>
            <a:endParaRPr/>
          </a:p>
        </p:txBody>
      </p:sp>
      <p:sp>
        <p:nvSpPr>
          <p:cNvPr id="564" name="Google Shape;564;p26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Texturas e acabamentos da fachada (1/2)</a:t>
            </a:r>
            <a:endParaRPr/>
          </a:p>
        </p:txBody>
      </p:sp>
      <p:pic>
        <p:nvPicPr>
          <p:cNvPr id="565" name="Google Shape;565;p26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26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6"/>
          <p:cNvSpPr txBox="1"/>
          <p:nvPr/>
        </p:nvSpPr>
        <p:spPr>
          <a:xfrm>
            <a:off x="502920" y="1115568"/>
            <a:ext cx="813816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das </a:t>
            </a:r>
            <a:r>
              <a:rPr lang="en-US" sz="90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imagens de lançamento </a:t>
            </a:r>
            <a:r>
              <a:rPr lang="en-US" sz="90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— referência visual, não substituem amostra física. Fabricante/cor só onde consta nos documentos.</a:t>
            </a:r>
            <a:endParaRPr/>
          </a:p>
        </p:txBody>
      </p:sp>
      <p:sp>
        <p:nvSpPr>
          <p:cNvPr id="568" name="Google Shape;568;p26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14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0" name="Google Shape;570;p26" descr="FACHADA_AÉREA_ROOFTOP_-_atualizada_cover_0.95x0.70_0.02__0.18__0.26__0.42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" y="1536192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6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T01</a:t>
            </a:r>
            <a:endParaRPr/>
          </a:p>
        </p:txBody>
      </p:sp>
      <p:sp>
        <p:nvSpPr>
          <p:cNvPr id="572" name="Google Shape;572;p26"/>
          <p:cNvSpPr txBox="1"/>
          <p:nvPr/>
        </p:nvSpPr>
        <p:spPr>
          <a:xfrm>
            <a:off x="1527048" y="151790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Pintura das alvenarias externas</a:t>
            </a:r>
            <a:endParaRPr/>
          </a:p>
        </p:txBody>
      </p:sp>
      <p:sp>
        <p:nvSpPr>
          <p:cNvPr id="573" name="Google Shape;573;p26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Paredes externas da torre (fachadas com esquadrias) e platibanda.</a:t>
            </a:r>
            <a:endParaRPr/>
          </a:p>
        </p:txBody>
      </p:sp>
      <p:sp>
        <p:nvSpPr>
          <p:cNvPr id="574" name="Google Shape;574;p26"/>
          <p:cNvSpPr txBox="1"/>
          <p:nvPr/>
        </p:nvSpPr>
        <p:spPr>
          <a:xfrm>
            <a:off x="594360" y="2231136"/>
            <a:ext cx="2468880" cy="9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Acrílica. Cor: Crômio</a:t>
            </a:r>
            <a:r>
              <a:rPr lang="en-US" sz="6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Fabricante Suvinil (log).</a:t>
            </a:r>
            <a:endParaRPr/>
          </a:p>
        </p:txBody>
      </p:sp>
      <p:sp>
        <p:nvSpPr>
          <p:cNvPr id="575" name="Google Shape;575;p2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Definir a cor antes da compra; fazer amostra em obra. Cor: A VALIDAR.</a:t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7" name="Google Shape;577;p26" descr="FACHADA_FUNDOS_01_cover_0.95x0.70_0.33__0.3__0.62__0.38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37560" y="1536192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6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T02</a:t>
            </a:r>
            <a:endParaRPr/>
          </a:p>
        </p:txBody>
      </p:sp>
      <p:sp>
        <p:nvSpPr>
          <p:cNvPr id="579" name="Google Shape;579;p26"/>
          <p:cNvSpPr txBox="1"/>
          <p:nvPr/>
        </p:nvSpPr>
        <p:spPr>
          <a:xfrm>
            <a:off x="4270248" y="151790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Lajes e vigas de borda</a:t>
            </a:r>
            <a:endParaRPr/>
          </a:p>
        </p:txBody>
      </p:sp>
      <p:sp>
        <p:nvSpPr>
          <p:cNvPr id="580" name="Google Shape;580;p26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Todas as lajes de borda da torre, com quinas curvas.</a:t>
            </a:r>
            <a:endParaRPr/>
          </a:p>
        </p:txBody>
      </p:sp>
      <p:sp>
        <p:nvSpPr>
          <p:cNvPr id="581" name="Google Shape;581;p26"/>
          <p:cNvSpPr txBox="1"/>
          <p:nvPr/>
        </p:nvSpPr>
        <p:spPr>
          <a:xfrm>
            <a:off x="3337560" y="2231136"/>
            <a:ext cx="246888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Textura cimento queimado, tom off-white. Detalhe corrido metálico no tom </a:t>
            </a:r>
            <a:r>
              <a:rPr lang="en-US" sz="6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anodic marrom claro (Padrão muito comum em marcas como a Ezycolor).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Produto/fabricante: A confirmar.</a:t>
            </a:r>
            <a:endParaRPr/>
          </a:p>
        </p:txBody>
      </p:sp>
      <p:sp>
        <p:nvSpPr>
          <p:cNvPr id="582" name="Google Shape;582;p26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Quinas curvas em TODAS as lajes; detalhe em todas as vigas de borda. Fôrma curva.</a:t>
            </a:r>
            <a:endParaRPr/>
          </a:p>
        </p:txBody>
      </p:sp>
      <p:sp>
        <p:nvSpPr>
          <p:cNvPr id="583" name="Google Shape;583;p26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4" name="Google Shape;584;p26" descr="FACHADA_FRONTAL_PRINCIPAL_01_cover_0.95x0.70_0.5__0.3__0.6__0.44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80759" y="1536192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T03</a:t>
            </a:r>
            <a:endParaRPr/>
          </a:p>
        </p:txBody>
      </p:sp>
      <p:sp>
        <p:nvSpPr>
          <p:cNvPr id="586" name="Google Shape;586;p26"/>
          <p:cNvSpPr txBox="1"/>
          <p:nvPr/>
        </p:nvSpPr>
        <p:spPr>
          <a:xfrm>
            <a:off x="7013448" y="151790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Brises verticais</a:t>
            </a:r>
            <a:endParaRPr/>
          </a:p>
        </p:txBody>
      </p:sp>
      <p:sp>
        <p:nvSpPr>
          <p:cNvPr id="587" name="Google Shape;587;p26"/>
          <p:cNvSpPr txBox="1"/>
          <p:nvPr/>
        </p:nvSpPr>
        <p:spPr>
          <a:xfrm>
            <a:off x="7013448" y="1828800"/>
            <a:ext cx="155448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Fachada frontal (renders atuais).</a:t>
            </a:r>
            <a:endParaRPr/>
          </a:p>
        </p:txBody>
      </p:sp>
      <p:sp>
        <p:nvSpPr>
          <p:cNvPr id="588" name="Google Shape;588;p26"/>
          <p:cNvSpPr txBox="1"/>
          <p:nvPr/>
        </p:nvSpPr>
        <p:spPr>
          <a:xfrm>
            <a:off x="6080759" y="2231136"/>
            <a:ext cx="2468880" cy="9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imento queimado off-White.</a:t>
            </a:r>
            <a:endParaRPr sz="63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6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Não executar sem definição de Projetos. Material, cor e locais: A VALIDAR.</a:t>
            </a:r>
            <a:endParaRPr/>
          </a:p>
        </p:txBody>
      </p:sp>
      <p:sp>
        <p:nvSpPr>
          <p:cNvPr id="590" name="Google Shape;590;p26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6"/>
          <p:cNvSpPr txBox="1"/>
          <p:nvPr/>
        </p:nvSpPr>
        <p:spPr>
          <a:xfrm>
            <a:off x="1527048" y="320954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Esquadrias de alumínio</a:t>
            </a:r>
            <a:endParaRPr/>
          </a:p>
        </p:txBody>
      </p:sp>
      <p:sp>
        <p:nvSpPr>
          <p:cNvPr id="592" name="Google Shape;592;p26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Janelas e porta-janelas de todas as unidades e áreas comuns.</a:t>
            </a:r>
            <a:endParaRPr/>
          </a:p>
        </p:txBody>
      </p:sp>
      <p:sp>
        <p:nvSpPr>
          <p:cNvPr id="593" name="Google Shape;593;p26"/>
          <p:cNvSpPr txBox="1"/>
          <p:nvPr/>
        </p:nvSpPr>
        <p:spPr>
          <a:xfrm>
            <a:off x="594360" y="3922776"/>
            <a:ext cx="246888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Esquadria metálica na textura chumbo claro com acabamento fosco/texturizado,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 folhas de correr, H 2,40 m, peitoril fixo 110 cm (janelas). Linha 32 (gold) ou Sasazaki Linha Alumínio. Cor preta × chumbo claro.</a:t>
            </a:r>
            <a:endParaRPr/>
          </a:p>
        </p:txBody>
      </p:sp>
      <p:sp>
        <p:nvSpPr>
          <p:cNvPr id="594" name="Google Shape;594;p26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Boneca mín. 10 cm. Vidro incolor; mini boreal em BWC. Cor: A VALIDAR.</a:t>
            </a:r>
            <a:endParaRPr/>
          </a:p>
        </p:txBody>
      </p:sp>
      <p:sp>
        <p:nvSpPr>
          <p:cNvPr id="595" name="Google Shape;595;p26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6"/>
          <p:cNvSpPr txBox="1"/>
          <p:nvPr/>
        </p:nvSpPr>
        <p:spPr>
          <a:xfrm>
            <a:off x="4270248" y="320954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Moldura / faixa amadeirada e shadow box</a:t>
            </a:r>
            <a:endParaRPr/>
          </a:p>
        </p:txBody>
      </p:sp>
      <p:sp>
        <p:nvSpPr>
          <p:cNvPr id="597" name="Google Shape;597;p26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Contorno das esquadrias da torre; shadow box entre aberturas.</a:t>
            </a:r>
            <a:endParaRPr/>
          </a:p>
        </p:txBody>
      </p:sp>
      <p:sp>
        <p:nvSpPr>
          <p:cNvPr id="598" name="Google Shape;598;p26"/>
          <p:cNvSpPr txBox="1"/>
          <p:nvPr/>
        </p:nvSpPr>
        <p:spPr>
          <a:xfrm>
            <a:off x="3337560" y="3922776"/>
            <a:ext cx="246888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Tom Nogueira Nativa Produto (WPC/ACM/pintura): A confirmar. Shadow box </a:t>
            </a:r>
            <a:endParaRPr/>
          </a:p>
        </p:txBody>
      </p:sp>
      <p:sp>
        <p:nvSpPr>
          <p:cNvPr id="599" name="Google Shape;599;p26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Alinhar tom com o detalhe metálico das vigas e o guarda-corpo do rooftop.</a:t>
            </a:r>
            <a:endParaRPr/>
          </a:p>
        </p:txBody>
      </p:sp>
      <p:sp>
        <p:nvSpPr>
          <p:cNvPr id="600" name="Google Shape;600;p26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1" name="Google Shape;601;p26" descr="FACHADA_AÉREA_ROOFTOP_-_atualizada_cover_0.95x0.70_0.18__0.4__0.48__0.6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80759" y="3227832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26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T06</a:t>
            </a:r>
            <a:endParaRPr/>
          </a:p>
        </p:txBody>
      </p:sp>
      <p:sp>
        <p:nvSpPr>
          <p:cNvPr id="603" name="Google Shape;603;p26"/>
          <p:cNvSpPr txBox="1"/>
          <p:nvPr/>
        </p:nvSpPr>
        <p:spPr>
          <a:xfrm>
            <a:off x="7013448" y="320954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Guarda-corpos</a:t>
            </a:r>
            <a:endParaRPr/>
          </a:p>
        </p:txBody>
      </p:sp>
      <p:sp>
        <p:nvSpPr>
          <p:cNvPr id="604" name="Google Shape;604;p26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Sacadas, terraços do rooftop e borda da piscina.</a:t>
            </a:r>
            <a:endParaRPr/>
          </a:p>
        </p:txBody>
      </p:sp>
      <p:sp>
        <p:nvSpPr>
          <p:cNvPr id="605" name="Google Shape;605;p26"/>
          <p:cNvSpPr txBox="1"/>
          <p:nvPr/>
        </p:nvSpPr>
        <p:spPr>
          <a:xfrm>
            <a:off x="6080759" y="3922776"/>
            <a:ext cx="246888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Alumínio anodizado + vidro incolor, H 1,50 m</a:t>
            </a:r>
            <a:r>
              <a:rPr lang="en-US" sz="6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rooftop, o TOPO do guarda-corpo é METÁLICO COM TEXTURA </a:t>
            </a:r>
            <a:r>
              <a:rPr lang="en-US" sz="6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anodic marrom claro (Padrão muito comum em marcas como a Ezycolor). </a:t>
            </a:r>
            <a:endParaRPr sz="63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6" name="Google Shape;606;p26" descr="FACHADA_FUNDOS_01_cover_0.95x0.70_0.42__0.52__0.56__0.7.jp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48990" y="3227832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6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Instalar sobre a estrutura acabada da sacada (manta + revestimento). Definir a textura do topo metálico com Projetos.</a:t>
            </a:r>
            <a:endParaRPr/>
          </a:p>
        </p:txBody>
      </p:sp>
      <p:pic>
        <p:nvPicPr>
          <p:cNvPr id="608" name="Google Shape;608;p26" descr="FACHADA_AÉREA_UNDS_cover_0.95x0.70_0.6__0.62__0.72__0.82.jp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8931" y="3230464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6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T05</a:t>
            </a:r>
            <a:endParaRPr/>
          </a:p>
        </p:txBody>
      </p:sp>
      <p:sp>
        <p:nvSpPr>
          <p:cNvPr id="610" name="Google Shape;610;p26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7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04 · FACHADA · MAPA DE TEXTURAS</a:t>
            </a:r>
            <a:endParaRPr/>
          </a:p>
        </p:txBody>
      </p:sp>
      <p:sp>
        <p:nvSpPr>
          <p:cNvPr id="619" name="Google Shape;619;p27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Texturas e acabamentos da fachada (2/2)</a:t>
            </a:r>
            <a:endParaRPr/>
          </a:p>
        </p:txBody>
      </p:sp>
      <p:pic>
        <p:nvPicPr>
          <p:cNvPr id="620" name="Google Shape;620;p27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27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27"/>
          <p:cNvSpPr txBox="1"/>
          <p:nvPr/>
        </p:nvSpPr>
        <p:spPr>
          <a:xfrm>
            <a:off x="502920" y="1115568"/>
            <a:ext cx="813816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Amostras extraídas das imagens de lançamento — referência visual, não substituem amostra física. Fabricante/cor só onde consta nos documentos.</a:t>
            </a:r>
            <a:endParaRPr/>
          </a:p>
        </p:txBody>
      </p:sp>
      <p:sp>
        <p:nvSpPr>
          <p:cNvPr id="623" name="Google Shape;623;p27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15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7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5" name="Google Shape;625;p27" descr="FACHADA_AÉREA_ROOFTOP_-_atualizada_cover_0.95x0.70_0.0__0.58__0.2__0.82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" y="1536192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7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T07</a:t>
            </a:r>
            <a:endParaRPr/>
          </a:p>
        </p:txBody>
      </p:sp>
      <p:sp>
        <p:nvSpPr>
          <p:cNvPr id="627" name="Google Shape;627;p27"/>
          <p:cNvSpPr txBox="1"/>
          <p:nvPr/>
        </p:nvSpPr>
        <p:spPr>
          <a:xfrm>
            <a:off x="1527048" y="151790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Ripado de concreto</a:t>
            </a:r>
            <a:endParaRPr/>
          </a:p>
        </p:txBody>
      </p:sp>
      <p:sp>
        <p:nvSpPr>
          <p:cNvPr id="628" name="Google Shape;628;p27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Paredes do térreo e do rooftop.</a:t>
            </a:r>
            <a:endParaRPr/>
          </a:p>
        </p:txBody>
      </p:sp>
      <p:sp>
        <p:nvSpPr>
          <p:cNvPr id="629" name="Google Shape;629;p27"/>
          <p:cNvSpPr txBox="1"/>
          <p:nvPr/>
        </p:nvSpPr>
        <p:spPr>
          <a:xfrm>
            <a:off x="594360" y="22311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Ripado de concreto 100 × 12 cm, 18 mm (log fachada, validado). Fabricante: A confirmar.</a:t>
            </a:r>
            <a:endParaRPr/>
          </a:p>
        </p:txBody>
      </p:sp>
      <p:sp>
        <p:nvSpPr>
          <p:cNvPr id="630" name="Google Shape;630;p27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Definir paginação e arremates nos encontros com cimento queimado e esquadrias.</a:t>
            </a:r>
            <a:endParaRPr/>
          </a:p>
        </p:txBody>
      </p:sp>
      <p:sp>
        <p:nvSpPr>
          <p:cNvPr id="631" name="Google Shape;631;p2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2" name="Google Shape;632;p27" descr="FACHADA_FRONTAL_RECORTADA_cover_0.95x0.70_0.46__0.4__0.72__0.78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37560" y="1536192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27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T08</a:t>
            </a:r>
            <a:endParaRPr/>
          </a:p>
        </p:txBody>
      </p:sp>
      <p:sp>
        <p:nvSpPr>
          <p:cNvPr id="634" name="Google Shape;634;p27"/>
          <p:cNvSpPr txBox="1"/>
          <p:nvPr/>
        </p:nvSpPr>
        <p:spPr>
          <a:xfrm>
            <a:off x="4270248" y="1517904"/>
            <a:ext cx="155448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Ripado amadeirado do acesso</a:t>
            </a:r>
            <a:endParaRPr sz="800" b="1" i="0">
              <a:solidFill>
                <a:srgbClr val="0014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7"/>
          <p:cNvSpPr txBox="1"/>
          <p:nvPr/>
        </p:nvSpPr>
        <p:spPr>
          <a:xfrm>
            <a:off x="4270248" y="1828800"/>
            <a:ext cx="155448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Revestimento de acesso; portão de veículos.</a:t>
            </a:r>
            <a:endParaRPr/>
          </a:p>
        </p:txBody>
      </p:sp>
      <p:sp>
        <p:nvSpPr>
          <p:cNvPr id="636" name="Google Shape;636;p27"/>
          <p:cNvSpPr txBox="1"/>
          <p:nvPr/>
        </p:nvSpPr>
        <p:spPr>
          <a:xfrm>
            <a:off x="3337560" y="2231136"/>
            <a:ext cx="2468880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Painel Ripado para Área Externa Fendi Claro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3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7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Tom (amadeirado × off-white): A VALIDAR antes da compra.</a:t>
            </a: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9" name="Google Shape;639;p27" descr="FACHADA_FRONTAL_RECORTADA_cover_0.95x0.70_0.05__0.22__0.6__0.34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80759" y="1536192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7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T09</a:t>
            </a:r>
            <a:endParaRPr/>
          </a:p>
        </p:txBody>
      </p:sp>
      <p:sp>
        <p:nvSpPr>
          <p:cNvPr id="641" name="Google Shape;641;p27"/>
          <p:cNvSpPr txBox="1"/>
          <p:nvPr/>
        </p:nvSpPr>
        <p:spPr>
          <a:xfrm>
            <a:off x="7013448" y="151790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Letreiros</a:t>
            </a:r>
            <a:endParaRPr/>
          </a:p>
        </p:txBody>
      </p:sp>
      <p:sp>
        <p:nvSpPr>
          <p:cNvPr id="642" name="Google Shape;642;p27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NOVO CAMPECHE SPOT sobre o pórtico; SEAZONE no topo da platibanda do rooftop.</a:t>
            </a:r>
            <a:endParaRPr/>
          </a:p>
        </p:txBody>
      </p:sp>
      <p:sp>
        <p:nvSpPr>
          <p:cNvPr id="643" name="Google Shape;643;p27"/>
          <p:cNvSpPr txBox="1"/>
          <p:nvPr/>
        </p:nvSpPr>
        <p:spPr>
          <a:xfrm>
            <a:off x="6080759" y="223113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Letras-caixa inox escovado com iluminação indireta sob ACM branco translúcido (frente). SEAZONE: inox escovado preto com LED por trás.</a:t>
            </a:r>
            <a:endParaRPr/>
          </a:p>
        </p:txBody>
      </p:sp>
      <p:sp>
        <p:nvSpPr>
          <p:cNvPr id="644" name="Google Shape;644;p27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Prever ponto elétrico e fixação na platibanda e na viga do pórtico.</a:t>
            </a:r>
            <a:endParaRPr/>
          </a:p>
        </p:txBody>
      </p:sp>
      <p:sp>
        <p:nvSpPr>
          <p:cNvPr id="645" name="Google Shape;645;p27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6" name="Google Shape;646;p27" descr="FACHADA_FRONTAL_RECORTADA_cover_0.95x0.70_0.82__0.6__0.99__0.82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4360" y="3227832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27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T10</a:t>
            </a:r>
            <a:endParaRPr/>
          </a:p>
        </p:txBody>
      </p:sp>
      <p:sp>
        <p:nvSpPr>
          <p:cNvPr id="648" name="Google Shape;648;p27"/>
          <p:cNvSpPr txBox="1"/>
          <p:nvPr/>
        </p:nvSpPr>
        <p:spPr>
          <a:xfrm>
            <a:off x="1527048" y="320954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Cobogó</a:t>
            </a:r>
            <a:endParaRPr/>
          </a:p>
        </p:txBody>
      </p:sp>
      <p:sp>
        <p:nvSpPr>
          <p:cNvPr id="649" name="Google Shape;649;p27"/>
          <p:cNvSpPr txBox="1"/>
          <p:nvPr/>
        </p:nvSpPr>
        <p:spPr>
          <a:xfrm>
            <a:off x="1527048" y="3520440"/>
            <a:ext cx="1554480" cy="9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uro da servidão (H 1,50 m).</a:t>
            </a:r>
            <a:endParaRPr/>
          </a:p>
        </p:txBody>
      </p:sp>
      <p:sp>
        <p:nvSpPr>
          <p:cNvPr id="650" name="Google Shape;650;p27"/>
          <p:cNvSpPr txBox="1"/>
          <p:nvPr/>
        </p:nvSpPr>
        <p:spPr>
          <a:xfrm>
            <a:off x="594360" y="392277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Cobogó vazado. Modelo/fabricante: A confirmar.</a:t>
            </a:r>
            <a:endParaRPr/>
          </a:p>
        </p:txBody>
      </p:sp>
      <p:sp>
        <p:nvSpPr>
          <p:cNvPr id="651" name="Google Shape;651;p2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Altura 1,50 m na divisa com a servidão (e fundos, na opção 02).</a:t>
            </a:r>
            <a:endParaRPr/>
          </a:p>
        </p:txBody>
      </p:sp>
      <p:sp>
        <p:nvSpPr>
          <p:cNvPr id="652" name="Google Shape;652;p27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3" name="Google Shape;653;p27" descr="FACHADA_FRONTAL_RECORTADA_cover_0.95x0.70_0.0__0.52__0.15__0.85.jp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37560" y="3227832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27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T11</a:t>
            </a:r>
            <a:endParaRPr/>
          </a:p>
        </p:txBody>
      </p:sp>
      <p:sp>
        <p:nvSpPr>
          <p:cNvPr id="655" name="Google Shape;655;p27"/>
          <p:cNvSpPr txBox="1"/>
          <p:nvPr/>
        </p:nvSpPr>
        <p:spPr>
          <a:xfrm>
            <a:off x="4270248" y="320954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Pedra moledo</a:t>
            </a:r>
            <a:endParaRPr/>
          </a:p>
        </p:txBody>
      </p:sp>
      <p:sp>
        <p:nvSpPr>
          <p:cNvPr id="656" name="Google Shape;656;p27"/>
          <p:cNvSpPr txBox="1"/>
          <p:nvPr/>
        </p:nvSpPr>
        <p:spPr>
          <a:xfrm>
            <a:off x="4270248" y="3520440"/>
            <a:ext cx="155448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Muro lateral do acesso de veículos (render frontal).</a:t>
            </a:r>
            <a:endParaRPr/>
          </a:p>
        </p:txBody>
      </p:sp>
      <p:sp>
        <p:nvSpPr>
          <p:cNvPr id="657" name="Google Shape;657;p27"/>
          <p:cNvSpPr txBox="1"/>
          <p:nvPr/>
        </p:nvSpPr>
        <p:spPr>
          <a:xfrm>
            <a:off x="3337560" y="3922776"/>
            <a:ext cx="246888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Pedra moledo</a:t>
            </a:r>
            <a:r>
              <a:rPr lang="en-US" sz="63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champanhe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Assentamento/rejunte: A confirmar.</a:t>
            </a:r>
            <a:endParaRPr/>
          </a:p>
        </p:txBody>
      </p:sp>
      <p:sp>
        <p:nvSpPr>
          <p:cNvPr id="658" name="Google Shape;658;p27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Confirmar extensão do trecho em pedra × muro pintado.</a:t>
            </a: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0" name="Google Shape;660;p27" descr="FACHADA_FRONTAL_RECORTADA_cover_0.95x0.70_0.2__0.82__0.6__0.98.jp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80759" y="3227832"/>
            <a:ext cx="8686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2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T12</a:t>
            </a:r>
            <a:endParaRPr/>
          </a:p>
        </p:txBody>
      </p:sp>
      <p:sp>
        <p:nvSpPr>
          <p:cNvPr id="662" name="Google Shape;662;p27"/>
          <p:cNvSpPr txBox="1"/>
          <p:nvPr/>
        </p:nvSpPr>
        <p:spPr>
          <a:xfrm>
            <a:off x="7013448" y="320954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Piso externo drenante</a:t>
            </a:r>
            <a:endParaRPr/>
          </a:p>
        </p:txBody>
      </p:sp>
      <p:sp>
        <p:nvSpPr>
          <p:cNvPr id="663" name="Google Shape;663;p27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Pátio de acesso, calçadas internas e áreas de fruição.</a:t>
            </a:r>
            <a:endParaRPr/>
          </a:p>
        </p:txBody>
      </p:sp>
      <p:sp>
        <p:nvSpPr>
          <p:cNvPr id="664" name="Google Shape;664;p27"/>
          <p:cNvSpPr txBox="1"/>
          <p:nvPr/>
        </p:nvSpPr>
        <p:spPr>
          <a:xfrm>
            <a:off x="6080759" y="392277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Especificação: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Tetracon Pisos Intertravados · Paver Ecodreno, 100% permeável (NBR 16416/2015) — item do quadro de permeabilidade.</a:t>
            </a:r>
            <a:endParaRPr/>
          </a:p>
        </p:txBody>
      </p:sp>
      <p:sp>
        <p:nvSpPr>
          <p:cNvPr id="665" name="Google Shape;665;p27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Obra: </a:t>
            </a:r>
            <a:r>
              <a:rPr lang="en-US" sz="63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Não substituir por piso impermeável: afeta a taxa de impermeabilização aprovada.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8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8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04 · FACHADA · VISTA + ESPECIFICAÇÃO</a:t>
            </a:r>
            <a:endParaRPr/>
          </a:p>
        </p:txBody>
      </p:sp>
      <p:sp>
        <p:nvSpPr>
          <p:cNvPr id="674" name="Google Shape;674;p28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Térreo: pórtico de acesso e fecho do lote</a:t>
            </a:r>
            <a:endParaRPr/>
          </a:p>
        </p:txBody>
      </p:sp>
      <p:pic>
        <p:nvPicPr>
          <p:cNvPr id="675" name="Google Shape;675;p28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28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28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16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8"/>
          <p:cNvSpPr/>
          <p:nvPr/>
        </p:nvSpPr>
        <p:spPr>
          <a:xfrm>
            <a:off x="475488" y="1143000"/>
            <a:ext cx="4626864" cy="194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9" name="Google Shape;679;p28" descr="FACHADA_FRONTAL_RECORTADA_cover_5.00x2.06_Non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1170432"/>
            <a:ext cx="4572000" cy="188714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28"/>
          <p:cNvSpPr/>
          <p:nvPr/>
        </p:nvSpPr>
        <p:spPr>
          <a:xfrm>
            <a:off x="594360" y="1261872"/>
            <a:ext cx="2093976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TÉRREO · PÓRTICO E ACESSO PRINCIPAL</a:t>
            </a:r>
            <a:endParaRPr/>
          </a:p>
        </p:txBody>
      </p:sp>
      <p:sp>
        <p:nvSpPr>
          <p:cNvPr id="681" name="Google Shape;681;p28"/>
          <p:cNvSpPr/>
          <p:nvPr/>
        </p:nvSpPr>
        <p:spPr>
          <a:xfrm>
            <a:off x="1741931" y="154737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8"/>
          <p:cNvSpPr/>
          <p:nvPr/>
        </p:nvSpPr>
        <p:spPr>
          <a:xfrm>
            <a:off x="1764791" y="157023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83" name="Google Shape;683;p28"/>
          <p:cNvSpPr/>
          <p:nvPr/>
        </p:nvSpPr>
        <p:spPr>
          <a:xfrm>
            <a:off x="3113532" y="186818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8"/>
          <p:cNvSpPr/>
          <p:nvPr/>
        </p:nvSpPr>
        <p:spPr>
          <a:xfrm>
            <a:off x="3136391" y="189104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85" name="Google Shape;685;p28"/>
          <p:cNvSpPr/>
          <p:nvPr/>
        </p:nvSpPr>
        <p:spPr>
          <a:xfrm>
            <a:off x="2244851" y="217012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8"/>
          <p:cNvSpPr/>
          <p:nvPr/>
        </p:nvSpPr>
        <p:spPr>
          <a:xfrm>
            <a:off x="2267711" y="219298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87" name="Google Shape;687;p28"/>
          <p:cNvSpPr/>
          <p:nvPr/>
        </p:nvSpPr>
        <p:spPr>
          <a:xfrm>
            <a:off x="1467612" y="217012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8"/>
          <p:cNvSpPr/>
          <p:nvPr/>
        </p:nvSpPr>
        <p:spPr>
          <a:xfrm>
            <a:off x="1490472" y="219298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89" name="Google Shape;689;p28"/>
          <p:cNvSpPr/>
          <p:nvPr/>
        </p:nvSpPr>
        <p:spPr>
          <a:xfrm>
            <a:off x="736092" y="217012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8"/>
          <p:cNvSpPr/>
          <p:nvPr/>
        </p:nvSpPr>
        <p:spPr>
          <a:xfrm>
            <a:off x="758952" y="219298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691" name="Google Shape;691;p28"/>
          <p:cNvSpPr/>
          <p:nvPr/>
        </p:nvSpPr>
        <p:spPr>
          <a:xfrm>
            <a:off x="3913631" y="217012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3936491" y="219298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693" name="Google Shape;693;p28"/>
          <p:cNvSpPr/>
          <p:nvPr/>
        </p:nvSpPr>
        <p:spPr>
          <a:xfrm>
            <a:off x="4485131" y="232109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8"/>
          <p:cNvSpPr/>
          <p:nvPr/>
        </p:nvSpPr>
        <p:spPr>
          <a:xfrm>
            <a:off x="4507992" y="234395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695" name="Google Shape;695;p28"/>
          <p:cNvSpPr/>
          <p:nvPr/>
        </p:nvSpPr>
        <p:spPr>
          <a:xfrm>
            <a:off x="2884932" y="273627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8"/>
          <p:cNvSpPr/>
          <p:nvPr/>
        </p:nvSpPr>
        <p:spPr>
          <a:xfrm>
            <a:off x="2907791" y="275913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697" name="Google Shape;697;p28"/>
          <p:cNvSpPr/>
          <p:nvPr/>
        </p:nvSpPr>
        <p:spPr>
          <a:xfrm>
            <a:off x="1741931" y="266078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8"/>
          <p:cNvSpPr/>
          <p:nvPr/>
        </p:nvSpPr>
        <p:spPr>
          <a:xfrm>
            <a:off x="1764791" y="268364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699" name="Google Shape;699;p28"/>
          <p:cNvSpPr/>
          <p:nvPr/>
        </p:nvSpPr>
        <p:spPr>
          <a:xfrm>
            <a:off x="3342132" y="170777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8"/>
          <p:cNvSpPr/>
          <p:nvPr/>
        </p:nvSpPr>
        <p:spPr>
          <a:xfrm>
            <a:off x="3364991" y="173063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graphicFrame>
        <p:nvGraphicFramePr>
          <p:cNvPr id="701" name="Google Shape;701;p28"/>
          <p:cNvGraphicFramePr/>
          <p:nvPr/>
        </p:nvGraphicFramePr>
        <p:xfrm>
          <a:off x="525780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Especificação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Letreiro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NOVO CAMPECHE SPOT · ACM translúcido e luz de led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Painel Ripado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Painel Ripado para Área Externa Fendi Claro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 de acesso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P18 alumínio + vidro canelado 150×210 · fechadura c/ reconhecimento facial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Portão de veículos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PM29 portão metálico 2,60×2,20 m · render: contemplando o painel ripado fixado em estrutura metálica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Muro em pedra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Pedra moledo champanhe · extensão muro externo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Logo iluminado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Símbolo Seazone com LED sobre o ripado; ponto elétrico e fixação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Cobogó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Cobogós modelo 1 furo vazado e outro modelo elemento cheio na cor cimento queimado off-White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 1,50 m na divisa com a servidão; 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Piso drenante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Tetracon Paver Ecodreno 100% permeável (NBR 16416) — quadro aprovado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Paisagismo de acesso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Vegetação na calçada em frente à recepção e lojas; Floreira acima do pergolado no tom chumbo claro (mesmo tom do pergolado)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Iluminação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LED contornando o pergolado/pórtico de acesso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02" name="Google Shape;702;p28"/>
          <p:cNvSpPr/>
          <p:nvPr/>
        </p:nvSpPr>
        <p:spPr>
          <a:xfrm>
            <a:off x="502920" y="3167300"/>
            <a:ext cx="4572000" cy="1605867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8"/>
          <p:cNvSpPr txBox="1"/>
          <p:nvPr/>
        </p:nvSpPr>
        <p:spPr>
          <a:xfrm>
            <a:off x="640080" y="3240452"/>
            <a:ext cx="42976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Lojas 01 e 02 </a:t>
            </a: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(fachada ativa) </a:t>
            </a:r>
            <a:r>
              <a:rPr lang="en-US" sz="7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ficam neste pavimento, com porta de veneziana C11 (180×250) e persiana embutida (log · Indicação 05). Portão de pedestres PT04 em vidro temperado 100×210. Fechamento frontal em ripado H 1,50 m só na opção de conversão das lojas verificar book comercial das lojas convertidas em unds.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9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9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04 · FACHADA · VISTA + ESPECIFICAÇÃO</a:t>
            </a:r>
            <a:endParaRPr/>
          </a:p>
        </p:txBody>
      </p:sp>
      <p:sp>
        <p:nvSpPr>
          <p:cNvPr id="712" name="Google Shape;712;p29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Fachada lateral e fundos (perspectiva de esquina)</a:t>
            </a:r>
            <a:endParaRPr/>
          </a:p>
        </p:txBody>
      </p:sp>
      <p:pic>
        <p:nvPicPr>
          <p:cNvPr id="713" name="Google Shape;713;p29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29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29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17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9"/>
          <p:cNvSpPr/>
          <p:nvPr/>
        </p:nvSpPr>
        <p:spPr>
          <a:xfrm>
            <a:off x="475488" y="1143000"/>
            <a:ext cx="4626864" cy="26075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" name="Google Shape;717;p29" descr="FACHADA_FUNDOS_01_cover_5.00x2.79_Non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1170432"/>
            <a:ext cx="45720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29"/>
          <p:cNvSpPr/>
          <p:nvPr/>
        </p:nvSpPr>
        <p:spPr>
          <a:xfrm>
            <a:off x="594360" y="1261872"/>
            <a:ext cx="1583740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FUNDOS / LATERAL · ESQUINA</a:t>
            </a:r>
            <a:endParaRPr/>
          </a:p>
        </p:txBody>
      </p:sp>
      <p:sp>
        <p:nvSpPr>
          <p:cNvPr id="719" name="Google Shape;719;p29"/>
          <p:cNvSpPr/>
          <p:nvPr/>
        </p:nvSpPr>
        <p:spPr>
          <a:xfrm>
            <a:off x="2473452" y="121653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9"/>
          <p:cNvSpPr/>
          <p:nvPr/>
        </p:nvSpPr>
        <p:spPr>
          <a:xfrm>
            <a:off x="2496312" y="123939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21" name="Google Shape;721;p29"/>
          <p:cNvSpPr/>
          <p:nvPr/>
        </p:nvSpPr>
        <p:spPr>
          <a:xfrm>
            <a:off x="2199132" y="143351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9"/>
          <p:cNvSpPr/>
          <p:nvPr/>
        </p:nvSpPr>
        <p:spPr>
          <a:xfrm>
            <a:off x="2221991" y="145637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23" name="Google Shape;723;p29"/>
          <p:cNvSpPr/>
          <p:nvPr/>
        </p:nvSpPr>
        <p:spPr>
          <a:xfrm>
            <a:off x="2747772" y="189299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9"/>
          <p:cNvSpPr/>
          <p:nvPr/>
        </p:nvSpPr>
        <p:spPr>
          <a:xfrm>
            <a:off x="2770632" y="191585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25" name="Google Shape;725;p29"/>
          <p:cNvSpPr/>
          <p:nvPr/>
        </p:nvSpPr>
        <p:spPr>
          <a:xfrm>
            <a:off x="2427732" y="24418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9"/>
          <p:cNvSpPr/>
          <p:nvPr/>
        </p:nvSpPr>
        <p:spPr>
          <a:xfrm>
            <a:off x="2450591" y="24646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27" name="Google Shape;727;p29"/>
          <p:cNvSpPr/>
          <p:nvPr/>
        </p:nvSpPr>
        <p:spPr>
          <a:xfrm>
            <a:off x="2016251" y="188023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9"/>
          <p:cNvSpPr/>
          <p:nvPr/>
        </p:nvSpPr>
        <p:spPr>
          <a:xfrm>
            <a:off x="2039111" y="190309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29" name="Google Shape;729;p29"/>
          <p:cNvSpPr/>
          <p:nvPr/>
        </p:nvSpPr>
        <p:spPr>
          <a:xfrm>
            <a:off x="3204972" y="24418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9"/>
          <p:cNvSpPr/>
          <p:nvPr/>
        </p:nvSpPr>
        <p:spPr>
          <a:xfrm>
            <a:off x="3227832" y="24646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731" name="Google Shape;731;p29"/>
          <p:cNvSpPr/>
          <p:nvPr/>
        </p:nvSpPr>
        <p:spPr>
          <a:xfrm>
            <a:off x="2656332" y="308000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9"/>
          <p:cNvSpPr/>
          <p:nvPr/>
        </p:nvSpPr>
        <p:spPr>
          <a:xfrm>
            <a:off x="2679191" y="310286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733" name="Google Shape;733;p29"/>
          <p:cNvSpPr/>
          <p:nvPr/>
        </p:nvSpPr>
        <p:spPr>
          <a:xfrm>
            <a:off x="2290572" y="329698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9"/>
          <p:cNvSpPr/>
          <p:nvPr/>
        </p:nvSpPr>
        <p:spPr>
          <a:xfrm>
            <a:off x="2313432" y="331984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735" name="Google Shape;735;p29"/>
          <p:cNvSpPr/>
          <p:nvPr/>
        </p:nvSpPr>
        <p:spPr>
          <a:xfrm>
            <a:off x="3387852" y="205892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9"/>
          <p:cNvSpPr/>
          <p:nvPr/>
        </p:nvSpPr>
        <p:spPr>
          <a:xfrm>
            <a:off x="3410712" y="208178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graphicFrame>
        <p:nvGraphicFramePr>
          <p:cNvPr id="737" name="Google Shape;737;p29"/>
          <p:cNvGraphicFramePr/>
          <p:nvPr/>
        </p:nvGraphicFramePr>
        <p:xfrm>
          <a:off x="525780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Especificação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Platibanda técnica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Volume barrilete/reservatório com letreiro SEAZONE; pintura crômio claro especificação suvinil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Guarda-corpo rooftop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Vidro com topo metálico texturizado anodic marrom claro (Padrão muito comum em marcas como a Ezycolor)· pergolado com fita LED </a:t>
                      </a:r>
                      <a:r>
                        <a:rPr lang="en-US" sz="580" b="1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(cobertura de vidro pós-habite-se)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Lajes de borda curvas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Cimento queimado Off-white texturizado com detalhe corrido — replicar o desenho nas laterais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Esquadrias + shadow box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Esquadria metálica na textura chumbo claro com acabamento fosco/texturizado. Molduras  nas texturas amadeiradas realçadas; 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Floreiras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Cimento queimado Off-white texturizado; impermeabilização + drenagem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Faixa ripada lateral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Trecho vertical ripado (ripado de concreto 100×12) na quina lateral na cor cimento queimado off-white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Pilotis aberto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Vagas V.01–V.03, ETE, recepção e lojas; pé-esquerdo 3,06 m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Muro frontal / lateral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Muro pintado no tom crômio claro 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Sacadas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S.201–204 e S.301–304 (1,18–1,20 m²); guarda-corpo alumínio + vidro H 1,10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38" name="Google Shape;738;p29"/>
          <p:cNvSpPr/>
          <p:nvPr/>
        </p:nvSpPr>
        <p:spPr>
          <a:xfrm>
            <a:off x="502920" y="3832860"/>
            <a:ext cx="4572000" cy="94030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9"/>
          <p:cNvSpPr txBox="1"/>
          <p:nvPr/>
        </p:nvSpPr>
        <p:spPr>
          <a:xfrm>
            <a:off x="640080" y="3906012"/>
            <a:ext cx="429768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fachadas laterais e de fundos repetem a lógica da frontal: lajes curvas, esquadrias emolduradas e shadow box. Afastamentos: laterais e fundos 3,00 m.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0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0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04 · FACHADA · VISTA + ESPECIFICAÇÃO</a:t>
            </a:r>
            <a:endParaRPr/>
          </a:p>
        </p:txBody>
      </p:sp>
      <p:sp>
        <p:nvSpPr>
          <p:cNvPr id="748" name="Google Shape;748;p30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Rooftop: piscina, terraços e coroamento</a:t>
            </a:r>
            <a:endParaRPr/>
          </a:p>
        </p:txBody>
      </p:sp>
      <p:pic>
        <p:nvPicPr>
          <p:cNvPr id="749" name="Google Shape;749;p30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30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30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</a:t>
            </a:r>
            <a:r>
              <a:rPr lang="en-US" sz="65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0"/>
          <p:cNvSpPr/>
          <p:nvPr/>
        </p:nvSpPr>
        <p:spPr>
          <a:xfrm>
            <a:off x="475488" y="1143000"/>
            <a:ext cx="4626864" cy="26403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3" name="Google Shape;753;p30" descr="FACHADA_AÉREA_ROOFTOP_-_atualizada_cover_5.00x2.83_Non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1170432"/>
            <a:ext cx="4572000" cy="2585466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30"/>
          <p:cNvSpPr/>
          <p:nvPr/>
        </p:nvSpPr>
        <p:spPr>
          <a:xfrm>
            <a:off x="594360" y="1261872"/>
            <a:ext cx="1300276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ROOFTOP · VISTA AÉREA</a:t>
            </a:r>
            <a:endParaRPr/>
          </a:p>
        </p:txBody>
      </p:sp>
      <p:sp>
        <p:nvSpPr>
          <p:cNvPr id="755" name="Google Shape;755;p30"/>
          <p:cNvSpPr/>
          <p:nvPr/>
        </p:nvSpPr>
        <p:spPr>
          <a:xfrm>
            <a:off x="918971" y="168421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0"/>
          <p:cNvSpPr/>
          <p:nvPr/>
        </p:nvSpPr>
        <p:spPr>
          <a:xfrm>
            <a:off x="941831" y="170707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57" name="Google Shape;757;p30"/>
          <p:cNvSpPr/>
          <p:nvPr/>
        </p:nvSpPr>
        <p:spPr>
          <a:xfrm>
            <a:off x="1741931" y="173591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0"/>
          <p:cNvSpPr/>
          <p:nvPr/>
        </p:nvSpPr>
        <p:spPr>
          <a:xfrm>
            <a:off x="1764791" y="175877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59" name="Google Shape;759;p30"/>
          <p:cNvSpPr/>
          <p:nvPr/>
        </p:nvSpPr>
        <p:spPr>
          <a:xfrm>
            <a:off x="1970531" y="220130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0"/>
          <p:cNvSpPr/>
          <p:nvPr/>
        </p:nvSpPr>
        <p:spPr>
          <a:xfrm>
            <a:off x="1993391" y="222416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61" name="Google Shape;761;p30"/>
          <p:cNvSpPr/>
          <p:nvPr/>
        </p:nvSpPr>
        <p:spPr>
          <a:xfrm>
            <a:off x="2016251" y="24081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0"/>
          <p:cNvSpPr/>
          <p:nvPr/>
        </p:nvSpPr>
        <p:spPr>
          <a:xfrm>
            <a:off x="2039111" y="24310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63" name="Google Shape;763;p30"/>
          <p:cNvSpPr/>
          <p:nvPr/>
        </p:nvSpPr>
        <p:spPr>
          <a:xfrm>
            <a:off x="918971" y="238228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0"/>
          <p:cNvSpPr/>
          <p:nvPr/>
        </p:nvSpPr>
        <p:spPr>
          <a:xfrm>
            <a:off x="941831" y="240514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65" name="Google Shape;765;p30"/>
          <p:cNvSpPr/>
          <p:nvPr/>
        </p:nvSpPr>
        <p:spPr>
          <a:xfrm>
            <a:off x="2290572" y="310621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0"/>
          <p:cNvSpPr/>
          <p:nvPr/>
        </p:nvSpPr>
        <p:spPr>
          <a:xfrm>
            <a:off x="2313432" y="312907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767" name="Google Shape;767;p30"/>
          <p:cNvSpPr/>
          <p:nvPr/>
        </p:nvSpPr>
        <p:spPr>
          <a:xfrm>
            <a:off x="1627632" y="326134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0"/>
          <p:cNvSpPr/>
          <p:nvPr/>
        </p:nvSpPr>
        <p:spPr>
          <a:xfrm>
            <a:off x="1650492" y="328420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769" name="Google Shape;769;p30"/>
          <p:cNvSpPr/>
          <p:nvPr/>
        </p:nvSpPr>
        <p:spPr>
          <a:xfrm>
            <a:off x="1284732" y="279596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0"/>
          <p:cNvSpPr/>
          <p:nvPr/>
        </p:nvSpPr>
        <p:spPr>
          <a:xfrm>
            <a:off x="1307592" y="281882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771" name="Google Shape;771;p30"/>
          <p:cNvSpPr/>
          <p:nvPr/>
        </p:nvSpPr>
        <p:spPr>
          <a:xfrm>
            <a:off x="644652" y="217544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0"/>
          <p:cNvSpPr/>
          <p:nvPr/>
        </p:nvSpPr>
        <p:spPr>
          <a:xfrm>
            <a:off x="667512" y="219830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graphicFrame>
        <p:nvGraphicFramePr>
          <p:cNvPr id="773" name="Google Shape;773;p30"/>
          <p:cNvGraphicFramePr/>
          <p:nvPr/>
        </p:nvGraphicFramePr>
        <p:xfrm>
          <a:off x="525780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Especificação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Platibanda + volume técnico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Volume barrilete/reservatório com letreiro SEAZONE; pintura crômio claro especificação suvinil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Pergolado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580"/>
                        <a:buFont typeface="Arial"/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Pergolado estrutura metálica na textura chumbo claro com acabamento fosco/texturizado com fita de LED sob a estrutura metálica 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Guarda-corpo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Vidro, H 1,50 m; TOPO METÁLICO COM TEXTURA anodic marrom claro (Padrão muito comum em marcas como a Ezycolor)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Piscina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21,10 m² · Portobello Barlavento Gris, rejunte epóxi · paredes/banco Nord Ris Decor Ripado · borda atérmica · aquecida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Paredes do rooftop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Ripado em pedra retificado ris ripado 30x90 portobello mate; fita LED no rasgo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Esquadrias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Porta-janelas alumínio na cor chumbo claro H 2,40 com moldura amadeirada; terraços T.401–T.405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Arandelas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Arandelas retangulares na cor chumbo claro nas paredes do rooftop (interiores)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Terraços 401 e 405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Ponto (carga, elétrica, hidráulica) para jacuzzi/ofurô — equipamento não incluso</a:t>
                      </a:r>
                      <a:endParaRPr sz="580" b="0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Fechamento futuro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Pós-habite-se: fechar área coberta com drywall + vidro (log · Indicação 06)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80" b="1">
                          <a:solidFill>
                            <a:srgbClr val="1E7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74" name="Google Shape;774;p30"/>
          <p:cNvSpPr/>
          <p:nvPr/>
        </p:nvSpPr>
        <p:spPr>
          <a:xfrm>
            <a:off x="502920" y="3865626"/>
            <a:ext cx="4572000" cy="907541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0"/>
          <p:cNvSpPr txBox="1"/>
          <p:nvPr/>
        </p:nvSpPr>
        <p:spPr>
          <a:xfrm>
            <a:off x="640080" y="3938778"/>
            <a:ext cx="4297680" cy="724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Rooftop recuado 2,00 m. Forro em gesso acartonado (pé-direito livre 2,60 m); piso porcelanato 90×90 com rodapé embutido na área externa. Banco de concreto com fita de LED embutida na borda da piscina e do banco. Ducha externa de piso + torneira com ralo. Casa de máquinas da piscina conforme projeto arquitetônico. Marcação 08: terraços T.401–T.405 (jacuzzi em 401 e 405).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1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04 · FACHADA</a:t>
            </a:r>
            <a:endParaRPr/>
          </a:p>
        </p:txBody>
      </p:sp>
      <p:sp>
        <p:nvSpPr>
          <p:cNvPr id="784" name="Google Shape;784;p31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Tipologias de janela das unidades</a:t>
            </a:r>
            <a:endParaRPr/>
          </a:p>
        </p:txBody>
      </p:sp>
      <p:pic>
        <p:nvPicPr>
          <p:cNvPr id="785" name="Google Shape;785;p31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31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31"/>
          <p:cNvSpPr txBox="1"/>
          <p:nvPr/>
        </p:nvSpPr>
        <p:spPr>
          <a:xfrm>
            <a:off x="502920" y="111556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Três soluções distintas na mesma fachada. A tipologia muda o vão, o guarda-corpo e o acabamento — conferir unidade por unidade antes de fabricar.</a:t>
            </a:r>
            <a:endParaRPr/>
          </a:p>
        </p:txBody>
      </p:sp>
      <p:sp>
        <p:nvSpPr>
          <p:cNvPr id="788" name="Google Shape;788;p31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19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1"/>
          <p:cNvSpPr/>
          <p:nvPr/>
        </p:nvSpPr>
        <p:spPr>
          <a:xfrm>
            <a:off x="502920" y="1481328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1"/>
          <p:cNvSpPr/>
          <p:nvPr/>
        </p:nvSpPr>
        <p:spPr>
          <a:xfrm>
            <a:off x="640080" y="1591056"/>
            <a:ext cx="237744" cy="237744"/>
          </a:xfrm>
          <a:prstGeom prst="ellipse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91" name="Google Shape;791;p31"/>
          <p:cNvSpPr txBox="1"/>
          <p:nvPr/>
        </p:nvSpPr>
        <p:spPr>
          <a:xfrm>
            <a:off x="978408" y="16002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SACADA PORTUGUESA</a:t>
            </a:r>
            <a:endParaRPr/>
          </a:p>
        </p:txBody>
      </p:sp>
      <p:sp>
        <p:nvSpPr>
          <p:cNvPr id="792" name="Google Shape;792;p31"/>
          <p:cNvSpPr/>
          <p:nvPr/>
        </p:nvSpPr>
        <p:spPr>
          <a:xfrm>
            <a:off x="777240" y="1993392"/>
            <a:ext cx="960120" cy="1051560"/>
          </a:xfrm>
          <a:prstGeom prst="rect">
            <a:avLst/>
          </a:prstGeom>
          <a:solidFill>
            <a:srgbClr val="E8ECF4"/>
          </a:solidFill>
          <a:ln w="15875" cap="flat" cmpd="sng">
            <a:solidFill>
              <a:srgbClr val="0014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1"/>
          <p:cNvSpPr/>
          <p:nvPr/>
        </p:nvSpPr>
        <p:spPr>
          <a:xfrm>
            <a:off x="1252728" y="1993392"/>
            <a:ext cx="9144" cy="105156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1"/>
          <p:cNvSpPr/>
          <p:nvPr/>
        </p:nvSpPr>
        <p:spPr>
          <a:xfrm>
            <a:off x="1008126" y="2519172"/>
            <a:ext cx="18288" cy="109728"/>
          </a:xfrm>
          <a:prstGeom prst="rect">
            <a:avLst/>
          </a:prstGeom>
          <a:solidFill>
            <a:srgbClr val="6F78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1"/>
          <p:cNvSpPr/>
          <p:nvPr/>
        </p:nvSpPr>
        <p:spPr>
          <a:xfrm>
            <a:off x="1488186" y="2519172"/>
            <a:ext cx="18288" cy="109728"/>
          </a:xfrm>
          <a:prstGeom prst="rect">
            <a:avLst/>
          </a:prstGeom>
          <a:solidFill>
            <a:srgbClr val="6F78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1"/>
          <p:cNvSpPr/>
          <p:nvPr/>
        </p:nvSpPr>
        <p:spPr>
          <a:xfrm>
            <a:off x="731520" y="2561234"/>
            <a:ext cx="1051560" cy="411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1"/>
          <p:cNvSpPr/>
          <p:nvPr/>
        </p:nvSpPr>
        <p:spPr>
          <a:xfrm>
            <a:off x="731520" y="2602382"/>
            <a:ext cx="27432" cy="442569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1"/>
          <p:cNvSpPr/>
          <p:nvPr/>
        </p:nvSpPr>
        <p:spPr>
          <a:xfrm>
            <a:off x="1755648" y="2602382"/>
            <a:ext cx="27432" cy="442569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1"/>
          <p:cNvSpPr txBox="1"/>
          <p:nvPr/>
        </p:nvSpPr>
        <p:spPr>
          <a:xfrm>
            <a:off x="1828800" y="250637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guarda-corpo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H 1,10 m</a:t>
            </a:r>
            <a:endParaRPr/>
          </a:p>
        </p:txBody>
      </p:sp>
      <p:sp>
        <p:nvSpPr>
          <p:cNvPr id="800" name="Google Shape;800;p31"/>
          <p:cNvSpPr txBox="1"/>
          <p:nvPr/>
        </p:nvSpPr>
        <p:spPr>
          <a:xfrm>
            <a:off x="640080" y="318211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Porta-janela de piso a teto (H 2,40 m), sem peitoril, com guarda-corpo fixado na face da fachada. Não há laje de piso projetada.</a:t>
            </a:r>
            <a:endParaRPr/>
          </a:p>
        </p:txBody>
      </p:sp>
      <p:sp>
        <p:nvSpPr>
          <p:cNvPr id="801" name="Google Shape;801;p31"/>
          <p:cNvSpPr/>
          <p:nvPr/>
        </p:nvSpPr>
        <p:spPr>
          <a:xfrm>
            <a:off x="640080" y="3913632"/>
            <a:ext cx="2377440" cy="38404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1"/>
          <p:cNvSpPr txBox="1"/>
          <p:nvPr/>
        </p:nvSpPr>
        <p:spPr>
          <a:xfrm>
            <a:off x="749808" y="395935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/>
          </a:p>
        </p:txBody>
      </p:sp>
      <p:sp>
        <p:nvSpPr>
          <p:cNvPr id="803" name="Google Shape;803;p31"/>
          <p:cNvSpPr txBox="1"/>
          <p:nvPr/>
        </p:nvSpPr>
        <p:spPr>
          <a:xfrm>
            <a:off x="713308" y="4078237"/>
            <a:ext cx="219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Unidades 101, 201</a:t>
            </a:r>
            <a:r>
              <a:rPr lang="en-US" sz="700" b="1">
                <a:solidFill>
                  <a:srgbClr val="00143D"/>
                </a:solidFill>
              </a:rPr>
              <a:t>, 301, </a:t>
            </a:r>
            <a:r>
              <a:rPr lang="en-US" sz="7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208, 209, 210, 211, 212, 308, 309, 310, 311 e 312.</a:t>
            </a:r>
            <a:endParaRPr/>
          </a:p>
        </p:txBody>
      </p:sp>
      <p:sp>
        <p:nvSpPr>
          <p:cNvPr id="804" name="Google Shape;804;p31"/>
          <p:cNvSpPr/>
          <p:nvPr/>
        </p:nvSpPr>
        <p:spPr>
          <a:xfrm>
            <a:off x="3246120" y="1481328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1"/>
          <p:cNvSpPr/>
          <p:nvPr/>
        </p:nvSpPr>
        <p:spPr>
          <a:xfrm>
            <a:off x="3383279" y="1591056"/>
            <a:ext cx="237744" cy="237744"/>
          </a:xfrm>
          <a:prstGeom prst="ellipse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06" name="Google Shape;806;p31"/>
          <p:cNvSpPr txBox="1"/>
          <p:nvPr/>
        </p:nvSpPr>
        <p:spPr>
          <a:xfrm>
            <a:off x="3721608" y="16002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VIDRO FIXO INFERIOR · PADRÃO SPOT</a:t>
            </a:r>
            <a:endParaRPr/>
          </a:p>
        </p:txBody>
      </p:sp>
      <p:sp>
        <p:nvSpPr>
          <p:cNvPr id="807" name="Google Shape;807;p31"/>
          <p:cNvSpPr/>
          <p:nvPr/>
        </p:nvSpPr>
        <p:spPr>
          <a:xfrm>
            <a:off x="3520439" y="1993392"/>
            <a:ext cx="960120" cy="1051560"/>
          </a:xfrm>
          <a:prstGeom prst="rect">
            <a:avLst/>
          </a:prstGeom>
          <a:solidFill>
            <a:srgbClr val="E8ECF4"/>
          </a:solidFill>
          <a:ln w="15875" cap="flat" cmpd="sng">
            <a:solidFill>
              <a:srgbClr val="0014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1"/>
          <p:cNvSpPr/>
          <p:nvPr/>
        </p:nvSpPr>
        <p:spPr>
          <a:xfrm>
            <a:off x="3520439" y="2561234"/>
            <a:ext cx="960120" cy="483717"/>
          </a:xfrm>
          <a:prstGeom prst="rect">
            <a:avLst/>
          </a:prstGeom>
          <a:solidFill>
            <a:srgbClr val="C7D3E8"/>
          </a:solidFill>
          <a:ln w="12700" cap="flat" cmpd="sng">
            <a:solidFill>
              <a:srgbClr val="0014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1"/>
          <p:cNvSpPr txBox="1"/>
          <p:nvPr/>
        </p:nvSpPr>
        <p:spPr>
          <a:xfrm>
            <a:off x="3520439" y="2720797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VIDRO FIXO</a:t>
            </a:r>
            <a:endParaRPr/>
          </a:p>
        </p:txBody>
      </p:sp>
      <p:sp>
        <p:nvSpPr>
          <p:cNvPr id="810" name="Google Shape;810;p31"/>
          <p:cNvSpPr/>
          <p:nvPr/>
        </p:nvSpPr>
        <p:spPr>
          <a:xfrm>
            <a:off x="3995928" y="1993392"/>
            <a:ext cx="9144" cy="567842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1"/>
          <p:cNvSpPr/>
          <p:nvPr/>
        </p:nvSpPr>
        <p:spPr>
          <a:xfrm>
            <a:off x="3751326" y="2277313"/>
            <a:ext cx="18288" cy="91440"/>
          </a:xfrm>
          <a:prstGeom prst="rect">
            <a:avLst/>
          </a:prstGeom>
          <a:solidFill>
            <a:srgbClr val="6F78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1"/>
          <p:cNvSpPr/>
          <p:nvPr/>
        </p:nvSpPr>
        <p:spPr>
          <a:xfrm>
            <a:off x="4231386" y="2277313"/>
            <a:ext cx="18288" cy="91440"/>
          </a:xfrm>
          <a:prstGeom prst="rect">
            <a:avLst/>
          </a:prstGeom>
          <a:solidFill>
            <a:srgbClr val="6F78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1"/>
          <p:cNvSpPr txBox="1"/>
          <p:nvPr/>
        </p:nvSpPr>
        <p:spPr>
          <a:xfrm>
            <a:off x="4571999" y="2506370"/>
            <a:ext cx="86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peitoril fixo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>
                <a:solidFill>
                  <a:srgbClr val="00143D"/>
                </a:solidFill>
              </a:rPr>
              <a:t>H 1,10 m</a:t>
            </a:r>
            <a:endParaRPr/>
          </a:p>
        </p:txBody>
      </p:sp>
      <p:sp>
        <p:nvSpPr>
          <p:cNvPr id="814" name="Google Shape;814;p31"/>
          <p:cNvSpPr txBox="1"/>
          <p:nvPr/>
        </p:nvSpPr>
        <p:spPr>
          <a:xfrm>
            <a:off x="3383279" y="318211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Janela de 2 folhas de correr com peitoril fixo inteiro de 110 cm, conforme a tabela de esquadrias do R05 (J04 a J27, H 2,40 m).</a:t>
            </a:r>
            <a:endParaRPr/>
          </a:p>
        </p:txBody>
      </p:sp>
      <p:sp>
        <p:nvSpPr>
          <p:cNvPr id="815" name="Google Shape;815;p31"/>
          <p:cNvSpPr/>
          <p:nvPr/>
        </p:nvSpPr>
        <p:spPr>
          <a:xfrm>
            <a:off x="3383279" y="3913632"/>
            <a:ext cx="2377440" cy="38404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1"/>
          <p:cNvSpPr txBox="1"/>
          <p:nvPr/>
        </p:nvSpPr>
        <p:spPr>
          <a:xfrm>
            <a:off x="3493008" y="395935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/>
          </a:p>
        </p:txBody>
      </p:sp>
      <p:sp>
        <p:nvSpPr>
          <p:cNvPr id="817" name="Google Shape;817;p31"/>
          <p:cNvSpPr txBox="1"/>
          <p:nvPr/>
        </p:nvSpPr>
        <p:spPr>
          <a:xfrm>
            <a:off x="3493008" y="409651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Demais unidades do empreendimento.</a:t>
            </a:r>
            <a:endParaRPr/>
          </a:p>
        </p:txBody>
      </p:sp>
      <p:sp>
        <p:nvSpPr>
          <p:cNvPr id="818" name="Google Shape;818;p31"/>
          <p:cNvSpPr/>
          <p:nvPr/>
        </p:nvSpPr>
        <p:spPr>
          <a:xfrm>
            <a:off x="5989320" y="1481328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1"/>
          <p:cNvSpPr/>
          <p:nvPr/>
        </p:nvSpPr>
        <p:spPr>
          <a:xfrm>
            <a:off x="6126480" y="1591056"/>
            <a:ext cx="237744" cy="237744"/>
          </a:xfrm>
          <a:prstGeom prst="ellipse">
            <a:avLst/>
          </a:prstGeom>
          <a:solidFill>
            <a:srgbClr val="B28F3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20" name="Google Shape;820;p31"/>
          <p:cNvSpPr txBox="1"/>
          <p:nvPr/>
        </p:nvSpPr>
        <p:spPr>
          <a:xfrm>
            <a:off x="6464808" y="160020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>
                <a:solidFill>
                  <a:srgbClr val="B28F36"/>
                </a:solidFill>
                <a:latin typeface="Arial"/>
                <a:ea typeface="Arial"/>
                <a:cs typeface="Arial"/>
                <a:sym typeface="Arial"/>
              </a:rPr>
              <a:t>SHADOW BOX</a:t>
            </a:r>
            <a:endParaRPr/>
          </a:p>
        </p:txBody>
      </p:sp>
      <p:sp>
        <p:nvSpPr>
          <p:cNvPr id="821" name="Google Shape;821;p31"/>
          <p:cNvSpPr/>
          <p:nvPr/>
        </p:nvSpPr>
        <p:spPr>
          <a:xfrm>
            <a:off x="6263640" y="1993392"/>
            <a:ext cx="960120" cy="1051560"/>
          </a:xfrm>
          <a:prstGeom prst="rect">
            <a:avLst/>
          </a:prstGeom>
          <a:solidFill>
            <a:srgbClr val="E8ECF4"/>
          </a:solidFill>
          <a:ln w="15875" cap="flat" cmpd="sng">
            <a:solidFill>
              <a:srgbClr val="0014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1"/>
          <p:cNvSpPr/>
          <p:nvPr/>
        </p:nvSpPr>
        <p:spPr>
          <a:xfrm>
            <a:off x="6409944" y="2139696"/>
            <a:ext cx="667512" cy="758951"/>
          </a:xfrm>
          <a:prstGeom prst="rect">
            <a:avLst/>
          </a:prstGeom>
          <a:solidFill>
            <a:srgbClr val="C7D3E8"/>
          </a:solidFill>
          <a:ln w="12700" cap="flat" cmpd="sng">
            <a:solidFill>
              <a:srgbClr val="0014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3" name="Google Shape;823;p31"/>
          <p:cNvCxnSpPr/>
          <p:nvPr/>
        </p:nvCxnSpPr>
        <p:spPr>
          <a:xfrm>
            <a:off x="6263640" y="1993392"/>
            <a:ext cx="146304" cy="146304"/>
          </a:xfrm>
          <a:prstGeom prst="straightConnector1">
            <a:avLst/>
          </a:prstGeom>
          <a:noFill/>
          <a:ln w="9525" cap="flat" cmpd="sng">
            <a:solidFill>
              <a:srgbClr val="6F789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824" name="Google Shape;824;p31"/>
          <p:cNvCxnSpPr/>
          <p:nvPr/>
        </p:nvCxnSpPr>
        <p:spPr>
          <a:xfrm flipH="1">
            <a:off x="7077455" y="1993392"/>
            <a:ext cx="146304" cy="146304"/>
          </a:xfrm>
          <a:prstGeom prst="straightConnector1">
            <a:avLst/>
          </a:prstGeom>
          <a:noFill/>
          <a:ln w="9525" cap="flat" cmpd="sng">
            <a:solidFill>
              <a:srgbClr val="6F789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825" name="Google Shape;825;p31"/>
          <p:cNvCxnSpPr/>
          <p:nvPr/>
        </p:nvCxnSpPr>
        <p:spPr>
          <a:xfrm rot="10800000" flipH="1">
            <a:off x="6263640" y="2898648"/>
            <a:ext cx="146304" cy="146304"/>
          </a:xfrm>
          <a:prstGeom prst="straightConnector1">
            <a:avLst/>
          </a:prstGeom>
          <a:noFill/>
          <a:ln w="9525" cap="flat" cmpd="sng">
            <a:solidFill>
              <a:srgbClr val="6F789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826" name="Google Shape;826;p31"/>
          <p:cNvCxnSpPr/>
          <p:nvPr/>
        </p:nvCxnSpPr>
        <p:spPr>
          <a:xfrm rot="10800000">
            <a:off x="7077455" y="2898648"/>
            <a:ext cx="146304" cy="146304"/>
          </a:xfrm>
          <a:prstGeom prst="straightConnector1">
            <a:avLst/>
          </a:prstGeom>
          <a:noFill/>
          <a:ln w="9525" cap="flat" cmpd="sng">
            <a:solidFill>
              <a:srgbClr val="6F789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827" name="Google Shape;827;p31"/>
          <p:cNvSpPr txBox="1"/>
          <p:nvPr/>
        </p:nvSpPr>
        <p:spPr>
          <a:xfrm>
            <a:off x="6409944" y="2436876"/>
            <a:ext cx="66751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VIDRO</a:t>
            </a:r>
            <a:endParaRPr/>
          </a:p>
        </p:txBody>
      </p:sp>
      <p:sp>
        <p:nvSpPr>
          <p:cNvPr id="828" name="Google Shape;828;p31"/>
          <p:cNvSpPr txBox="1"/>
          <p:nvPr/>
        </p:nvSpPr>
        <p:spPr>
          <a:xfrm>
            <a:off x="7315199" y="2435047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caixa recuada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(profundidade)</a:t>
            </a:r>
            <a:endParaRPr/>
          </a:p>
        </p:txBody>
      </p:sp>
      <p:sp>
        <p:nvSpPr>
          <p:cNvPr id="829" name="Google Shape;829;p31"/>
          <p:cNvSpPr txBox="1"/>
          <p:nvPr/>
        </p:nvSpPr>
        <p:spPr>
          <a:xfrm>
            <a:off x="6126480" y="318211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Caixa recuada em relação ao plano da fachada, com o vidro no fundo do recuo — mesma solução aplicada no empreendimento Cachoeira Beach Spot.</a:t>
            </a:r>
            <a:endParaRPr/>
          </a:p>
        </p:txBody>
      </p:sp>
      <p:sp>
        <p:nvSpPr>
          <p:cNvPr id="830" name="Google Shape;830;p31"/>
          <p:cNvSpPr/>
          <p:nvPr/>
        </p:nvSpPr>
        <p:spPr>
          <a:xfrm>
            <a:off x="6126480" y="3913632"/>
            <a:ext cx="2377440" cy="38404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1"/>
          <p:cNvSpPr txBox="1"/>
          <p:nvPr/>
        </p:nvSpPr>
        <p:spPr>
          <a:xfrm>
            <a:off x="6236208" y="395935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1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/>
          </a:p>
        </p:txBody>
      </p:sp>
      <p:sp>
        <p:nvSpPr>
          <p:cNvPr id="832" name="Google Shape;832;p31"/>
          <p:cNvSpPr txBox="1"/>
          <p:nvPr/>
        </p:nvSpPr>
        <p:spPr>
          <a:xfrm>
            <a:off x="6236208" y="409651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>
                <a:solidFill>
                  <a:srgbClr val="00143D"/>
                </a:solidFill>
                <a:latin typeface="Arial"/>
                <a:ea typeface="Arial"/>
                <a:cs typeface="Arial"/>
                <a:sym typeface="Arial"/>
              </a:rPr>
              <a:t>Janelas dos mezaninos (M.101 a M.112).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8" name="Google Shape;838;p32" descr="s01_2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6440" y="685800"/>
            <a:ext cx="3749039" cy="3861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32" descr="s01_2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32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2"/>
          <p:cNvSpPr txBox="1"/>
          <p:nvPr/>
        </p:nvSpPr>
        <p:spPr>
          <a:xfrm>
            <a:off x="502920" y="228600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05 · INTERIORES</a:t>
            </a:r>
            <a:endParaRPr/>
          </a:p>
        </p:txBody>
      </p:sp>
      <p:sp>
        <p:nvSpPr>
          <p:cNvPr id="842" name="Google Shape;842;p32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Premissas de interiores</a:t>
            </a:r>
            <a:endParaRPr/>
          </a:p>
        </p:txBody>
      </p:sp>
      <p:sp>
        <p:nvSpPr>
          <p:cNvPr id="843" name="Google Shape;843;p32"/>
          <p:cNvSpPr txBox="1"/>
          <p:nvPr/>
        </p:nvSpPr>
        <p:spPr>
          <a:xfrm>
            <a:off x="502920" y="3310128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Áreas privativas · áreas comuns · reforços, pontos e acabamentos com impacto na obra</a:t>
            </a:r>
            <a:endParaRPr/>
          </a:p>
        </p:txBody>
      </p:sp>
      <p:sp>
        <p:nvSpPr>
          <p:cNvPr id="844" name="Google Shape;844;p32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20</a:t>
            </a:r>
            <a:endParaRPr sz="650" b="0" i="0">
              <a:solidFill>
                <a:srgbClr val="8FA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3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05 · INTERIORES</a:t>
            </a:r>
            <a:endParaRPr/>
          </a:p>
        </p:txBody>
      </p:sp>
      <p:sp>
        <p:nvSpPr>
          <p:cNvPr id="853" name="Google Shape;853;p33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Áreas privativas: acabamentos e pontos definidos</a:t>
            </a:r>
            <a:endParaRPr/>
          </a:p>
        </p:txBody>
      </p:sp>
      <p:pic>
        <p:nvPicPr>
          <p:cNvPr id="854" name="Google Shape;854;p33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33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33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21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3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8" name="Google Shape;858;p33" descr="image4_cover_2.60x1.55_Non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1170432"/>
            <a:ext cx="237744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33"/>
          <p:cNvSpPr/>
          <p:nvPr/>
        </p:nvSpPr>
        <p:spPr>
          <a:xfrm>
            <a:off x="594360" y="1261872"/>
            <a:ext cx="1234440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REFERÊNCIA · UNIDADE</a:t>
            </a:r>
            <a:endParaRPr/>
          </a:p>
        </p:txBody>
      </p:sp>
      <p:sp>
        <p:nvSpPr>
          <p:cNvPr id="860" name="Google Shape;860;p33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1" name="Google Shape;861;p33" descr="NOVOCAMPECHESPOTIII-DC-ARQ-IMG-TIP-000-R01_-_COM_TEXTO_cover_2.60x1.25_0.05__0.12__0.95__0.95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920" y="2697480"/>
            <a:ext cx="237744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33"/>
          <p:cNvSpPr/>
          <p:nvPr/>
        </p:nvSpPr>
        <p:spPr>
          <a:xfrm>
            <a:off x="594360" y="2788920"/>
            <a:ext cx="1234440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PAV. TIPO 3º/4º · R01</a:t>
            </a:r>
            <a:endParaRPr/>
          </a:p>
        </p:txBody>
      </p:sp>
      <p:sp>
        <p:nvSpPr>
          <p:cNvPr id="863" name="Google Shape;863;p33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TV fixada na laje (reforço no gesso): Lojas 01/02, 102, 104, 105, 108, 109, 112 (mezanino superior), 201, 202, 204, 205, 208–212, 301, 302, 304, 305, 308–312. Nas demais, TV na parede a 1,40 m.</a:t>
            </a:r>
            <a:endParaRPr/>
          </a:p>
        </p:txBody>
      </p:sp>
      <p:graphicFrame>
        <p:nvGraphicFramePr>
          <p:cNvPr id="864" name="Google Shape;864;p33"/>
          <p:cNvGraphicFramePr/>
          <p:nvPr/>
        </p:nvGraphicFramePr>
        <p:xfrm>
          <a:off x="306324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Item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Premissa definida (v00 · memorial de obras)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Pisos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Porcelanato 90×90 natural/acetinado na unidade e BWC; antiderrapante em varandas/sacadas · rodapé 7 cm branco de poliestireno, quina viva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Paredes / tetos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Pintura acrílica branco gelo acetinado; laje/rebaixo branco neve fosco · BWC: porcelanato 90×90 · forro gesso 2,50 m (copa/BWC)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Kit porta pronta lisa BRANCA, guarnição 7 cm · porta de acesso com bandeira até o teto e fechadura eletrônica (senha/tag/biometria — Intelbras, Pado ou similar)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Esquadrias / vidros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Linha 32 (gold), PVC ou alumínio · cor chumbo · vidro incolor; mini boreal em BWC · persiana embutida: não definida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Marcenaria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MDF Carvalho Treviso e Cinza Cobalto – Berneck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Ar-condicionado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Infra (elétrica, dreno, cobre) p/ 18.000 BTU, 1 máquina por ambiente; preferencialmente na parede lateral do BWC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Hidráulica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Água quente na cuba da copa, chuveiro e cuba do BWC · ducha higiênica só água fria · ralo linear no box + sifonado 15×15 fora · vaso monobloco ecoflux · metais Deca/Docol/Fabrimar/Meber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Elétrica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Quadro sobreposto atrás da porta (2 espaços livres) · nicho p/ modem ao lado · pontos conforme vistas 01–04 · exaustão Ventokit em todos os BWC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Não previstos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Forno, filtro, coifa, aquecedor de passagem, lava-roupas/louças, cooktop indução/gás, campainha, interfone · obra entrega PONTO: chuveiro, luminárias, ofurô (401/405)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4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05 · INTERIORES</a:t>
            </a:r>
            <a:endParaRPr/>
          </a:p>
        </p:txBody>
      </p:sp>
      <p:sp>
        <p:nvSpPr>
          <p:cNvPr id="873" name="Google Shape;873;p34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Áreas comuns: recepção, circulações e rooftop</a:t>
            </a:r>
            <a:endParaRPr/>
          </a:p>
        </p:txBody>
      </p:sp>
      <p:pic>
        <p:nvPicPr>
          <p:cNvPr id="874" name="Google Shape;874;p34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34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34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22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4"/>
          <p:cNvSpPr/>
          <p:nvPr/>
        </p:nvSpPr>
        <p:spPr>
          <a:xfrm>
            <a:off x="475488" y="1143000"/>
            <a:ext cx="2432304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8" name="Google Shape;878;p34" descr="image14_cover_2.60x1.46_0.0__0.0__1.0__1.0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1170432"/>
            <a:ext cx="2377440" cy="1335024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34"/>
          <p:cNvSpPr/>
          <p:nvPr/>
        </p:nvSpPr>
        <p:spPr>
          <a:xfrm>
            <a:off x="594360" y="1261872"/>
            <a:ext cx="1600200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REFERÊNCIA · HALL / RECEPÇÃO</a:t>
            </a:r>
            <a:endParaRPr/>
          </a:p>
        </p:txBody>
      </p:sp>
      <p:sp>
        <p:nvSpPr>
          <p:cNvPr id="880" name="Google Shape;880;p34"/>
          <p:cNvSpPr/>
          <p:nvPr/>
        </p:nvSpPr>
        <p:spPr>
          <a:xfrm>
            <a:off x="475488" y="2587752"/>
            <a:ext cx="2432304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1" name="Google Shape;881;p34" descr="image15_cover_2.60x1.46_None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920" y="2615184"/>
            <a:ext cx="2377440" cy="1335024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34"/>
          <p:cNvSpPr/>
          <p:nvPr/>
        </p:nvSpPr>
        <p:spPr>
          <a:xfrm>
            <a:off x="594360" y="2706624"/>
            <a:ext cx="1645920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REFERÊNCIA · ROOFTOP / PISCINA</a:t>
            </a:r>
            <a:endParaRPr/>
          </a:p>
        </p:txBody>
      </p:sp>
      <p:sp>
        <p:nvSpPr>
          <p:cNvPr id="883" name="Google Shape;883;p34"/>
          <p:cNvSpPr txBox="1"/>
          <p:nvPr/>
        </p:nvSpPr>
        <p:spPr>
          <a:xfrm>
            <a:off x="502920" y="402336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Indicações do log de interiores: banco de concreto (07) · LED na borda da piscina e do banco (08) · painel ripado na recepção (09) · LED sobe o revestimento ripado (10) · mini market em drywall (11) · fechamento do rooftop em alvenaria + vidro no pós-habite-se (06).</a:t>
            </a:r>
            <a:endParaRPr/>
          </a:p>
        </p:txBody>
      </p:sp>
      <p:graphicFrame>
        <p:nvGraphicFramePr>
          <p:cNvPr id="884" name="Google Shape;884;p34"/>
          <p:cNvGraphicFramePr/>
          <p:nvPr/>
        </p:nvGraphicFramePr>
        <p:xfrm>
          <a:off x="306324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Ambiente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Premissa definida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Recepção / hall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Pintura lisa Suvinil Pena de Ganso Z076 (NCS 1203-Y16R) · parede da entrada em Suvinil Marmorato Brilho de Estrela · painel ripado MDF Provence + meia parede ripado vazado Carvalho Treviso (Berneck) · piso porcelanato 90×90, rodapé 7 cm branco · forro gesso 2,60 m · carpete de alumínio embutido no piso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Iluminação recepção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Trilho Porto Fino PD1190 preto 100 cm com spots · spots cilíndricos brancos de sobrepor · 3 arandelas Spot Line LED 3W · letras-caixa dos logos com LED indireto · circuitos por interruptor conforme premissas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Corredores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Pintura acetinada (papel picado) · forro gesso 2,60 m · sem iluminação geral: fita de LED junto aos números (H 2,20 m) e rasgo de LED no forro · arandela nos quadros de marketing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Portas comuns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Bandeira até o forro; portas e rodapés BRANCOS · portas corta-fogo P90 pintadas de branco · acesso ext/int: perfil metálico + vidro, reconhecimento facial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Rooftop coberto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Pintura Pena de Ganso Z076 · Portobello Nord Ris Decor Ripado 30×90 + pintura arqueada · forro gesso 2,60 m · piso porcelanato 90×90 · marcenaria Carvalho Treviso (compensado naval se não houver fechamento em vidro) · AC 22.000 BTU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Rooftop externo / piscina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Piscina Barlavento Gris (rejunte epóxi), paredes e banco Nord Ris Decor Ripado, borda atérmica / São Tomé · fita de LED na borda, no banco e sob o pergolado · arandelas grafite · ducha e torneira de piso · rodapé embutido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1">
                          <a:solidFill>
                            <a:srgbClr val="0024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BWC comuns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20" b="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Porcelanato 90×90 · vidro jateado · WC acessível PCD com barras (memorial 26.1.5) · tomada 20A secador</a:t>
                      </a:r>
                      <a:endParaRPr/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0" name="Google Shape;890;p35" descr="s01_2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6440" y="685800"/>
            <a:ext cx="3749039" cy="3861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35" descr="s01_2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35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5"/>
          <p:cNvSpPr txBox="1"/>
          <p:nvPr/>
        </p:nvSpPr>
        <p:spPr>
          <a:xfrm>
            <a:off x="502920" y="228600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06 · INDICAÇÕES DO LOG</a:t>
            </a:r>
            <a:endParaRPr/>
          </a:p>
        </p:txBody>
      </p:sp>
      <p:sp>
        <p:nvSpPr>
          <p:cNvPr id="894" name="Google Shape;894;p35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Indicações ilustradas</a:t>
            </a:r>
            <a:endParaRPr/>
          </a:p>
        </p:txBody>
      </p:sp>
      <p:sp>
        <p:nvSpPr>
          <p:cNvPr id="895" name="Google Shape;895;p35"/>
          <p:cNvSpPr txBox="1"/>
          <p:nvPr/>
        </p:nvSpPr>
        <p:spPr>
          <a:xfrm>
            <a:off x="502920" y="3310128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Imagens anexadas ao Log de Considerações 1.46 (22/09/2026) com o texto literal de cada indicação</a:t>
            </a:r>
            <a:endParaRPr/>
          </a:p>
        </p:txBody>
      </p:sp>
      <p:sp>
        <p:nvSpPr>
          <p:cNvPr id="896" name="Google Shape;896;p35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23</a:t>
            </a:r>
            <a:endParaRPr sz="650" b="0" i="0">
              <a:solidFill>
                <a:srgbClr val="8FA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6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6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06 · INDICAÇÕES DO LOG</a:t>
            </a:r>
            <a:endParaRPr/>
          </a:p>
        </p:txBody>
      </p:sp>
      <p:sp>
        <p:nvSpPr>
          <p:cNvPr id="905" name="Google Shape;905;p36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Implantação, fecho do lote e serviços</a:t>
            </a:r>
            <a:endParaRPr/>
          </a:p>
        </p:txBody>
      </p:sp>
      <p:pic>
        <p:nvPicPr>
          <p:cNvPr id="906" name="Google Shape;906;p36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36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36"/>
          <p:cNvSpPr txBox="1"/>
          <p:nvPr/>
        </p:nvSpPr>
        <p:spPr>
          <a:xfrm>
            <a:off x="502920" y="111556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Texto reproduzido literalmente do Log de Considerações 1.46 · aba Projetos.</a:t>
            </a:r>
            <a:endParaRPr/>
          </a:p>
        </p:txBody>
      </p:sp>
      <p:sp>
        <p:nvSpPr>
          <p:cNvPr id="909" name="Google Shape;909;p36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24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36"/>
          <p:cNvSpPr/>
          <p:nvPr/>
        </p:nvSpPr>
        <p:spPr>
          <a:xfrm>
            <a:off x="502920" y="1481328"/>
            <a:ext cx="265176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1" name="Google Shape;911;p36" descr="image18_cover_2.60x1.55_Non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1618488"/>
            <a:ext cx="2377440" cy="141732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36"/>
          <p:cNvSpPr/>
          <p:nvPr/>
        </p:nvSpPr>
        <p:spPr>
          <a:xfrm>
            <a:off x="640080" y="3127248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 01</a:t>
            </a:r>
            <a:endParaRPr/>
          </a:p>
        </p:txBody>
      </p:sp>
      <p:sp>
        <p:nvSpPr>
          <p:cNvPr id="913" name="Google Shape;913;p36"/>
          <p:cNvSpPr txBox="1"/>
          <p:nvPr/>
        </p:nvSpPr>
        <p:spPr>
          <a:xfrm>
            <a:off x="1108252" y="3118104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Muro de cobogós · lojas comerciais</a:t>
            </a:r>
            <a:endParaRPr/>
          </a:p>
        </p:txBody>
      </p:sp>
      <p:sp>
        <p:nvSpPr>
          <p:cNvPr id="914" name="Google Shape;914;p36"/>
          <p:cNvSpPr txBox="1"/>
          <p:nvPr/>
        </p:nvSpPr>
        <p:spPr>
          <a:xfrm>
            <a:off x="640080" y="3346704"/>
            <a:ext cx="2377440" cy="777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OPÇÃO 01: se as lojas do térreo tiverem uso comercial, garantir muro de cobogós vazados em divisão com a Servidão a uma altura de 1,50 m.</a:t>
            </a:r>
            <a:endParaRPr/>
          </a:p>
        </p:txBody>
      </p:sp>
      <p:sp>
        <p:nvSpPr>
          <p:cNvPr id="915" name="Google Shape;915;p36"/>
          <p:cNvSpPr/>
          <p:nvPr/>
        </p:nvSpPr>
        <p:spPr>
          <a:xfrm>
            <a:off x="3246120" y="1481328"/>
            <a:ext cx="265176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6"/>
          <p:cNvSpPr/>
          <p:nvPr/>
        </p:nvSpPr>
        <p:spPr>
          <a:xfrm>
            <a:off x="3383279" y="3127248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 02</a:t>
            </a:r>
            <a:endParaRPr/>
          </a:p>
        </p:txBody>
      </p:sp>
      <p:sp>
        <p:nvSpPr>
          <p:cNvPr id="917" name="Google Shape;917;p36"/>
          <p:cNvSpPr txBox="1"/>
          <p:nvPr/>
        </p:nvSpPr>
        <p:spPr>
          <a:xfrm>
            <a:off x="3851452" y="3118104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Muro de cobogós · lojas residenciais</a:t>
            </a:r>
            <a:endParaRPr/>
          </a:p>
        </p:txBody>
      </p:sp>
      <p:sp>
        <p:nvSpPr>
          <p:cNvPr id="918" name="Google Shape;918;p36"/>
          <p:cNvSpPr txBox="1"/>
          <p:nvPr/>
        </p:nvSpPr>
        <p:spPr>
          <a:xfrm>
            <a:off x="3383279" y="3346704"/>
            <a:ext cx="2377440" cy="777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OPÇÃO 02: se as lojas forem transformadas em uso residencial, cobogós na Servidão e nos fundos (H 1,50 m). O fechamento da frente deverá ser do ripado presente na fachada frontal, também a 1,50 m. Garantir portões de acesso em ambos os lados.</a:t>
            </a:r>
            <a:endParaRPr/>
          </a:p>
        </p:txBody>
      </p:sp>
      <p:sp>
        <p:nvSpPr>
          <p:cNvPr id="919" name="Google Shape;919;p36"/>
          <p:cNvSpPr/>
          <p:nvPr/>
        </p:nvSpPr>
        <p:spPr>
          <a:xfrm>
            <a:off x="5989320" y="1481328"/>
            <a:ext cx="265176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6"/>
          <p:cNvSpPr/>
          <p:nvPr/>
        </p:nvSpPr>
        <p:spPr>
          <a:xfrm>
            <a:off x="6126480" y="3127248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 03</a:t>
            </a:r>
            <a:endParaRPr/>
          </a:p>
        </p:txBody>
      </p:sp>
      <p:sp>
        <p:nvSpPr>
          <p:cNvPr id="921" name="Google Shape;921;p36"/>
          <p:cNvSpPr txBox="1"/>
          <p:nvPr/>
        </p:nvSpPr>
        <p:spPr>
          <a:xfrm>
            <a:off x="6594652" y="3118104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Serviços na lateral da servidão</a:t>
            </a:r>
            <a:endParaRPr/>
          </a:p>
        </p:txBody>
      </p:sp>
      <p:sp>
        <p:nvSpPr>
          <p:cNvPr id="922" name="Google Shape;922;p36"/>
          <p:cNvSpPr txBox="1"/>
          <p:nvPr/>
        </p:nvSpPr>
        <p:spPr>
          <a:xfrm>
            <a:off x="6126480" y="3346704"/>
            <a:ext cx="2377440" cy="777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Garantir que o depósito de lixo permanente, medidores, lava-pés e bicicletário estejam alocados na lateral da servidão. Garantir também acesso secundário pelo bicicletário residencial.</a:t>
            </a:r>
            <a:endParaRPr/>
          </a:p>
        </p:txBody>
      </p:sp>
      <p:sp>
        <p:nvSpPr>
          <p:cNvPr id="923" name="Google Shape;923;p36"/>
          <p:cNvSpPr/>
          <p:nvPr/>
        </p:nvSpPr>
        <p:spPr>
          <a:xfrm>
            <a:off x="502920" y="4352544"/>
            <a:ext cx="8138160" cy="420624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6"/>
          <p:cNvSpPr/>
          <p:nvPr/>
        </p:nvSpPr>
        <p:spPr>
          <a:xfrm>
            <a:off x="640080" y="4462272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ATENÇÃO</a:t>
            </a:r>
            <a:endParaRPr/>
          </a:p>
        </p:txBody>
      </p:sp>
      <p:sp>
        <p:nvSpPr>
          <p:cNvPr id="925" name="Google Shape;925;p36"/>
          <p:cNvSpPr txBox="1"/>
          <p:nvPr/>
        </p:nvSpPr>
        <p:spPr>
          <a:xfrm>
            <a:off x="1298448" y="445312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numeração das indicações mudou na revisão de 22/09/2026 — a antiga IND 04 (ETE) passou a ser a IND 05, e a IND 04 agora é o rebaixamento de guia. Conferir sempre pelo texto da indicação, nunca pelo número.</a:t>
            </a:r>
            <a:endParaRPr/>
          </a:p>
        </p:txBody>
      </p:sp>
      <p:pic>
        <p:nvPicPr>
          <p:cNvPr id="926" name="Google Shape;926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68562" y="1963953"/>
            <a:ext cx="2406876" cy="607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4325" y="1580644"/>
            <a:ext cx="1956612" cy="1450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7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7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06 · INDICAÇÕES DO LOG</a:t>
            </a:r>
            <a:endParaRPr/>
          </a:p>
        </p:txBody>
      </p:sp>
      <p:sp>
        <p:nvSpPr>
          <p:cNvPr id="936" name="Google Shape;936;p37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Guia, ETE, paredes, climatização e lojas</a:t>
            </a:r>
            <a:endParaRPr/>
          </a:p>
        </p:txBody>
      </p:sp>
      <p:pic>
        <p:nvPicPr>
          <p:cNvPr id="937" name="Google Shape;937;p37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37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37"/>
          <p:cNvSpPr txBox="1"/>
          <p:nvPr/>
        </p:nvSpPr>
        <p:spPr>
          <a:xfrm>
            <a:off x="502920" y="111556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Texto reproduzido literalmente do Log de Considerações 1.46 · aba Projetos.</a:t>
            </a:r>
            <a:endParaRPr/>
          </a:p>
        </p:txBody>
      </p:sp>
      <p:sp>
        <p:nvSpPr>
          <p:cNvPr id="940" name="Google Shape;940;p37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25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7"/>
          <p:cNvSpPr/>
          <p:nvPr/>
        </p:nvSpPr>
        <p:spPr>
          <a:xfrm>
            <a:off x="502920" y="1481328"/>
            <a:ext cx="2651760" cy="1591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7"/>
          <p:cNvSpPr/>
          <p:nvPr/>
        </p:nvSpPr>
        <p:spPr>
          <a:xfrm>
            <a:off x="640080" y="2276856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 04</a:t>
            </a:r>
            <a:endParaRPr/>
          </a:p>
        </p:txBody>
      </p:sp>
      <p:sp>
        <p:nvSpPr>
          <p:cNvPr id="943" name="Google Shape;943;p37"/>
          <p:cNvSpPr txBox="1"/>
          <p:nvPr/>
        </p:nvSpPr>
        <p:spPr>
          <a:xfrm>
            <a:off x="1108252" y="2267712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Rebaixamento de guia (COMCAP)</a:t>
            </a:r>
            <a:endParaRPr/>
          </a:p>
        </p:txBody>
      </p:sp>
      <p:sp>
        <p:nvSpPr>
          <p:cNvPr id="944" name="Google Shape;944;p37"/>
          <p:cNvSpPr txBox="1"/>
          <p:nvPr/>
        </p:nvSpPr>
        <p:spPr>
          <a:xfrm>
            <a:off x="640080" y="2496312"/>
            <a:ext cx="237744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Pela rua Gilmar Darli Viêira, garantir rebaixamento de guia exigido para manuseio de contentores de lixo, assim como garantir espaço para alocar temporariamente tais coletores.</a:t>
            </a:r>
            <a:endParaRPr/>
          </a:p>
        </p:txBody>
      </p:sp>
      <p:sp>
        <p:nvSpPr>
          <p:cNvPr id="945" name="Google Shape;945;p37"/>
          <p:cNvSpPr/>
          <p:nvPr/>
        </p:nvSpPr>
        <p:spPr>
          <a:xfrm>
            <a:off x="3246120" y="1481328"/>
            <a:ext cx="2651760" cy="1591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7"/>
          <p:cNvSpPr/>
          <p:nvPr/>
        </p:nvSpPr>
        <p:spPr>
          <a:xfrm>
            <a:off x="3383279" y="2276856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 05</a:t>
            </a:r>
            <a:endParaRPr/>
          </a:p>
        </p:txBody>
      </p:sp>
      <p:sp>
        <p:nvSpPr>
          <p:cNvPr id="947" name="Google Shape;947;p37"/>
          <p:cNvSpPr txBox="1"/>
          <p:nvPr/>
        </p:nvSpPr>
        <p:spPr>
          <a:xfrm>
            <a:off x="3851452" y="2267712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ETE no estacionamento do pilotis</a:t>
            </a:r>
            <a:endParaRPr/>
          </a:p>
        </p:txBody>
      </p:sp>
      <p:sp>
        <p:nvSpPr>
          <p:cNvPr id="948" name="Google Shape;948;p37"/>
          <p:cNvSpPr txBox="1"/>
          <p:nvPr/>
        </p:nvSpPr>
        <p:spPr>
          <a:xfrm>
            <a:off x="3383279" y="2496312"/>
            <a:ext cx="237744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Garantir que a ETE esteja alocada dentro do espaço de estacionamento do pavimento de pilotis.</a:t>
            </a:r>
            <a:endParaRPr/>
          </a:p>
        </p:txBody>
      </p:sp>
      <p:sp>
        <p:nvSpPr>
          <p:cNvPr id="949" name="Google Shape;949;p37"/>
          <p:cNvSpPr/>
          <p:nvPr/>
        </p:nvSpPr>
        <p:spPr>
          <a:xfrm>
            <a:off x="5989320" y="1481328"/>
            <a:ext cx="2651760" cy="1591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7"/>
          <p:cNvSpPr/>
          <p:nvPr/>
        </p:nvSpPr>
        <p:spPr>
          <a:xfrm>
            <a:off x="6126480" y="2276856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 06</a:t>
            </a:r>
            <a:endParaRPr/>
          </a:p>
        </p:txBody>
      </p:sp>
      <p:sp>
        <p:nvSpPr>
          <p:cNvPr id="951" name="Google Shape;951;p37"/>
          <p:cNvSpPr txBox="1"/>
          <p:nvPr/>
        </p:nvSpPr>
        <p:spPr>
          <a:xfrm>
            <a:off x="6594652" y="2267712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Espessuras das paredes</a:t>
            </a:r>
            <a:endParaRPr/>
          </a:p>
        </p:txBody>
      </p:sp>
      <p:sp>
        <p:nvSpPr>
          <p:cNvPr id="952" name="Google Shape;952;p37"/>
          <p:cNvSpPr txBox="1"/>
          <p:nvPr/>
        </p:nvSpPr>
        <p:spPr>
          <a:xfrm>
            <a:off x="6126480" y="2496312"/>
            <a:ext cx="237744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Alvenarias externas convencionais de 20 cm de espessura final. Entre unidades, DRYWALL com tratamento acústico e espessura final de 14 cm. Divisórias de banheiro, também DRYWALL, com espessura final (parede + revestimento) de 12 cm.</a:t>
            </a:r>
            <a:endParaRPr/>
          </a:p>
        </p:txBody>
      </p:sp>
      <p:sp>
        <p:nvSpPr>
          <p:cNvPr id="953" name="Google Shape;953;p37"/>
          <p:cNvSpPr/>
          <p:nvPr/>
        </p:nvSpPr>
        <p:spPr>
          <a:xfrm>
            <a:off x="502920" y="3145536"/>
            <a:ext cx="2651760" cy="1591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4" name="Google Shape;954;p37" descr="image6_cover_2.60x0.62_Non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3282696"/>
            <a:ext cx="2377440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37"/>
          <p:cNvSpPr/>
          <p:nvPr/>
        </p:nvSpPr>
        <p:spPr>
          <a:xfrm>
            <a:off x="640080" y="3941063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 07</a:t>
            </a:r>
            <a:endParaRPr/>
          </a:p>
        </p:txBody>
      </p:sp>
      <p:sp>
        <p:nvSpPr>
          <p:cNvPr id="956" name="Google Shape;956;p37"/>
          <p:cNvSpPr txBox="1"/>
          <p:nvPr/>
        </p:nvSpPr>
        <p:spPr>
          <a:xfrm>
            <a:off x="1108252" y="3931920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Condensadoras de ar</a:t>
            </a:r>
            <a:endParaRPr/>
          </a:p>
        </p:txBody>
      </p:sp>
      <p:sp>
        <p:nvSpPr>
          <p:cNvPr id="957" name="Google Shape;957;p37"/>
          <p:cNvSpPr txBox="1"/>
          <p:nvPr/>
        </p:nvSpPr>
        <p:spPr>
          <a:xfrm>
            <a:off x="640080" y="4160520"/>
            <a:ext cx="2377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Condensadoras das lojas e da recepção no próprio pavimento pilotis. As condensadoras do 1º ao 4º pavimento também no pilotis, com tubulação conduzida por shafts. As do rooftop, na laje de cobertura.</a:t>
            </a:r>
            <a:endParaRPr/>
          </a:p>
        </p:txBody>
      </p:sp>
      <p:sp>
        <p:nvSpPr>
          <p:cNvPr id="958" name="Google Shape;958;p37"/>
          <p:cNvSpPr/>
          <p:nvPr/>
        </p:nvSpPr>
        <p:spPr>
          <a:xfrm>
            <a:off x="3246120" y="3145536"/>
            <a:ext cx="2651760" cy="1591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7"/>
          <p:cNvSpPr/>
          <p:nvPr/>
        </p:nvSpPr>
        <p:spPr>
          <a:xfrm>
            <a:off x="3383279" y="3941063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 08</a:t>
            </a:r>
            <a:endParaRPr/>
          </a:p>
        </p:txBody>
      </p:sp>
      <p:sp>
        <p:nvSpPr>
          <p:cNvPr id="960" name="Google Shape;960;p37"/>
          <p:cNvSpPr txBox="1"/>
          <p:nvPr/>
        </p:nvSpPr>
        <p:spPr>
          <a:xfrm>
            <a:off x="3851452" y="3931920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Porta das lojas</a:t>
            </a:r>
            <a:endParaRPr/>
          </a:p>
        </p:txBody>
      </p:sp>
      <p:sp>
        <p:nvSpPr>
          <p:cNvPr id="961" name="Google Shape;961;p37"/>
          <p:cNvSpPr txBox="1"/>
          <p:nvPr/>
        </p:nvSpPr>
        <p:spPr>
          <a:xfrm>
            <a:off x="3383279" y="4160520"/>
            <a:ext cx="2377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Porta das lojas com persiana embutida.</a:t>
            </a:r>
            <a:endParaRPr/>
          </a:p>
        </p:txBody>
      </p:sp>
      <p:sp>
        <p:nvSpPr>
          <p:cNvPr id="962" name="Google Shape;962;p37"/>
          <p:cNvSpPr/>
          <p:nvPr/>
        </p:nvSpPr>
        <p:spPr>
          <a:xfrm>
            <a:off x="5989320" y="3145536"/>
            <a:ext cx="2651760" cy="1591056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7"/>
          <p:cNvSpPr/>
          <p:nvPr/>
        </p:nvSpPr>
        <p:spPr>
          <a:xfrm>
            <a:off x="6126480" y="3255264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ATENÇÃO</a:t>
            </a:r>
            <a:endParaRPr/>
          </a:p>
        </p:txBody>
      </p:sp>
      <p:sp>
        <p:nvSpPr>
          <p:cNvPr id="964" name="Google Shape;964;p37"/>
          <p:cNvSpPr txBox="1"/>
          <p:nvPr/>
        </p:nvSpPr>
        <p:spPr>
          <a:xfrm>
            <a:off x="6126480" y="347472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indicações 04 a 08 são novas ou foram renumeradas na revisão de 22/09/2026. A IND 06 (paredes) e a IND 07 (condensadoras) têm impacto direto em estrutura, shafts e alvenaria — ver seção 03.</a:t>
            </a:r>
            <a:endParaRPr/>
          </a:p>
        </p:txBody>
      </p:sp>
      <p:pic>
        <p:nvPicPr>
          <p:cNvPr id="965" name="Google Shape;965;p37"/>
          <p:cNvPicPr preferRelativeResize="0"/>
          <p:nvPr/>
        </p:nvPicPr>
        <p:blipFill rotWithShape="1">
          <a:blip r:embed="rId6">
            <a:alphaModFix/>
          </a:blip>
          <a:srcRect t="25834" b="5844"/>
          <a:stretch/>
        </p:blipFill>
        <p:spPr>
          <a:xfrm>
            <a:off x="821365" y="1492066"/>
            <a:ext cx="1921835" cy="74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30988" y="1494908"/>
            <a:ext cx="1375454" cy="759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3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94652" y="1594744"/>
            <a:ext cx="1268014" cy="581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3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41648" y="3193474"/>
            <a:ext cx="891941" cy="718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8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8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06 · INDICAÇÕES DO LOG</a:t>
            </a:r>
            <a:endParaRPr/>
          </a:p>
        </p:txBody>
      </p:sp>
      <p:sp>
        <p:nvSpPr>
          <p:cNvPr id="977" name="Google Shape;977;p38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Interiores: rooftop, piscina e recepção</a:t>
            </a:r>
            <a:endParaRPr/>
          </a:p>
        </p:txBody>
      </p:sp>
      <p:pic>
        <p:nvPicPr>
          <p:cNvPr id="978" name="Google Shape;978;p38" descr="s01_2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38" descr="s02_4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4846320"/>
            <a:ext cx="182880" cy="187868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38"/>
          <p:cNvSpPr txBox="1"/>
          <p:nvPr/>
        </p:nvSpPr>
        <p:spPr>
          <a:xfrm>
            <a:off x="502920" y="111556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Texto reproduzido literalmente do Log de Considerações 1.46 · aba Interiores (numeração própria, de 06 a 11).</a:t>
            </a:r>
            <a:endParaRPr/>
          </a:p>
        </p:txBody>
      </p:sp>
      <p:sp>
        <p:nvSpPr>
          <p:cNvPr id="981" name="Google Shape;981;p38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26</a:t>
            </a:r>
            <a:endParaRPr sz="650" b="0" i="0">
              <a:solidFill>
                <a:srgbClr val="6F78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8"/>
          <p:cNvSpPr/>
          <p:nvPr/>
        </p:nvSpPr>
        <p:spPr>
          <a:xfrm>
            <a:off x="502920" y="1444752"/>
            <a:ext cx="26517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3" name="Google Shape;983;p38" descr="image13_cover_1.27x0.62_Non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1581912"/>
            <a:ext cx="1161288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38" descr="image14_cover_1.27x0.62_None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56232" y="1581912"/>
            <a:ext cx="116128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38"/>
          <p:cNvSpPr/>
          <p:nvPr/>
        </p:nvSpPr>
        <p:spPr>
          <a:xfrm>
            <a:off x="640080" y="2240280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 06</a:t>
            </a:r>
            <a:endParaRPr/>
          </a:p>
        </p:txBody>
      </p:sp>
      <p:sp>
        <p:nvSpPr>
          <p:cNvPr id="986" name="Google Shape;986;p38"/>
          <p:cNvSpPr txBox="1"/>
          <p:nvPr/>
        </p:nvSpPr>
        <p:spPr>
          <a:xfrm>
            <a:off x="1108252" y="2231136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Fechamento do rooftop</a:t>
            </a:r>
            <a:endParaRPr/>
          </a:p>
        </p:txBody>
      </p:sp>
      <p:sp>
        <p:nvSpPr>
          <p:cNvPr id="987" name="Google Shape;987;p38"/>
          <p:cNvSpPr txBox="1"/>
          <p:nvPr/>
        </p:nvSpPr>
        <p:spPr>
          <a:xfrm>
            <a:off x="640080" y="2459736"/>
            <a:ext cx="2377440" cy="20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Pós habite-se, fechar rooftop com parede em drywall + fechamento de vidro (mesma solução Jurerê Spot.</a:t>
            </a:r>
            <a:endParaRPr/>
          </a:p>
        </p:txBody>
      </p:sp>
      <p:sp>
        <p:nvSpPr>
          <p:cNvPr id="988" name="Google Shape;988;p38"/>
          <p:cNvSpPr/>
          <p:nvPr/>
        </p:nvSpPr>
        <p:spPr>
          <a:xfrm>
            <a:off x="3246120" y="1444752"/>
            <a:ext cx="26517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8"/>
          <p:cNvSpPr/>
          <p:nvPr/>
        </p:nvSpPr>
        <p:spPr>
          <a:xfrm>
            <a:off x="3383279" y="2240280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 07</a:t>
            </a:r>
            <a:endParaRPr/>
          </a:p>
        </p:txBody>
      </p:sp>
      <p:sp>
        <p:nvSpPr>
          <p:cNvPr id="990" name="Google Shape;990;p38"/>
          <p:cNvSpPr txBox="1"/>
          <p:nvPr/>
        </p:nvSpPr>
        <p:spPr>
          <a:xfrm>
            <a:off x="3851452" y="2231136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Banco de concreto</a:t>
            </a:r>
            <a:endParaRPr/>
          </a:p>
        </p:txBody>
      </p:sp>
      <p:sp>
        <p:nvSpPr>
          <p:cNvPr id="991" name="Google Shape;991;p38"/>
          <p:cNvSpPr txBox="1"/>
          <p:nvPr/>
        </p:nvSpPr>
        <p:spPr>
          <a:xfrm>
            <a:off x="3383279" y="2459736"/>
            <a:ext cx="2377440" cy="484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Criar banco de concreto.</a:t>
            </a:r>
            <a:endParaRPr/>
          </a:p>
        </p:txBody>
      </p:sp>
      <p:sp>
        <p:nvSpPr>
          <p:cNvPr id="992" name="Google Shape;992;p38"/>
          <p:cNvSpPr/>
          <p:nvPr/>
        </p:nvSpPr>
        <p:spPr>
          <a:xfrm>
            <a:off x="5989320" y="1444752"/>
            <a:ext cx="26517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3" name="Google Shape;993;p38" descr="image7_cover_1.27x0.62_None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26480" y="1581912"/>
            <a:ext cx="1161288" cy="56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38" descr="image11_cover_1.27x0.62_None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42632" y="1581912"/>
            <a:ext cx="116128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38"/>
          <p:cNvSpPr/>
          <p:nvPr/>
        </p:nvSpPr>
        <p:spPr>
          <a:xfrm>
            <a:off x="6126480" y="2240280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 08</a:t>
            </a:r>
            <a:endParaRPr/>
          </a:p>
        </p:txBody>
      </p:sp>
      <p:sp>
        <p:nvSpPr>
          <p:cNvPr id="996" name="Google Shape;996;p38"/>
          <p:cNvSpPr txBox="1"/>
          <p:nvPr/>
        </p:nvSpPr>
        <p:spPr>
          <a:xfrm>
            <a:off x="6594652" y="2231136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Fita de LED · piscina e banco</a:t>
            </a:r>
            <a:endParaRPr/>
          </a:p>
        </p:txBody>
      </p:sp>
      <p:sp>
        <p:nvSpPr>
          <p:cNvPr id="997" name="Google Shape;997;p38"/>
          <p:cNvSpPr txBox="1"/>
          <p:nvPr/>
        </p:nvSpPr>
        <p:spPr>
          <a:xfrm>
            <a:off x="6126480" y="2459736"/>
            <a:ext cx="2377440" cy="484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Fita de LED embutida na borda da piscina e do banco.</a:t>
            </a:r>
            <a:endParaRPr/>
          </a:p>
        </p:txBody>
      </p:sp>
      <p:sp>
        <p:nvSpPr>
          <p:cNvPr id="998" name="Google Shape;998;p38"/>
          <p:cNvSpPr/>
          <p:nvPr/>
        </p:nvSpPr>
        <p:spPr>
          <a:xfrm>
            <a:off x="502920" y="3072384"/>
            <a:ext cx="26517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8"/>
          <p:cNvSpPr/>
          <p:nvPr/>
        </p:nvSpPr>
        <p:spPr>
          <a:xfrm>
            <a:off x="640080" y="3867911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 09</a:t>
            </a:r>
            <a:endParaRPr/>
          </a:p>
        </p:txBody>
      </p:sp>
      <p:sp>
        <p:nvSpPr>
          <p:cNvPr id="1000" name="Google Shape;1000;p38"/>
          <p:cNvSpPr txBox="1"/>
          <p:nvPr/>
        </p:nvSpPr>
        <p:spPr>
          <a:xfrm>
            <a:off x="1108252" y="3858768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Painel ripado na recepção</a:t>
            </a:r>
            <a:endParaRPr/>
          </a:p>
        </p:txBody>
      </p:sp>
      <p:sp>
        <p:nvSpPr>
          <p:cNvPr id="1001" name="Google Shape;1001;p38"/>
          <p:cNvSpPr txBox="1"/>
          <p:nvPr/>
        </p:nvSpPr>
        <p:spPr>
          <a:xfrm>
            <a:off x="640080" y="4087368"/>
            <a:ext cx="237744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Fechamento em painel ripado na Recepção.</a:t>
            </a:r>
            <a:endParaRPr/>
          </a:p>
        </p:txBody>
      </p:sp>
      <p:sp>
        <p:nvSpPr>
          <p:cNvPr id="1002" name="Google Shape;1002;p38"/>
          <p:cNvSpPr/>
          <p:nvPr/>
        </p:nvSpPr>
        <p:spPr>
          <a:xfrm>
            <a:off x="3246120" y="3072384"/>
            <a:ext cx="26517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3" name="Google Shape;1003;p38" descr="image15_cover_2.60x0.62_None.jp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83279" y="3209544"/>
            <a:ext cx="2377440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38"/>
          <p:cNvSpPr/>
          <p:nvPr/>
        </p:nvSpPr>
        <p:spPr>
          <a:xfrm>
            <a:off x="3383279" y="3867911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 10</a:t>
            </a:r>
            <a:endParaRPr/>
          </a:p>
        </p:txBody>
      </p:sp>
      <p:sp>
        <p:nvSpPr>
          <p:cNvPr id="1005" name="Google Shape;1005;p38"/>
          <p:cNvSpPr txBox="1"/>
          <p:nvPr/>
        </p:nvSpPr>
        <p:spPr>
          <a:xfrm>
            <a:off x="3851452" y="3858768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LED e revestimento do rooftop</a:t>
            </a:r>
            <a:endParaRPr/>
          </a:p>
        </p:txBody>
      </p:sp>
      <p:sp>
        <p:nvSpPr>
          <p:cNvPr id="1006" name="Google Shape;1006;p38"/>
          <p:cNvSpPr txBox="1"/>
          <p:nvPr/>
        </p:nvSpPr>
        <p:spPr>
          <a:xfrm>
            <a:off x="3383279" y="4087368"/>
            <a:ext cx="237744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Fita de LED sobe o revestimento do rooftop. Revestimento das paredes da piscina e do banco em alvenaria em Portobello 30×90 Nord Ris Decor Ripado (ou similar).</a:t>
            </a:r>
            <a:endParaRPr/>
          </a:p>
        </p:txBody>
      </p:sp>
      <p:sp>
        <p:nvSpPr>
          <p:cNvPr id="1007" name="Google Shape;1007;p38"/>
          <p:cNvSpPr/>
          <p:nvPr/>
        </p:nvSpPr>
        <p:spPr>
          <a:xfrm>
            <a:off x="5989320" y="3072384"/>
            <a:ext cx="26517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8"/>
          <p:cNvSpPr/>
          <p:nvPr/>
        </p:nvSpPr>
        <p:spPr>
          <a:xfrm>
            <a:off x="6126480" y="3867911"/>
            <a:ext cx="395020" cy="155448"/>
          </a:xfrm>
          <a:prstGeom prst="rect">
            <a:avLst/>
          </a:prstGeom>
          <a:solidFill>
            <a:srgbClr val="00143D"/>
          </a:solidFill>
          <a:ln>
            <a:noFill/>
          </a:ln>
        </p:spPr>
        <p:txBody>
          <a:bodyPr spcFirstLastPara="1" wrap="square" lIns="27425" tIns="0" rIns="27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 11</a:t>
            </a:r>
            <a:endParaRPr/>
          </a:p>
        </p:txBody>
      </p:sp>
      <p:sp>
        <p:nvSpPr>
          <p:cNvPr id="1009" name="Google Shape;1009;p38"/>
          <p:cNvSpPr txBox="1"/>
          <p:nvPr/>
        </p:nvSpPr>
        <p:spPr>
          <a:xfrm>
            <a:off x="6594652" y="3858768"/>
            <a:ext cx="214883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Mini market em drywall</a:t>
            </a:r>
            <a:endParaRPr/>
          </a:p>
        </p:txBody>
      </p:sp>
      <p:sp>
        <p:nvSpPr>
          <p:cNvPr id="1010" name="Google Shape;1010;p38"/>
          <p:cNvSpPr txBox="1"/>
          <p:nvPr/>
        </p:nvSpPr>
        <p:spPr>
          <a:xfrm>
            <a:off x="6126480" y="4087368"/>
            <a:ext cx="237744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Mini market na recepção/garagem com paredes de drywall.</a:t>
            </a:r>
            <a:endParaRPr/>
          </a:p>
        </p:txBody>
      </p:sp>
      <p:sp>
        <p:nvSpPr>
          <p:cNvPr id="1011" name="Google Shape;1011;p38"/>
          <p:cNvSpPr txBox="1"/>
          <p:nvPr/>
        </p:nvSpPr>
        <p:spPr>
          <a:xfrm>
            <a:off x="502920" y="4681728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1">
                <a:solidFill>
                  <a:srgbClr val="6F7891"/>
                </a:solidFill>
                <a:latin typeface="Arial"/>
                <a:ea typeface="Arial"/>
                <a:cs typeface="Arial"/>
                <a:sym typeface="Arial"/>
              </a:rPr>
              <a:t>A planilha repete os números 10 e 11 em dois blocos; a correspondência foi feita pelo conteúdo das imagens.</a:t>
            </a:r>
            <a:endParaRPr/>
          </a:p>
        </p:txBody>
      </p:sp>
      <p:pic>
        <p:nvPicPr>
          <p:cNvPr id="1012" name="Google Shape;1012;p3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28999" y="1518167"/>
            <a:ext cx="2286000" cy="661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3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9363" y="3131843"/>
            <a:ext cx="1853738" cy="65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3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33308" y="3167605"/>
            <a:ext cx="1027025" cy="654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4" name="Google Shape;1294;p45" descr="s01_2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6440" y="685800"/>
            <a:ext cx="3749039" cy="3861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5" name="Google Shape;1295;p45" descr="s01_2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2631" y="365760"/>
            <a:ext cx="1298448" cy="213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45"/>
          <p:cNvSpPr/>
          <p:nvPr/>
        </p:nvSpPr>
        <p:spPr>
          <a:xfrm>
            <a:off x="502920" y="146304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45"/>
          <p:cNvSpPr txBox="1"/>
          <p:nvPr/>
        </p:nvSpPr>
        <p:spPr>
          <a:xfrm>
            <a:off x="502920" y="164592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>
                <a:solidFill>
                  <a:srgbClr val="FC6058"/>
                </a:solidFill>
                <a:latin typeface="Arial"/>
                <a:ea typeface="Arial"/>
                <a:cs typeface="Arial"/>
                <a:sym typeface="Arial"/>
              </a:rPr>
              <a:t>NOVO CAMPECHE SPOT III</a:t>
            </a:r>
            <a:endParaRPr/>
          </a:p>
        </p:txBody>
      </p:sp>
      <p:sp>
        <p:nvSpPr>
          <p:cNvPr id="1298" name="Google Shape;1298;p45"/>
          <p:cNvSpPr txBox="1"/>
          <p:nvPr/>
        </p:nvSpPr>
        <p:spPr>
          <a:xfrm>
            <a:off x="502920" y="1956816"/>
            <a:ext cx="521208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 de Premissas de Projeto</a:t>
            </a:r>
            <a:endParaRPr/>
          </a:p>
        </p:txBody>
      </p:sp>
      <p:sp>
        <p:nvSpPr>
          <p:cNvPr id="1299" name="Google Shape;1299;p45"/>
          <p:cNvSpPr txBox="1"/>
          <p:nvPr/>
        </p:nvSpPr>
        <p:spPr>
          <a:xfrm>
            <a:off x="502920" y="2551176"/>
            <a:ext cx="813816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>
                <a:solidFill>
                  <a:srgbClr val="9FB0D4"/>
                </a:solidFill>
                <a:latin typeface="Arial"/>
                <a:ea typeface="Arial"/>
                <a:cs typeface="Arial"/>
                <a:sym typeface="Arial"/>
              </a:rPr>
              <a:t>Passagem de Bastão  ·  Projetos → Obras  ·  Seazone</a:t>
            </a:r>
            <a:endParaRPr/>
          </a:p>
        </p:txBody>
      </p:sp>
      <p:sp>
        <p:nvSpPr>
          <p:cNvPr id="1300" name="Google Shape;1300;p45"/>
          <p:cNvSpPr txBox="1"/>
          <p:nvPr/>
        </p:nvSpPr>
        <p:spPr>
          <a:xfrm>
            <a:off x="5486400" y="4864608"/>
            <a:ext cx="3154680" cy="1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 b="0" i="0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NOVO CAMPECHE SPOT III  ·  BOOK DE PREMISSAS DE PROJETO  ·  </a:t>
            </a:r>
            <a:r>
              <a:rPr lang="en-US" sz="650">
                <a:solidFill>
                  <a:srgbClr val="8FA3CC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sz="650" b="0" i="0">
              <a:solidFill>
                <a:srgbClr val="8FA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